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12192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= int(input("Enter age: "))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print(f"You are {age} years old")</a:t>
            </a:r>
            <a:endParaRPr/>
          </a:p>
        </p:txBody>
      </p:sp>
      <p:sp>
        <p:nvSpPr>
          <p:cNvPr id="278" name="Google Shape;27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age = int(input("Enter age: "))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print(f"You are {age} years old")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print("That's not a valid number")</a:t>
            </a:r>
            <a:endParaRPr/>
          </a:p>
        </p:txBody>
      </p:sp>
      <p:sp>
        <p:nvSpPr>
          <p:cNvPr id="288" name="Google Shape;2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with open("config.json") as f: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data = f.read()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FileNotFoundError: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print("Config file not found - using defaults")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PermissionError: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print("No permission to read config file")</a:t>
            </a:r>
            <a:endParaRPr/>
          </a:p>
        </p:txBody>
      </p:sp>
      <p:sp>
        <p:nvSpPr>
          <p:cNvPr id="307" name="Google Shape;3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value = int(data["amount"])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(KeyError, ValueError):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print("Amount is missing or not a valid number")</a:t>
            </a:r>
            <a:endParaRPr/>
          </a:p>
        </p:txBody>
      </p:sp>
      <p:sp>
        <p:nvSpPr>
          <p:cNvPr id="317" name="Google Shape;3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price = float(user_input)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ValueError as 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print(f"Could not convert: {e}")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print(f"Error type: {type(e).__name__}")</a:t>
            </a:r>
            <a:endParaRPr/>
          </a:p>
        </p:txBody>
      </p:sp>
      <p:sp>
        <p:nvSpPr>
          <p:cNvPr id="326" name="Google Shape;3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409ffcd5d79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409ffcd5d79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409ffcd5d79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0a294d88e5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40a294d88e5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- Exercise 1 (Numbers only):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is_not_number =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is_not_number: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raw = input("Enter phone number: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number = int(raw)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print("OK")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is_not_number =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print("Digits only, please.")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- Exercise 2 (Fixed length input):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= input("Enter phone number: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number = int(raw)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len(raw) == 9 or len(raw) == 10: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print("OK")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print("Need 9-10 digits.")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print("Digits only, please.")</a:t>
            </a:r>
            <a:endParaRPr/>
          </a:p>
        </p:txBody>
      </p:sp>
      <p:sp>
        <p:nvSpPr>
          <p:cNvPr id="341" name="Google Shape;341;g40a294d88e5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40a294d88e5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40a294d88e5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- Exercise 3 (Phone carrier prefix):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= {"smart": ["010","070","016"], "cellcard": ["011","012","092"]}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prefix_to_name = {}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name, prefixes in carrier.items():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p in prefixes: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prefix_to_name[p]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= input("Enter phone number: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print(prefix_to_name[number[0:3]])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KeyError: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print("Unknown carrier")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- Exercise 4 (Check many numbers):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count = int(input("How many numbers? "))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i in range(count):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raw = input("Phone: 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print(raw)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print("Please type a number")</a:t>
            </a:r>
            <a:endParaRPr/>
          </a:p>
        </p:txBody>
      </p:sp>
      <p:sp>
        <p:nvSpPr>
          <p:cNvPr id="363" name="Google Shape;363;g40a294d88e5_0_3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8" name="Google Shape;28;p3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4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6" type="body"/>
          </p:nvPr>
        </p:nvSpPr>
        <p:spPr>
          <a:xfrm>
            <a:off x="480060" y="2571750"/>
            <a:ext cx="8160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58" name="Google Shape;58;p7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>
            <p:ph idx="2" type="body"/>
          </p:nvPr>
        </p:nvSpPr>
        <p:spPr>
          <a:xfrm>
            <a:off x="582930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body"/>
          </p:nvPr>
        </p:nvSpPr>
        <p:spPr>
          <a:xfrm>
            <a:off x="582930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7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>
            <p:ph idx="4" type="body"/>
          </p:nvPr>
        </p:nvSpPr>
        <p:spPr>
          <a:xfrm>
            <a:off x="2729484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5" type="body"/>
          </p:nvPr>
        </p:nvSpPr>
        <p:spPr>
          <a:xfrm>
            <a:off x="2729484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7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>
            <p:ph idx="6" type="body"/>
          </p:nvPr>
        </p:nvSpPr>
        <p:spPr>
          <a:xfrm>
            <a:off x="4876038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7" type="body"/>
          </p:nvPr>
        </p:nvSpPr>
        <p:spPr>
          <a:xfrm>
            <a:off x="4876038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7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>
            <p:ph idx="8" type="body"/>
          </p:nvPr>
        </p:nvSpPr>
        <p:spPr>
          <a:xfrm>
            <a:off x="7022592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9" type="body"/>
          </p:nvPr>
        </p:nvSpPr>
        <p:spPr>
          <a:xfrm>
            <a:off x="7022592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82" name="Google Shape;82;p8"/>
          <p:cNvSpPr/>
          <p:nvPr/>
        </p:nvSpPr>
        <p:spPr>
          <a:xfrm>
            <a:off x="41148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/>
          <p:nvPr/>
        </p:nvSpPr>
        <p:spPr>
          <a:xfrm>
            <a:off x="3257550" y="1062990"/>
            <a:ext cx="2640300" cy="219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8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8"/>
          <p:cNvSpPr/>
          <p:nvPr/>
        </p:nvSpPr>
        <p:spPr>
          <a:xfrm>
            <a:off x="610362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02" name="Google Shape;102;p9"/>
          <p:cNvSpPr/>
          <p:nvPr/>
        </p:nvSpPr>
        <p:spPr>
          <a:xfrm>
            <a:off x="411480" y="1062990"/>
            <a:ext cx="4046100" cy="28803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65151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3" type="body"/>
          </p:nvPr>
        </p:nvSpPr>
        <p:spPr>
          <a:xfrm>
            <a:off x="65151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" name="Google Shape;105;p9"/>
          <p:cNvSpPr/>
          <p:nvPr/>
        </p:nvSpPr>
        <p:spPr>
          <a:xfrm>
            <a:off x="4663440" y="1062990"/>
            <a:ext cx="4046100" cy="28803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 txBox="1"/>
          <p:nvPr>
            <p:ph idx="4" type="body"/>
          </p:nvPr>
        </p:nvSpPr>
        <p:spPr>
          <a:xfrm>
            <a:off x="490347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5" type="body"/>
          </p:nvPr>
        </p:nvSpPr>
        <p:spPr>
          <a:xfrm>
            <a:off x="490347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12" name="Google Shape;112;p10"/>
          <p:cNvSpPr txBox="1"/>
          <p:nvPr>
            <p:ph idx="2" type="body"/>
          </p:nvPr>
        </p:nvSpPr>
        <p:spPr>
          <a:xfrm>
            <a:off x="3497580" y="65151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3" type="body"/>
          </p:nvPr>
        </p:nvSpPr>
        <p:spPr>
          <a:xfrm>
            <a:off x="582930" y="822960"/>
            <a:ext cx="4389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7" type="body"/>
          </p:nvPr>
        </p:nvSpPr>
        <p:spPr>
          <a:xfrm>
            <a:off x="5417820" y="3051810"/>
            <a:ext cx="329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2" name="Google Shape;122;p1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1"/>
          <p:cNvSpPr txBox="1"/>
          <p:nvPr>
            <p:ph idx="3" type="body"/>
          </p:nvPr>
        </p:nvSpPr>
        <p:spPr>
          <a:xfrm>
            <a:off x="925830" y="13853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1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1"/>
          <p:cNvSpPr txBox="1"/>
          <p:nvPr>
            <p:ph idx="5" type="body"/>
          </p:nvPr>
        </p:nvSpPr>
        <p:spPr>
          <a:xfrm>
            <a:off x="925830" y="24140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7" type="body"/>
          </p:nvPr>
        </p:nvSpPr>
        <p:spPr>
          <a:xfrm>
            <a:off x="925830" y="34427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1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250"/>
              <a:buFont typeface="Roboto"/>
              <a:buNone/>
              <a:defRPr b="1" i="0" sz="22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38" name="Google Shape;138;p12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2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12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2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12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58" name="Google Shape;158;p13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idx="3" type="body"/>
          </p:nvPr>
        </p:nvSpPr>
        <p:spPr>
          <a:xfrm>
            <a:off x="857250" y="144018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13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13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74" name="Google Shape;174;p14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14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14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14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14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1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87" name="Google Shape;187;p15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3" type="body"/>
          </p:nvPr>
        </p:nvSpPr>
        <p:spPr>
          <a:xfrm>
            <a:off x="562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15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15"/>
          <p:cNvSpPr txBox="1"/>
          <p:nvPr>
            <p:ph idx="5" type="body"/>
          </p:nvPr>
        </p:nvSpPr>
        <p:spPr>
          <a:xfrm>
            <a:off x="2276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15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15"/>
          <p:cNvSpPr txBox="1"/>
          <p:nvPr>
            <p:ph idx="7" type="body"/>
          </p:nvPr>
        </p:nvSpPr>
        <p:spPr>
          <a:xfrm>
            <a:off x="3991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15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15"/>
          <p:cNvSpPr txBox="1"/>
          <p:nvPr>
            <p:ph idx="9" type="body"/>
          </p:nvPr>
        </p:nvSpPr>
        <p:spPr>
          <a:xfrm>
            <a:off x="5705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15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15"/>
          <p:cNvSpPr txBox="1"/>
          <p:nvPr>
            <p:ph idx="14" type="body"/>
          </p:nvPr>
        </p:nvSpPr>
        <p:spPr>
          <a:xfrm>
            <a:off x="7420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1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16" name="Google Shape;216;p16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16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1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2" name="Google Shape;222;p17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3" name="Google Shape;223;p17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9" name="Google Shape;229;p18"/>
          <p:cNvSpPr txBox="1"/>
          <p:nvPr>
            <p:ph idx="1" type="body"/>
          </p:nvPr>
        </p:nvSpPr>
        <p:spPr>
          <a:xfrm>
            <a:off x="617220" y="2537460"/>
            <a:ext cx="6515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55"/>
              </a:spcBef>
              <a:spcAft>
                <a:spcPts val="0"/>
              </a:spcAft>
              <a:buClr>
                <a:srgbClr val="D6DAF2"/>
              </a:buClr>
              <a:buSzPts val="1275"/>
              <a:buFont typeface="Arial"/>
              <a:buNone/>
              <a:defRPr b="0" i="0" sz="12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0" name="Google Shape;230;p18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8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1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6" name="Google Shape;236;p1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1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19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9" name="Google Shape;239;p19"/>
          <p:cNvSpPr txBox="1"/>
          <p:nvPr>
            <p:ph idx="5" type="body"/>
          </p:nvPr>
        </p:nvSpPr>
        <p:spPr>
          <a:xfrm>
            <a:off x="2811780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19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19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19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1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1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19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6" name="Google Shape;246;p19"/>
          <p:cNvSpPr txBox="1"/>
          <p:nvPr>
            <p:ph idx="15" type="body"/>
          </p:nvPr>
        </p:nvSpPr>
        <p:spPr>
          <a:xfrm>
            <a:off x="7084314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19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19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1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 1">
  <p:cSld name="S17_TWO_EXERCISES_1"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idx="1" type="body"/>
          </p:nvPr>
        </p:nvSpPr>
        <p:spPr>
          <a:xfrm>
            <a:off x="4512564" y="109728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2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2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2pPr>
            <a:lvl3pPr lvl="2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3pPr>
            <a:lvl4pPr lvl="3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4pPr>
            <a:lvl5pPr lvl="4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5pPr>
            <a:lvl6pPr lvl="5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6pPr>
            <a:lvl7pPr lvl="6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7pPr>
            <a:lvl8pPr lvl="7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8pPr>
            <a:lvl9pPr lvl="8">
              <a:spcBef>
                <a:spcPts val="0"/>
              </a:spcBef>
              <a:spcAft>
                <a:spcPts val="0"/>
              </a:spcAft>
              <a:buSzPts val="1425"/>
              <a:buNone/>
              <a:defRPr sz="1425"/>
            </a:lvl9pPr>
          </a:lstStyle>
          <a:p/>
        </p:txBody>
      </p:sp>
      <p:sp>
        <p:nvSpPr>
          <p:cNvPr id="255" name="Google Shape;255;p20"/>
          <p:cNvSpPr txBox="1"/>
          <p:nvPr>
            <p:ph idx="3" type="body"/>
          </p:nvPr>
        </p:nvSpPr>
        <p:spPr>
          <a:xfrm>
            <a:off x="877824" y="111099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25"/>
              <a:buFont typeface="Arial"/>
              <a:buNone/>
              <a:defRPr b="1" i="0" sz="1425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4" type="body"/>
          </p:nvPr>
        </p:nvSpPr>
        <p:spPr>
          <a:xfrm>
            <a:off x="240030" y="109728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20"/>
          <p:cNvSpPr txBox="1"/>
          <p:nvPr>
            <p:ph idx="5" type="body"/>
          </p:nvPr>
        </p:nvSpPr>
        <p:spPr>
          <a:xfrm>
            <a:off x="411480" y="161163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988" lvl="0" marL="457200" marR="0" algn="l">
              <a:spcBef>
                <a:spcPts val="225"/>
              </a:spcBef>
              <a:spcAft>
                <a:spcPts val="0"/>
              </a:spcAft>
              <a:buClr>
                <a:srgbClr val="222540"/>
              </a:buClr>
              <a:buSzPts val="825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193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193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193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193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193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193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193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525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6" type="body"/>
          </p:nvPr>
        </p:nvSpPr>
        <p:spPr>
          <a:xfrm>
            <a:off x="2811780" y="2338578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25"/>
              </a:spcBef>
              <a:spcAft>
                <a:spcPts val="0"/>
              </a:spcAft>
              <a:buClr>
                <a:srgbClr val="9DA3D4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7" type="body"/>
          </p:nvPr>
        </p:nvSpPr>
        <p:spPr>
          <a:xfrm>
            <a:off x="630936" y="2462022"/>
            <a:ext cx="3607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5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20"/>
          <p:cNvSpPr/>
          <p:nvPr/>
        </p:nvSpPr>
        <p:spPr>
          <a:xfrm>
            <a:off x="411480" y="36785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Font typeface="Roboto"/>
              <a:buNone/>
            </a:pPr>
            <a:r>
              <a:rPr b="1" i="0" lang="en-US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>
            <p:ph idx="8" type="body"/>
          </p:nvPr>
        </p:nvSpPr>
        <p:spPr>
          <a:xfrm>
            <a:off x="411480" y="408051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25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9" type="body"/>
          </p:nvPr>
        </p:nvSpPr>
        <p:spPr>
          <a:xfrm>
            <a:off x="5150358" y="111099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25"/>
              <a:buFont typeface="Arial"/>
              <a:buNone/>
              <a:defRPr b="1" i="0" sz="1425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13" type="body"/>
          </p:nvPr>
        </p:nvSpPr>
        <p:spPr>
          <a:xfrm>
            <a:off x="4684014" y="161163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988" lvl="0" marL="457200" marR="0" algn="l">
              <a:spcBef>
                <a:spcPts val="225"/>
              </a:spcBef>
              <a:spcAft>
                <a:spcPts val="0"/>
              </a:spcAft>
              <a:buClr>
                <a:srgbClr val="222540"/>
              </a:buClr>
              <a:buSzPts val="825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193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193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193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193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193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193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25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193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525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14" type="body"/>
          </p:nvPr>
        </p:nvSpPr>
        <p:spPr>
          <a:xfrm>
            <a:off x="7084314" y="2338578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25"/>
              </a:spcBef>
              <a:spcAft>
                <a:spcPts val="0"/>
              </a:spcAft>
              <a:buClr>
                <a:srgbClr val="9DA3D4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20"/>
          <p:cNvSpPr txBox="1"/>
          <p:nvPr>
            <p:ph idx="15" type="body"/>
          </p:nvPr>
        </p:nvSpPr>
        <p:spPr>
          <a:xfrm>
            <a:off x="4903470" y="2462022"/>
            <a:ext cx="3607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5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20"/>
          <p:cNvSpPr/>
          <p:nvPr/>
        </p:nvSpPr>
        <p:spPr>
          <a:xfrm>
            <a:off x="4684014" y="36785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Font typeface="Roboto"/>
              <a:buNone/>
            </a:pPr>
            <a:r>
              <a:rPr b="1" i="0" lang="en-US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>
            <p:ph idx="16" type="body"/>
          </p:nvPr>
        </p:nvSpPr>
        <p:spPr>
          <a:xfrm>
            <a:off x="4684014" y="408051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25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2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</a:pPr>
            <a:r>
              <a:rPr b="1" lang="en-US" sz="31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Handling Errors in Python</a:t>
            </a:r>
            <a:endParaRPr sz="3150"/>
          </a:p>
        </p:txBody>
      </p:sp>
      <p:sp>
        <p:nvSpPr>
          <p:cNvPr id="274" name="Google Shape;274;p21"/>
          <p:cNvSpPr txBox="1"/>
          <p:nvPr>
            <p:ph idx="2" type="body"/>
          </p:nvPr>
        </p:nvSpPr>
        <p:spPr>
          <a:xfrm>
            <a:off x="576026" y="3274031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-US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try / except — write code that survives the unexpected, instead of crashing on it.</a:t>
            </a:r>
            <a:endParaRPr sz="11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Exception Handling?</a:t>
            </a:r>
            <a:endParaRPr sz="2100"/>
          </a:p>
        </p:txBody>
      </p:sp>
      <p:sp>
        <p:nvSpPr>
          <p:cNvPr id="281" name="Google Shape;281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sz="1350"/>
          </a:p>
        </p:txBody>
      </p:sp>
      <p:sp>
        <p:nvSpPr>
          <p:cNvPr id="282" name="Google Shape;282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Bad input, missing files, network hiccups —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things go wrong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at runtime.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unhandled exception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stops the program immediately, wherever it happens.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We want to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anticipate failure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recover gracefully instead of crashing.</a:t>
            </a:r>
            <a:endParaRPr sz="1050"/>
          </a:p>
        </p:txBody>
      </p:sp>
      <p:pic>
        <p:nvPicPr>
          <p:cNvPr descr="Code screenshot: why_exception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623695"/>
            <a:ext cx="4090797" cy="217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-US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Note:  </a:t>
            </a:r>
            <a:r>
              <a:rPr b="0" i="0" lang="en-US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 uncaught exception halts the whole program instantly — nothing after it runs.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Basic try / except Syntax</a:t>
            </a:r>
            <a:endParaRPr sz="2100"/>
          </a:p>
        </p:txBody>
      </p:sp>
      <p:sp>
        <p:nvSpPr>
          <p:cNvPr id="291" name="Google Shape;291;p2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How it's written</a:t>
            </a:r>
            <a:endParaRPr sz="1350"/>
          </a:p>
        </p:txBody>
      </p:sp>
      <p:sp>
        <p:nvSpPr>
          <p:cNvPr id="292" name="Google Shape;292;p2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Code that might fail goes inside the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block.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an exception occurs, control jumps to the matching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except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block.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program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keeps running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afterward instead of crashing.</a:t>
            </a:r>
            <a:endParaRPr sz="1050"/>
          </a:p>
        </p:txBody>
      </p:sp>
      <p:pic>
        <p:nvPicPr>
          <p:cNvPr descr="Code screenshot: basic_try_except" id="293" name="Google Shape;2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144678"/>
            <a:ext cx="4090796" cy="3128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How It Flows</a:t>
            </a:r>
            <a:endParaRPr sz="2100"/>
          </a:p>
        </p:txBody>
      </p:sp>
      <p:sp>
        <p:nvSpPr>
          <p:cNvPr id="299" name="Google Shape;299;p24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Try block</a:t>
            </a:r>
            <a:endParaRPr sz="938"/>
          </a:p>
          <a:p>
            <a:pPr indent="0" lvl="0" marL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runs normally</a:t>
            </a:r>
            <a:endParaRPr sz="938"/>
          </a:p>
        </p:txBody>
      </p:sp>
      <p:sp>
        <p:nvSpPr>
          <p:cNvPr id="300" name="Google Shape;300;p24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b="1"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Exception</a:t>
            </a:r>
            <a:endParaRPr sz="938"/>
          </a:p>
          <a:p>
            <a:pPr indent="0" lvl="0" marL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b="1"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occurs</a:t>
            </a:r>
            <a:endParaRPr sz="938"/>
          </a:p>
        </p:txBody>
      </p:sp>
      <p:sp>
        <p:nvSpPr>
          <p:cNvPr id="301" name="Google Shape;301;p24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Python finds a</a:t>
            </a:r>
            <a:endParaRPr sz="938"/>
          </a:p>
          <a:p>
            <a:pPr indent="0" lvl="0" marL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matching except</a:t>
            </a:r>
            <a:endParaRPr sz="938"/>
          </a:p>
        </p:txBody>
      </p:sp>
      <p:sp>
        <p:nvSpPr>
          <p:cNvPr id="302" name="Google Shape;302;p24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b="1"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Except runs,</a:t>
            </a:r>
            <a:endParaRPr sz="938"/>
          </a:p>
          <a:p>
            <a:pPr indent="0" lvl="0" marL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None/>
            </a:pPr>
            <a:r>
              <a:rPr b="1" lang="en-US" sz="9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program continues</a:t>
            </a:r>
            <a:endParaRPr sz="938"/>
          </a:p>
        </p:txBody>
      </p:sp>
      <p:sp>
        <p:nvSpPr>
          <p:cNvPr id="303" name="Google Shape;303;p24"/>
          <p:cNvSpPr txBox="1"/>
          <p:nvPr>
            <p:ph idx="6" type="body"/>
          </p:nvPr>
        </p:nvSpPr>
        <p:spPr>
          <a:xfrm>
            <a:off x="480060" y="2571750"/>
            <a:ext cx="8160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 exception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occurs, every except block is skipped entirely.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Only the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first matching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except runs — Python stops looking after that.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Code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whole try/except block always continues, either way.</a:t>
            </a:r>
            <a:endParaRPr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Catching Specific Exceptions</a:t>
            </a:r>
            <a:endParaRPr sz="2100"/>
          </a:p>
        </p:txBody>
      </p:sp>
      <p:sp>
        <p:nvSpPr>
          <p:cNvPr id="310" name="Google Shape;310;p25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Name the exception</a:t>
            </a:r>
            <a:endParaRPr sz="1350"/>
          </a:p>
        </p:txBody>
      </p:sp>
      <p:sp>
        <p:nvSpPr>
          <p:cNvPr id="311" name="Google Shape;311;p25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Catch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only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exception type you expect — never a bare `except:`.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Different problems get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different except blocks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each with its own fix.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Unexpected errors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still crash loudly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instead of being hidden by accident.</a:t>
            </a:r>
            <a:endParaRPr sz="1050"/>
          </a:p>
        </p:txBody>
      </p:sp>
      <p:pic>
        <p:nvPicPr>
          <p:cNvPr descr="Code screenshot: catch_specific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659845"/>
            <a:ext cx="4090796" cy="209812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-US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Caution:  </a:t>
            </a:r>
            <a:r>
              <a:rPr b="0" i="0" lang="en-US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avoid bare except: — it silently catches everything, including typos, making bugs hard to find.</a:t>
            </a:r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Catching Multiple Exceptions</a:t>
            </a:r>
            <a:endParaRPr sz="2100"/>
          </a:p>
        </p:txBody>
      </p:sp>
      <p:sp>
        <p:nvSpPr>
          <p:cNvPr id="320" name="Google Shape;320;p2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block, several types</a:t>
            </a:r>
            <a:endParaRPr sz="1350"/>
          </a:p>
        </p:txBody>
      </p:sp>
      <p:sp>
        <p:nvSpPr>
          <p:cNvPr id="321" name="Google Shape;321;p2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Group related exception types in a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except (KeyError, ValueError):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this when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the same fix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applies to more than one failure mode.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Keep unrelated exceptions in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separate except blocks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their own handling.</a:t>
            </a:r>
            <a:endParaRPr sz="1050"/>
          </a:p>
        </p:txBody>
      </p:sp>
      <p:pic>
        <p:nvPicPr>
          <p:cNvPr descr="Code screenshot: catch_multiple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921903"/>
            <a:ext cx="4090796" cy="157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Exception Object</a:t>
            </a:r>
            <a:endParaRPr sz="2100"/>
          </a:p>
        </p:txBody>
      </p:sp>
      <p:sp>
        <p:nvSpPr>
          <p:cNvPr id="329" name="Google Shape;329;p2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Reading the error</a:t>
            </a:r>
            <a:endParaRPr sz="1350"/>
          </a:p>
        </p:txBody>
      </p:sp>
      <p:sp>
        <p:nvSpPr>
          <p:cNvPr id="330" name="Google Shape;330;p27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except ValueError as e: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captures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exception into a variable.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str(e) gives the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error message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Python generated for that exception.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type(e).__name__ tells you the </a:t>
            </a:r>
            <a:r>
              <a:rPr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exact exception class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was raised.</a:t>
            </a:r>
            <a:endParaRPr sz="1050"/>
          </a:p>
        </p:txBody>
      </p:sp>
      <p:pic>
        <p:nvPicPr>
          <p:cNvPr descr="Code screenshot: except_as_e"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608677"/>
            <a:ext cx="4090797" cy="2200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/>
              <a:t>Exercise</a:t>
            </a:r>
            <a:endParaRPr sz="3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Digits &amp; Length</a:t>
            </a:r>
            <a:endParaRPr sz="2100"/>
          </a:p>
        </p:txBody>
      </p:sp>
      <p:sp>
        <p:nvSpPr>
          <p:cNvPr descr="Step 1 badge" id="344" name="Google Shape;344;p2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346" name="Google Shape;346;p2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Numbers only</a:t>
            </a:r>
            <a:endParaRPr sz="1350"/>
          </a:p>
        </p:txBody>
      </p:sp>
      <p:sp>
        <p:nvSpPr>
          <p:cNvPr id="347" name="Google Shape;347;p29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Ask the user to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phone number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it is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 a number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print an error and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ask again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Stop only when the input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converts with int()</a:t>
            </a:r>
            <a:endParaRPr sz="975"/>
          </a:p>
        </p:txBody>
      </p:sp>
      <p:sp>
        <p:nvSpPr>
          <p:cNvPr id="348" name="Google Shape;348;p29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is_not_number </a:t>
            </a:r>
            <a:r>
              <a:rPr b="0" i="0" lang="en-US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is_not_number: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raw </a:t>
            </a:r>
            <a:r>
              <a:rPr b="0" i="0" lang="en-US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"Enter phone number: 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int(raw) -&gt; print OK, stop loop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print "Digits only, please"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p29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351" name="Google Shape;351;p29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abc  → Digits only, please. (ask again)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012345678 → OK</a:t>
            </a:r>
            <a:endParaRPr sz="900"/>
          </a:p>
        </p:txBody>
      </p:sp>
      <p:sp>
        <p:nvSpPr>
          <p:cNvPr descr="Step 2 badge" id="352" name="Google Shape;352;p2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354" name="Google Shape;354;p2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Fixed length input</a:t>
            </a:r>
            <a:endParaRPr sz="1350"/>
          </a:p>
        </p:txBody>
      </p:sp>
      <p:sp>
        <p:nvSpPr>
          <p:cNvPr id="355" name="Google Shape;355;p29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Ask the user to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phone number (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once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no loop)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it is a number, check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len()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9 or 10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OK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"Need 9-10 digits"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or the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error</a:t>
            </a:r>
            <a:endParaRPr sz="975"/>
          </a:p>
        </p:txBody>
      </p:sp>
      <p:sp>
        <p:nvSpPr>
          <p:cNvPr id="356" name="Google Shape;356;p29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raw </a:t>
            </a:r>
            <a:r>
              <a:rPr b="0" i="0" lang="en-US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"Enter phone number: 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convert raw with int()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if len is 9 or 10 -&gt; print "OK"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      else print "Need 9-10 digits"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print "Digits only, please"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29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359" name="Google Shape;359;p29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0123 → Need 9-10 digits.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0123456789 → OK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Carrier &amp; Bulk Check</a:t>
            </a:r>
            <a:endParaRPr sz="2100"/>
          </a:p>
        </p:txBody>
      </p:sp>
      <p:sp>
        <p:nvSpPr>
          <p:cNvPr descr="Step 3 badge" id="366" name="Google Shape;366;p3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125"/>
          </a:p>
        </p:txBody>
      </p:sp>
      <p:sp>
        <p:nvSpPr>
          <p:cNvPr id="368" name="Google Shape;368;p3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Phone carrier prefix</a:t>
            </a:r>
            <a:endParaRPr sz="1350"/>
          </a:p>
        </p:txBody>
      </p:sp>
      <p:sp>
        <p:nvSpPr>
          <p:cNvPr id="369" name="Google Shape;369;p30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the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carrier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dict: each name holds a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 of prefixes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Ask the user to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phone number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Search for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number[0:3]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if no name has it,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catch KeyError</a:t>
            </a:r>
            <a:endParaRPr sz="975"/>
          </a:p>
        </p:txBody>
      </p:sp>
      <p:sp>
        <p:nvSpPr>
          <p:cNvPr id="370" name="Google Shape;370;p30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carrier </a:t>
            </a:r>
            <a:r>
              <a:rPr b="0" i="0" lang="en-US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"smart"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"010"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"070"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"016"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"cellcard"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"011"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"012"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"092"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input a phone number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print the name that owns number[0:3]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KeyError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print "Unknown carrier"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30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373" name="Google Shape;373;p30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0921234567 → cellcard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0161234567 → smart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0991234567 → Unknown carrier</a:t>
            </a:r>
            <a:endParaRPr sz="900"/>
          </a:p>
        </p:txBody>
      </p:sp>
      <p:sp>
        <p:nvSpPr>
          <p:cNvPr descr="Step 4 badge" id="374" name="Google Shape;374;p3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125"/>
          </a:p>
        </p:txBody>
      </p:sp>
      <p:sp>
        <p:nvSpPr>
          <p:cNvPr id="376" name="Google Shape;376;p3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Check many numbers</a:t>
            </a:r>
            <a:endParaRPr sz="1350"/>
          </a:p>
        </p:txBody>
      </p:sp>
      <p:sp>
        <p:nvSpPr>
          <p:cNvPr id="377" name="Google Shape;377;p30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Ask the user to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how many numbers to check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Then ask the user to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many phone numbers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the count is </a:t>
            </a:r>
            <a:r>
              <a:rPr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 a number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print an error</a:t>
            </a:r>
            <a:endParaRPr sz="975"/>
          </a:p>
        </p:txBody>
      </p:sp>
      <p:sp>
        <p:nvSpPr>
          <p:cNvPr id="378" name="Google Shape;378;p30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input "How many numbers? 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convert the answer with int()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repeat that many times: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      input "Phone: " and print it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-US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-US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TODO: print "Please type a number"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30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381" name="Google Shape;381;p30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How many numbers? two → Please type a number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-US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How many numbers? 2 → asks Phone: twice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