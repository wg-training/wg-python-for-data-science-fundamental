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2e95555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92e95555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92e95555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92e95555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92e95555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92e95555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0f2dbec82_6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0f2dbec82_6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0f2dbec82_6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92e95555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92e95555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92e95555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92e95555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92e955551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92e95555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92e955551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92e955551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1b8c42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81b8c42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f2dbec82_6_8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f0f2dbec82_6_8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0f2dbec82_6_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44" name="Google Shape;44;p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type="title"/>
          </p:nvPr>
        </p:nvSpPr>
        <p:spPr>
          <a:xfrm>
            <a:off x="265500" y="315378"/>
            <a:ext cx="40452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9pPr>
          </a:lstStyle>
          <a:p/>
        </p:txBody>
      </p:sp>
      <p:sp>
        <p:nvSpPr>
          <p:cNvPr id="61" name="Google Shape;61;p8"/>
          <p:cNvSpPr txBox="1"/>
          <p:nvPr>
            <p:ph idx="1" type="subTitle"/>
          </p:nvPr>
        </p:nvSpPr>
        <p:spPr>
          <a:xfrm>
            <a:off x="265500" y="1552899"/>
            <a:ext cx="40452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8"/>
          <p:cNvSpPr txBox="1"/>
          <p:nvPr>
            <p:ph idx="2" type="title"/>
          </p:nvPr>
        </p:nvSpPr>
        <p:spPr>
          <a:xfrm>
            <a:off x="4835400" y="310575"/>
            <a:ext cx="40452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3" type="subTitle"/>
          </p:nvPr>
        </p:nvSpPr>
        <p:spPr>
          <a:xfrm>
            <a:off x="4835400" y="1564718"/>
            <a:ext cx="40452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7" name="Google Shape;67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9" name="Google Shape;79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1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2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95" name="Google Shape;95;p12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Module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Python Modules?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11480" y="1165860"/>
            <a:ext cx="3909000" cy="3429000"/>
          </a:xfrm>
          <a:prstGeom prst="roundRect">
            <a:avLst>
              <a:gd fmla="val 16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617220" y="1337310"/>
            <a:ext cx="349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❌  Without Modules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17220" y="1714500"/>
            <a:ext cx="3497700" cy="891600"/>
          </a:xfrm>
          <a:prstGeom prst="roundRect">
            <a:avLst>
              <a:gd fmla="val 4615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68096" y="1810512"/>
            <a:ext cx="3195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all_my_code.py  (500+ lines!)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greet(): ...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add(): ...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draw_chart(): ...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17220" y="2743200"/>
            <a:ext cx="34977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Hard to find anything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Hard to share functions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Easy to break by accident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 teamwork possible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94860" y="1165860"/>
            <a:ext cx="3909000" cy="3429000"/>
          </a:xfrm>
          <a:prstGeom prst="roundRect">
            <a:avLst>
              <a:gd fmla="val 16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800600" y="1337310"/>
            <a:ext cx="349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✅  With Modules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00600" y="1714500"/>
            <a:ext cx="3497700" cy="685800"/>
          </a:xfrm>
          <a:prstGeom prst="roundRect">
            <a:avLst>
              <a:gd fmla="val 6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951476" y="1810512"/>
            <a:ext cx="3195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greetings.py  |  math_tools.py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938"/>
              <a:buFont typeface="Courier New"/>
              <a:buNone/>
            </a:pPr>
            <a:r>
              <a:rPr b="0" i="0" lang="en" sz="938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charts.py      |  each &lt; 100 lines</a:t>
            </a:r>
            <a:endParaRPr b="0" i="0" sz="9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800600" y="2606040"/>
            <a:ext cx="34977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Easy to navigate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Reuse across projects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Test independently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Char char="•"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Collaborate with a team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 </a:t>
            </a:r>
            <a:r>
              <a:rPr lang="en"/>
              <a:t>Moduel?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11480" y="1131570"/>
            <a:ext cx="809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Roboto"/>
              <a:buNone/>
            </a:pPr>
            <a:r>
              <a:rPr b="0" i="0" lang="en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module is simply a </a:t>
            </a:r>
            <a:r>
              <a:rPr b="1" i="0" lang="en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.py file</a:t>
            </a:r>
            <a:r>
              <a:rPr b="0" i="0" lang="en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you can import.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11480" y="1440180"/>
            <a:ext cx="809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75"/>
              <a:buFont typeface="Roboto"/>
              <a:buNone/>
            </a:pPr>
            <a:r>
              <a:rPr b="0" i="1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📁  Think of a module like a toolbox — each file holds related tools, and you only open the box you need, when you need it.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11480" y="2023110"/>
            <a:ext cx="2537400" cy="2400300"/>
          </a:xfrm>
          <a:prstGeom prst="roundRect">
            <a:avLst>
              <a:gd fmla="val 2286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82930" y="222885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Roboto"/>
              <a:buNone/>
            </a:pPr>
            <a:r>
              <a:rPr b="1" i="0" lang="en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🏛️  Built-in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82930" y="2640330"/>
            <a:ext cx="21945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Ships with Python. No install needed.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82930" y="373761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os, math, random, datetime…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54680" y="2023110"/>
            <a:ext cx="2537400" cy="2400300"/>
          </a:xfrm>
          <a:prstGeom prst="roundRect">
            <a:avLst>
              <a:gd fmla="val 2286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326130" y="222885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Roboto"/>
              <a:buNone/>
            </a:pPr>
            <a:r>
              <a:rPr b="1" i="0" lang="en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📦  Third-party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326130" y="2640330"/>
            <a:ext cx="21945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Made by the community. Install with pip.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326130" y="373761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requests, numpy, pandas…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897880" y="2023110"/>
            <a:ext cx="2537400" cy="2400300"/>
          </a:xfrm>
          <a:prstGeom prst="roundRect">
            <a:avLst>
              <a:gd fmla="val 2286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069330" y="222885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Roboto"/>
              <a:buNone/>
            </a:pPr>
            <a:r>
              <a:rPr b="1" i="0" lang="en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✍️  Your own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069330" y="2640330"/>
            <a:ext cx="21945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Files you write yourself. Save as .py and import!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069330" y="373761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my_tools.py, utils.py…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265500" y="315378"/>
            <a:ext cx="40452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Using Python Modules</a:t>
            </a:r>
            <a:endParaRPr sz="2600"/>
          </a:p>
        </p:txBody>
      </p:sp>
      <p:sp>
        <p:nvSpPr>
          <p:cNvPr id="146" name="Google Shape;146;p19"/>
          <p:cNvSpPr txBox="1"/>
          <p:nvPr>
            <p:ph idx="2" type="title"/>
          </p:nvPr>
        </p:nvSpPr>
        <p:spPr>
          <a:xfrm>
            <a:off x="4835400" y="310575"/>
            <a:ext cx="40452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>
            <p:ph idx="3" type="subTitle"/>
          </p:nvPr>
        </p:nvSpPr>
        <p:spPr>
          <a:xfrm>
            <a:off x="4835400" y="1564718"/>
            <a:ext cx="40452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11480" y="126873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411480" y="126873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822950" y="1234448"/>
            <a:ext cx="35661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Type </a:t>
            </a:r>
            <a:r>
              <a:rPr b="0" i="0" lang="en" sz="1013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import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the module </a:t>
            </a:r>
            <a:r>
              <a:rPr b="0" i="0" lang="en" sz="1013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name 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— no quotes needed.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11480" y="192024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11480" y="192024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822960" y="1885950"/>
            <a:ext cx="3566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Access anything inside using </a:t>
            </a:r>
            <a:r>
              <a:rPr b="0" i="0" lang="en" sz="1013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module.something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(dot notation).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11480" y="257175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411480" y="257175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822950" y="2537452"/>
            <a:ext cx="35661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Python searches your project folder</a:t>
            </a:r>
            <a:r>
              <a:rPr lang="en" sz="101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then </a:t>
            </a:r>
            <a:r>
              <a:rPr lang="en" sz="101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its standard library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425" y="1234450"/>
            <a:ext cx="4265125" cy="15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11480" y="219456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SYNTAX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11480" y="425196"/>
            <a:ext cx="4389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Roboto"/>
              <a:buNone/>
            </a:pPr>
            <a:r>
              <a:rPr b="1" i="0" lang="en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b="1" i="0" lang="en" sz="18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Alias</a:t>
            </a:r>
            <a:r>
              <a:rPr b="1" i="0" lang="en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" sz="18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from...import</a:t>
            </a:r>
            <a:endParaRPr b="0" i="0" sz="18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11480" y="1165860"/>
            <a:ext cx="3977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from … import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Import only what you need — keeps the namespace clean.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from_import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80210"/>
            <a:ext cx="284218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411480" y="3840480"/>
            <a:ext cx="3977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34924" y="39913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740664" y="3840480"/>
            <a:ext cx="35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avoid from math import * — it imports everything and can silently overwrite your own variable names.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4913757" y="582930"/>
            <a:ext cx="3840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import … as  (alias)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975"/>
              <a:buFont typeface="Roboto"/>
              <a:buNone/>
            </a:pPr>
            <a:r>
              <a:rPr b="0" i="0" lang="en" sz="9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Give a module a shorter nickname — very common in data science.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alias_import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3757" y="1268730"/>
            <a:ext cx="3789576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Python's built-in modules covers most everyday tasks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11480" y="120015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82930" y="133731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💻  os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82930" y="166649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File &amp; folder operations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82930" y="222885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os.listdir('.')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175254" y="120015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346704" y="133731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🔢  math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346704" y="166649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Math functions &amp; constants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3346704" y="222885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math.sqrt(144)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939028" y="120015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110478" y="133731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🎲  random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110478" y="166649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Random numbers &amp; choices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110478" y="222885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random.choice(list)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11480" y="284607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82930" y="298323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📅  datetime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82930" y="331241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Dates and times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82930" y="38747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datetime.date.today()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175254" y="284607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3346704" y="298323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📄  json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346704" y="331241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Read/write JSON data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346704" y="38747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json.loads(text)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939028" y="2846070"/>
            <a:ext cx="2571900" cy="1474500"/>
          </a:xfrm>
          <a:prstGeom prst="roundRect">
            <a:avLst>
              <a:gd fmla="val 372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6110478" y="298323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Roboto"/>
              <a:buNone/>
            </a:pPr>
            <a:r>
              <a:rPr b="1" i="0" lang="en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⚙️  sys</a:t>
            </a:r>
            <a:endParaRPr b="0" i="0" sz="11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110478" y="3312414"/>
            <a:ext cx="22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Roboto"/>
              <a:buNone/>
            </a:pP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Python interpreter info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110478" y="38747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0" i="1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sys.argv[1]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500,000+ Packages via pip install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mgs/code_hl/pip_install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65860"/>
            <a:ext cx="3413323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411480" y="2743200"/>
            <a:ext cx="1885800" cy="1234500"/>
          </a:xfrm>
          <a:prstGeom prst="roundRect">
            <a:avLst>
              <a:gd fmla="val 4444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48640" y="2880360"/>
            <a:ext cx="16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requests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48640" y="3209544"/>
            <a:ext cx="161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63"/>
              <a:buFont typeface="Roboto"/>
              <a:buNone/>
            </a:pP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HTTP calls — fetch web pages &amp; APIs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448306" y="2743200"/>
            <a:ext cx="1885800" cy="1234500"/>
          </a:xfrm>
          <a:prstGeom prst="roundRect">
            <a:avLst>
              <a:gd fmla="val 4444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2585466" y="2880360"/>
            <a:ext cx="16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585466" y="3209544"/>
            <a:ext cx="161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63"/>
              <a:buFont typeface="Roboto"/>
              <a:buNone/>
            </a:pP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Fast number crunching &amp; arrays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485132" y="2743200"/>
            <a:ext cx="1885800" cy="1234500"/>
          </a:xfrm>
          <a:prstGeom prst="roundRect">
            <a:avLst>
              <a:gd fmla="val 4444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4622292" y="2880360"/>
            <a:ext cx="16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622292" y="3209544"/>
            <a:ext cx="161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63"/>
              <a:buFont typeface="Roboto"/>
              <a:buNone/>
            </a:pP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Spreadsheet-style data analysis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521958" y="2743200"/>
            <a:ext cx="1885800" cy="1234500"/>
          </a:xfrm>
          <a:prstGeom prst="roundRect">
            <a:avLst>
              <a:gd fmla="val 4444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6659118" y="2880360"/>
            <a:ext cx="16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pillow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659118" y="3209544"/>
            <a:ext cx="161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63"/>
              <a:buFont typeface="Roboto"/>
              <a:buNone/>
            </a:pP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Open, edit &amp; save images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265500" y="315378"/>
            <a:ext cx="40452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own module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411480" y="1165860"/>
            <a:ext cx="39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STEP 1 — Create greetings.py</a:t>
            </a:r>
            <a:endParaRPr b="0" i="0" sz="975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reate_module_step1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05890"/>
            <a:ext cx="237154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4933107" y="1165850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STEP 2 — Import it in main.py</a:t>
            </a:r>
            <a:endParaRPr b="0" i="0" sz="97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reate_module_step2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107" y="1440170"/>
            <a:ext cx="2661278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4933107" y="270890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▶  Output:  </a:t>
            </a:r>
            <a:r>
              <a:rPr b="0" i="0" lang="en" sz="9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Hello, Alice!  Bye, Bob!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 code from running when import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411475" y="789203"/>
            <a:ext cx="80925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0038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25"/>
              <a:buFont typeface="Roboto"/>
              <a:buChar char="●"/>
            </a:pP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When you run a file directly, Python sets 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__name__</a:t>
            </a: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"__main__". </a:t>
            </a:r>
            <a:endParaRPr b="0" i="0" sz="1125" u="none" cap="none" strike="noStrike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0038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25"/>
              <a:buFont typeface="Roboto"/>
              <a:buChar char="●"/>
            </a:pP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When it's imported, __name__ is the module's file name instead.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name_main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80210"/>
            <a:ext cx="4436875" cy="198882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/>
          <p:nvPr/>
        </p:nvSpPr>
        <p:spPr>
          <a:xfrm>
            <a:off x="617220" y="3874770"/>
            <a:ext cx="384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Roboto"/>
              <a:buNone/>
            </a:pPr>
            <a:r>
              <a:rPr b="0" i="0" lang="en" sz="97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  </a:t>
            </a: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run python greetings.py</a:t>
            </a:r>
            <a:r>
              <a:rPr b="0" i="0" lang="en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 → prints 'Hello, Test User!'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663440" y="3874770"/>
            <a:ext cx="404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Roboto"/>
              <a:buNone/>
            </a:pPr>
            <a:r>
              <a:rPr b="0" i="0" lang="en" sz="97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  </a:t>
            </a: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import greetings</a:t>
            </a:r>
            <a:r>
              <a:rPr b="0" i="0" lang="en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elsewhere → nothing prints automatically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r>
              <a:rPr lang="en"/>
              <a:t> </a:t>
            </a:r>
            <a:r>
              <a:rPr lang="en"/>
              <a:t>exercises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/>
          <p:nvPr/>
        </p:nvSpPr>
        <p:spPr>
          <a:xfrm>
            <a:off x="411480" y="21945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🛠️  TRY IT YOURSELF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411480" y="425196"/>
            <a:ext cx="7543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950"/>
              <a:buFont typeface="Roboto"/>
              <a:buNone/>
            </a:pPr>
            <a:r>
              <a:rPr b="1" i="0" lang="en" sz="19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Build a Calculator Module in 5 Minutes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411480" y="1131570"/>
            <a:ext cx="39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📄  calc.py — your module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alc_module.png"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71600"/>
            <a:ext cx="3164673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/>
          <p:nvPr/>
        </p:nvSpPr>
        <p:spPr>
          <a:xfrm>
            <a:off x="4845177" y="1131570"/>
            <a:ext cx="39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📄  main.py — use your module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alc_main.png" id="255" name="Google Shape;2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5177" y="1371600"/>
            <a:ext cx="3475386" cy="178307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/>
          <p:nvPr/>
        </p:nvSpPr>
        <p:spPr>
          <a:xfrm>
            <a:off x="411480" y="3909060"/>
            <a:ext cx="80925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534924" y="405993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740664" y="3909060"/>
            <a:ext cx="7667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🎯  Challenge: add a multiply(a, b) and divide(a, b) function to calc.py.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