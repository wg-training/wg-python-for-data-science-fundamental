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2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</p:sldIdLst>
  <p:sldSz cy="5143500" cx="9144000"/>
  <p:notesSz cx="6858000" cy="9144000"/>
  <p:embeddedFontLst>
    <p:embeddedFont>
      <p:font typeface="Roboto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Roboto-italic.fntdata"/><Relationship Id="rId20" Type="http://schemas.openxmlformats.org/officeDocument/2006/relationships/slide" Target="slides/slide15.xml"/><Relationship Id="rId41" Type="http://schemas.openxmlformats.org/officeDocument/2006/relationships/font" Target="fonts/Roboto-boldItalic.fntdata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font" Target="fonts/Roboto-bold.fntdata"/><Relationship Id="rId16" Type="http://schemas.openxmlformats.org/officeDocument/2006/relationships/slide" Target="slides/slide11.xml"/><Relationship Id="rId38" Type="http://schemas.openxmlformats.org/officeDocument/2006/relationships/font" Target="fonts/Roboto-regular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e7d15d401d_0_1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e7d15d401d_0_1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eeb939ac0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eeb939ac0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dfd9fad44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dfd9fad44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eeb939ac0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eeb939ac0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eeb939ac01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eeb939ac01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eeb939ac01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eeb939ac01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f6131b007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3f6131b00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e7d15d401d_0_1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" name="Google Shape;215;g3e7d15d401d_0_1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f6131b007f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3f6131b007f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dfd9fad44b_0_374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0" name="Google Shape;230;g3dfd9fad44b_0_374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age = 15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age &gt;= 18: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print("Welcome")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else: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print("Sorry, too young")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g3dfd9fad44b_0_374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f6131b007f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f6131b007f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dfd9fad44b_0_10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dfd9fad44b_0_10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score = 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score &gt;= 90: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grade = "A"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elif score &gt;= 80: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grade = "B"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elif score &gt;= 70: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grade = "C"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else: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grade = "F"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print(f"Grade: {grade}")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f54fa2a405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f54fa2a405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f7bb517e4a_2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3f7bb517e4a_2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f7bb517e4a_2_77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6" name="Google Shape;296;g3f7bb517e4a_2_77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g3f7bb517e4a_2_77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f7bb517e4a_2_49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3f7bb517e4a_2_49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g3f7bb517e4a_2_49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3f7bb517e4a_2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" name="Google Shape;333;g3f7bb517e4a_2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dfd9fad44b_0_1123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8" name="Google Shape;338;g3dfd9fad44b_0_1123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g3dfd9fad44b_0_1123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f7bb517e4a_2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3f7bb517e4a_2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3dfd9fad44b_0_11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2" name="Google Shape;362;g3dfd9fad44b_0_11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3f81ac52ba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9" name="Google Shape;379;g3f81ac52ba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f81ac52baa_0_5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g3f81ac52baa_0_5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3f81ac52baa_0_30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" name="Google Shape;413;g3f81ac52baa_0_30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3f81ac52baa_0_55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g3f81ac52baa_0_55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3f81ac52baa_0_80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9" name="Google Shape;469;g3f81ac52baa_0_80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g3f6131b007f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7" name="Google Shape;497;g3f6131b007f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3f81ac52baa_0_105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3" name="Google Shape;503;g3f81ac52baa_0_105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7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g3f6131b007f_0_6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9" name="Google Shape;529;g3f6131b007f_0_6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g3f6131b007f_0_334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5" name="Google Shape;535;g3f6131b007f_0_334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f6131b007f_0_359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1" name="Google Shape;561;g3f6131b007f_0_359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f6131b007f_0_57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g3f6131b007f_0_57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g3f6131b007f_0_82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3" name="Google Shape;613;g3f6131b007f_0_82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1" name="Google Shape;11;p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1" name="Google Shape;21;p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" name="Google Shape;26;p3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" name="Google Shape;27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p4"/>
          <p:cNvGrpSpPr/>
          <p:nvPr/>
        </p:nvGrpSpPr>
        <p:grpSpPr>
          <a:xfrm>
            <a:off x="0" y="3903669"/>
            <a:ext cx="9144000" cy="1239925"/>
            <a:chOff x="0" y="3903669"/>
            <a:chExt cx="9144000" cy="1239925"/>
          </a:xfrm>
        </p:grpSpPr>
        <p:sp>
          <p:nvSpPr>
            <p:cNvPr id="30" name="Google Shape;30;p4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4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4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4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5" name="Google Shape;35;p4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36" name="Google Shape;36;p4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7" name="Google Shape;37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1">
  <p:cSld name="TITLE_AND_BODY_1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465804"/>
            <a:ext cx="2808000" cy="31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9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6" name="Google Shape;56;p9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9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9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9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" name="Google Shape;60;p9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1" name="Google Shape;61;p9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2" name="Google Shape;62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65" name="Google Shape;65;p10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" name="Google Shape;66;p10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67" name="Google Shape;67;p10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8" name="Google Shape;68;p10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9" name="Google Shape;69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1">
  <p:cSld name="SECTION_TITLE_AND_DESCRIPTION_1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3" name="Google Shape;73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5" name="Google Shape;75;p11"/>
          <p:cNvSpPr txBox="1"/>
          <p:nvPr>
            <p:ph idx="2" type="title"/>
          </p:nvPr>
        </p:nvSpPr>
        <p:spPr>
          <a:xfrm>
            <a:off x="4835400" y="12156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6" name="Google Shape;76;p11"/>
          <p:cNvSpPr txBox="1"/>
          <p:nvPr>
            <p:ph idx="3" type="subTitle"/>
          </p:nvPr>
        </p:nvSpPr>
        <p:spPr>
          <a:xfrm>
            <a:off x="4835400" y="277505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1 1">
  <p:cSld name="SECTION_TITLE_AND_DESCRIPTION_1_1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265500" y="445193"/>
            <a:ext cx="4045200" cy="6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300"/>
              <a:buNone/>
              <a:defRPr b="1" sz="23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300"/>
              <a:buNone/>
              <a:defRPr b="1" sz="23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300"/>
              <a:buNone/>
              <a:defRPr b="1" sz="23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300"/>
              <a:buNone/>
              <a:defRPr b="1" sz="23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300"/>
              <a:buNone/>
              <a:defRPr b="1" sz="23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300"/>
              <a:buNone/>
              <a:defRPr b="1" sz="23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300"/>
              <a:buNone/>
              <a:defRPr b="1" sz="23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300"/>
              <a:buNone/>
              <a:defRPr b="1" sz="23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300"/>
              <a:buNone/>
              <a:defRPr b="1" sz="2300"/>
            </a:lvl9pPr>
          </a:lstStyle>
          <a:p/>
        </p:txBody>
      </p:sp>
      <p:sp>
        <p:nvSpPr>
          <p:cNvPr id="80" name="Google Shape;80;p12"/>
          <p:cNvSpPr txBox="1"/>
          <p:nvPr>
            <p:ph idx="1" type="subTitle"/>
          </p:nvPr>
        </p:nvSpPr>
        <p:spPr>
          <a:xfrm>
            <a:off x="265500" y="1229375"/>
            <a:ext cx="4045200" cy="280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2" name="Google Shape;82;p12"/>
          <p:cNvSpPr txBox="1"/>
          <p:nvPr>
            <p:ph idx="2" type="title"/>
          </p:nvPr>
        </p:nvSpPr>
        <p:spPr>
          <a:xfrm>
            <a:off x="4835400" y="438389"/>
            <a:ext cx="4045200" cy="6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  <a:defRPr b="1" sz="23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  <a:defRPr b="1" sz="23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  <a:defRPr b="1" sz="23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  <a:defRPr b="1" sz="23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  <a:defRPr b="1" sz="23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  <a:defRPr b="1" sz="23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  <a:defRPr b="1" sz="23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  <a:defRPr b="1" sz="23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  <a:defRPr b="1" sz="23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3" name="Google Shape;83;p12"/>
          <p:cNvSpPr txBox="1"/>
          <p:nvPr>
            <p:ph idx="3" type="subTitle"/>
          </p:nvPr>
        </p:nvSpPr>
        <p:spPr>
          <a:xfrm>
            <a:off x="4835400" y="1236636"/>
            <a:ext cx="4045200" cy="280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oogle Shape;88;p14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9" name="Google Shape;89;p14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" name="Google Shape;90;p14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14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14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" name="Google Shape;93;p14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4" name="Google Shape;94;p14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5" name="Google Shape;95;p14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6" name="Google Shape;96;p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bg>
      <p:bgPr>
        <a:solidFill>
          <a:schemeClr val="lt1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01" name="Google Shape;101;p1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16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" name="Google Shape;104;p1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" name="Google Shape;105;p1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6" name="Google Shape;106;p16"/>
          <p:cNvSpPr txBox="1"/>
          <p:nvPr>
            <p:ph type="ctrTitle"/>
          </p:nvPr>
        </p:nvSpPr>
        <p:spPr>
          <a:xfrm>
            <a:off x="235425" y="1775225"/>
            <a:ext cx="8584800" cy="195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9pPr>
          </a:lstStyle>
          <a:p/>
        </p:txBody>
      </p:sp>
      <p:sp>
        <p:nvSpPr>
          <p:cNvPr id="107" name="Google Shape;107;p16"/>
          <p:cNvSpPr txBox="1"/>
          <p:nvPr>
            <p:ph idx="1" type="subTitle"/>
          </p:nvPr>
        </p:nvSpPr>
        <p:spPr>
          <a:xfrm>
            <a:off x="36100" y="4230261"/>
            <a:ext cx="8222100" cy="8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08" name="Google Shape;108;p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 1">
  <p:cSld name="TITLE_1_1">
    <p:bg>
      <p:bgPr>
        <a:solidFill>
          <a:schemeClr val="lt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0" name="Google Shape;110;p17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11" name="Google Shape;111;p17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7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7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7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7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6" name="Google Shape;116;p17"/>
          <p:cNvSpPr txBox="1"/>
          <p:nvPr>
            <p:ph type="ctrTitle"/>
          </p:nvPr>
        </p:nvSpPr>
        <p:spPr>
          <a:xfrm>
            <a:off x="235425" y="1775225"/>
            <a:ext cx="8584800" cy="195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9pPr>
          </a:lstStyle>
          <a:p/>
        </p:txBody>
      </p:sp>
      <p:sp>
        <p:nvSpPr>
          <p:cNvPr id="117" name="Google Shape;117;p17"/>
          <p:cNvSpPr txBox="1"/>
          <p:nvPr>
            <p:ph idx="1" type="subTitle"/>
          </p:nvPr>
        </p:nvSpPr>
        <p:spPr>
          <a:xfrm>
            <a:off x="36100" y="4230261"/>
            <a:ext cx="8222100" cy="8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8" name="Google Shape;118;p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9" name="Google Shape;119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9225" y="228600"/>
            <a:ext cx="6109998" cy="1270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dfd70bf31d_14_0)">
  <p:cSld name="Generated (g3dfd70bf31d_14_0)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g3dfd70bf31d_28_0)">
  <p:cSld name="Title and body (g3dfd70bf31d_28_0)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123" name="Google Shape;123;p19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24" name="Google Shape;124;p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g3dfd70bf31d_35_0)">
  <p:cSld name="Title and body (g3dfd70bf31d_35_0)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0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127" name="Google Shape;127;p20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28" name="Google Shape;128;p2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g3e19afcda42_8_0)">
  <p:cSld name="Title and body (g3e19afcda42_8_0)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1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131" name="Google Shape;131;p21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2" name="Google Shape;132;p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g3e19afcda42_29_0)">
  <p:cSld name="Title and body (g3e19afcda42_29_0)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2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135" name="Google Shape;135;p22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6" name="Google Shape;136;p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2_CONTENT_BULLETS">
  <p:cSld name="S02_CONTENT_BULLETS">
    <p:bg>
      <p:bgPr>
        <a:solidFill>
          <a:srgbClr val="FFFFFF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4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0" name="Google Shape;140;p24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9pPr>
          </a:lstStyle>
          <a:p/>
        </p:txBody>
      </p:sp>
      <p:sp>
        <p:nvSpPr>
          <p:cNvPr id="141" name="Google Shape;141;p24"/>
          <p:cNvSpPr txBox="1"/>
          <p:nvPr>
            <p:ph idx="2" type="body"/>
          </p:nvPr>
        </p:nvSpPr>
        <p:spPr>
          <a:xfrm>
            <a:off x="480060" y="1062990"/>
            <a:ext cx="8160900" cy="294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048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2" name="Google Shape;142;p24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4_SECTION_BREAK_NAVY">
  <p:cSld name="S14_SECTION_BREAK_NAVY">
    <p:bg>
      <p:bgPr>
        <a:solidFill>
          <a:srgbClr val="2A3480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5"/>
          <p:cNvSpPr/>
          <p:nvPr/>
        </p:nvSpPr>
        <p:spPr>
          <a:xfrm>
            <a:off x="8291322" y="-521208"/>
            <a:ext cx="1371600" cy="1371600"/>
          </a:xfrm>
          <a:prstGeom prst="rect">
            <a:avLst/>
          </a:prstGeom>
          <a:solidFill>
            <a:srgbClr val="EC5F82">
              <a:alpha val="2196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25"/>
          <p:cNvSpPr txBox="1"/>
          <p:nvPr>
            <p:ph type="title"/>
          </p:nvPr>
        </p:nvSpPr>
        <p:spPr>
          <a:xfrm>
            <a:off x="617220" y="1988820"/>
            <a:ext cx="75438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"/>
              <a:buNone/>
              <a:defRPr b="1" i="0" sz="30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/>
        </p:txBody>
      </p:sp>
      <p:sp>
        <p:nvSpPr>
          <p:cNvPr id="146" name="Google Shape;146;p25"/>
          <p:cNvSpPr txBox="1"/>
          <p:nvPr>
            <p:ph idx="1" type="body"/>
          </p:nvPr>
        </p:nvSpPr>
        <p:spPr>
          <a:xfrm>
            <a:off x="617220" y="2846070"/>
            <a:ext cx="6858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210"/>
              </a:spcBef>
              <a:spcAft>
                <a:spcPts val="0"/>
              </a:spcAft>
              <a:buClr>
                <a:srgbClr val="EC5F82"/>
              </a:buClr>
              <a:buSzPts val="1050"/>
              <a:buFont typeface="Arial"/>
              <a:buNone/>
              <a:defRPr b="1" i="0" sz="105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7" name="Google Shape;147;p25"/>
          <p:cNvSpPr txBox="1"/>
          <p:nvPr>
            <p:ph idx="2" type="body"/>
          </p:nvPr>
        </p:nvSpPr>
        <p:spPr>
          <a:xfrm>
            <a:off x="617220" y="3120390"/>
            <a:ext cx="65151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225"/>
              </a:spcBef>
              <a:spcAft>
                <a:spcPts val="0"/>
              </a:spcAft>
              <a:buClr>
                <a:srgbClr val="D6DAF2"/>
              </a:buClr>
              <a:buSzPts val="1125"/>
              <a:buFont typeface="Arial"/>
              <a:buNone/>
              <a:defRPr b="0" i="0" sz="1125" u="none" cap="none" strike="noStrike">
                <a:solidFill>
                  <a:srgbClr val="D6DAF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0" lvl="0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gif"/><Relationship Id="rId5" Type="http://schemas.openxmlformats.org/officeDocument/2006/relationships/hyperlink" Target="https://programiz.pro/code-visualizer/python" TargetMode="External"/><Relationship Id="rId6" Type="http://schemas.openxmlformats.org/officeDocument/2006/relationships/hyperlink" Target="https://pythontutor.com/visualize.html#mode=display" TargetMode="External"/><Relationship Id="rId7" Type="http://schemas.openxmlformats.org/officeDocument/2006/relationships/hyperlink" Target="https://learn-code-with-vengleab.vercel.app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gif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gif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6"/>
          <p:cNvSpPr txBox="1"/>
          <p:nvPr>
            <p:ph type="ctrTitle"/>
          </p:nvPr>
        </p:nvSpPr>
        <p:spPr>
          <a:xfrm>
            <a:off x="235425" y="1775225"/>
            <a:ext cx="8584800" cy="195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Control Flows</a:t>
            </a:r>
            <a:endParaRPr/>
          </a:p>
        </p:txBody>
      </p:sp>
      <p:sp>
        <p:nvSpPr>
          <p:cNvPr id="154" name="Google Shape;154;p26"/>
          <p:cNvSpPr txBox="1"/>
          <p:nvPr>
            <p:ph idx="1" type="subTitle"/>
          </p:nvPr>
        </p:nvSpPr>
        <p:spPr>
          <a:xfrm>
            <a:off x="36100" y="4230261"/>
            <a:ext cx="8222100" cy="8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do we need control flow?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8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do we need control flow?</a:t>
            </a:r>
            <a:endParaRPr/>
          </a:p>
        </p:txBody>
      </p:sp>
      <p:sp>
        <p:nvSpPr>
          <p:cNvPr id="165" name="Google Shape;165;p28"/>
          <p:cNvSpPr/>
          <p:nvPr/>
        </p:nvSpPr>
        <p:spPr>
          <a:xfrm>
            <a:off x="411480" y="1131570"/>
            <a:ext cx="80925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125"/>
              <a:buFont typeface="Roboto"/>
              <a:buNone/>
            </a:pPr>
            <a:r>
              <a:rPr b="0" i="0" lang="en" sz="1125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🚦  A traffic light checks conditions: </a:t>
            </a:r>
            <a:r>
              <a:rPr b="1" i="0" lang="en" sz="1125" u="none" cap="none" strike="noStrike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red</a:t>
            </a:r>
            <a:r>
              <a:rPr b="0" i="0" lang="en" sz="1125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→ stop, </a:t>
            </a:r>
            <a:r>
              <a:rPr b="1" i="0" lang="en" sz="1125" u="none" cap="none" strike="noStrike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green</a:t>
            </a:r>
            <a:r>
              <a:rPr b="0" i="0" lang="en" sz="1125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→ go, </a:t>
            </a:r>
            <a:r>
              <a:rPr b="1" i="0" lang="en" sz="1125" u="none" cap="none" strike="noStrike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yellow</a:t>
            </a:r>
            <a:r>
              <a:rPr b="0" i="0" lang="en" sz="1125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→ slow down. Your Python code does the same thing!</a:t>
            </a:r>
            <a:endParaRPr b="0" i="0" sz="112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28"/>
          <p:cNvSpPr/>
          <p:nvPr/>
        </p:nvSpPr>
        <p:spPr>
          <a:xfrm>
            <a:off x="411480" y="1783080"/>
            <a:ext cx="2537400" cy="2537400"/>
          </a:xfrm>
          <a:prstGeom prst="roundRect">
            <a:avLst>
              <a:gd fmla="val 2162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28"/>
          <p:cNvSpPr/>
          <p:nvPr/>
        </p:nvSpPr>
        <p:spPr>
          <a:xfrm>
            <a:off x="582930" y="1988820"/>
            <a:ext cx="21945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275"/>
              <a:buFont typeface="Roboto"/>
              <a:buNone/>
            </a:pPr>
            <a:r>
              <a:rPr b="1" i="0" lang="en" sz="1275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🎮  Game</a:t>
            </a:r>
            <a:endParaRPr b="0" i="0" sz="127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8"/>
          <p:cNvSpPr/>
          <p:nvPr/>
        </p:nvSpPr>
        <p:spPr>
          <a:xfrm>
            <a:off x="582930" y="2468880"/>
            <a:ext cx="21945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50"/>
              <a:buFont typeface="Roboto"/>
              <a:buNone/>
            </a:pPr>
            <a:r>
              <a:rPr b="0" i="1" lang="en" sz="105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Is health &gt; 0?</a:t>
            </a:r>
            <a:endParaRPr b="0" i="0" sz="10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8"/>
          <p:cNvSpPr/>
          <p:nvPr/>
        </p:nvSpPr>
        <p:spPr>
          <a:xfrm>
            <a:off x="582930" y="3017520"/>
            <a:ext cx="219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013"/>
              <a:buFont typeface="Roboto"/>
              <a:buNone/>
            </a:pPr>
            <a:r>
              <a:rPr b="1" i="0" lang="en" sz="1013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→ Keep playing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8"/>
          <p:cNvSpPr/>
          <p:nvPr/>
        </p:nvSpPr>
        <p:spPr>
          <a:xfrm>
            <a:off x="582930" y="3360420"/>
            <a:ext cx="219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085"/>
              </a:buClr>
              <a:buSzPts val="1013"/>
              <a:buFont typeface="Roboto"/>
              <a:buNone/>
            </a:pPr>
            <a:r>
              <a:rPr b="1" i="0" lang="en" sz="1013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→ Game over</a:t>
            </a:r>
            <a:endParaRPr b="0" i="0" sz="101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28"/>
          <p:cNvSpPr/>
          <p:nvPr/>
        </p:nvSpPr>
        <p:spPr>
          <a:xfrm>
            <a:off x="3154680" y="1783080"/>
            <a:ext cx="2537400" cy="2537400"/>
          </a:xfrm>
          <a:prstGeom prst="roundRect">
            <a:avLst>
              <a:gd fmla="val 2162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28"/>
          <p:cNvSpPr/>
          <p:nvPr/>
        </p:nvSpPr>
        <p:spPr>
          <a:xfrm>
            <a:off x="3326130" y="1988820"/>
            <a:ext cx="21945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275"/>
              <a:buFont typeface="Roboto"/>
              <a:buNone/>
            </a:pPr>
            <a:r>
              <a:rPr b="1" i="0" lang="en" sz="1275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🏦  Banking</a:t>
            </a:r>
            <a:endParaRPr b="0" i="0" sz="127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8"/>
          <p:cNvSpPr/>
          <p:nvPr/>
        </p:nvSpPr>
        <p:spPr>
          <a:xfrm>
            <a:off x="3326130" y="2468880"/>
            <a:ext cx="21945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50"/>
              <a:buFont typeface="Roboto"/>
              <a:buNone/>
            </a:pPr>
            <a:r>
              <a:rPr b="0" i="1" lang="en" sz="105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Is balance enough?</a:t>
            </a:r>
            <a:endParaRPr b="0" i="0" sz="10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8"/>
          <p:cNvSpPr/>
          <p:nvPr/>
        </p:nvSpPr>
        <p:spPr>
          <a:xfrm>
            <a:off x="3326130" y="3017520"/>
            <a:ext cx="219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013"/>
              <a:buFont typeface="Roboto"/>
              <a:buNone/>
            </a:pPr>
            <a:r>
              <a:rPr b="1" i="0" lang="en" sz="1013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→ Allow transfer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28"/>
          <p:cNvSpPr/>
          <p:nvPr/>
        </p:nvSpPr>
        <p:spPr>
          <a:xfrm>
            <a:off x="3326130" y="3360420"/>
            <a:ext cx="219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085"/>
              </a:buClr>
              <a:buSzPts val="1013"/>
              <a:buFont typeface="Roboto"/>
              <a:buNone/>
            </a:pPr>
            <a:r>
              <a:rPr b="1" lang="en" sz="1013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→ Decline</a:t>
            </a:r>
            <a:endParaRPr b="1" sz="1013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" name="Google Shape;176;p28"/>
          <p:cNvSpPr/>
          <p:nvPr/>
        </p:nvSpPr>
        <p:spPr>
          <a:xfrm>
            <a:off x="5897880" y="1783080"/>
            <a:ext cx="2537400" cy="2537400"/>
          </a:xfrm>
          <a:prstGeom prst="roundRect">
            <a:avLst>
              <a:gd fmla="val 2162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28"/>
          <p:cNvSpPr/>
          <p:nvPr/>
        </p:nvSpPr>
        <p:spPr>
          <a:xfrm>
            <a:off x="6069330" y="1988820"/>
            <a:ext cx="21945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275"/>
              <a:buFont typeface="Roboto"/>
              <a:buNone/>
            </a:pPr>
            <a:r>
              <a:rPr b="1" i="0" lang="en" sz="1275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🌤️  Weather App</a:t>
            </a:r>
            <a:endParaRPr b="0" i="0" sz="127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28"/>
          <p:cNvSpPr/>
          <p:nvPr/>
        </p:nvSpPr>
        <p:spPr>
          <a:xfrm>
            <a:off x="6069330" y="2468880"/>
            <a:ext cx="21945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50"/>
              <a:buFont typeface="Roboto"/>
              <a:buNone/>
            </a:pPr>
            <a:r>
              <a:rPr b="0" i="1" lang="en" sz="105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Is temp &lt; 10°C?</a:t>
            </a:r>
            <a:endParaRPr b="0" i="0" sz="10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28"/>
          <p:cNvSpPr/>
          <p:nvPr/>
        </p:nvSpPr>
        <p:spPr>
          <a:xfrm>
            <a:off x="6069330" y="3017520"/>
            <a:ext cx="219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013"/>
              <a:buFont typeface="Roboto"/>
              <a:buNone/>
            </a:pPr>
            <a:r>
              <a:rPr b="1" i="0" lang="en" sz="1013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→ Show coat icon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8"/>
          <p:cNvSpPr/>
          <p:nvPr/>
        </p:nvSpPr>
        <p:spPr>
          <a:xfrm>
            <a:off x="6069330" y="3360420"/>
            <a:ext cx="219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085"/>
              </a:buClr>
              <a:buSzPts val="1013"/>
              <a:buFont typeface="Roboto"/>
              <a:buNone/>
            </a:pPr>
            <a:r>
              <a:rPr b="1" lang="en" sz="1013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→ Show sun icon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9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control flow?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0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control flow?</a:t>
            </a:r>
            <a:endParaRPr/>
          </a:p>
        </p:txBody>
      </p:sp>
      <p:pic>
        <p:nvPicPr>
          <p:cNvPr id="191" name="Google Shape;191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07275" y="1584425"/>
            <a:ext cx="4267200" cy="240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30"/>
          <p:cNvSpPr/>
          <p:nvPr/>
        </p:nvSpPr>
        <p:spPr>
          <a:xfrm>
            <a:off x="461125" y="839397"/>
            <a:ext cx="80925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200"/>
              <a:buFont typeface="Roboto"/>
              <a:buNone/>
            </a:pPr>
            <a:r>
              <a:rPr b="0" i="0" lang="en" sz="1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Control flow structures allow you to dictate the order in which </a:t>
            </a:r>
            <a:r>
              <a:rPr b="0" i="0" lang="en" sz="1600" u="none" cap="none" strike="noStrike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statements</a:t>
            </a:r>
            <a:r>
              <a:rPr b="0" i="0" lang="en" sz="1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execute in your program.</a:t>
            </a:r>
            <a:endParaRPr b="0" i="0" sz="16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30"/>
          <p:cNvSpPr/>
          <p:nvPr/>
        </p:nvSpPr>
        <p:spPr>
          <a:xfrm>
            <a:off x="461130" y="1584430"/>
            <a:ext cx="68580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Roboto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Python manages control flow using 2 core structures</a:t>
            </a:r>
            <a:endParaRPr b="0" i="0" sz="9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30"/>
          <p:cNvSpPr/>
          <p:nvPr/>
        </p:nvSpPr>
        <p:spPr>
          <a:xfrm>
            <a:off x="461130" y="2064490"/>
            <a:ext cx="342900" cy="3429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30"/>
          <p:cNvSpPr/>
          <p:nvPr/>
        </p:nvSpPr>
        <p:spPr>
          <a:xfrm>
            <a:off x="461130" y="2064490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30"/>
          <p:cNvSpPr/>
          <p:nvPr/>
        </p:nvSpPr>
        <p:spPr>
          <a:xfrm>
            <a:off x="975477" y="1995900"/>
            <a:ext cx="420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238"/>
              <a:buFont typeface="Roboto"/>
              <a:buNone/>
            </a:pPr>
            <a:r>
              <a:rPr b="1" i="0" lang="en" sz="1238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Conditional Statements</a:t>
            </a:r>
            <a:endParaRPr b="0" i="0" sz="1238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30"/>
          <p:cNvSpPr/>
          <p:nvPr/>
        </p:nvSpPr>
        <p:spPr>
          <a:xfrm>
            <a:off x="975477" y="2304514"/>
            <a:ext cx="42027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13"/>
              <a:buFont typeface="Roboto"/>
              <a:buNone/>
            </a:pPr>
            <a:r>
              <a:rPr b="0" i="0" lang="en" sz="1013" u="none" cap="none" strike="noStrike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if </a:t>
            </a:r>
            <a:r>
              <a:rPr b="0" i="0" lang="en" sz="101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/ </a:t>
            </a:r>
            <a:r>
              <a:rPr b="0" i="0" lang="en" sz="1013" u="none" cap="none" strike="noStrike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elif </a:t>
            </a:r>
            <a:r>
              <a:rPr b="0" i="0" lang="en" sz="101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/ </a:t>
            </a:r>
            <a:r>
              <a:rPr b="0" i="0" lang="en" sz="1013" u="none" cap="none" strike="noStrike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else </a:t>
            </a:r>
            <a:r>
              <a:rPr b="0" i="0" lang="en" sz="101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— branch based on</a:t>
            </a:r>
            <a:r>
              <a:rPr b="0" i="0" lang="en" sz="1013" u="none" cap="none" strike="noStrik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 True/False</a:t>
            </a:r>
            <a:r>
              <a:rPr b="0" i="0" lang="en" sz="101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checks.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30"/>
          <p:cNvSpPr/>
          <p:nvPr/>
        </p:nvSpPr>
        <p:spPr>
          <a:xfrm>
            <a:off x="461130" y="3024610"/>
            <a:ext cx="342900" cy="3429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30"/>
          <p:cNvSpPr/>
          <p:nvPr/>
        </p:nvSpPr>
        <p:spPr>
          <a:xfrm>
            <a:off x="461130" y="3024610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30"/>
          <p:cNvSpPr/>
          <p:nvPr/>
        </p:nvSpPr>
        <p:spPr>
          <a:xfrm>
            <a:off x="975477" y="2956032"/>
            <a:ext cx="420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238"/>
              <a:buFont typeface="Roboto"/>
              <a:buNone/>
            </a:pPr>
            <a:r>
              <a:rPr b="1" i="0" lang="en" sz="1238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Loop &amp; Transfer Statements</a:t>
            </a:r>
            <a:endParaRPr b="0" i="0" sz="1238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30"/>
          <p:cNvSpPr/>
          <p:nvPr/>
        </p:nvSpPr>
        <p:spPr>
          <a:xfrm>
            <a:off x="975477" y="3264646"/>
            <a:ext cx="42027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13"/>
              <a:buFont typeface="Roboto"/>
              <a:buNone/>
            </a:pPr>
            <a:r>
              <a:rPr b="0" i="0" lang="en" sz="101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Repeat code and control iteration (covered in a later lesson).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Conditional Statements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2"/>
          <p:cNvSpPr txBox="1"/>
          <p:nvPr>
            <p:ph type="ctrTitle"/>
          </p:nvPr>
        </p:nvSpPr>
        <p:spPr>
          <a:xfrm>
            <a:off x="235425" y="1775225"/>
            <a:ext cx="8584800" cy="195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The `</a:t>
            </a:r>
            <a:r>
              <a:rPr lang="en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if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` Statement</a:t>
            </a:r>
            <a:endParaRPr/>
          </a:p>
        </p:txBody>
      </p:sp>
      <p:sp>
        <p:nvSpPr>
          <p:cNvPr id="212" name="Google Shape;212;p32"/>
          <p:cNvSpPr txBox="1"/>
          <p:nvPr>
            <p:ph idx="1" type="subTitle"/>
          </p:nvPr>
        </p:nvSpPr>
        <p:spPr>
          <a:xfrm>
            <a:off x="36100" y="4230261"/>
            <a:ext cx="8222100" cy="8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3"/>
          <p:cNvSpPr txBox="1"/>
          <p:nvPr>
            <p:ph type="title"/>
          </p:nvPr>
        </p:nvSpPr>
        <p:spPr>
          <a:xfrm>
            <a:off x="265500" y="445193"/>
            <a:ext cx="4045200" cy="63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91400" lIns="91400" spcFirstLastPara="1" rIns="91400" wrap="square" tIns="91400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20">
                <a:solidFill>
                  <a:srgbClr val="2A3990"/>
                </a:solidFill>
                <a:latin typeface="Roboto"/>
                <a:ea typeface="Roboto"/>
                <a:cs typeface="Roboto"/>
                <a:sym typeface="Roboto"/>
              </a:rPr>
              <a:t>Control Flows</a:t>
            </a:r>
            <a:r>
              <a:rPr b="1" lang="en" sz="2520">
                <a:solidFill>
                  <a:srgbClr val="2A3990"/>
                </a:solidFill>
                <a:latin typeface="Roboto"/>
                <a:ea typeface="Roboto"/>
                <a:cs typeface="Roboto"/>
                <a:sym typeface="Roboto"/>
              </a:rPr>
              <a:t>: The `</a:t>
            </a:r>
            <a:r>
              <a:rPr b="1" lang="en" sz="252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if</a:t>
            </a:r>
            <a:r>
              <a:rPr b="1" lang="en" sz="2520">
                <a:solidFill>
                  <a:srgbClr val="2A3990"/>
                </a:solidFill>
                <a:latin typeface="Roboto"/>
                <a:ea typeface="Roboto"/>
                <a:cs typeface="Roboto"/>
                <a:sym typeface="Roboto"/>
              </a:rPr>
              <a:t>` Statement</a:t>
            </a:r>
            <a:endParaRPr b="1" sz="2520">
              <a:solidFill>
                <a:srgbClr val="2A399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8" name="Google Shape;218;p33"/>
          <p:cNvSpPr/>
          <p:nvPr/>
        </p:nvSpPr>
        <p:spPr>
          <a:xfrm>
            <a:off x="419680" y="1344595"/>
            <a:ext cx="39777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50"/>
              <a:buFont typeface="Roboto"/>
              <a:buNone/>
            </a:pPr>
            <a:r>
              <a:rPr lang="en" sz="125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”If”</a:t>
            </a:r>
            <a:r>
              <a:rPr b="0" i="0" lang="en" sz="1250" u="none" cap="none" strike="noStrike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b="0" i="0" lang="en" sz="125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statements let us control the order code runs in, based on conditions.</a:t>
            </a:r>
            <a:endParaRPr b="0" i="0" sz="12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33"/>
          <p:cNvSpPr/>
          <p:nvPr/>
        </p:nvSpPr>
        <p:spPr>
          <a:xfrm>
            <a:off x="419680" y="1927525"/>
            <a:ext cx="39777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00831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38"/>
              <a:buFont typeface="Roboto"/>
              <a:buChar char="●"/>
            </a:pPr>
            <a:r>
              <a:rPr b="1" i="0" lang="en" sz="1138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if</a:t>
            </a:r>
            <a:r>
              <a:rPr b="0" i="0" lang="en" sz="1138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keyword — starts the decision check</a:t>
            </a:r>
            <a:endParaRPr b="0" i="0" sz="1138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0831" lvl="0" marL="4572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138"/>
              <a:buFont typeface="Roboto"/>
              <a:buChar char="●"/>
            </a:pPr>
            <a:r>
              <a:rPr b="1" i="0" lang="en" sz="1138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condition</a:t>
            </a:r>
            <a:r>
              <a:rPr b="0" i="0" lang="en" sz="1138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— an expression that is True or False</a:t>
            </a:r>
            <a:endParaRPr b="0" i="0" sz="1138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0831" lvl="0" marL="4572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138"/>
              <a:buFont typeface="Roboto"/>
              <a:buChar char="●"/>
            </a:pPr>
            <a:r>
              <a:rPr b="1" lang="en" sz="1138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r>
              <a:rPr b="0" i="0" lang="en" sz="1138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colon — REQUIRED at the end of the line</a:t>
            </a:r>
            <a:endParaRPr b="0" i="0" sz="1138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0831" lvl="0" marL="457200" marR="0" rtl="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138"/>
              <a:buFont typeface="Roboto"/>
              <a:buChar char="●"/>
            </a:pPr>
            <a:r>
              <a:rPr b="1" i="0" lang="en" sz="1138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indented block</a:t>
            </a:r>
            <a:r>
              <a:rPr b="0" i="0" lang="en" sz="1138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— only runs if condition is True</a:t>
            </a:r>
            <a:endParaRPr b="0" i="0" sz="1138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./imgs/code_hl/if_stmt.png" id="220" name="Google Shape;2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87932" y="1245155"/>
            <a:ext cx="3840480" cy="1583482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33"/>
          <p:cNvSpPr txBox="1"/>
          <p:nvPr>
            <p:ph idx="2" type="title"/>
          </p:nvPr>
        </p:nvSpPr>
        <p:spPr>
          <a:xfrm>
            <a:off x="4835400" y="438389"/>
            <a:ext cx="4045200" cy="6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Sample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4"/>
          <p:cNvSpPr txBox="1"/>
          <p:nvPr>
            <p:ph type="ctrTitle"/>
          </p:nvPr>
        </p:nvSpPr>
        <p:spPr>
          <a:xfrm>
            <a:off x="235425" y="1775225"/>
            <a:ext cx="8584800" cy="195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Control flow: `</a:t>
            </a:r>
            <a:r>
              <a:rPr lang="en">
                <a:solidFill>
                  <a:schemeClr val="accent4"/>
                </a:solidFill>
              </a:rPr>
              <a:t>else</a:t>
            </a:r>
            <a:r>
              <a:rPr lang="en"/>
              <a:t>` Statement - A Backup Plan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7" name="Google Shape;227;p34"/>
          <p:cNvSpPr txBox="1"/>
          <p:nvPr>
            <p:ph idx="1" type="subTitle"/>
          </p:nvPr>
        </p:nvSpPr>
        <p:spPr>
          <a:xfrm>
            <a:off x="36100" y="4230261"/>
            <a:ext cx="8222100" cy="8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5"/>
          <p:cNvSpPr txBox="1"/>
          <p:nvPr>
            <p:ph type="title"/>
          </p:nvPr>
        </p:nvSpPr>
        <p:spPr>
          <a:xfrm>
            <a:off x="265500" y="445193"/>
            <a:ext cx="4045200" cy="6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Control flow: `</a:t>
            </a:r>
            <a:r>
              <a:rPr lang="en">
                <a:solidFill>
                  <a:schemeClr val="accent4"/>
                </a:solidFill>
              </a:rPr>
              <a:t>else</a:t>
            </a:r>
            <a:r>
              <a:rPr lang="en"/>
              <a:t>` Statement - A Backup Plan</a:t>
            </a:r>
            <a:endParaRPr/>
          </a:p>
        </p:txBody>
      </p:sp>
      <p:sp>
        <p:nvSpPr>
          <p:cNvPr id="234" name="Google Shape;234;p35"/>
          <p:cNvSpPr txBox="1"/>
          <p:nvPr>
            <p:ph idx="1" type="subTitle"/>
          </p:nvPr>
        </p:nvSpPr>
        <p:spPr>
          <a:xfrm>
            <a:off x="265500" y="1504625"/>
            <a:ext cx="4045200" cy="253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4"/>
                </a:solidFill>
              </a:rPr>
              <a:t>Program to check age:</a:t>
            </a:r>
            <a:endParaRPr b="1">
              <a:solidFill>
                <a:schemeClr val="accent4"/>
              </a:solidFill>
            </a:endParaRPr>
          </a:p>
        </p:txBody>
      </p:sp>
      <p:sp>
        <p:nvSpPr>
          <p:cNvPr id="235" name="Google Shape;235;p35"/>
          <p:cNvSpPr txBox="1"/>
          <p:nvPr>
            <p:ph idx="2" type="title"/>
          </p:nvPr>
        </p:nvSpPr>
        <p:spPr>
          <a:xfrm>
            <a:off x="4835400" y="438389"/>
            <a:ext cx="4045200" cy="6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Sample</a:t>
            </a:r>
            <a:endParaRPr/>
          </a:p>
        </p:txBody>
      </p:sp>
      <p:pic>
        <p:nvPicPr>
          <p:cNvPr descr="./imgs/code_hl/else_stmt.png" id="236" name="Google Shape;236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905" y="1125685"/>
            <a:ext cx="2673372" cy="1371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7" name="Google Shape;237;p35"/>
          <p:cNvGrpSpPr/>
          <p:nvPr/>
        </p:nvGrpSpPr>
        <p:grpSpPr>
          <a:xfrm>
            <a:off x="192600" y="2089525"/>
            <a:ext cx="4191000" cy="2000100"/>
            <a:chOff x="4762500" y="952500"/>
            <a:chExt cx="4191000" cy="2000100"/>
          </a:xfrm>
        </p:grpSpPr>
        <p:sp>
          <p:nvSpPr>
            <p:cNvPr id="238" name="Google Shape;238;p35"/>
            <p:cNvSpPr/>
            <p:nvPr/>
          </p:nvSpPr>
          <p:spPr>
            <a:xfrm>
              <a:off x="4762500" y="952500"/>
              <a:ext cx="4191000" cy="2000100"/>
            </a:xfrm>
            <a:prstGeom prst="roundRect">
              <a:avLst>
                <a:gd fmla="val 4761" name="adj"/>
              </a:avLst>
            </a:prstGeom>
            <a:solidFill>
              <a:srgbClr val="F8FAFC"/>
            </a:solidFill>
            <a:ln cap="flat" cmpd="sng" w="9525">
              <a:solidFill>
                <a:srgbClr val="CBD5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" name="Google Shape;239;p35"/>
            <p:cNvSpPr/>
            <p:nvPr/>
          </p:nvSpPr>
          <p:spPr>
            <a:xfrm>
              <a:off x="6000750" y="1095375"/>
              <a:ext cx="1714500" cy="381000"/>
            </a:xfrm>
            <a:prstGeom prst="roundRect">
              <a:avLst>
                <a:gd fmla="val 12500" name="adj"/>
              </a:avLst>
            </a:prstGeom>
            <a:solidFill>
              <a:srgbClr val="30699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" name="Google Shape;240;p35"/>
            <p:cNvSpPr txBox="1"/>
            <p:nvPr/>
          </p:nvSpPr>
          <p:spPr>
            <a:xfrm>
              <a:off x="6000750" y="1095375"/>
              <a:ext cx="1714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age &gt;= 18?</a:t>
              </a:r>
              <a:endParaRPr b="1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241" name="Google Shape;241;p35"/>
            <p:cNvCxnSpPr/>
            <p:nvPr/>
          </p:nvCxnSpPr>
          <p:spPr>
            <a:xfrm flipH="1">
              <a:off x="5715000" y="1476375"/>
              <a:ext cx="762000" cy="381000"/>
            </a:xfrm>
            <a:prstGeom prst="straightConnector1">
              <a:avLst/>
            </a:prstGeom>
            <a:solidFill>
              <a:srgbClr val="FFFFFF"/>
            </a:solidFill>
            <a:ln cap="flat" cmpd="sng" w="19050">
              <a:solidFill>
                <a:srgbClr val="38A169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35"/>
            <p:cNvCxnSpPr/>
            <p:nvPr/>
          </p:nvCxnSpPr>
          <p:spPr>
            <a:xfrm>
              <a:off x="7239000" y="1476375"/>
              <a:ext cx="762000" cy="381000"/>
            </a:xfrm>
            <a:prstGeom prst="straightConnector1">
              <a:avLst/>
            </a:prstGeom>
            <a:solidFill>
              <a:srgbClr val="FFFFFF"/>
            </a:solidFill>
            <a:ln cap="flat" cmpd="sng" w="19050">
              <a:solidFill>
                <a:srgbClr val="E53E3E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43" name="Google Shape;243;p35"/>
            <p:cNvSpPr txBox="1"/>
            <p:nvPr/>
          </p:nvSpPr>
          <p:spPr>
            <a:xfrm>
              <a:off x="5524500" y="1524000"/>
              <a:ext cx="762000" cy="238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38A169"/>
                  </a:solidFill>
                  <a:latin typeface="Roboto"/>
                  <a:ea typeface="Roboto"/>
                  <a:cs typeface="Roboto"/>
                  <a:sym typeface="Roboto"/>
                </a:rPr>
                <a:t>TRUE</a:t>
              </a:r>
              <a:endParaRPr b="1" sz="1000">
                <a:solidFill>
                  <a:srgbClr val="38A169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44" name="Google Shape;244;p35"/>
            <p:cNvSpPr txBox="1"/>
            <p:nvPr/>
          </p:nvSpPr>
          <p:spPr>
            <a:xfrm>
              <a:off x="7429500" y="1524000"/>
              <a:ext cx="762000" cy="238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E53E3E"/>
                  </a:solidFill>
                  <a:latin typeface="Roboto"/>
                  <a:ea typeface="Roboto"/>
                  <a:cs typeface="Roboto"/>
                  <a:sym typeface="Roboto"/>
                </a:rPr>
                <a:t>FALSE</a:t>
              </a:r>
              <a:endParaRPr b="1" sz="1000">
                <a:solidFill>
                  <a:srgbClr val="E53E3E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45" name="Google Shape;245;p35"/>
            <p:cNvSpPr/>
            <p:nvPr/>
          </p:nvSpPr>
          <p:spPr>
            <a:xfrm>
              <a:off x="4953000" y="1857375"/>
              <a:ext cx="1524000" cy="476400"/>
            </a:xfrm>
            <a:prstGeom prst="roundRect">
              <a:avLst>
                <a:gd fmla="val 10000" name="adj"/>
              </a:avLst>
            </a:prstGeom>
            <a:solidFill>
              <a:srgbClr val="38A16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" name="Google Shape;246;p35"/>
            <p:cNvSpPr txBox="1"/>
            <p:nvPr/>
          </p:nvSpPr>
          <p:spPr>
            <a:xfrm>
              <a:off x="4953000" y="1857375"/>
              <a:ext cx="15240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"Welcome!"</a:t>
              </a:r>
              <a:endParaRPr b="1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47" name="Google Shape;247;p35"/>
            <p:cNvSpPr/>
            <p:nvPr/>
          </p:nvSpPr>
          <p:spPr>
            <a:xfrm>
              <a:off x="7239000" y="1857375"/>
              <a:ext cx="1524000" cy="476400"/>
            </a:xfrm>
            <a:prstGeom prst="roundRect">
              <a:avLst>
                <a:gd fmla="val 10000" name="adj"/>
              </a:avLst>
            </a:prstGeom>
            <a:solidFill>
              <a:srgbClr val="E53E3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" name="Google Shape;248;p35"/>
            <p:cNvSpPr txBox="1"/>
            <p:nvPr/>
          </p:nvSpPr>
          <p:spPr>
            <a:xfrm>
              <a:off x="7239000" y="1857375"/>
              <a:ext cx="15240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"Too young"</a:t>
              </a:r>
              <a:endParaRPr b="1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49" name="Google Shape;249;p35"/>
          <p:cNvSpPr/>
          <p:nvPr/>
        </p:nvSpPr>
        <p:spPr>
          <a:xfrm>
            <a:off x="4937707" y="2984050"/>
            <a:ext cx="3840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5F82"/>
              </a:buClr>
              <a:buSzPts val="900"/>
              <a:buFont typeface="Roboto"/>
              <a:buNone/>
            </a:pPr>
            <a:r>
              <a:rPr b="1" i="0" lang="en" sz="9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OUTPUT (age = 15)</a:t>
            </a:r>
            <a:endParaRPr b="0" i="0" sz="9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35"/>
          <p:cNvSpPr/>
          <p:nvPr/>
        </p:nvSpPr>
        <p:spPr>
          <a:xfrm>
            <a:off x="4937707" y="3326950"/>
            <a:ext cx="3703200" cy="617100"/>
          </a:xfrm>
          <a:prstGeom prst="roundRect">
            <a:avLst>
              <a:gd fmla="val 8889" name="adj"/>
            </a:avLst>
          </a:prstGeom>
          <a:solidFill>
            <a:srgbClr val="222A6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35"/>
          <p:cNvSpPr/>
          <p:nvPr/>
        </p:nvSpPr>
        <p:spPr>
          <a:xfrm>
            <a:off x="5143447" y="3326950"/>
            <a:ext cx="3360300" cy="61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Roboto"/>
              <a:buNone/>
            </a:pPr>
            <a:r>
              <a:rPr b="0" i="0" lang="en" sz="1125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▶  Sorry, too young 🚫</a:t>
            </a:r>
            <a:endParaRPr b="0" i="0" sz="112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35"/>
          <p:cNvSpPr/>
          <p:nvPr/>
        </p:nvSpPr>
        <p:spPr>
          <a:xfrm>
            <a:off x="4937707" y="4149910"/>
            <a:ext cx="38406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6DAF2"/>
              </a:buClr>
              <a:buSzPts val="975"/>
              <a:buFont typeface="Roboto"/>
              <a:buNone/>
            </a:pPr>
            <a:r>
              <a:rPr b="0" i="1" lang="en" sz="975" u="none" cap="none" strike="noStrike">
                <a:solidFill>
                  <a:srgbClr val="D6DAF2"/>
                </a:solidFill>
                <a:latin typeface="Roboto"/>
                <a:ea typeface="Roboto"/>
                <a:cs typeface="Roboto"/>
                <a:sym typeface="Roboto"/>
              </a:rPr>
              <a:t>Challenge: change age to 20 and re-run — what happens to the output?</a:t>
            </a:r>
            <a:endParaRPr b="0" i="0" sz="97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3" name="Google Shape;25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00988" y="2528025"/>
            <a:ext cx="4045201" cy="1591112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35"/>
          <p:cNvSpPr txBox="1"/>
          <p:nvPr/>
        </p:nvSpPr>
        <p:spPr>
          <a:xfrm>
            <a:off x="0" y="4264275"/>
            <a:ext cx="45858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2A3990"/>
                </a:solidFill>
              </a:rPr>
              <a:t>Code visualizer: </a:t>
            </a:r>
            <a:endParaRPr b="1" sz="900">
              <a:solidFill>
                <a:srgbClr val="2A3990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F06292"/>
              </a:buClr>
              <a:buSzPts val="900"/>
              <a:buChar char="●"/>
            </a:pPr>
            <a:r>
              <a:rPr b="1" lang="en" sz="900" u="sng">
                <a:solidFill>
                  <a:srgbClr val="F06292"/>
                </a:solidFill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https://programiz.pro/code-visualizer/python</a:t>
            </a:r>
            <a:endParaRPr b="1" sz="900">
              <a:solidFill>
                <a:srgbClr val="F06292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F06292"/>
              </a:buClr>
              <a:buSzPts val="900"/>
              <a:buChar char="●"/>
            </a:pPr>
            <a:r>
              <a:rPr b="1" lang="en" sz="900" u="sng">
                <a:solidFill>
                  <a:srgbClr val="F06292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https://pythontutor.com/visualize.html#mode=display</a:t>
            </a:r>
            <a:endParaRPr b="1" sz="900">
              <a:solidFill>
                <a:srgbClr val="F06292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F06292"/>
              </a:buClr>
              <a:buSzPts val="900"/>
              <a:buChar char="●"/>
            </a:pPr>
            <a:r>
              <a:rPr b="1" lang="en" sz="900" u="sng">
                <a:solidFill>
                  <a:srgbClr val="F06292"/>
                </a:solidFill>
                <a:hlinkClick r:id="rId7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https://learn-code-with-vengleab.vercel.app/</a:t>
            </a:r>
            <a:endParaRPr b="1" sz="900">
              <a:solidFill>
                <a:srgbClr val="F0629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6"/>
          <p:cNvSpPr txBox="1"/>
          <p:nvPr>
            <p:ph type="ctrTitle"/>
          </p:nvPr>
        </p:nvSpPr>
        <p:spPr>
          <a:xfrm>
            <a:off x="235425" y="1775225"/>
            <a:ext cx="8584800" cy="195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Control flow: `</a:t>
            </a:r>
            <a:r>
              <a:rPr lang="en">
                <a:solidFill>
                  <a:schemeClr val="accent4"/>
                </a:solidFill>
              </a:rPr>
              <a:t>elif</a:t>
            </a:r>
            <a:r>
              <a:rPr lang="en"/>
              <a:t>` Handles Multiple Scenarios</a:t>
            </a:r>
            <a:endParaRPr/>
          </a:p>
        </p:txBody>
      </p:sp>
      <p:sp>
        <p:nvSpPr>
          <p:cNvPr id="260" name="Google Shape;260;p36"/>
          <p:cNvSpPr txBox="1"/>
          <p:nvPr>
            <p:ph idx="1" type="subTitle"/>
          </p:nvPr>
        </p:nvSpPr>
        <p:spPr>
          <a:xfrm>
            <a:off x="36100" y="4230261"/>
            <a:ext cx="8222100" cy="8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7"/>
          <p:cNvSpPr txBox="1"/>
          <p:nvPr>
            <p:ph type="title"/>
          </p:nvPr>
        </p:nvSpPr>
        <p:spPr>
          <a:xfrm>
            <a:off x="265500" y="445193"/>
            <a:ext cx="4045200" cy="6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Control flow: </a:t>
            </a:r>
            <a:r>
              <a:rPr lang="en"/>
              <a:t>`</a:t>
            </a:r>
            <a:r>
              <a:rPr lang="en">
                <a:solidFill>
                  <a:schemeClr val="accent4"/>
                </a:solidFill>
              </a:rPr>
              <a:t>elif</a:t>
            </a:r>
            <a:r>
              <a:rPr lang="en"/>
              <a:t>`</a:t>
            </a:r>
            <a:r>
              <a:rPr lang="en"/>
              <a:t> Handles Multiple Scenarios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37"/>
          <p:cNvSpPr txBox="1"/>
          <p:nvPr>
            <p:ph idx="2" type="title"/>
          </p:nvPr>
        </p:nvSpPr>
        <p:spPr>
          <a:xfrm>
            <a:off x="4835400" y="438389"/>
            <a:ext cx="4045200" cy="6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Sample</a:t>
            </a:r>
            <a:endParaRPr/>
          </a:p>
        </p:txBody>
      </p:sp>
      <p:sp>
        <p:nvSpPr>
          <p:cNvPr id="267" name="Google Shape;267;p37"/>
          <p:cNvSpPr txBox="1"/>
          <p:nvPr>
            <p:ph idx="3" type="subTitle"/>
          </p:nvPr>
        </p:nvSpPr>
        <p:spPr>
          <a:xfrm>
            <a:off x="4835400" y="1236636"/>
            <a:ext cx="4045200" cy="280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37"/>
          <p:cNvSpPr/>
          <p:nvPr/>
        </p:nvSpPr>
        <p:spPr>
          <a:xfrm>
            <a:off x="405420" y="1985530"/>
            <a:ext cx="3977700" cy="493800"/>
          </a:xfrm>
          <a:prstGeom prst="roundRect">
            <a:avLst>
              <a:gd fmla="val 8333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37"/>
          <p:cNvSpPr/>
          <p:nvPr/>
        </p:nvSpPr>
        <p:spPr>
          <a:xfrm>
            <a:off x="576870" y="1985530"/>
            <a:ext cx="36348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013"/>
              <a:buFont typeface="Roboto"/>
              <a:buNone/>
            </a:pPr>
            <a:r>
              <a:rPr b="1" i="0" lang="en" sz="101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score &gt;= 90 ?   </a:t>
            </a:r>
            <a:r>
              <a:rPr b="1" i="0" lang="en" sz="1013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→ A — Excellent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37"/>
          <p:cNvSpPr/>
          <p:nvPr/>
        </p:nvSpPr>
        <p:spPr>
          <a:xfrm>
            <a:off x="405420" y="2589034"/>
            <a:ext cx="3977700" cy="493800"/>
          </a:xfrm>
          <a:prstGeom prst="roundRect">
            <a:avLst>
              <a:gd fmla="val 8333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37"/>
          <p:cNvSpPr/>
          <p:nvPr/>
        </p:nvSpPr>
        <p:spPr>
          <a:xfrm>
            <a:off x="576870" y="2589034"/>
            <a:ext cx="36348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013"/>
              <a:buFont typeface="Roboto"/>
              <a:buNone/>
            </a:pPr>
            <a:r>
              <a:rPr b="1" i="0" lang="en" sz="101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score &gt;= 80 ?   </a:t>
            </a:r>
            <a:r>
              <a:rPr b="1" i="0" lang="en" sz="1013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→ B — Good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37"/>
          <p:cNvSpPr/>
          <p:nvPr/>
        </p:nvSpPr>
        <p:spPr>
          <a:xfrm>
            <a:off x="405420" y="3192538"/>
            <a:ext cx="3977700" cy="493800"/>
          </a:xfrm>
          <a:prstGeom prst="roundRect">
            <a:avLst>
              <a:gd fmla="val 8333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37"/>
          <p:cNvSpPr/>
          <p:nvPr/>
        </p:nvSpPr>
        <p:spPr>
          <a:xfrm>
            <a:off x="576870" y="3192538"/>
            <a:ext cx="36348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013"/>
              <a:buFont typeface="Roboto"/>
              <a:buNone/>
            </a:pPr>
            <a:r>
              <a:rPr b="1" i="0" lang="en" sz="101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score &gt;= 70 ?   </a:t>
            </a:r>
            <a:r>
              <a:rPr b="1" i="0" lang="en" sz="1013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→ C — Pass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37"/>
          <p:cNvSpPr/>
          <p:nvPr/>
        </p:nvSpPr>
        <p:spPr>
          <a:xfrm>
            <a:off x="405420" y="3796042"/>
            <a:ext cx="3977700" cy="493800"/>
          </a:xfrm>
          <a:prstGeom prst="roundRect">
            <a:avLst>
              <a:gd fmla="val 8333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37"/>
          <p:cNvSpPr/>
          <p:nvPr/>
        </p:nvSpPr>
        <p:spPr>
          <a:xfrm>
            <a:off x="576870" y="3796042"/>
            <a:ext cx="36348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013"/>
              <a:buFont typeface="Roboto"/>
              <a:buNone/>
            </a:pPr>
            <a:r>
              <a:rPr b="1" i="0" lang="en" sz="101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else (catch-all)   </a:t>
            </a:r>
            <a:r>
              <a:rPr b="1" i="0" lang="en" sz="1013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→ F — Fail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37"/>
          <p:cNvSpPr/>
          <p:nvPr/>
        </p:nvSpPr>
        <p:spPr>
          <a:xfrm>
            <a:off x="405420" y="4420120"/>
            <a:ext cx="3977700" cy="425100"/>
          </a:xfrm>
          <a:prstGeom prst="roundRect">
            <a:avLst>
              <a:gd fmla="val 9677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37"/>
          <p:cNvSpPr/>
          <p:nvPr/>
        </p:nvSpPr>
        <p:spPr>
          <a:xfrm>
            <a:off x="528864" y="4570996"/>
            <a:ext cx="123300" cy="1233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37"/>
          <p:cNvSpPr/>
          <p:nvPr/>
        </p:nvSpPr>
        <p:spPr>
          <a:xfrm>
            <a:off x="734604" y="4420120"/>
            <a:ext cx="35523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863"/>
              <a:buFont typeface="Roboto"/>
              <a:buNone/>
            </a:pPr>
            <a:r>
              <a:rPr b="1" i="0" lang="en" sz="86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Insight:  </a:t>
            </a:r>
            <a:r>
              <a:rPr b="0" i="0" lang="en" sz="86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Python checks conditions top-to-bottom and stops at the FIRST match.</a:t>
            </a:r>
            <a:endParaRPr b="0" i="0" sz="86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./imgs/code_hl/elif_stmt.png" id="279" name="Google Shape;279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54880" y="1236635"/>
            <a:ext cx="2868986" cy="219456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37"/>
          <p:cNvSpPr txBox="1"/>
          <p:nvPr>
            <p:ph idx="1" type="subTitle"/>
          </p:nvPr>
        </p:nvSpPr>
        <p:spPr>
          <a:xfrm>
            <a:off x="265500" y="1456363"/>
            <a:ext cx="4045200" cy="258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4"/>
                </a:solidFill>
              </a:rPr>
              <a:t>Grading app:</a:t>
            </a:r>
            <a:endParaRPr b="1">
              <a:solidFill>
                <a:schemeClr val="accent4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8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Visualize code execution </a:t>
            </a:r>
            <a:endParaRPr/>
          </a:p>
        </p:txBody>
      </p:sp>
      <p:sp>
        <p:nvSpPr>
          <p:cNvPr id="286" name="Google Shape;286;p38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87" name="Google Shape;287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5957" y="789200"/>
            <a:ext cx="6710375" cy="3995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39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 your knowledge</a:t>
            </a:r>
            <a:endParaRPr/>
          </a:p>
        </p:txBody>
      </p:sp>
      <p:sp>
        <p:nvSpPr>
          <p:cNvPr id="293" name="Google Shape;293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40"/>
          <p:cNvSpPr/>
          <p:nvPr/>
        </p:nvSpPr>
        <p:spPr>
          <a:xfrm>
            <a:off x="411480" y="240030"/>
            <a:ext cx="61722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Roboto"/>
              <a:buNone/>
            </a:pPr>
            <a:r>
              <a:rPr b="1" i="0" lang="en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🧠 KNOWLEDGE CHECK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40"/>
          <p:cNvSpPr/>
          <p:nvPr/>
        </p:nvSpPr>
        <p:spPr>
          <a:xfrm>
            <a:off x="411480" y="466344"/>
            <a:ext cx="72009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</a:pPr>
            <a:r>
              <a:rPr b="1" i="0" lang="en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What Does This Code Print?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./imgs/code_hl/quiz_code.png" id="301" name="Google Shape;30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1165860"/>
            <a:ext cx="3164673" cy="1783080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40"/>
          <p:cNvSpPr/>
          <p:nvPr/>
        </p:nvSpPr>
        <p:spPr>
          <a:xfrm>
            <a:off x="4732020" y="1268730"/>
            <a:ext cx="3977700" cy="445800"/>
          </a:xfrm>
          <a:prstGeom prst="roundRect">
            <a:avLst>
              <a:gd fmla="val 9231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40"/>
          <p:cNvSpPr/>
          <p:nvPr/>
        </p:nvSpPr>
        <p:spPr>
          <a:xfrm>
            <a:off x="4903470" y="1268730"/>
            <a:ext cx="3634800" cy="44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050"/>
              <a:buFont typeface="Roboto"/>
              <a:buNone/>
            </a:pPr>
            <a:r>
              <a:rPr b="1" i="0" lang="en" sz="105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A)  </a:t>
            </a:r>
            <a:r>
              <a:rPr b="0" i="0" lang="en" sz="105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Big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40"/>
          <p:cNvSpPr/>
          <p:nvPr/>
        </p:nvSpPr>
        <p:spPr>
          <a:xfrm>
            <a:off x="4732020" y="1803654"/>
            <a:ext cx="3977700" cy="445800"/>
          </a:xfrm>
          <a:prstGeom prst="roundRect">
            <a:avLst>
              <a:gd fmla="val 9231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40"/>
          <p:cNvSpPr/>
          <p:nvPr/>
        </p:nvSpPr>
        <p:spPr>
          <a:xfrm>
            <a:off x="4903470" y="1803654"/>
            <a:ext cx="3634800" cy="44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050"/>
              <a:buFont typeface="Roboto"/>
              <a:buNone/>
            </a:pPr>
            <a:r>
              <a:rPr b="1" lang="en" sz="105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B)  </a:t>
            </a:r>
            <a:r>
              <a:rPr lang="en" sz="105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Mediu</a:t>
            </a:r>
            <a:r>
              <a:rPr i="0" lang="en" sz="105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m</a:t>
            </a:r>
            <a:endParaRPr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40"/>
          <p:cNvSpPr/>
          <p:nvPr/>
        </p:nvSpPr>
        <p:spPr>
          <a:xfrm>
            <a:off x="4732020" y="2338578"/>
            <a:ext cx="3977700" cy="445800"/>
          </a:xfrm>
          <a:prstGeom prst="roundRect">
            <a:avLst>
              <a:gd fmla="val 9231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40"/>
          <p:cNvSpPr/>
          <p:nvPr/>
        </p:nvSpPr>
        <p:spPr>
          <a:xfrm>
            <a:off x="4903470" y="2338578"/>
            <a:ext cx="3634800" cy="44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050"/>
              <a:buFont typeface="Roboto"/>
              <a:buNone/>
            </a:pPr>
            <a:r>
              <a:rPr b="1" i="0" lang="en" sz="105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C)  </a:t>
            </a:r>
            <a:r>
              <a:rPr b="0" i="0" lang="en" sz="105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Small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40"/>
          <p:cNvSpPr/>
          <p:nvPr/>
        </p:nvSpPr>
        <p:spPr>
          <a:xfrm>
            <a:off x="4732020" y="2873502"/>
            <a:ext cx="3977700" cy="445800"/>
          </a:xfrm>
          <a:prstGeom prst="roundRect">
            <a:avLst>
              <a:gd fmla="val 9231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40"/>
          <p:cNvSpPr/>
          <p:nvPr/>
        </p:nvSpPr>
        <p:spPr>
          <a:xfrm>
            <a:off x="4903470" y="2873502"/>
            <a:ext cx="3634800" cy="44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050"/>
              <a:buFont typeface="Roboto"/>
              <a:buNone/>
            </a:pPr>
            <a:r>
              <a:rPr b="1" i="0" lang="en" sz="105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D)  </a:t>
            </a:r>
            <a:r>
              <a:rPr b="0" i="0" lang="en" sz="105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Nothing — syntax error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40"/>
          <p:cNvSpPr/>
          <p:nvPr/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085"/>
              </a:buClr>
              <a:buSzPts val="750"/>
              <a:buFont typeface="Roboto"/>
              <a:buNone/>
            </a:pPr>
            <a:r>
              <a:rPr b="0" i="0" lang="en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1"/>
          <p:cNvSpPr/>
          <p:nvPr/>
        </p:nvSpPr>
        <p:spPr>
          <a:xfrm>
            <a:off x="411480" y="240030"/>
            <a:ext cx="61722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Roboto"/>
              <a:buNone/>
            </a:pPr>
            <a:r>
              <a:rPr b="1" i="0" lang="en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🧠 KNOWLEDGE CHECK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41"/>
          <p:cNvSpPr/>
          <p:nvPr/>
        </p:nvSpPr>
        <p:spPr>
          <a:xfrm>
            <a:off x="411480" y="466344"/>
            <a:ext cx="72009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</a:pPr>
            <a:r>
              <a:rPr b="1" i="0" lang="en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What Does This Code Print?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./imgs/code_hl/quiz_code.png" id="318" name="Google Shape;318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1165860"/>
            <a:ext cx="3164673" cy="1783080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41"/>
          <p:cNvSpPr/>
          <p:nvPr/>
        </p:nvSpPr>
        <p:spPr>
          <a:xfrm>
            <a:off x="4732020" y="1268730"/>
            <a:ext cx="3977700" cy="445800"/>
          </a:xfrm>
          <a:prstGeom prst="roundRect">
            <a:avLst>
              <a:gd fmla="val 9231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41"/>
          <p:cNvSpPr/>
          <p:nvPr/>
        </p:nvSpPr>
        <p:spPr>
          <a:xfrm>
            <a:off x="4903470" y="1268730"/>
            <a:ext cx="3634800" cy="44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050"/>
              <a:buFont typeface="Roboto"/>
              <a:buNone/>
            </a:pPr>
            <a:r>
              <a:rPr b="1" i="0" lang="en" sz="105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A)  </a:t>
            </a:r>
            <a:r>
              <a:rPr b="0" i="0" lang="en" sz="105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Big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41"/>
          <p:cNvSpPr/>
          <p:nvPr/>
        </p:nvSpPr>
        <p:spPr>
          <a:xfrm>
            <a:off x="4732020" y="1803654"/>
            <a:ext cx="3977700" cy="445800"/>
          </a:xfrm>
          <a:prstGeom prst="roundRect">
            <a:avLst>
              <a:gd fmla="val 9231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41"/>
          <p:cNvSpPr/>
          <p:nvPr/>
        </p:nvSpPr>
        <p:spPr>
          <a:xfrm>
            <a:off x="4903470" y="1803654"/>
            <a:ext cx="3634800" cy="44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050"/>
              <a:buFont typeface="Roboto"/>
              <a:buNone/>
            </a:pPr>
            <a:r>
              <a:rPr b="1" i="0" lang="en" sz="105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B)  </a:t>
            </a:r>
            <a:r>
              <a:rPr b="0" i="0" lang="en" sz="105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Medium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41"/>
          <p:cNvSpPr/>
          <p:nvPr/>
        </p:nvSpPr>
        <p:spPr>
          <a:xfrm>
            <a:off x="4732020" y="2338578"/>
            <a:ext cx="3977700" cy="445800"/>
          </a:xfrm>
          <a:prstGeom prst="roundRect">
            <a:avLst>
              <a:gd fmla="val 9231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41"/>
          <p:cNvSpPr/>
          <p:nvPr/>
        </p:nvSpPr>
        <p:spPr>
          <a:xfrm>
            <a:off x="4903470" y="2338578"/>
            <a:ext cx="3634800" cy="44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050"/>
              <a:buFont typeface="Roboto"/>
              <a:buNone/>
            </a:pPr>
            <a:r>
              <a:rPr b="1" i="0" lang="en" sz="105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C)  </a:t>
            </a:r>
            <a:r>
              <a:rPr b="0" i="0" lang="en" sz="105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Small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41"/>
          <p:cNvSpPr/>
          <p:nvPr/>
        </p:nvSpPr>
        <p:spPr>
          <a:xfrm>
            <a:off x="4732020" y="2873502"/>
            <a:ext cx="3977700" cy="445800"/>
          </a:xfrm>
          <a:prstGeom prst="roundRect">
            <a:avLst>
              <a:gd fmla="val 9231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41"/>
          <p:cNvSpPr/>
          <p:nvPr/>
        </p:nvSpPr>
        <p:spPr>
          <a:xfrm>
            <a:off x="4903470" y="2873502"/>
            <a:ext cx="3634800" cy="44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050"/>
              <a:buFont typeface="Roboto"/>
              <a:buNone/>
            </a:pPr>
            <a:r>
              <a:rPr b="1" i="0" lang="en" sz="105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D)  </a:t>
            </a:r>
            <a:r>
              <a:rPr b="0" i="0" lang="en" sz="105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Nothing — syntax error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41"/>
          <p:cNvSpPr/>
          <p:nvPr/>
        </p:nvSpPr>
        <p:spPr>
          <a:xfrm>
            <a:off x="4732020" y="3463290"/>
            <a:ext cx="3977700" cy="548700"/>
          </a:xfrm>
          <a:prstGeom prst="roundRect">
            <a:avLst>
              <a:gd fmla="val 75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41"/>
          <p:cNvSpPr/>
          <p:nvPr/>
        </p:nvSpPr>
        <p:spPr>
          <a:xfrm>
            <a:off x="4855464" y="3675888"/>
            <a:ext cx="123300" cy="1233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41"/>
          <p:cNvSpPr/>
          <p:nvPr/>
        </p:nvSpPr>
        <p:spPr>
          <a:xfrm>
            <a:off x="5061204" y="3463290"/>
            <a:ext cx="35523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863"/>
              <a:buFont typeface="Roboto"/>
              <a:buNone/>
            </a:pPr>
            <a:r>
              <a:rPr b="1" i="0" lang="en" sz="86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Insight:  </a:t>
            </a:r>
            <a:r>
              <a:rPr b="0" i="0" lang="en" sz="86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Answer: B) Medium — x is 7, which is &gt; 5 but NOT &gt; 10, so elif matches first.</a:t>
            </a:r>
            <a:endParaRPr b="0" i="0" sz="86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41"/>
          <p:cNvSpPr/>
          <p:nvPr/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085"/>
              </a:buClr>
              <a:buSzPts val="750"/>
              <a:buFont typeface="Roboto"/>
              <a:buNone/>
            </a:pPr>
            <a:r>
              <a:rPr b="0" i="0" lang="en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42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Nested if Statements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C"/>
        </a:solidFill>
      </p:bgPr>
    </p:bg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3"/>
          <p:cNvSpPr txBox="1"/>
          <p:nvPr>
            <p:ph type="title"/>
          </p:nvPr>
        </p:nvSpPr>
        <p:spPr>
          <a:xfrm>
            <a:off x="265500" y="445193"/>
            <a:ext cx="4045200" cy="6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`</a:t>
            </a:r>
            <a:r>
              <a:rPr lang="en">
                <a:solidFill>
                  <a:schemeClr val="accent4"/>
                </a:solidFill>
              </a:rPr>
              <a:t>Nested if</a:t>
            </a:r>
            <a:r>
              <a:rPr lang="en"/>
              <a:t>` Statements Go Deeper Into Decisions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43"/>
          <p:cNvSpPr txBox="1"/>
          <p:nvPr>
            <p:ph idx="2" type="title"/>
          </p:nvPr>
        </p:nvSpPr>
        <p:spPr>
          <a:xfrm>
            <a:off x="4835400" y="438389"/>
            <a:ext cx="4045200" cy="6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Example for login check</a:t>
            </a:r>
            <a:endParaRPr/>
          </a:p>
        </p:txBody>
      </p:sp>
      <p:sp>
        <p:nvSpPr>
          <p:cNvPr id="343" name="Google Shape;343;p43"/>
          <p:cNvSpPr txBox="1"/>
          <p:nvPr>
            <p:ph idx="3" type="subTitle"/>
          </p:nvPr>
        </p:nvSpPr>
        <p:spPr>
          <a:xfrm>
            <a:off x="4835400" y="1236636"/>
            <a:ext cx="4045200" cy="280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43"/>
          <p:cNvSpPr/>
          <p:nvPr/>
        </p:nvSpPr>
        <p:spPr>
          <a:xfrm>
            <a:off x="299220" y="1458450"/>
            <a:ext cx="3840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Roboto"/>
              <a:buNone/>
            </a:pPr>
            <a:r>
              <a:rPr b="1" i="0" lang="en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INDENTATION = NESTING LEVEL</a:t>
            </a:r>
            <a:endParaRPr b="0" i="0" sz="9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43"/>
          <p:cNvSpPr/>
          <p:nvPr/>
        </p:nvSpPr>
        <p:spPr>
          <a:xfrm>
            <a:off x="299220" y="1801350"/>
            <a:ext cx="3977700" cy="480000"/>
          </a:xfrm>
          <a:prstGeom prst="roundRect">
            <a:avLst>
              <a:gd fmla="val 8571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43"/>
          <p:cNvSpPr/>
          <p:nvPr/>
        </p:nvSpPr>
        <p:spPr>
          <a:xfrm>
            <a:off x="470670" y="1801350"/>
            <a:ext cx="37719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013"/>
              <a:buFont typeface="Roboto"/>
              <a:buNone/>
            </a:pPr>
            <a:r>
              <a:rPr b="1" i="0" lang="en" sz="101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Level 0  —  </a:t>
            </a:r>
            <a:r>
              <a:rPr b="0" i="0" lang="en" sz="101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outer if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43"/>
          <p:cNvSpPr/>
          <p:nvPr/>
        </p:nvSpPr>
        <p:spPr>
          <a:xfrm>
            <a:off x="539250" y="2384280"/>
            <a:ext cx="3737700" cy="480000"/>
          </a:xfrm>
          <a:prstGeom prst="roundRect">
            <a:avLst>
              <a:gd fmla="val 8571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43"/>
          <p:cNvSpPr/>
          <p:nvPr/>
        </p:nvSpPr>
        <p:spPr>
          <a:xfrm>
            <a:off x="710700" y="2384280"/>
            <a:ext cx="35319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013"/>
              <a:buFont typeface="Roboto"/>
              <a:buNone/>
            </a:pPr>
            <a:r>
              <a:rPr b="1" i="0" lang="en" sz="101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Level 1  —  </a:t>
            </a:r>
            <a:r>
              <a:rPr b="0" i="0" lang="en" sz="101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inner if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43"/>
          <p:cNvSpPr/>
          <p:nvPr/>
        </p:nvSpPr>
        <p:spPr>
          <a:xfrm>
            <a:off x="779280" y="2967210"/>
            <a:ext cx="3497700" cy="480000"/>
          </a:xfrm>
          <a:prstGeom prst="roundRect">
            <a:avLst>
              <a:gd fmla="val 8571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43"/>
          <p:cNvSpPr/>
          <p:nvPr/>
        </p:nvSpPr>
        <p:spPr>
          <a:xfrm>
            <a:off x="950730" y="2967210"/>
            <a:ext cx="32919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013"/>
              <a:buFont typeface="Roboto"/>
              <a:buNone/>
            </a:pPr>
            <a:r>
              <a:rPr b="1" i="0" lang="en" sz="101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Level 2  —  </a:t>
            </a:r>
            <a:r>
              <a:rPr b="0" i="0" lang="en" sz="101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inner else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43"/>
          <p:cNvSpPr/>
          <p:nvPr/>
        </p:nvSpPr>
        <p:spPr>
          <a:xfrm>
            <a:off x="230680" y="4044325"/>
            <a:ext cx="3977700" cy="425100"/>
          </a:xfrm>
          <a:prstGeom prst="roundRect">
            <a:avLst>
              <a:gd fmla="val 9677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43"/>
          <p:cNvSpPr/>
          <p:nvPr/>
        </p:nvSpPr>
        <p:spPr>
          <a:xfrm>
            <a:off x="354124" y="4195201"/>
            <a:ext cx="123300" cy="1233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43"/>
          <p:cNvSpPr/>
          <p:nvPr/>
        </p:nvSpPr>
        <p:spPr>
          <a:xfrm>
            <a:off x="559864" y="4044325"/>
            <a:ext cx="35523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863"/>
              <a:buFont typeface="Roboto"/>
              <a:buNone/>
            </a:pPr>
            <a:r>
              <a:rPr b="1" i="0" lang="en" sz="86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Insight:  </a:t>
            </a:r>
            <a:r>
              <a:rPr b="0" i="0" lang="en" sz="86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avoid nesting more than 2–3 levels deep. Consider combining conditions with and / or instead.</a:t>
            </a:r>
            <a:endParaRPr b="0" i="0" sz="86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4" name="Google Shape;354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0899" y="1236625"/>
            <a:ext cx="4254200" cy="23952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44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Ternary Expressions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45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Ternary Expressions: </a:t>
            </a:r>
            <a:r>
              <a:rPr lang="en">
                <a:solidFill>
                  <a:schemeClr val="accent4"/>
                </a:solidFill>
              </a:rPr>
              <a:t>Simple If-else Into One Line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365" name="Google Shape;365;p45"/>
          <p:cNvSpPr/>
          <p:nvPr/>
        </p:nvSpPr>
        <p:spPr>
          <a:xfrm>
            <a:off x="411480" y="1131570"/>
            <a:ext cx="3840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975"/>
              <a:buFont typeface="Roboto"/>
              <a:buNone/>
            </a:pPr>
            <a:r>
              <a:rPr b="1" i="0" lang="en" sz="975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😵  Before (4 lines)</a:t>
            </a:r>
            <a:endParaRPr b="0" i="0" sz="97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./imgs/code_hl/ternary_before.png" id="366" name="Google Shape;366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1371600"/>
            <a:ext cx="3221140" cy="1165860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45"/>
          <p:cNvSpPr/>
          <p:nvPr/>
        </p:nvSpPr>
        <p:spPr>
          <a:xfrm>
            <a:off x="4354830" y="1714500"/>
            <a:ext cx="411600" cy="4116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45"/>
          <p:cNvSpPr/>
          <p:nvPr/>
        </p:nvSpPr>
        <p:spPr>
          <a:xfrm>
            <a:off x="4354830" y="1714500"/>
            <a:ext cx="411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Roboto"/>
              <a:buNone/>
            </a:pPr>
            <a:r>
              <a:rPr b="1" i="0" lang="en" sz="15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→</a:t>
            </a:r>
            <a:endParaRPr b="0" i="0" sz="15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45"/>
          <p:cNvSpPr/>
          <p:nvPr/>
        </p:nvSpPr>
        <p:spPr>
          <a:xfrm>
            <a:off x="4869180" y="1131570"/>
            <a:ext cx="3840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975"/>
              <a:buFont typeface="Roboto"/>
              <a:buNone/>
            </a:pPr>
            <a:r>
              <a:rPr b="1" i="0" lang="en" sz="975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😎  After (1 line)</a:t>
            </a:r>
            <a:endParaRPr b="0" i="0" sz="97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./imgs/code_hl/ternary_after.png" id="370" name="Google Shape;370;p4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69180" y="1371600"/>
            <a:ext cx="3252997" cy="6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45"/>
          <p:cNvSpPr/>
          <p:nvPr/>
        </p:nvSpPr>
        <p:spPr>
          <a:xfrm>
            <a:off x="411480" y="2811780"/>
            <a:ext cx="54864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Roboto"/>
              <a:buNone/>
            </a:pPr>
            <a:r>
              <a:rPr b="1" i="0" lang="en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ANATOMY OF </a:t>
            </a: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Ternary Expressions</a:t>
            </a:r>
            <a:endParaRPr b="0" i="0" sz="9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45"/>
          <p:cNvSpPr/>
          <p:nvPr/>
        </p:nvSpPr>
        <p:spPr>
          <a:xfrm>
            <a:off x="411480" y="3086100"/>
            <a:ext cx="8092500" cy="548700"/>
          </a:xfrm>
          <a:prstGeom prst="roundRect">
            <a:avLst>
              <a:gd fmla="val 10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p45"/>
          <p:cNvSpPr/>
          <p:nvPr/>
        </p:nvSpPr>
        <p:spPr>
          <a:xfrm>
            <a:off x="617220" y="3086100"/>
            <a:ext cx="76809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125"/>
              <a:buFont typeface="Roboto"/>
              <a:buNone/>
            </a:pPr>
            <a:r>
              <a:rPr b="1" i="0" lang="en" sz="1125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value_if_true</a:t>
            </a:r>
            <a:r>
              <a:rPr b="0" i="0" lang="en" sz="1125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  if   </a:t>
            </a:r>
            <a:r>
              <a:rPr b="1" i="0" lang="en" sz="1125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condition</a:t>
            </a:r>
            <a:r>
              <a:rPr b="0" i="0" lang="en" sz="1125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  else   </a:t>
            </a:r>
            <a:r>
              <a:rPr b="1" i="0" lang="en" sz="1125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value_if_false</a:t>
            </a:r>
            <a:endParaRPr b="0" i="0" sz="112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45"/>
          <p:cNvSpPr/>
          <p:nvPr/>
        </p:nvSpPr>
        <p:spPr>
          <a:xfrm>
            <a:off x="411480" y="3840480"/>
            <a:ext cx="8092500" cy="425100"/>
          </a:xfrm>
          <a:prstGeom prst="roundRect">
            <a:avLst>
              <a:gd fmla="val 9677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45"/>
          <p:cNvSpPr/>
          <p:nvPr/>
        </p:nvSpPr>
        <p:spPr>
          <a:xfrm>
            <a:off x="534924" y="3991356"/>
            <a:ext cx="123300" cy="1233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45"/>
          <p:cNvSpPr/>
          <p:nvPr/>
        </p:nvSpPr>
        <p:spPr>
          <a:xfrm>
            <a:off x="740664" y="3840480"/>
            <a:ext cx="76671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863"/>
              <a:buFont typeface="Roboto"/>
              <a:buNone/>
            </a:pPr>
            <a:r>
              <a:rPr b="1" i="0" lang="en" sz="86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Insight:  </a:t>
            </a:r>
            <a:r>
              <a:rPr b="0" i="0" lang="en" sz="86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use ternary for simple, readable assignments. For complex logic, stick with full if/elif/else.</a:t>
            </a:r>
            <a:endParaRPr b="0" i="0" sz="86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46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Practices - Basic If-else</a:t>
            </a:r>
            <a:endParaRPr/>
          </a:p>
        </p:txBody>
      </p:sp>
      <p:sp>
        <p:nvSpPr>
          <p:cNvPr id="382" name="Google Shape;382;p46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47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ts val="9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TRY IT YOURSELF · LEVEL 1 · EXERCISES 1–2</a:t>
            </a:r>
            <a:endParaRPr/>
          </a:p>
        </p:txBody>
      </p:sp>
      <p:sp>
        <p:nvSpPr>
          <p:cNvPr id="388" name="Google Shape;388;p47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Positive Number  &amp;  Even Number</a:t>
            </a:r>
            <a:endParaRPr/>
          </a:p>
        </p:txBody>
      </p:sp>
      <p:sp>
        <p:nvSpPr>
          <p:cNvPr id="389" name="Google Shape;389;p47"/>
          <p:cNvSpPr/>
          <p:nvPr/>
        </p:nvSpPr>
        <p:spPr>
          <a:xfrm>
            <a:off x="41148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sz="1100"/>
          </a:p>
        </p:txBody>
      </p:sp>
      <p:sp>
        <p:nvSpPr>
          <p:cNvPr id="390" name="Google Shape;390;p47"/>
          <p:cNvSpPr txBox="1"/>
          <p:nvPr/>
        </p:nvSpPr>
        <p:spPr>
          <a:xfrm>
            <a:off x="788670" y="1062990"/>
            <a:ext cx="3737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Positive Number</a:t>
            </a:r>
            <a:endParaRPr sz="1100"/>
          </a:p>
        </p:txBody>
      </p:sp>
      <p:sp>
        <p:nvSpPr>
          <p:cNvPr id="391" name="Google Shape;391;p47"/>
          <p:cNvSpPr/>
          <p:nvPr/>
        </p:nvSpPr>
        <p:spPr>
          <a:xfrm>
            <a:off x="411480" y="1837854"/>
            <a:ext cx="4114800" cy="1268700"/>
          </a:xfrm>
          <a:prstGeom prst="roundRect">
            <a:avLst>
              <a:gd fmla="val 5000" name="adj"/>
            </a:avLst>
          </a:prstGeom>
          <a:solidFill>
            <a:srgbClr val="1A1F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47"/>
          <p:cNvSpPr/>
          <p:nvPr/>
        </p:nvSpPr>
        <p:spPr>
          <a:xfrm>
            <a:off x="411480" y="1837854"/>
            <a:ext cx="4114800" cy="219300"/>
          </a:xfrm>
          <a:prstGeom prst="roundRect">
            <a:avLst>
              <a:gd fmla="val 10000" name="adj"/>
            </a:avLst>
          </a:prstGeom>
          <a:solidFill>
            <a:srgbClr val="272F7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47"/>
          <p:cNvSpPr/>
          <p:nvPr/>
        </p:nvSpPr>
        <p:spPr>
          <a:xfrm>
            <a:off x="507492" y="1909863"/>
            <a:ext cx="68700" cy="687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47"/>
          <p:cNvSpPr/>
          <p:nvPr/>
        </p:nvSpPr>
        <p:spPr>
          <a:xfrm>
            <a:off x="637794" y="1909863"/>
            <a:ext cx="68700" cy="68700"/>
          </a:xfrm>
          <a:prstGeom prst="ellipse">
            <a:avLst/>
          </a:prstGeom>
          <a:solidFill>
            <a:srgbClr val="F4C1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47"/>
          <p:cNvSpPr/>
          <p:nvPr/>
        </p:nvSpPr>
        <p:spPr>
          <a:xfrm>
            <a:off x="768096" y="1909863"/>
            <a:ext cx="68700" cy="68700"/>
          </a:xfrm>
          <a:prstGeom prst="ellipse">
            <a:avLst/>
          </a:prstGeom>
          <a:solidFill>
            <a:srgbClr val="6FCF9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47"/>
          <p:cNvSpPr txBox="1"/>
          <p:nvPr/>
        </p:nvSpPr>
        <p:spPr>
          <a:xfrm>
            <a:off x="411480" y="1837854"/>
            <a:ext cx="4011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DA3D4"/>
                </a:solidFill>
                <a:latin typeface="Consolas"/>
                <a:ea typeface="Consolas"/>
                <a:cs typeface="Consolas"/>
                <a:sym typeface="Consolas"/>
              </a:rPr>
              <a:t>ex01.py</a:t>
            </a:r>
            <a:endParaRPr sz="1100"/>
          </a:p>
        </p:txBody>
      </p:sp>
      <p:sp>
        <p:nvSpPr>
          <p:cNvPr id="397" name="Google Shape;397;p47"/>
          <p:cNvSpPr txBox="1"/>
          <p:nvPr/>
        </p:nvSpPr>
        <p:spPr>
          <a:xfrm>
            <a:off x="548640" y="2125890"/>
            <a:ext cx="38406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number = float(input("Enter a number: "))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2A6BB"/>
                </a:solidFill>
                <a:latin typeface="Consolas"/>
                <a:ea typeface="Consolas"/>
                <a:cs typeface="Consolas"/>
                <a:sym typeface="Consolas"/>
              </a:rPr>
              <a:t># TODO: check if number is positive</a:t>
            </a:r>
            <a:endParaRPr sz="1100"/>
          </a:p>
        </p:txBody>
      </p:sp>
      <p:sp>
        <p:nvSpPr>
          <p:cNvPr id="398" name="Google Shape;398;p47"/>
          <p:cNvSpPr txBox="1"/>
          <p:nvPr/>
        </p:nvSpPr>
        <p:spPr>
          <a:xfrm>
            <a:off x="411480" y="3230028"/>
            <a:ext cx="4114800" cy="73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900">
              <a:solidFill>
                <a:schemeClr val="accent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[1] number: 10  → Output: Positive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[2] number</a:t>
            </a: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: -10  → Output: 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9" name="Google Shape;399;p47"/>
          <p:cNvSpPr/>
          <p:nvPr/>
        </p:nvSpPr>
        <p:spPr>
          <a:xfrm>
            <a:off x="486918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sz="1100"/>
          </a:p>
        </p:txBody>
      </p:sp>
      <p:sp>
        <p:nvSpPr>
          <p:cNvPr id="400" name="Google Shape;400;p47"/>
          <p:cNvSpPr txBox="1"/>
          <p:nvPr/>
        </p:nvSpPr>
        <p:spPr>
          <a:xfrm>
            <a:off x="5246370" y="1062990"/>
            <a:ext cx="3737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Even Number</a:t>
            </a:r>
            <a:endParaRPr sz="1100"/>
          </a:p>
        </p:txBody>
      </p:sp>
      <p:sp>
        <p:nvSpPr>
          <p:cNvPr id="401" name="Google Shape;401;p47"/>
          <p:cNvSpPr/>
          <p:nvPr/>
        </p:nvSpPr>
        <p:spPr>
          <a:xfrm>
            <a:off x="4869180" y="1837854"/>
            <a:ext cx="4114800" cy="1268700"/>
          </a:xfrm>
          <a:prstGeom prst="roundRect">
            <a:avLst>
              <a:gd fmla="val 5000" name="adj"/>
            </a:avLst>
          </a:prstGeom>
          <a:solidFill>
            <a:srgbClr val="1A1F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47"/>
          <p:cNvSpPr/>
          <p:nvPr/>
        </p:nvSpPr>
        <p:spPr>
          <a:xfrm>
            <a:off x="4869180" y="1837854"/>
            <a:ext cx="4114800" cy="219300"/>
          </a:xfrm>
          <a:prstGeom prst="roundRect">
            <a:avLst>
              <a:gd fmla="val 10000" name="adj"/>
            </a:avLst>
          </a:prstGeom>
          <a:solidFill>
            <a:srgbClr val="272F7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47"/>
          <p:cNvSpPr/>
          <p:nvPr/>
        </p:nvSpPr>
        <p:spPr>
          <a:xfrm>
            <a:off x="4965192" y="1909863"/>
            <a:ext cx="68700" cy="687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47"/>
          <p:cNvSpPr/>
          <p:nvPr/>
        </p:nvSpPr>
        <p:spPr>
          <a:xfrm>
            <a:off x="5095494" y="1909863"/>
            <a:ext cx="68700" cy="68700"/>
          </a:xfrm>
          <a:prstGeom prst="ellipse">
            <a:avLst/>
          </a:prstGeom>
          <a:solidFill>
            <a:srgbClr val="F4C1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47"/>
          <p:cNvSpPr/>
          <p:nvPr/>
        </p:nvSpPr>
        <p:spPr>
          <a:xfrm>
            <a:off x="5225796" y="1909863"/>
            <a:ext cx="68700" cy="68700"/>
          </a:xfrm>
          <a:prstGeom prst="ellipse">
            <a:avLst/>
          </a:prstGeom>
          <a:solidFill>
            <a:srgbClr val="6FCF9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47"/>
          <p:cNvSpPr txBox="1"/>
          <p:nvPr/>
        </p:nvSpPr>
        <p:spPr>
          <a:xfrm>
            <a:off x="4869180" y="1837854"/>
            <a:ext cx="4011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DA3D4"/>
                </a:solidFill>
                <a:latin typeface="Consolas"/>
                <a:ea typeface="Consolas"/>
                <a:cs typeface="Consolas"/>
                <a:sym typeface="Consolas"/>
              </a:rPr>
              <a:t>ex02.py</a:t>
            </a:r>
            <a:endParaRPr sz="1100"/>
          </a:p>
        </p:txBody>
      </p:sp>
      <p:sp>
        <p:nvSpPr>
          <p:cNvPr id="407" name="Google Shape;407;p47"/>
          <p:cNvSpPr txBox="1"/>
          <p:nvPr/>
        </p:nvSpPr>
        <p:spPr>
          <a:xfrm>
            <a:off x="5006340" y="2125890"/>
            <a:ext cx="38406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num = int(input("Enter an integer: "))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2A6BB"/>
                </a:solidFill>
                <a:latin typeface="Consolas"/>
                <a:ea typeface="Consolas"/>
                <a:cs typeface="Consolas"/>
                <a:sym typeface="Consolas"/>
              </a:rPr>
              <a:t># TODO: use % to check even</a:t>
            </a:r>
            <a:endParaRPr sz="1100"/>
          </a:p>
        </p:txBody>
      </p:sp>
      <p:sp>
        <p:nvSpPr>
          <p:cNvPr id="408" name="Google Shape;408;p47"/>
          <p:cNvSpPr txBox="1"/>
          <p:nvPr/>
        </p:nvSpPr>
        <p:spPr>
          <a:xfrm>
            <a:off x="4903530" y="1426278"/>
            <a:ext cx="4114800" cy="33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Ask user to input an </a:t>
            </a:r>
            <a:r>
              <a:rPr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integer</a:t>
            </a: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If </a:t>
            </a:r>
            <a:r>
              <a:rPr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even</a:t>
            </a: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, print `Even`</a:t>
            </a:r>
            <a:endParaRPr sz="1100"/>
          </a:p>
        </p:txBody>
      </p:sp>
      <p:sp>
        <p:nvSpPr>
          <p:cNvPr id="409" name="Google Shape;409;p47"/>
          <p:cNvSpPr txBox="1"/>
          <p:nvPr/>
        </p:nvSpPr>
        <p:spPr>
          <a:xfrm>
            <a:off x="411555" y="1426278"/>
            <a:ext cx="4114800" cy="33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Ask user to input a </a:t>
            </a:r>
            <a:r>
              <a:rPr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number</a:t>
            </a: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If </a:t>
            </a:r>
            <a:r>
              <a:rPr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positive</a:t>
            </a: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, print `Positive`</a:t>
            </a:r>
            <a:endParaRPr sz="1100"/>
          </a:p>
        </p:txBody>
      </p:sp>
      <p:sp>
        <p:nvSpPr>
          <p:cNvPr id="410" name="Google Shape;410;p47"/>
          <p:cNvSpPr txBox="1"/>
          <p:nvPr/>
        </p:nvSpPr>
        <p:spPr>
          <a:xfrm>
            <a:off x="4817725" y="3181824"/>
            <a:ext cx="4114800" cy="73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900">
              <a:solidFill>
                <a:schemeClr val="accent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[1] num=10  → Output: even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[2] num=</a:t>
            </a: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9  → Output: 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48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ts val="9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TRY IT YOURSELF · LEVEL 1 · EXERCISES 3–4</a:t>
            </a:r>
            <a:endParaRPr/>
          </a:p>
        </p:txBody>
      </p:sp>
      <p:sp>
        <p:nvSpPr>
          <p:cNvPr id="416" name="Google Shape;416;p48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Adult Check  &amp;  Pass or Fail</a:t>
            </a:r>
            <a:endParaRPr/>
          </a:p>
        </p:txBody>
      </p:sp>
      <p:sp>
        <p:nvSpPr>
          <p:cNvPr id="417" name="Google Shape;417;p48"/>
          <p:cNvSpPr/>
          <p:nvPr/>
        </p:nvSpPr>
        <p:spPr>
          <a:xfrm>
            <a:off x="41148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sz="1100"/>
          </a:p>
        </p:txBody>
      </p:sp>
      <p:sp>
        <p:nvSpPr>
          <p:cNvPr id="418" name="Google Shape;418;p48"/>
          <p:cNvSpPr txBox="1"/>
          <p:nvPr/>
        </p:nvSpPr>
        <p:spPr>
          <a:xfrm>
            <a:off x="788670" y="1062990"/>
            <a:ext cx="3737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Adult Check</a:t>
            </a:r>
            <a:endParaRPr sz="1100"/>
          </a:p>
        </p:txBody>
      </p:sp>
      <p:sp>
        <p:nvSpPr>
          <p:cNvPr id="419" name="Google Shape;419;p48"/>
          <p:cNvSpPr/>
          <p:nvPr/>
        </p:nvSpPr>
        <p:spPr>
          <a:xfrm>
            <a:off x="411480" y="2113754"/>
            <a:ext cx="4114800" cy="1268700"/>
          </a:xfrm>
          <a:prstGeom prst="roundRect">
            <a:avLst>
              <a:gd fmla="val 5000" name="adj"/>
            </a:avLst>
          </a:prstGeom>
          <a:solidFill>
            <a:srgbClr val="1A1F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48"/>
          <p:cNvSpPr/>
          <p:nvPr/>
        </p:nvSpPr>
        <p:spPr>
          <a:xfrm>
            <a:off x="411480" y="2113754"/>
            <a:ext cx="4114800" cy="219300"/>
          </a:xfrm>
          <a:prstGeom prst="roundRect">
            <a:avLst>
              <a:gd fmla="val 10000" name="adj"/>
            </a:avLst>
          </a:prstGeom>
          <a:solidFill>
            <a:srgbClr val="272F7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48"/>
          <p:cNvSpPr/>
          <p:nvPr/>
        </p:nvSpPr>
        <p:spPr>
          <a:xfrm>
            <a:off x="507492" y="2185763"/>
            <a:ext cx="68700" cy="687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48"/>
          <p:cNvSpPr/>
          <p:nvPr/>
        </p:nvSpPr>
        <p:spPr>
          <a:xfrm>
            <a:off x="637794" y="2185763"/>
            <a:ext cx="68700" cy="68700"/>
          </a:xfrm>
          <a:prstGeom prst="ellipse">
            <a:avLst/>
          </a:prstGeom>
          <a:solidFill>
            <a:srgbClr val="F4C1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48"/>
          <p:cNvSpPr/>
          <p:nvPr/>
        </p:nvSpPr>
        <p:spPr>
          <a:xfrm>
            <a:off x="768096" y="2185763"/>
            <a:ext cx="68700" cy="68700"/>
          </a:xfrm>
          <a:prstGeom prst="ellipse">
            <a:avLst/>
          </a:prstGeom>
          <a:solidFill>
            <a:srgbClr val="6FCF9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48"/>
          <p:cNvSpPr txBox="1"/>
          <p:nvPr/>
        </p:nvSpPr>
        <p:spPr>
          <a:xfrm>
            <a:off x="411480" y="2113754"/>
            <a:ext cx="4011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DA3D4"/>
                </a:solidFill>
                <a:latin typeface="Consolas"/>
                <a:ea typeface="Consolas"/>
                <a:cs typeface="Consolas"/>
                <a:sym typeface="Consolas"/>
              </a:rPr>
              <a:t>ex03.py</a:t>
            </a:r>
            <a:endParaRPr sz="1100"/>
          </a:p>
        </p:txBody>
      </p:sp>
      <p:sp>
        <p:nvSpPr>
          <p:cNvPr id="425" name="Google Shape;425;p48"/>
          <p:cNvSpPr txBox="1"/>
          <p:nvPr/>
        </p:nvSpPr>
        <p:spPr>
          <a:xfrm>
            <a:off x="548640" y="2401790"/>
            <a:ext cx="38406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age = int(input("Enter age: "))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2A6BB"/>
                </a:solidFill>
                <a:latin typeface="Consolas"/>
                <a:ea typeface="Consolas"/>
                <a:cs typeface="Consolas"/>
                <a:sym typeface="Consolas"/>
              </a:rPr>
              <a:t># TODO: compare age to 18</a:t>
            </a:r>
            <a:endParaRPr sz="1100"/>
          </a:p>
        </p:txBody>
      </p:sp>
      <p:sp>
        <p:nvSpPr>
          <p:cNvPr id="426" name="Google Shape;426;p48"/>
          <p:cNvSpPr txBox="1"/>
          <p:nvPr/>
        </p:nvSpPr>
        <p:spPr>
          <a:xfrm>
            <a:off x="411555" y="1487778"/>
            <a:ext cx="4114800" cy="33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Input </a:t>
            </a:r>
            <a:r>
              <a:rPr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age</a:t>
            </a: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18+ -&gt; `Adult` else `Minor`</a:t>
            </a:r>
            <a:endParaRPr sz="1100"/>
          </a:p>
        </p:txBody>
      </p:sp>
      <p:sp>
        <p:nvSpPr>
          <p:cNvPr id="427" name="Google Shape;427;p48"/>
          <p:cNvSpPr/>
          <p:nvPr/>
        </p:nvSpPr>
        <p:spPr>
          <a:xfrm>
            <a:off x="486918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sz="1100"/>
          </a:p>
        </p:txBody>
      </p:sp>
      <p:sp>
        <p:nvSpPr>
          <p:cNvPr id="428" name="Google Shape;428;p48"/>
          <p:cNvSpPr txBox="1"/>
          <p:nvPr/>
        </p:nvSpPr>
        <p:spPr>
          <a:xfrm>
            <a:off x="5246370" y="1062990"/>
            <a:ext cx="3737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Pass or Fail</a:t>
            </a:r>
            <a:endParaRPr sz="1100"/>
          </a:p>
        </p:txBody>
      </p:sp>
      <p:sp>
        <p:nvSpPr>
          <p:cNvPr id="429" name="Google Shape;429;p48"/>
          <p:cNvSpPr/>
          <p:nvPr/>
        </p:nvSpPr>
        <p:spPr>
          <a:xfrm>
            <a:off x="4869180" y="2113754"/>
            <a:ext cx="4114800" cy="1268700"/>
          </a:xfrm>
          <a:prstGeom prst="roundRect">
            <a:avLst>
              <a:gd fmla="val 5000" name="adj"/>
            </a:avLst>
          </a:prstGeom>
          <a:solidFill>
            <a:srgbClr val="1A1F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48"/>
          <p:cNvSpPr/>
          <p:nvPr/>
        </p:nvSpPr>
        <p:spPr>
          <a:xfrm>
            <a:off x="4869180" y="2113754"/>
            <a:ext cx="4114800" cy="219300"/>
          </a:xfrm>
          <a:prstGeom prst="roundRect">
            <a:avLst>
              <a:gd fmla="val 10000" name="adj"/>
            </a:avLst>
          </a:prstGeom>
          <a:solidFill>
            <a:srgbClr val="272F7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48"/>
          <p:cNvSpPr/>
          <p:nvPr/>
        </p:nvSpPr>
        <p:spPr>
          <a:xfrm>
            <a:off x="4965192" y="2185763"/>
            <a:ext cx="68700" cy="687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48"/>
          <p:cNvSpPr/>
          <p:nvPr/>
        </p:nvSpPr>
        <p:spPr>
          <a:xfrm>
            <a:off x="5095494" y="2185763"/>
            <a:ext cx="68700" cy="68700"/>
          </a:xfrm>
          <a:prstGeom prst="ellipse">
            <a:avLst/>
          </a:prstGeom>
          <a:solidFill>
            <a:srgbClr val="F4C1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48"/>
          <p:cNvSpPr/>
          <p:nvPr/>
        </p:nvSpPr>
        <p:spPr>
          <a:xfrm>
            <a:off x="5225796" y="2185763"/>
            <a:ext cx="68700" cy="68700"/>
          </a:xfrm>
          <a:prstGeom prst="ellipse">
            <a:avLst/>
          </a:prstGeom>
          <a:solidFill>
            <a:srgbClr val="6FCF9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48"/>
          <p:cNvSpPr txBox="1"/>
          <p:nvPr/>
        </p:nvSpPr>
        <p:spPr>
          <a:xfrm>
            <a:off x="4869180" y="2113754"/>
            <a:ext cx="4011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DA3D4"/>
                </a:solidFill>
                <a:latin typeface="Consolas"/>
                <a:ea typeface="Consolas"/>
                <a:cs typeface="Consolas"/>
                <a:sym typeface="Consolas"/>
              </a:rPr>
              <a:t>ex04.py</a:t>
            </a:r>
            <a:endParaRPr sz="1100"/>
          </a:p>
        </p:txBody>
      </p:sp>
      <p:sp>
        <p:nvSpPr>
          <p:cNvPr id="435" name="Google Shape;435;p48"/>
          <p:cNvSpPr txBox="1"/>
          <p:nvPr/>
        </p:nvSpPr>
        <p:spPr>
          <a:xfrm>
            <a:off x="5006340" y="2401790"/>
            <a:ext cx="38406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score = float(input("Enter score: "))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2A6BB"/>
                </a:solidFill>
                <a:latin typeface="Consolas"/>
                <a:ea typeface="Consolas"/>
                <a:cs typeface="Consolas"/>
                <a:sym typeface="Consolas"/>
              </a:rPr>
              <a:t># TODO: compare score to 50</a:t>
            </a:r>
            <a:endParaRPr sz="1100"/>
          </a:p>
        </p:txBody>
      </p:sp>
      <p:sp>
        <p:nvSpPr>
          <p:cNvPr id="436" name="Google Shape;436;p48"/>
          <p:cNvSpPr txBox="1"/>
          <p:nvPr/>
        </p:nvSpPr>
        <p:spPr>
          <a:xfrm>
            <a:off x="4893730" y="1512628"/>
            <a:ext cx="4114800" cy="33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Input </a:t>
            </a:r>
            <a:r>
              <a:rPr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score</a:t>
            </a: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&gt;= 50 -&gt; `Pass`, else `Fail`</a:t>
            </a:r>
            <a:endParaRPr sz="1100"/>
          </a:p>
        </p:txBody>
      </p:sp>
      <p:sp>
        <p:nvSpPr>
          <p:cNvPr id="437" name="Google Shape;437;p48"/>
          <p:cNvSpPr txBox="1"/>
          <p:nvPr/>
        </p:nvSpPr>
        <p:spPr>
          <a:xfrm>
            <a:off x="411555" y="3608103"/>
            <a:ext cx="4114800" cy="92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900">
              <a:solidFill>
                <a:schemeClr val="accent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[1] age= 18  → Output: Adult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[2] age = 10  → Output: Minor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457200" lvl="0" marL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[3] age= 19  → Output: Adult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8" name="Google Shape;438;p48"/>
          <p:cNvSpPr txBox="1"/>
          <p:nvPr/>
        </p:nvSpPr>
        <p:spPr>
          <a:xfrm>
            <a:off x="4817800" y="3559899"/>
            <a:ext cx="4114800" cy="92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900">
              <a:solidFill>
                <a:schemeClr val="accent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[1] score =10  → Output: Fail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[2] score = 50  → Output: Pass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[3] score = 100 → Output: Pass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49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ts val="9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TRY IT YOURSELF · LEVEL 1 · EXERCISES 5–6</a:t>
            </a:r>
            <a:endParaRPr/>
          </a:p>
        </p:txBody>
      </p:sp>
      <p:sp>
        <p:nvSpPr>
          <p:cNvPr id="444" name="Google Shape;444;p49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Bigger Number  &amp;  Temperature</a:t>
            </a:r>
            <a:endParaRPr/>
          </a:p>
        </p:txBody>
      </p:sp>
      <p:sp>
        <p:nvSpPr>
          <p:cNvPr id="445" name="Google Shape;445;p49"/>
          <p:cNvSpPr/>
          <p:nvPr/>
        </p:nvSpPr>
        <p:spPr>
          <a:xfrm>
            <a:off x="41148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 sz="1100"/>
          </a:p>
        </p:txBody>
      </p:sp>
      <p:sp>
        <p:nvSpPr>
          <p:cNvPr id="446" name="Google Shape;446;p49"/>
          <p:cNvSpPr txBox="1"/>
          <p:nvPr/>
        </p:nvSpPr>
        <p:spPr>
          <a:xfrm>
            <a:off x="788670" y="1062990"/>
            <a:ext cx="3737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Bigger Number</a:t>
            </a:r>
            <a:endParaRPr sz="1100"/>
          </a:p>
        </p:txBody>
      </p:sp>
      <p:sp>
        <p:nvSpPr>
          <p:cNvPr id="447" name="Google Shape;447;p49"/>
          <p:cNvSpPr/>
          <p:nvPr/>
        </p:nvSpPr>
        <p:spPr>
          <a:xfrm>
            <a:off x="490055" y="1837854"/>
            <a:ext cx="4114800" cy="1268700"/>
          </a:xfrm>
          <a:prstGeom prst="roundRect">
            <a:avLst>
              <a:gd fmla="val 5000" name="adj"/>
            </a:avLst>
          </a:prstGeom>
          <a:solidFill>
            <a:srgbClr val="1A1F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49"/>
          <p:cNvSpPr/>
          <p:nvPr/>
        </p:nvSpPr>
        <p:spPr>
          <a:xfrm>
            <a:off x="490055" y="1837854"/>
            <a:ext cx="4114800" cy="219300"/>
          </a:xfrm>
          <a:prstGeom prst="roundRect">
            <a:avLst>
              <a:gd fmla="val 10000" name="adj"/>
            </a:avLst>
          </a:prstGeom>
          <a:solidFill>
            <a:srgbClr val="272F7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49"/>
          <p:cNvSpPr/>
          <p:nvPr/>
        </p:nvSpPr>
        <p:spPr>
          <a:xfrm>
            <a:off x="586067" y="1909863"/>
            <a:ext cx="68700" cy="687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49"/>
          <p:cNvSpPr/>
          <p:nvPr/>
        </p:nvSpPr>
        <p:spPr>
          <a:xfrm>
            <a:off x="716369" y="1909863"/>
            <a:ext cx="68700" cy="68700"/>
          </a:xfrm>
          <a:prstGeom prst="ellipse">
            <a:avLst/>
          </a:prstGeom>
          <a:solidFill>
            <a:srgbClr val="F4C1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49"/>
          <p:cNvSpPr/>
          <p:nvPr/>
        </p:nvSpPr>
        <p:spPr>
          <a:xfrm>
            <a:off x="846671" y="1909863"/>
            <a:ext cx="68700" cy="68700"/>
          </a:xfrm>
          <a:prstGeom prst="ellipse">
            <a:avLst/>
          </a:prstGeom>
          <a:solidFill>
            <a:srgbClr val="6FCF9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49"/>
          <p:cNvSpPr txBox="1"/>
          <p:nvPr/>
        </p:nvSpPr>
        <p:spPr>
          <a:xfrm>
            <a:off x="490055" y="1837854"/>
            <a:ext cx="4011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DA3D4"/>
                </a:solidFill>
                <a:latin typeface="Consolas"/>
                <a:ea typeface="Consolas"/>
                <a:cs typeface="Consolas"/>
                <a:sym typeface="Consolas"/>
              </a:rPr>
              <a:t>ex05.py</a:t>
            </a:r>
            <a:endParaRPr sz="1100"/>
          </a:p>
        </p:txBody>
      </p:sp>
      <p:sp>
        <p:nvSpPr>
          <p:cNvPr id="453" name="Google Shape;453;p49"/>
          <p:cNvSpPr txBox="1"/>
          <p:nvPr/>
        </p:nvSpPr>
        <p:spPr>
          <a:xfrm>
            <a:off x="627215" y="2125890"/>
            <a:ext cx="3840600" cy="6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a = int(input("First number: "))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b = int(input("Second number: "))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2A6BB"/>
                </a:solidFill>
                <a:latin typeface="Consolas"/>
                <a:ea typeface="Consolas"/>
                <a:cs typeface="Consolas"/>
                <a:sym typeface="Consolas"/>
              </a:rPr>
              <a:t># TODO: compare a and b</a:t>
            </a:r>
            <a:endParaRPr sz="1100"/>
          </a:p>
        </p:txBody>
      </p:sp>
      <p:sp>
        <p:nvSpPr>
          <p:cNvPr id="454" name="Google Shape;454;p49"/>
          <p:cNvSpPr txBox="1"/>
          <p:nvPr/>
        </p:nvSpPr>
        <p:spPr>
          <a:xfrm>
            <a:off x="490055" y="1426278"/>
            <a:ext cx="4114800" cy="33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Ask user to Input </a:t>
            </a:r>
            <a:r>
              <a:rPr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two</a:t>
            </a: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integers</a:t>
            </a: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Print the </a:t>
            </a:r>
            <a:r>
              <a:rPr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larger</a:t>
            </a: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one</a:t>
            </a:r>
            <a:endParaRPr sz="1100"/>
          </a:p>
        </p:txBody>
      </p:sp>
      <p:sp>
        <p:nvSpPr>
          <p:cNvPr id="455" name="Google Shape;455;p49"/>
          <p:cNvSpPr/>
          <p:nvPr/>
        </p:nvSpPr>
        <p:spPr>
          <a:xfrm>
            <a:off x="486918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6</a:t>
            </a:r>
            <a:endParaRPr sz="1100"/>
          </a:p>
        </p:txBody>
      </p:sp>
      <p:sp>
        <p:nvSpPr>
          <p:cNvPr id="456" name="Google Shape;456;p49"/>
          <p:cNvSpPr txBox="1"/>
          <p:nvPr/>
        </p:nvSpPr>
        <p:spPr>
          <a:xfrm>
            <a:off x="5246370" y="1062990"/>
            <a:ext cx="3737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Temperature</a:t>
            </a:r>
            <a:endParaRPr sz="1100"/>
          </a:p>
        </p:txBody>
      </p:sp>
      <p:sp>
        <p:nvSpPr>
          <p:cNvPr id="457" name="Google Shape;457;p49"/>
          <p:cNvSpPr/>
          <p:nvPr/>
        </p:nvSpPr>
        <p:spPr>
          <a:xfrm>
            <a:off x="4947755" y="1837854"/>
            <a:ext cx="4114800" cy="1268700"/>
          </a:xfrm>
          <a:prstGeom prst="roundRect">
            <a:avLst>
              <a:gd fmla="val 5000" name="adj"/>
            </a:avLst>
          </a:prstGeom>
          <a:solidFill>
            <a:srgbClr val="1A1F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49"/>
          <p:cNvSpPr/>
          <p:nvPr/>
        </p:nvSpPr>
        <p:spPr>
          <a:xfrm>
            <a:off x="4947755" y="1837854"/>
            <a:ext cx="4114800" cy="219300"/>
          </a:xfrm>
          <a:prstGeom prst="roundRect">
            <a:avLst>
              <a:gd fmla="val 10000" name="adj"/>
            </a:avLst>
          </a:prstGeom>
          <a:solidFill>
            <a:srgbClr val="272F7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49"/>
          <p:cNvSpPr/>
          <p:nvPr/>
        </p:nvSpPr>
        <p:spPr>
          <a:xfrm>
            <a:off x="5043767" y="1909863"/>
            <a:ext cx="68700" cy="687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49"/>
          <p:cNvSpPr/>
          <p:nvPr/>
        </p:nvSpPr>
        <p:spPr>
          <a:xfrm>
            <a:off x="5174069" y="1909863"/>
            <a:ext cx="68700" cy="68700"/>
          </a:xfrm>
          <a:prstGeom prst="ellipse">
            <a:avLst/>
          </a:prstGeom>
          <a:solidFill>
            <a:srgbClr val="F4C1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49"/>
          <p:cNvSpPr/>
          <p:nvPr/>
        </p:nvSpPr>
        <p:spPr>
          <a:xfrm>
            <a:off x="5304371" y="1909863"/>
            <a:ext cx="68700" cy="68700"/>
          </a:xfrm>
          <a:prstGeom prst="ellipse">
            <a:avLst/>
          </a:prstGeom>
          <a:solidFill>
            <a:srgbClr val="6FCF9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49"/>
          <p:cNvSpPr txBox="1"/>
          <p:nvPr/>
        </p:nvSpPr>
        <p:spPr>
          <a:xfrm>
            <a:off x="4947755" y="1837854"/>
            <a:ext cx="4011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DA3D4"/>
                </a:solidFill>
                <a:latin typeface="Consolas"/>
                <a:ea typeface="Consolas"/>
                <a:cs typeface="Consolas"/>
                <a:sym typeface="Consolas"/>
              </a:rPr>
              <a:t>ex06.py</a:t>
            </a:r>
            <a:endParaRPr sz="1100"/>
          </a:p>
        </p:txBody>
      </p:sp>
      <p:sp>
        <p:nvSpPr>
          <p:cNvPr id="463" name="Google Shape;463;p49"/>
          <p:cNvSpPr txBox="1"/>
          <p:nvPr/>
        </p:nvSpPr>
        <p:spPr>
          <a:xfrm>
            <a:off x="5084915" y="2125890"/>
            <a:ext cx="38406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temp = float(input("Enter temperature: "))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2A6BB"/>
                </a:solidFill>
                <a:latin typeface="Consolas"/>
                <a:ea typeface="Consolas"/>
                <a:cs typeface="Consolas"/>
                <a:sym typeface="Consolas"/>
              </a:rPr>
              <a:t># TODO: compare temp to 30</a:t>
            </a:r>
            <a:endParaRPr sz="1100"/>
          </a:p>
        </p:txBody>
      </p:sp>
      <p:sp>
        <p:nvSpPr>
          <p:cNvPr id="464" name="Google Shape;464;p49"/>
          <p:cNvSpPr txBox="1"/>
          <p:nvPr/>
        </p:nvSpPr>
        <p:spPr>
          <a:xfrm>
            <a:off x="4947755" y="1426278"/>
            <a:ext cx="4114800" cy="33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Ask user to Input </a:t>
            </a:r>
            <a:r>
              <a:rPr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temperature</a:t>
            </a: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&gt; 30 -&gt; `Hot`, else `Cool`</a:t>
            </a:r>
            <a:endParaRPr sz="1100"/>
          </a:p>
        </p:txBody>
      </p:sp>
      <p:sp>
        <p:nvSpPr>
          <p:cNvPr id="465" name="Google Shape;465;p49"/>
          <p:cNvSpPr txBox="1"/>
          <p:nvPr/>
        </p:nvSpPr>
        <p:spPr>
          <a:xfrm>
            <a:off x="463030" y="3255453"/>
            <a:ext cx="4114800" cy="92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900">
              <a:solidFill>
                <a:schemeClr val="accent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[1] a = 20, b = 20  → Output: 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[2] a = 20, b = 10  → Output: 20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457200" lvl="0" marL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[3] a = 18, b = 19  → Output: 19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6" name="Google Shape;466;p49"/>
          <p:cNvSpPr txBox="1"/>
          <p:nvPr/>
        </p:nvSpPr>
        <p:spPr>
          <a:xfrm>
            <a:off x="4869275" y="3207249"/>
            <a:ext cx="4114800" cy="92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900">
              <a:solidFill>
                <a:schemeClr val="accent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[1] temp =10  → Output: Cool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[2] temp = 30  → Output: Cool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[3] temp= 100 → Output: Hot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0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ts val="9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TRY IT YOURSELF · LEVEL 1 · EXERCISES 7–8</a:t>
            </a:r>
            <a:endParaRPr/>
          </a:p>
        </p:txBody>
      </p:sp>
      <p:sp>
        <p:nvSpPr>
          <p:cNvPr id="472" name="Google Shape;472;p50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Divisible by 5  &amp;  Username Check</a:t>
            </a:r>
            <a:endParaRPr/>
          </a:p>
        </p:txBody>
      </p:sp>
      <p:sp>
        <p:nvSpPr>
          <p:cNvPr id="473" name="Google Shape;473;p50"/>
          <p:cNvSpPr/>
          <p:nvPr/>
        </p:nvSpPr>
        <p:spPr>
          <a:xfrm>
            <a:off x="41148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endParaRPr sz="1100"/>
          </a:p>
        </p:txBody>
      </p:sp>
      <p:sp>
        <p:nvSpPr>
          <p:cNvPr id="474" name="Google Shape;474;p50"/>
          <p:cNvSpPr txBox="1"/>
          <p:nvPr/>
        </p:nvSpPr>
        <p:spPr>
          <a:xfrm>
            <a:off x="788670" y="1062990"/>
            <a:ext cx="3737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Divisible by 5</a:t>
            </a:r>
            <a:endParaRPr sz="1100"/>
          </a:p>
        </p:txBody>
      </p:sp>
      <p:sp>
        <p:nvSpPr>
          <p:cNvPr id="475" name="Google Shape;475;p50"/>
          <p:cNvSpPr/>
          <p:nvPr/>
        </p:nvSpPr>
        <p:spPr>
          <a:xfrm>
            <a:off x="411480" y="1995929"/>
            <a:ext cx="4114800" cy="1268700"/>
          </a:xfrm>
          <a:prstGeom prst="roundRect">
            <a:avLst>
              <a:gd fmla="val 5000" name="adj"/>
            </a:avLst>
          </a:prstGeom>
          <a:solidFill>
            <a:srgbClr val="1A1F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50"/>
          <p:cNvSpPr/>
          <p:nvPr/>
        </p:nvSpPr>
        <p:spPr>
          <a:xfrm>
            <a:off x="411480" y="1995929"/>
            <a:ext cx="4114800" cy="219300"/>
          </a:xfrm>
          <a:prstGeom prst="roundRect">
            <a:avLst>
              <a:gd fmla="val 10000" name="adj"/>
            </a:avLst>
          </a:prstGeom>
          <a:solidFill>
            <a:srgbClr val="272F7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50"/>
          <p:cNvSpPr/>
          <p:nvPr/>
        </p:nvSpPr>
        <p:spPr>
          <a:xfrm>
            <a:off x="507492" y="2067938"/>
            <a:ext cx="68700" cy="687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50"/>
          <p:cNvSpPr/>
          <p:nvPr/>
        </p:nvSpPr>
        <p:spPr>
          <a:xfrm>
            <a:off x="637794" y="2067938"/>
            <a:ext cx="68700" cy="68700"/>
          </a:xfrm>
          <a:prstGeom prst="ellipse">
            <a:avLst/>
          </a:prstGeom>
          <a:solidFill>
            <a:srgbClr val="F4C1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50"/>
          <p:cNvSpPr/>
          <p:nvPr/>
        </p:nvSpPr>
        <p:spPr>
          <a:xfrm>
            <a:off x="768096" y="2067938"/>
            <a:ext cx="68700" cy="68700"/>
          </a:xfrm>
          <a:prstGeom prst="ellipse">
            <a:avLst/>
          </a:prstGeom>
          <a:solidFill>
            <a:srgbClr val="6FCF9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50"/>
          <p:cNvSpPr txBox="1"/>
          <p:nvPr/>
        </p:nvSpPr>
        <p:spPr>
          <a:xfrm>
            <a:off x="411480" y="1995929"/>
            <a:ext cx="4011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DA3D4"/>
                </a:solidFill>
                <a:latin typeface="Consolas"/>
                <a:ea typeface="Consolas"/>
                <a:cs typeface="Consolas"/>
                <a:sym typeface="Consolas"/>
              </a:rPr>
              <a:t>ex07.py</a:t>
            </a:r>
            <a:endParaRPr sz="1100"/>
          </a:p>
        </p:txBody>
      </p:sp>
      <p:sp>
        <p:nvSpPr>
          <p:cNvPr id="481" name="Google Shape;481;p50"/>
          <p:cNvSpPr txBox="1"/>
          <p:nvPr/>
        </p:nvSpPr>
        <p:spPr>
          <a:xfrm>
            <a:off x="548640" y="2283965"/>
            <a:ext cx="38406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num = int(input("Enter a number: "))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2A6BB"/>
                </a:solidFill>
                <a:latin typeface="Consolas"/>
                <a:ea typeface="Consolas"/>
                <a:cs typeface="Consolas"/>
                <a:sym typeface="Consolas"/>
              </a:rPr>
              <a:t># TODO: use % 5</a:t>
            </a:r>
            <a:endParaRPr sz="1100"/>
          </a:p>
        </p:txBody>
      </p:sp>
      <p:sp>
        <p:nvSpPr>
          <p:cNvPr id="482" name="Google Shape;482;p50"/>
          <p:cNvSpPr txBox="1"/>
          <p:nvPr/>
        </p:nvSpPr>
        <p:spPr>
          <a:xfrm>
            <a:off x="411480" y="1505315"/>
            <a:ext cx="4114800" cy="33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Ask user to input a number</a:t>
            </a: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Divisible by </a:t>
            </a:r>
            <a:r>
              <a:rPr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-&gt; `Yes`, else `No`</a:t>
            </a:r>
            <a:endParaRPr sz="1100"/>
          </a:p>
        </p:txBody>
      </p:sp>
      <p:sp>
        <p:nvSpPr>
          <p:cNvPr id="483" name="Google Shape;483;p50"/>
          <p:cNvSpPr/>
          <p:nvPr/>
        </p:nvSpPr>
        <p:spPr>
          <a:xfrm>
            <a:off x="486918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8</a:t>
            </a:r>
            <a:endParaRPr sz="1100"/>
          </a:p>
        </p:txBody>
      </p:sp>
      <p:sp>
        <p:nvSpPr>
          <p:cNvPr id="484" name="Google Shape;484;p50"/>
          <p:cNvSpPr txBox="1"/>
          <p:nvPr/>
        </p:nvSpPr>
        <p:spPr>
          <a:xfrm>
            <a:off x="5246370" y="1062990"/>
            <a:ext cx="3737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Username Check</a:t>
            </a:r>
            <a:endParaRPr sz="1100"/>
          </a:p>
        </p:txBody>
      </p:sp>
      <p:sp>
        <p:nvSpPr>
          <p:cNvPr id="485" name="Google Shape;485;p50"/>
          <p:cNvSpPr/>
          <p:nvPr/>
        </p:nvSpPr>
        <p:spPr>
          <a:xfrm>
            <a:off x="4869180" y="1995929"/>
            <a:ext cx="4114800" cy="1268700"/>
          </a:xfrm>
          <a:prstGeom prst="roundRect">
            <a:avLst>
              <a:gd fmla="val 5000" name="adj"/>
            </a:avLst>
          </a:prstGeom>
          <a:solidFill>
            <a:srgbClr val="1A1F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50"/>
          <p:cNvSpPr/>
          <p:nvPr/>
        </p:nvSpPr>
        <p:spPr>
          <a:xfrm>
            <a:off x="4869180" y="1995929"/>
            <a:ext cx="4114800" cy="219300"/>
          </a:xfrm>
          <a:prstGeom prst="roundRect">
            <a:avLst>
              <a:gd fmla="val 10000" name="adj"/>
            </a:avLst>
          </a:prstGeom>
          <a:solidFill>
            <a:srgbClr val="272F7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50"/>
          <p:cNvSpPr/>
          <p:nvPr/>
        </p:nvSpPr>
        <p:spPr>
          <a:xfrm>
            <a:off x="4965192" y="2067938"/>
            <a:ext cx="68700" cy="687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50"/>
          <p:cNvSpPr/>
          <p:nvPr/>
        </p:nvSpPr>
        <p:spPr>
          <a:xfrm>
            <a:off x="5095494" y="2067938"/>
            <a:ext cx="68700" cy="68700"/>
          </a:xfrm>
          <a:prstGeom prst="ellipse">
            <a:avLst/>
          </a:prstGeom>
          <a:solidFill>
            <a:srgbClr val="F4C1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50"/>
          <p:cNvSpPr/>
          <p:nvPr/>
        </p:nvSpPr>
        <p:spPr>
          <a:xfrm>
            <a:off x="5225796" y="2067938"/>
            <a:ext cx="68700" cy="68700"/>
          </a:xfrm>
          <a:prstGeom prst="ellipse">
            <a:avLst/>
          </a:prstGeom>
          <a:solidFill>
            <a:srgbClr val="6FCF9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50"/>
          <p:cNvSpPr txBox="1"/>
          <p:nvPr/>
        </p:nvSpPr>
        <p:spPr>
          <a:xfrm>
            <a:off x="4869180" y="1995929"/>
            <a:ext cx="4011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DA3D4"/>
                </a:solidFill>
                <a:latin typeface="Consolas"/>
                <a:ea typeface="Consolas"/>
                <a:cs typeface="Consolas"/>
                <a:sym typeface="Consolas"/>
              </a:rPr>
              <a:t>ex08.py</a:t>
            </a:r>
            <a:endParaRPr sz="1100"/>
          </a:p>
        </p:txBody>
      </p:sp>
      <p:sp>
        <p:nvSpPr>
          <p:cNvPr id="491" name="Google Shape;491;p50"/>
          <p:cNvSpPr txBox="1"/>
          <p:nvPr/>
        </p:nvSpPr>
        <p:spPr>
          <a:xfrm>
            <a:off x="5006340" y="2283965"/>
            <a:ext cx="38406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username = input("Enter username: ")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2A6BB"/>
                </a:solidFill>
                <a:latin typeface="Consolas"/>
                <a:ea typeface="Consolas"/>
                <a:cs typeface="Consolas"/>
                <a:sym typeface="Consolas"/>
              </a:rPr>
              <a:t># TODO: compare to "admin"</a:t>
            </a:r>
            <a:endParaRPr sz="1100"/>
          </a:p>
        </p:txBody>
      </p:sp>
      <p:sp>
        <p:nvSpPr>
          <p:cNvPr id="492" name="Google Shape;492;p50"/>
          <p:cNvSpPr txBox="1"/>
          <p:nvPr/>
        </p:nvSpPr>
        <p:spPr>
          <a:xfrm>
            <a:off x="4869180" y="1505315"/>
            <a:ext cx="4114800" cy="33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Ask user to input a </a:t>
            </a:r>
            <a:r>
              <a:rPr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username</a:t>
            </a: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`admin` -&gt; `Welcome Admin`, else `Access Denied`</a:t>
            </a:r>
            <a:endParaRPr sz="1100"/>
          </a:p>
        </p:txBody>
      </p:sp>
      <p:sp>
        <p:nvSpPr>
          <p:cNvPr id="493" name="Google Shape;493;p50"/>
          <p:cNvSpPr txBox="1"/>
          <p:nvPr/>
        </p:nvSpPr>
        <p:spPr>
          <a:xfrm>
            <a:off x="463030" y="3467128"/>
            <a:ext cx="4114800" cy="92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900">
              <a:solidFill>
                <a:schemeClr val="accent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[1] num = 5 → Output: Yes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[2] num = 10  → Output: Yes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457200" lvl="0" marL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[3] num = 14 → </a:t>
            </a: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Output: No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4" name="Google Shape;494;p50"/>
          <p:cNvSpPr txBox="1"/>
          <p:nvPr/>
        </p:nvSpPr>
        <p:spPr>
          <a:xfrm>
            <a:off x="4869275" y="3418924"/>
            <a:ext cx="4114800" cy="92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900">
              <a:solidFill>
                <a:schemeClr val="accent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[1] username = admin  → Output: Welcome Admin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[2] username = Admin  → Output: Access Denied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[3] username = 100 → Output: Hot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51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Practices -  Tenerary</a:t>
            </a:r>
            <a:endParaRPr/>
          </a:p>
        </p:txBody>
      </p:sp>
      <p:sp>
        <p:nvSpPr>
          <p:cNvPr id="500" name="Google Shape;500;p51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52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ts val="9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TRY IT YOURSELF · LEVEL 1 · EXERCISES 9–10</a:t>
            </a:r>
            <a:endParaRPr/>
          </a:p>
        </p:txBody>
      </p:sp>
      <p:sp>
        <p:nvSpPr>
          <p:cNvPr id="506" name="Google Shape;506;p52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Ternary: Maximum  &amp;  Ternary: Even/Odd</a:t>
            </a:r>
            <a:endParaRPr/>
          </a:p>
        </p:txBody>
      </p:sp>
      <p:sp>
        <p:nvSpPr>
          <p:cNvPr id="507" name="Google Shape;507;p52"/>
          <p:cNvSpPr/>
          <p:nvPr/>
        </p:nvSpPr>
        <p:spPr>
          <a:xfrm>
            <a:off x="41148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9</a:t>
            </a:r>
            <a:endParaRPr sz="1100"/>
          </a:p>
        </p:txBody>
      </p:sp>
      <p:sp>
        <p:nvSpPr>
          <p:cNvPr id="508" name="Google Shape;508;p52"/>
          <p:cNvSpPr txBox="1"/>
          <p:nvPr/>
        </p:nvSpPr>
        <p:spPr>
          <a:xfrm>
            <a:off x="788670" y="1062990"/>
            <a:ext cx="3737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Ternary: Maximum</a:t>
            </a:r>
            <a:endParaRPr sz="1100"/>
          </a:p>
        </p:txBody>
      </p:sp>
      <p:sp>
        <p:nvSpPr>
          <p:cNvPr id="509" name="Google Shape;509;p52"/>
          <p:cNvSpPr/>
          <p:nvPr/>
        </p:nvSpPr>
        <p:spPr>
          <a:xfrm>
            <a:off x="411480" y="1460754"/>
            <a:ext cx="4114800" cy="1268700"/>
          </a:xfrm>
          <a:prstGeom prst="roundRect">
            <a:avLst>
              <a:gd fmla="val 5000" name="adj"/>
            </a:avLst>
          </a:prstGeom>
          <a:solidFill>
            <a:srgbClr val="1A1F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52"/>
          <p:cNvSpPr/>
          <p:nvPr/>
        </p:nvSpPr>
        <p:spPr>
          <a:xfrm>
            <a:off x="411480" y="1460754"/>
            <a:ext cx="4114800" cy="219300"/>
          </a:xfrm>
          <a:prstGeom prst="roundRect">
            <a:avLst>
              <a:gd fmla="val 10000" name="adj"/>
            </a:avLst>
          </a:prstGeom>
          <a:solidFill>
            <a:srgbClr val="272F7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52"/>
          <p:cNvSpPr/>
          <p:nvPr/>
        </p:nvSpPr>
        <p:spPr>
          <a:xfrm>
            <a:off x="507492" y="1532763"/>
            <a:ext cx="68700" cy="687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52"/>
          <p:cNvSpPr/>
          <p:nvPr/>
        </p:nvSpPr>
        <p:spPr>
          <a:xfrm>
            <a:off x="637794" y="1532763"/>
            <a:ext cx="68700" cy="68700"/>
          </a:xfrm>
          <a:prstGeom prst="ellipse">
            <a:avLst/>
          </a:prstGeom>
          <a:solidFill>
            <a:srgbClr val="F4C1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52"/>
          <p:cNvSpPr/>
          <p:nvPr/>
        </p:nvSpPr>
        <p:spPr>
          <a:xfrm>
            <a:off x="768096" y="1532763"/>
            <a:ext cx="68700" cy="68700"/>
          </a:xfrm>
          <a:prstGeom prst="ellipse">
            <a:avLst/>
          </a:prstGeom>
          <a:solidFill>
            <a:srgbClr val="6FCF9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52"/>
          <p:cNvSpPr txBox="1"/>
          <p:nvPr/>
        </p:nvSpPr>
        <p:spPr>
          <a:xfrm>
            <a:off x="411480" y="1460754"/>
            <a:ext cx="4011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DA3D4"/>
                </a:solidFill>
                <a:latin typeface="Consolas"/>
                <a:ea typeface="Consolas"/>
                <a:cs typeface="Consolas"/>
                <a:sym typeface="Consolas"/>
              </a:rPr>
              <a:t>ex09.py</a:t>
            </a:r>
            <a:endParaRPr sz="1100"/>
          </a:p>
        </p:txBody>
      </p:sp>
      <p:sp>
        <p:nvSpPr>
          <p:cNvPr id="515" name="Google Shape;515;p52"/>
          <p:cNvSpPr txBox="1"/>
          <p:nvPr/>
        </p:nvSpPr>
        <p:spPr>
          <a:xfrm>
            <a:off x="548640" y="1748790"/>
            <a:ext cx="3840600" cy="80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a = int(input("First: "))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b = int(input("Second: "))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2A6BB"/>
                </a:solidFill>
                <a:latin typeface="Consolas"/>
                <a:ea typeface="Consolas"/>
                <a:cs typeface="Consolas"/>
                <a:sym typeface="Consolas"/>
              </a:rPr>
              <a:t># TODO: one-line ternary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result = ...  # a if ... else b</a:t>
            </a:r>
            <a:endParaRPr sz="1100"/>
          </a:p>
        </p:txBody>
      </p:sp>
      <p:sp>
        <p:nvSpPr>
          <p:cNvPr id="516" name="Google Shape;516;p52"/>
          <p:cNvSpPr txBox="1"/>
          <p:nvPr/>
        </p:nvSpPr>
        <p:spPr>
          <a:xfrm>
            <a:off x="411480" y="2852928"/>
            <a:ext cx="4114800" cy="33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Use </a:t>
            </a:r>
            <a:r>
              <a:rPr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only</a:t>
            </a: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 ternary operator</a:t>
            </a: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Print the </a:t>
            </a:r>
            <a:r>
              <a:rPr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larger</a:t>
            </a: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number</a:t>
            </a:r>
            <a:endParaRPr sz="1100"/>
          </a:p>
        </p:txBody>
      </p:sp>
      <p:sp>
        <p:nvSpPr>
          <p:cNvPr id="517" name="Google Shape;517;p52"/>
          <p:cNvSpPr/>
          <p:nvPr/>
        </p:nvSpPr>
        <p:spPr>
          <a:xfrm>
            <a:off x="486918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 sz="1100"/>
          </a:p>
        </p:txBody>
      </p:sp>
      <p:sp>
        <p:nvSpPr>
          <p:cNvPr id="518" name="Google Shape;518;p52"/>
          <p:cNvSpPr txBox="1"/>
          <p:nvPr/>
        </p:nvSpPr>
        <p:spPr>
          <a:xfrm>
            <a:off x="5246370" y="1062990"/>
            <a:ext cx="3737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Ternary: Even/Odd</a:t>
            </a:r>
            <a:endParaRPr sz="1100"/>
          </a:p>
        </p:txBody>
      </p:sp>
      <p:sp>
        <p:nvSpPr>
          <p:cNvPr id="519" name="Google Shape;519;p52"/>
          <p:cNvSpPr/>
          <p:nvPr/>
        </p:nvSpPr>
        <p:spPr>
          <a:xfrm>
            <a:off x="4869180" y="1460754"/>
            <a:ext cx="4114800" cy="1268700"/>
          </a:xfrm>
          <a:prstGeom prst="roundRect">
            <a:avLst>
              <a:gd fmla="val 5000" name="adj"/>
            </a:avLst>
          </a:prstGeom>
          <a:solidFill>
            <a:srgbClr val="1A1F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52"/>
          <p:cNvSpPr/>
          <p:nvPr/>
        </p:nvSpPr>
        <p:spPr>
          <a:xfrm>
            <a:off x="4869180" y="1460754"/>
            <a:ext cx="4114800" cy="219300"/>
          </a:xfrm>
          <a:prstGeom prst="roundRect">
            <a:avLst>
              <a:gd fmla="val 10000" name="adj"/>
            </a:avLst>
          </a:prstGeom>
          <a:solidFill>
            <a:srgbClr val="272F7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52"/>
          <p:cNvSpPr/>
          <p:nvPr/>
        </p:nvSpPr>
        <p:spPr>
          <a:xfrm>
            <a:off x="4965192" y="1532763"/>
            <a:ext cx="68700" cy="687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52"/>
          <p:cNvSpPr/>
          <p:nvPr/>
        </p:nvSpPr>
        <p:spPr>
          <a:xfrm>
            <a:off x="5095494" y="1532763"/>
            <a:ext cx="68700" cy="68700"/>
          </a:xfrm>
          <a:prstGeom prst="ellipse">
            <a:avLst/>
          </a:prstGeom>
          <a:solidFill>
            <a:srgbClr val="F4C1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52"/>
          <p:cNvSpPr/>
          <p:nvPr/>
        </p:nvSpPr>
        <p:spPr>
          <a:xfrm>
            <a:off x="5225796" y="1532763"/>
            <a:ext cx="68700" cy="68700"/>
          </a:xfrm>
          <a:prstGeom prst="ellipse">
            <a:avLst/>
          </a:prstGeom>
          <a:solidFill>
            <a:srgbClr val="6FCF9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52"/>
          <p:cNvSpPr txBox="1"/>
          <p:nvPr/>
        </p:nvSpPr>
        <p:spPr>
          <a:xfrm>
            <a:off x="4869180" y="1460754"/>
            <a:ext cx="4011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DA3D4"/>
                </a:solidFill>
                <a:latin typeface="Consolas"/>
                <a:ea typeface="Consolas"/>
                <a:cs typeface="Consolas"/>
                <a:sym typeface="Consolas"/>
              </a:rPr>
              <a:t>ex10.py</a:t>
            </a:r>
            <a:endParaRPr sz="1100"/>
          </a:p>
        </p:txBody>
      </p:sp>
      <p:sp>
        <p:nvSpPr>
          <p:cNvPr id="525" name="Google Shape;525;p52"/>
          <p:cNvSpPr txBox="1"/>
          <p:nvPr/>
        </p:nvSpPr>
        <p:spPr>
          <a:xfrm>
            <a:off x="5006340" y="1748790"/>
            <a:ext cx="38406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num = int(input("Enter integer: "))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2A6BB"/>
                </a:solidFill>
                <a:latin typeface="Consolas"/>
                <a:ea typeface="Consolas"/>
                <a:cs typeface="Consolas"/>
                <a:sym typeface="Consolas"/>
              </a:rPr>
              <a:t># TODO: ternary -&gt; "Even" or "Odd"</a:t>
            </a:r>
            <a:endParaRPr sz="1100"/>
          </a:p>
        </p:txBody>
      </p:sp>
      <p:sp>
        <p:nvSpPr>
          <p:cNvPr id="526" name="Google Shape;526;p52"/>
          <p:cNvSpPr txBox="1"/>
          <p:nvPr/>
        </p:nvSpPr>
        <p:spPr>
          <a:xfrm>
            <a:off x="4869180" y="2852928"/>
            <a:ext cx="4114800" cy="33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Use a </a:t>
            </a:r>
            <a:r>
              <a:rPr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ternary</a:t>
            </a: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operator</a:t>
            </a: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Print `Even` or `Odd`</a:t>
            </a:r>
            <a:endParaRPr sz="11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53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Practices - Banking and Shopping related</a:t>
            </a:r>
            <a:endParaRPr/>
          </a:p>
        </p:txBody>
      </p:sp>
      <p:sp>
        <p:nvSpPr>
          <p:cNvPr id="532" name="Google Shape;532;p5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54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ts val="9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TRY IT YOURSELF · BANKING · EXERCISES 1-2</a:t>
            </a:r>
            <a:endParaRPr sz="900"/>
          </a:p>
        </p:txBody>
      </p:sp>
      <p:sp>
        <p:nvSpPr>
          <p:cNvPr id="538" name="Google Shape;538;p54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Low Balance Warning  &amp;  Withdrawal Check</a:t>
            </a:r>
            <a:endParaRPr sz="2100"/>
          </a:p>
        </p:txBody>
      </p:sp>
      <p:sp>
        <p:nvSpPr>
          <p:cNvPr id="539" name="Google Shape;539;p54"/>
          <p:cNvSpPr/>
          <p:nvPr/>
        </p:nvSpPr>
        <p:spPr>
          <a:xfrm>
            <a:off x="41148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25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sz="1050"/>
          </a:p>
        </p:txBody>
      </p:sp>
      <p:sp>
        <p:nvSpPr>
          <p:cNvPr id="540" name="Google Shape;540;p54"/>
          <p:cNvSpPr txBox="1"/>
          <p:nvPr/>
        </p:nvSpPr>
        <p:spPr>
          <a:xfrm>
            <a:off x="788670" y="1076706"/>
            <a:ext cx="3600600" cy="1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75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Low Balance Warning</a:t>
            </a:r>
            <a:endParaRPr sz="1050"/>
          </a:p>
        </p:txBody>
      </p:sp>
      <p:sp>
        <p:nvSpPr>
          <p:cNvPr id="541" name="Google Shape;541;p54"/>
          <p:cNvSpPr txBox="1"/>
          <p:nvPr/>
        </p:nvSpPr>
        <p:spPr>
          <a:xfrm>
            <a:off x="411480" y="1460754"/>
            <a:ext cx="3977700" cy="32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Ask user to input </a:t>
            </a:r>
            <a:r>
              <a:rPr b="1" i="0" lang="en" sz="938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balance</a:t>
            </a: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b="1" i="0" lang="en" sz="938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threshold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If balance is </a:t>
            </a:r>
            <a:r>
              <a:rPr b="1" i="0" lang="en" sz="938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below</a:t>
            </a: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threshold, print `Low balance warning`</a:t>
            </a:r>
            <a:endParaRPr sz="1050"/>
          </a:p>
        </p:txBody>
      </p:sp>
      <p:sp>
        <p:nvSpPr>
          <p:cNvPr id="542" name="Google Shape;542;p54"/>
          <p:cNvSpPr/>
          <p:nvPr/>
        </p:nvSpPr>
        <p:spPr>
          <a:xfrm>
            <a:off x="411480" y="2091690"/>
            <a:ext cx="3977700" cy="1535400"/>
          </a:xfrm>
          <a:prstGeom prst="roundRect">
            <a:avLst>
              <a:gd fmla="val 10000" name="adj"/>
            </a:avLst>
          </a:prstGeom>
          <a:solidFill>
            <a:srgbClr val="1B216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54"/>
          <p:cNvSpPr/>
          <p:nvPr/>
        </p:nvSpPr>
        <p:spPr>
          <a:xfrm>
            <a:off x="562356" y="2221992"/>
            <a:ext cx="61800" cy="6180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54"/>
          <p:cNvSpPr/>
          <p:nvPr/>
        </p:nvSpPr>
        <p:spPr>
          <a:xfrm>
            <a:off x="672084" y="2221992"/>
            <a:ext cx="61800" cy="6180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54"/>
          <p:cNvSpPr/>
          <p:nvPr/>
        </p:nvSpPr>
        <p:spPr>
          <a:xfrm>
            <a:off x="781811" y="2221992"/>
            <a:ext cx="61800" cy="6180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54"/>
          <p:cNvSpPr txBox="1"/>
          <p:nvPr/>
        </p:nvSpPr>
        <p:spPr>
          <a:xfrm>
            <a:off x="2811779" y="2146554"/>
            <a:ext cx="1385400" cy="12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88">
                <a:solidFill>
                  <a:srgbClr val="8891C7"/>
                </a:solidFill>
                <a:latin typeface="Consolas"/>
                <a:ea typeface="Consolas"/>
                <a:cs typeface="Consolas"/>
                <a:sym typeface="Consolas"/>
              </a:rPr>
              <a:t>ex01.py</a:t>
            </a:r>
            <a:endParaRPr sz="1050"/>
          </a:p>
        </p:txBody>
      </p:sp>
      <p:sp>
        <p:nvSpPr>
          <p:cNvPr id="547" name="Google Shape;547;p54"/>
          <p:cNvSpPr txBox="1"/>
          <p:nvPr/>
        </p:nvSpPr>
        <p:spPr>
          <a:xfrm>
            <a:off x="603504" y="2434590"/>
            <a:ext cx="3593700" cy="9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balance = float(input("Enter balance: "))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threshold = float(input("Enter threshold: "))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F28AA8"/>
                </a:solidFill>
                <a:latin typeface="Consolas"/>
                <a:ea typeface="Consolas"/>
                <a:cs typeface="Consolas"/>
                <a:sym typeface="Consolas"/>
              </a:rPr>
              <a:t># TODO: print a warning if balance is below threshold</a:t>
            </a:r>
            <a:endParaRPr sz="1050"/>
          </a:p>
        </p:txBody>
      </p:sp>
      <p:sp>
        <p:nvSpPr>
          <p:cNvPr id="548" name="Google Shape;548;p54"/>
          <p:cNvSpPr txBox="1"/>
          <p:nvPr/>
        </p:nvSpPr>
        <p:spPr>
          <a:xfrm>
            <a:off x="411480" y="3819049"/>
            <a:ext cx="3977700" cy="54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75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105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[1] balance=45, threshold=100  →  Output: Low balance warning</a:t>
            </a:r>
            <a:endParaRPr sz="1050"/>
          </a:p>
          <a:p>
            <a:pPr indent="0" lvl="0" marL="0" marR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[2] balance=150, threshold=100  →  Output: (nothing)</a:t>
            </a:r>
            <a:endParaRPr sz="1050"/>
          </a:p>
        </p:txBody>
      </p:sp>
      <p:sp>
        <p:nvSpPr>
          <p:cNvPr id="549" name="Google Shape;549;p54"/>
          <p:cNvSpPr/>
          <p:nvPr/>
        </p:nvSpPr>
        <p:spPr>
          <a:xfrm>
            <a:off x="476631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25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sz="1050"/>
          </a:p>
        </p:txBody>
      </p:sp>
      <p:sp>
        <p:nvSpPr>
          <p:cNvPr id="550" name="Google Shape;550;p54"/>
          <p:cNvSpPr txBox="1"/>
          <p:nvPr/>
        </p:nvSpPr>
        <p:spPr>
          <a:xfrm>
            <a:off x="5143500" y="1076706"/>
            <a:ext cx="3600600" cy="1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75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Withdrawal Check</a:t>
            </a:r>
            <a:endParaRPr sz="1050"/>
          </a:p>
        </p:txBody>
      </p:sp>
      <p:sp>
        <p:nvSpPr>
          <p:cNvPr id="551" name="Google Shape;551;p54"/>
          <p:cNvSpPr txBox="1"/>
          <p:nvPr/>
        </p:nvSpPr>
        <p:spPr>
          <a:xfrm>
            <a:off x="4766310" y="1460754"/>
            <a:ext cx="3977700" cy="32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Ask user to input </a:t>
            </a:r>
            <a:r>
              <a:rPr b="1" i="0" lang="en" sz="938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balance</a:t>
            </a: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b="1" i="0" lang="en" sz="938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withdrawal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If withdrawal &lt;= balance print `Approved`, else `Insufficient funds`</a:t>
            </a:r>
            <a:endParaRPr sz="1050"/>
          </a:p>
        </p:txBody>
      </p:sp>
      <p:sp>
        <p:nvSpPr>
          <p:cNvPr id="552" name="Google Shape;552;p54"/>
          <p:cNvSpPr/>
          <p:nvPr/>
        </p:nvSpPr>
        <p:spPr>
          <a:xfrm>
            <a:off x="4766310" y="2091690"/>
            <a:ext cx="3977700" cy="1535400"/>
          </a:xfrm>
          <a:prstGeom prst="roundRect">
            <a:avLst>
              <a:gd fmla="val 10000" name="adj"/>
            </a:avLst>
          </a:prstGeom>
          <a:solidFill>
            <a:srgbClr val="1B216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54"/>
          <p:cNvSpPr/>
          <p:nvPr/>
        </p:nvSpPr>
        <p:spPr>
          <a:xfrm>
            <a:off x="4917186" y="2221992"/>
            <a:ext cx="61800" cy="6180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54"/>
          <p:cNvSpPr/>
          <p:nvPr/>
        </p:nvSpPr>
        <p:spPr>
          <a:xfrm>
            <a:off x="5026914" y="2221992"/>
            <a:ext cx="61800" cy="6180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54"/>
          <p:cNvSpPr/>
          <p:nvPr/>
        </p:nvSpPr>
        <p:spPr>
          <a:xfrm>
            <a:off x="5136642" y="2221992"/>
            <a:ext cx="61800" cy="6180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54"/>
          <p:cNvSpPr txBox="1"/>
          <p:nvPr/>
        </p:nvSpPr>
        <p:spPr>
          <a:xfrm>
            <a:off x="7166610" y="2146554"/>
            <a:ext cx="1385400" cy="12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88">
                <a:solidFill>
                  <a:srgbClr val="8891C7"/>
                </a:solidFill>
                <a:latin typeface="Consolas"/>
                <a:ea typeface="Consolas"/>
                <a:cs typeface="Consolas"/>
                <a:sym typeface="Consolas"/>
              </a:rPr>
              <a:t>ex02.py</a:t>
            </a:r>
            <a:endParaRPr sz="1050"/>
          </a:p>
        </p:txBody>
      </p:sp>
      <p:sp>
        <p:nvSpPr>
          <p:cNvPr id="557" name="Google Shape;557;p54"/>
          <p:cNvSpPr txBox="1"/>
          <p:nvPr/>
        </p:nvSpPr>
        <p:spPr>
          <a:xfrm>
            <a:off x="4958334" y="2434590"/>
            <a:ext cx="3593700" cy="7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balance = float(input("Enter balance: "))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withdrawal = float(input("Enter withdrawal: "))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F28AA8"/>
                </a:solidFill>
                <a:latin typeface="Consolas"/>
                <a:ea typeface="Consolas"/>
                <a:cs typeface="Consolas"/>
                <a:sym typeface="Consolas"/>
              </a:rPr>
              <a:t># TODO: print Approved or Insufficient funds</a:t>
            </a:r>
            <a:endParaRPr sz="1050"/>
          </a:p>
        </p:txBody>
      </p:sp>
      <p:sp>
        <p:nvSpPr>
          <p:cNvPr id="558" name="Google Shape;558;p54"/>
          <p:cNvSpPr txBox="1"/>
          <p:nvPr/>
        </p:nvSpPr>
        <p:spPr>
          <a:xfrm>
            <a:off x="4766310" y="3819049"/>
            <a:ext cx="3977700" cy="54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75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105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[1] balance=200, withdrawal=250  →  Output: Insufficient funds</a:t>
            </a:r>
            <a:endParaRPr sz="1050"/>
          </a:p>
          <a:p>
            <a:pPr indent="0" lvl="0" marL="0" marR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[2] balance=200, withdrawal=150  →  Output: Approved</a:t>
            </a:r>
            <a:endParaRPr sz="105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55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ts val="9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TRY IT YOURSELF · BANKING · EXERCISES 3-4</a:t>
            </a:r>
            <a:endParaRPr sz="900"/>
          </a:p>
        </p:txBody>
      </p:sp>
      <p:sp>
        <p:nvSpPr>
          <p:cNvPr id="564" name="Google Shape;564;p55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Account Tier  &amp;  Transfer Verification</a:t>
            </a:r>
            <a:endParaRPr sz="2100"/>
          </a:p>
        </p:txBody>
      </p:sp>
      <p:sp>
        <p:nvSpPr>
          <p:cNvPr id="565" name="Google Shape;565;p55"/>
          <p:cNvSpPr/>
          <p:nvPr/>
        </p:nvSpPr>
        <p:spPr>
          <a:xfrm>
            <a:off x="41148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25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sz="1050"/>
          </a:p>
        </p:txBody>
      </p:sp>
      <p:sp>
        <p:nvSpPr>
          <p:cNvPr id="566" name="Google Shape;566;p55"/>
          <p:cNvSpPr txBox="1"/>
          <p:nvPr/>
        </p:nvSpPr>
        <p:spPr>
          <a:xfrm>
            <a:off x="788670" y="1076706"/>
            <a:ext cx="3600600" cy="1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75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Account Tier</a:t>
            </a:r>
            <a:endParaRPr sz="1050"/>
          </a:p>
        </p:txBody>
      </p:sp>
      <p:sp>
        <p:nvSpPr>
          <p:cNvPr id="567" name="Google Shape;567;p55"/>
          <p:cNvSpPr txBox="1"/>
          <p:nvPr/>
        </p:nvSpPr>
        <p:spPr>
          <a:xfrm>
            <a:off x="411480" y="1460754"/>
            <a:ext cx="3977700" cy="47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Ask user to input </a:t>
            </a:r>
            <a:r>
              <a:rPr b="1" i="0" lang="en" sz="938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balance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Print the matching tier: Platinum &gt;=10000, Gold &gt;=5000, Silver &gt;=1000, else Basic</a:t>
            </a:r>
            <a:endParaRPr sz="1050"/>
          </a:p>
        </p:txBody>
      </p:sp>
      <p:sp>
        <p:nvSpPr>
          <p:cNvPr id="568" name="Google Shape;568;p55"/>
          <p:cNvSpPr/>
          <p:nvPr/>
        </p:nvSpPr>
        <p:spPr>
          <a:xfrm>
            <a:off x="411480" y="2091690"/>
            <a:ext cx="3977700" cy="1326900"/>
          </a:xfrm>
          <a:prstGeom prst="roundRect">
            <a:avLst>
              <a:gd fmla="val 10000" name="adj"/>
            </a:avLst>
          </a:prstGeom>
          <a:solidFill>
            <a:srgbClr val="1B216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55"/>
          <p:cNvSpPr/>
          <p:nvPr/>
        </p:nvSpPr>
        <p:spPr>
          <a:xfrm>
            <a:off x="562356" y="2221992"/>
            <a:ext cx="61800" cy="6180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55"/>
          <p:cNvSpPr/>
          <p:nvPr/>
        </p:nvSpPr>
        <p:spPr>
          <a:xfrm>
            <a:off x="672084" y="2221992"/>
            <a:ext cx="61800" cy="6180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55"/>
          <p:cNvSpPr/>
          <p:nvPr/>
        </p:nvSpPr>
        <p:spPr>
          <a:xfrm>
            <a:off x="781811" y="2221992"/>
            <a:ext cx="61800" cy="6180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55"/>
          <p:cNvSpPr txBox="1"/>
          <p:nvPr/>
        </p:nvSpPr>
        <p:spPr>
          <a:xfrm>
            <a:off x="2811779" y="2146554"/>
            <a:ext cx="1385400" cy="12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88">
                <a:solidFill>
                  <a:srgbClr val="8891C7"/>
                </a:solidFill>
                <a:latin typeface="Consolas"/>
                <a:ea typeface="Consolas"/>
                <a:cs typeface="Consolas"/>
                <a:sym typeface="Consolas"/>
              </a:rPr>
              <a:t>ex03.py</a:t>
            </a:r>
            <a:endParaRPr sz="1050"/>
          </a:p>
        </p:txBody>
      </p:sp>
      <p:sp>
        <p:nvSpPr>
          <p:cNvPr id="573" name="Google Shape;573;p55"/>
          <p:cNvSpPr txBox="1"/>
          <p:nvPr/>
        </p:nvSpPr>
        <p:spPr>
          <a:xfrm>
            <a:off x="603504" y="2434590"/>
            <a:ext cx="3593700" cy="7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balance = float(input("Enter balance: "))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F28AA8"/>
                </a:solidFill>
                <a:latin typeface="Consolas"/>
                <a:ea typeface="Consolas"/>
                <a:cs typeface="Consolas"/>
                <a:sym typeface="Consolas"/>
              </a:rPr>
              <a:t># TODO: classify into Platinum / Gold / Silver / Basic</a:t>
            </a:r>
            <a:endParaRPr sz="1050"/>
          </a:p>
        </p:txBody>
      </p:sp>
      <p:sp>
        <p:nvSpPr>
          <p:cNvPr id="574" name="Google Shape;574;p55"/>
          <p:cNvSpPr txBox="1"/>
          <p:nvPr/>
        </p:nvSpPr>
        <p:spPr>
          <a:xfrm>
            <a:off x="411480" y="3610737"/>
            <a:ext cx="3977700" cy="54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75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105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[1] balance=7500  →  Output: Gold</a:t>
            </a:r>
            <a:endParaRPr sz="1050"/>
          </a:p>
          <a:p>
            <a:pPr indent="0" lvl="0" marL="0" marR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[2] balance=800  →  Output: Basic</a:t>
            </a:r>
            <a:endParaRPr sz="1050"/>
          </a:p>
        </p:txBody>
      </p:sp>
      <p:sp>
        <p:nvSpPr>
          <p:cNvPr id="575" name="Google Shape;575;p55"/>
          <p:cNvSpPr/>
          <p:nvPr/>
        </p:nvSpPr>
        <p:spPr>
          <a:xfrm>
            <a:off x="476631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25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sz="1050"/>
          </a:p>
        </p:txBody>
      </p:sp>
      <p:sp>
        <p:nvSpPr>
          <p:cNvPr id="576" name="Google Shape;576;p55"/>
          <p:cNvSpPr txBox="1"/>
          <p:nvPr/>
        </p:nvSpPr>
        <p:spPr>
          <a:xfrm>
            <a:off x="5143500" y="1076706"/>
            <a:ext cx="3600600" cy="1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75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Transfer Verification</a:t>
            </a:r>
            <a:endParaRPr sz="1050"/>
          </a:p>
        </p:txBody>
      </p:sp>
      <p:sp>
        <p:nvSpPr>
          <p:cNvPr id="577" name="Google Shape;577;p55"/>
          <p:cNvSpPr txBox="1"/>
          <p:nvPr/>
        </p:nvSpPr>
        <p:spPr>
          <a:xfrm>
            <a:off x="4766310" y="1460754"/>
            <a:ext cx="3977700" cy="32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First check if account is </a:t>
            </a:r>
            <a:r>
              <a:rPr b="1" i="0" lang="en" sz="938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verified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If verified, check amount against the </a:t>
            </a:r>
            <a:r>
              <a:rPr b="1" i="0" lang="en" sz="938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daily limit</a:t>
            </a:r>
            <a:endParaRPr sz="1050"/>
          </a:p>
        </p:txBody>
      </p:sp>
      <p:sp>
        <p:nvSpPr>
          <p:cNvPr id="578" name="Google Shape;578;p55"/>
          <p:cNvSpPr/>
          <p:nvPr/>
        </p:nvSpPr>
        <p:spPr>
          <a:xfrm>
            <a:off x="4766310" y="2091690"/>
            <a:ext cx="3977700" cy="1952100"/>
          </a:xfrm>
          <a:prstGeom prst="roundRect">
            <a:avLst>
              <a:gd fmla="val 10000" name="adj"/>
            </a:avLst>
          </a:prstGeom>
          <a:solidFill>
            <a:srgbClr val="1B216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55"/>
          <p:cNvSpPr/>
          <p:nvPr/>
        </p:nvSpPr>
        <p:spPr>
          <a:xfrm>
            <a:off x="4917186" y="2221992"/>
            <a:ext cx="61800" cy="6180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55"/>
          <p:cNvSpPr/>
          <p:nvPr/>
        </p:nvSpPr>
        <p:spPr>
          <a:xfrm>
            <a:off x="5026914" y="2221992"/>
            <a:ext cx="61800" cy="6180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55"/>
          <p:cNvSpPr/>
          <p:nvPr/>
        </p:nvSpPr>
        <p:spPr>
          <a:xfrm>
            <a:off x="5136642" y="2221992"/>
            <a:ext cx="61800" cy="6180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55"/>
          <p:cNvSpPr txBox="1"/>
          <p:nvPr/>
        </p:nvSpPr>
        <p:spPr>
          <a:xfrm>
            <a:off x="7166610" y="2146554"/>
            <a:ext cx="1385400" cy="12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88">
                <a:solidFill>
                  <a:srgbClr val="8891C7"/>
                </a:solidFill>
                <a:latin typeface="Consolas"/>
                <a:ea typeface="Consolas"/>
                <a:cs typeface="Consolas"/>
                <a:sym typeface="Consolas"/>
              </a:rPr>
              <a:t>ex04.py</a:t>
            </a:r>
            <a:endParaRPr sz="1050"/>
          </a:p>
        </p:txBody>
      </p:sp>
      <p:sp>
        <p:nvSpPr>
          <p:cNvPr id="583" name="Google Shape;583;p55"/>
          <p:cNvSpPr txBox="1"/>
          <p:nvPr/>
        </p:nvSpPr>
        <p:spPr>
          <a:xfrm>
            <a:off x="4958334" y="2434590"/>
            <a:ext cx="3593700" cy="11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verified = input("Verified? (yes/no): ") == "yes"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amount = float(input("Enter amount: "))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daily_limit = 5000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F28AA8"/>
                </a:solidFill>
                <a:latin typeface="Consolas"/>
                <a:ea typeface="Consolas"/>
                <a:cs typeface="Consolas"/>
                <a:sym typeface="Consolas"/>
              </a:rPr>
              <a:t># TODO: nested check: verified, then within daily limit</a:t>
            </a:r>
            <a:endParaRPr sz="1050"/>
          </a:p>
        </p:txBody>
      </p:sp>
      <p:sp>
        <p:nvSpPr>
          <p:cNvPr id="584" name="Google Shape;584;p55"/>
          <p:cNvSpPr txBox="1"/>
          <p:nvPr/>
        </p:nvSpPr>
        <p:spPr>
          <a:xfrm>
            <a:off x="4766310" y="4235672"/>
            <a:ext cx="3977700" cy="54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75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105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[1] verified=yes, amount=6000  →  Output: Flagged for review</a:t>
            </a:r>
            <a:endParaRPr sz="1050"/>
          </a:p>
          <a:p>
            <a:pPr indent="0" lvl="0" marL="0" marR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[2] verified=no, amount=3000  →  Output: Account not verified</a:t>
            </a:r>
            <a:endParaRPr sz="105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8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p56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ts val="9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TRY IT YOURSELF · SHOPPING · EXERCISES 1-2</a:t>
            </a:r>
            <a:endParaRPr sz="900"/>
          </a:p>
        </p:txBody>
      </p:sp>
      <p:sp>
        <p:nvSpPr>
          <p:cNvPr id="590" name="Google Shape;590;p56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Free Shipping  &amp;  Promo Code</a:t>
            </a:r>
            <a:endParaRPr sz="2100"/>
          </a:p>
        </p:txBody>
      </p:sp>
      <p:sp>
        <p:nvSpPr>
          <p:cNvPr id="591" name="Google Shape;591;p56"/>
          <p:cNvSpPr/>
          <p:nvPr/>
        </p:nvSpPr>
        <p:spPr>
          <a:xfrm>
            <a:off x="41148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25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 sz="1050"/>
          </a:p>
        </p:txBody>
      </p:sp>
      <p:sp>
        <p:nvSpPr>
          <p:cNvPr id="592" name="Google Shape;592;p56"/>
          <p:cNvSpPr txBox="1"/>
          <p:nvPr/>
        </p:nvSpPr>
        <p:spPr>
          <a:xfrm>
            <a:off x="788670" y="1076706"/>
            <a:ext cx="3600600" cy="1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75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Free Shipping</a:t>
            </a:r>
            <a:endParaRPr sz="1050"/>
          </a:p>
        </p:txBody>
      </p:sp>
      <p:sp>
        <p:nvSpPr>
          <p:cNvPr id="593" name="Google Shape;593;p56"/>
          <p:cNvSpPr txBox="1"/>
          <p:nvPr/>
        </p:nvSpPr>
        <p:spPr>
          <a:xfrm>
            <a:off x="411480" y="1460754"/>
            <a:ext cx="3977700" cy="32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Ask user to input </a:t>
            </a:r>
            <a:r>
              <a:rPr b="1" i="0" lang="en" sz="938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cart total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If $50 or more, print `You qualify for free shipping!`</a:t>
            </a:r>
            <a:endParaRPr sz="1050"/>
          </a:p>
        </p:txBody>
      </p:sp>
      <p:sp>
        <p:nvSpPr>
          <p:cNvPr id="594" name="Google Shape;594;p56"/>
          <p:cNvSpPr/>
          <p:nvPr/>
        </p:nvSpPr>
        <p:spPr>
          <a:xfrm>
            <a:off x="411480" y="2091690"/>
            <a:ext cx="3977700" cy="1535400"/>
          </a:xfrm>
          <a:prstGeom prst="roundRect">
            <a:avLst>
              <a:gd fmla="val 10000" name="adj"/>
            </a:avLst>
          </a:prstGeom>
          <a:solidFill>
            <a:srgbClr val="1B216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56"/>
          <p:cNvSpPr/>
          <p:nvPr/>
        </p:nvSpPr>
        <p:spPr>
          <a:xfrm>
            <a:off x="562356" y="2221992"/>
            <a:ext cx="61800" cy="6180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56"/>
          <p:cNvSpPr/>
          <p:nvPr/>
        </p:nvSpPr>
        <p:spPr>
          <a:xfrm>
            <a:off x="672084" y="2221992"/>
            <a:ext cx="61800" cy="6180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56"/>
          <p:cNvSpPr/>
          <p:nvPr/>
        </p:nvSpPr>
        <p:spPr>
          <a:xfrm>
            <a:off x="781811" y="2221992"/>
            <a:ext cx="61800" cy="6180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56"/>
          <p:cNvSpPr txBox="1"/>
          <p:nvPr/>
        </p:nvSpPr>
        <p:spPr>
          <a:xfrm>
            <a:off x="2811779" y="2146554"/>
            <a:ext cx="1385400" cy="12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88">
                <a:solidFill>
                  <a:srgbClr val="8891C7"/>
                </a:solidFill>
                <a:latin typeface="Consolas"/>
                <a:ea typeface="Consolas"/>
                <a:cs typeface="Consolas"/>
                <a:sym typeface="Consolas"/>
              </a:rPr>
              <a:t>ex09.py</a:t>
            </a:r>
            <a:endParaRPr sz="1050"/>
          </a:p>
        </p:txBody>
      </p:sp>
      <p:sp>
        <p:nvSpPr>
          <p:cNvPr id="599" name="Google Shape;599;p56"/>
          <p:cNvSpPr txBox="1"/>
          <p:nvPr/>
        </p:nvSpPr>
        <p:spPr>
          <a:xfrm>
            <a:off x="603504" y="2434590"/>
            <a:ext cx="3593700" cy="56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cart_total = float(input("Enter cart total: "))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F28AA8"/>
                </a:solidFill>
                <a:latin typeface="Consolas"/>
                <a:ea typeface="Consolas"/>
                <a:cs typeface="Consolas"/>
                <a:sym typeface="Consolas"/>
              </a:rPr>
              <a:t># TODO: check if total qualifies for free shipping</a:t>
            </a:r>
            <a:endParaRPr sz="1050"/>
          </a:p>
        </p:txBody>
      </p:sp>
      <p:sp>
        <p:nvSpPr>
          <p:cNvPr id="600" name="Google Shape;600;p56"/>
          <p:cNvSpPr txBox="1"/>
          <p:nvPr/>
        </p:nvSpPr>
        <p:spPr>
          <a:xfrm>
            <a:off x="411480" y="3819049"/>
            <a:ext cx="3977700" cy="54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75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105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[1] cart_total=62  →  Output: free shipping!</a:t>
            </a:r>
            <a:endParaRPr sz="1050"/>
          </a:p>
          <a:p>
            <a:pPr indent="0" lvl="0" marL="0" marR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[2] cart_total=30  →  Output: (nothing)</a:t>
            </a:r>
            <a:endParaRPr sz="1050"/>
          </a:p>
        </p:txBody>
      </p:sp>
      <p:sp>
        <p:nvSpPr>
          <p:cNvPr id="601" name="Google Shape;601;p56"/>
          <p:cNvSpPr/>
          <p:nvPr/>
        </p:nvSpPr>
        <p:spPr>
          <a:xfrm>
            <a:off x="476631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25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6</a:t>
            </a:r>
            <a:endParaRPr sz="1050"/>
          </a:p>
        </p:txBody>
      </p:sp>
      <p:sp>
        <p:nvSpPr>
          <p:cNvPr id="602" name="Google Shape;602;p56"/>
          <p:cNvSpPr txBox="1"/>
          <p:nvPr/>
        </p:nvSpPr>
        <p:spPr>
          <a:xfrm>
            <a:off x="5143500" y="1076706"/>
            <a:ext cx="3600600" cy="1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75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Promo Code</a:t>
            </a:r>
            <a:endParaRPr sz="1050"/>
          </a:p>
        </p:txBody>
      </p:sp>
      <p:sp>
        <p:nvSpPr>
          <p:cNvPr id="603" name="Google Shape;603;p56"/>
          <p:cNvSpPr txBox="1"/>
          <p:nvPr/>
        </p:nvSpPr>
        <p:spPr>
          <a:xfrm>
            <a:off x="4766310" y="1460754"/>
            <a:ext cx="3977700" cy="32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Ask user to input </a:t>
            </a:r>
            <a:r>
              <a:rPr b="1" i="0" lang="en" sz="938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code</a:t>
            </a: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b="1" i="0" lang="en" sz="938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price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Apply 10% discount only if code equals `SAVE10`</a:t>
            </a:r>
            <a:endParaRPr sz="1050"/>
          </a:p>
        </p:txBody>
      </p:sp>
      <p:sp>
        <p:nvSpPr>
          <p:cNvPr id="604" name="Google Shape;604;p56"/>
          <p:cNvSpPr/>
          <p:nvPr/>
        </p:nvSpPr>
        <p:spPr>
          <a:xfrm>
            <a:off x="4766310" y="2091690"/>
            <a:ext cx="3977700" cy="1326900"/>
          </a:xfrm>
          <a:prstGeom prst="roundRect">
            <a:avLst>
              <a:gd fmla="val 10000" name="adj"/>
            </a:avLst>
          </a:prstGeom>
          <a:solidFill>
            <a:srgbClr val="1B216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56"/>
          <p:cNvSpPr/>
          <p:nvPr/>
        </p:nvSpPr>
        <p:spPr>
          <a:xfrm>
            <a:off x="4917186" y="2221992"/>
            <a:ext cx="61800" cy="6180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56"/>
          <p:cNvSpPr/>
          <p:nvPr/>
        </p:nvSpPr>
        <p:spPr>
          <a:xfrm>
            <a:off x="5026914" y="2221992"/>
            <a:ext cx="61800" cy="6180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56"/>
          <p:cNvSpPr/>
          <p:nvPr/>
        </p:nvSpPr>
        <p:spPr>
          <a:xfrm>
            <a:off x="5136642" y="2221992"/>
            <a:ext cx="61800" cy="6180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56"/>
          <p:cNvSpPr txBox="1"/>
          <p:nvPr/>
        </p:nvSpPr>
        <p:spPr>
          <a:xfrm>
            <a:off x="7166610" y="2146554"/>
            <a:ext cx="1385400" cy="12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88">
                <a:solidFill>
                  <a:srgbClr val="8891C7"/>
                </a:solidFill>
                <a:latin typeface="Consolas"/>
                <a:ea typeface="Consolas"/>
                <a:cs typeface="Consolas"/>
                <a:sym typeface="Consolas"/>
              </a:rPr>
              <a:t>ex10.py</a:t>
            </a:r>
            <a:endParaRPr sz="1050"/>
          </a:p>
        </p:txBody>
      </p:sp>
      <p:sp>
        <p:nvSpPr>
          <p:cNvPr id="609" name="Google Shape;609;p56"/>
          <p:cNvSpPr txBox="1"/>
          <p:nvPr/>
        </p:nvSpPr>
        <p:spPr>
          <a:xfrm>
            <a:off x="4958334" y="2434590"/>
            <a:ext cx="3593700" cy="7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code = input("Enter promo code: ")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price = float(input("Enter price: "))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F28AA8"/>
                </a:solidFill>
                <a:latin typeface="Consolas"/>
                <a:ea typeface="Consolas"/>
                <a:cs typeface="Consolas"/>
                <a:sym typeface="Consolas"/>
              </a:rPr>
              <a:t># TODO: apply 10% off if code == SAVE10</a:t>
            </a:r>
            <a:endParaRPr sz="1050"/>
          </a:p>
        </p:txBody>
      </p:sp>
      <p:sp>
        <p:nvSpPr>
          <p:cNvPr id="610" name="Google Shape;610;p56"/>
          <p:cNvSpPr txBox="1"/>
          <p:nvPr/>
        </p:nvSpPr>
        <p:spPr>
          <a:xfrm>
            <a:off x="4766310" y="3610737"/>
            <a:ext cx="3977700" cy="54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75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105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[1] code=SAVE10, price=80  →  Output: 72.0</a:t>
            </a:r>
            <a:endParaRPr sz="1050"/>
          </a:p>
          <a:p>
            <a:pPr indent="0" lvl="0" marL="0" marR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[2] code=X, price=80  →  Output: 80</a:t>
            </a:r>
            <a:endParaRPr sz="105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4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p57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ts val="9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TRY IT YOURSELF · SHOPPING · EXERCISES 3-4</a:t>
            </a:r>
            <a:endParaRPr sz="900"/>
          </a:p>
        </p:txBody>
      </p:sp>
      <p:sp>
        <p:nvSpPr>
          <p:cNvPr id="616" name="Google Shape;616;p57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Discount Tiers  &amp;  Membership Discount</a:t>
            </a:r>
            <a:endParaRPr sz="2100"/>
          </a:p>
        </p:txBody>
      </p:sp>
      <p:sp>
        <p:nvSpPr>
          <p:cNvPr id="617" name="Google Shape;617;p57"/>
          <p:cNvSpPr/>
          <p:nvPr/>
        </p:nvSpPr>
        <p:spPr>
          <a:xfrm>
            <a:off x="41148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25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endParaRPr sz="1050"/>
          </a:p>
        </p:txBody>
      </p:sp>
      <p:sp>
        <p:nvSpPr>
          <p:cNvPr id="618" name="Google Shape;618;p57"/>
          <p:cNvSpPr txBox="1"/>
          <p:nvPr/>
        </p:nvSpPr>
        <p:spPr>
          <a:xfrm>
            <a:off x="788670" y="1076706"/>
            <a:ext cx="3600600" cy="1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75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Discount Tiers</a:t>
            </a:r>
            <a:endParaRPr sz="1050"/>
          </a:p>
        </p:txBody>
      </p:sp>
      <p:sp>
        <p:nvSpPr>
          <p:cNvPr id="619" name="Google Shape;619;p57"/>
          <p:cNvSpPr txBox="1"/>
          <p:nvPr/>
        </p:nvSpPr>
        <p:spPr>
          <a:xfrm>
            <a:off x="411480" y="1460754"/>
            <a:ext cx="3977700" cy="32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Ask user to input </a:t>
            </a:r>
            <a:r>
              <a:rPr b="1" i="0" lang="en" sz="938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amount spent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Print discount tier: 20% &gt;=200, 10% &gt;=100, 5% &gt;=50, else none</a:t>
            </a:r>
            <a:endParaRPr sz="1050"/>
          </a:p>
        </p:txBody>
      </p:sp>
      <p:sp>
        <p:nvSpPr>
          <p:cNvPr id="620" name="Google Shape;620;p57"/>
          <p:cNvSpPr/>
          <p:nvPr/>
        </p:nvSpPr>
        <p:spPr>
          <a:xfrm>
            <a:off x="411480" y="2091690"/>
            <a:ext cx="3977700" cy="1118700"/>
          </a:xfrm>
          <a:prstGeom prst="roundRect">
            <a:avLst>
              <a:gd fmla="val 10000" name="adj"/>
            </a:avLst>
          </a:prstGeom>
          <a:solidFill>
            <a:srgbClr val="1B216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57"/>
          <p:cNvSpPr/>
          <p:nvPr/>
        </p:nvSpPr>
        <p:spPr>
          <a:xfrm>
            <a:off x="562356" y="2221992"/>
            <a:ext cx="61800" cy="6180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57"/>
          <p:cNvSpPr/>
          <p:nvPr/>
        </p:nvSpPr>
        <p:spPr>
          <a:xfrm>
            <a:off x="672084" y="2221992"/>
            <a:ext cx="61800" cy="6180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57"/>
          <p:cNvSpPr/>
          <p:nvPr/>
        </p:nvSpPr>
        <p:spPr>
          <a:xfrm>
            <a:off x="781811" y="2221992"/>
            <a:ext cx="61800" cy="6180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57"/>
          <p:cNvSpPr txBox="1"/>
          <p:nvPr/>
        </p:nvSpPr>
        <p:spPr>
          <a:xfrm>
            <a:off x="2811779" y="2146554"/>
            <a:ext cx="1385400" cy="12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88">
                <a:solidFill>
                  <a:srgbClr val="8891C7"/>
                </a:solidFill>
                <a:latin typeface="Consolas"/>
                <a:ea typeface="Consolas"/>
                <a:cs typeface="Consolas"/>
                <a:sym typeface="Consolas"/>
              </a:rPr>
              <a:t>ex11.py</a:t>
            </a:r>
            <a:endParaRPr sz="1050"/>
          </a:p>
        </p:txBody>
      </p:sp>
      <p:sp>
        <p:nvSpPr>
          <p:cNvPr id="625" name="Google Shape;625;p57"/>
          <p:cNvSpPr txBox="1"/>
          <p:nvPr/>
        </p:nvSpPr>
        <p:spPr>
          <a:xfrm>
            <a:off x="603504" y="2434590"/>
            <a:ext cx="3593700" cy="56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spent = float(input("Enter amount spent: "))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F28AA8"/>
                </a:solidFill>
                <a:latin typeface="Consolas"/>
                <a:ea typeface="Consolas"/>
                <a:cs typeface="Consolas"/>
                <a:sym typeface="Consolas"/>
              </a:rPr>
              <a:t># TODO: print discount tier</a:t>
            </a:r>
            <a:endParaRPr sz="1050"/>
          </a:p>
        </p:txBody>
      </p:sp>
      <p:sp>
        <p:nvSpPr>
          <p:cNvPr id="626" name="Google Shape;626;p57"/>
          <p:cNvSpPr txBox="1"/>
          <p:nvPr/>
        </p:nvSpPr>
        <p:spPr>
          <a:xfrm>
            <a:off x="411480" y="3402425"/>
            <a:ext cx="3977700" cy="54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75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105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[1] spent=120  →  Output: 10% off</a:t>
            </a:r>
            <a:endParaRPr sz="1050"/>
          </a:p>
          <a:p>
            <a:pPr indent="0" lvl="0" marL="0" marR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[2] spent=40  →  Output: No discount</a:t>
            </a:r>
            <a:endParaRPr sz="1050"/>
          </a:p>
        </p:txBody>
      </p:sp>
      <p:sp>
        <p:nvSpPr>
          <p:cNvPr id="627" name="Google Shape;627;p57"/>
          <p:cNvSpPr/>
          <p:nvPr/>
        </p:nvSpPr>
        <p:spPr>
          <a:xfrm>
            <a:off x="476631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25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8</a:t>
            </a:r>
            <a:endParaRPr sz="1050"/>
          </a:p>
        </p:txBody>
      </p:sp>
      <p:sp>
        <p:nvSpPr>
          <p:cNvPr id="628" name="Google Shape;628;p57"/>
          <p:cNvSpPr txBox="1"/>
          <p:nvPr/>
        </p:nvSpPr>
        <p:spPr>
          <a:xfrm>
            <a:off x="5143500" y="1076706"/>
            <a:ext cx="3600600" cy="1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75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Membership Discount</a:t>
            </a:r>
            <a:endParaRPr sz="1050"/>
          </a:p>
        </p:txBody>
      </p:sp>
      <p:sp>
        <p:nvSpPr>
          <p:cNvPr id="629" name="Google Shape;629;p57"/>
          <p:cNvSpPr txBox="1"/>
          <p:nvPr/>
        </p:nvSpPr>
        <p:spPr>
          <a:xfrm>
            <a:off x="4766310" y="1460754"/>
            <a:ext cx="3977700" cy="32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First check if customer </a:t>
            </a:r>
            <a:r>
              <a:rPr b="1" i="0" lang="en" sz="938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is a member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If member, check total against loyalty threshold ($100)</a:t>
            </a:r>
            <a:endParaRPr sz="1050"/>
          </a:p>
        </p:txBody>
      </p:sp>
      <p:sp>
        <p:nvSpPr>
          <p:cNvPr id="630" name="Google Shape;630;p57"/>
          <p:cNvSpPr/>
          <p:nvPr/>
        </p:nvSpPr>
        <p:spPr>
          <a:xfrm>
            <a:off x="4766310" y="2091690"/>
            <a:ext cx="3977700" cy="1743600"/>
          </a:xfrm>
          <a:prstGeom prst="roundRect">
            <a:avLst>
              <a:gd fmla="val 10000" name="adj"/>
            </a:avLst>
          </a:prstGeom>
          <a:solidFill>
            <a:srgbClr val="1B216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57"/>
          <p:cNvSpPr/>
          <p:nvPr/>
        </p:nvSpPr>
        <p:spPr>
          <a:xfrm>
            <a:off x="4917186" y="2221992"/>
            <a:ext cx="61800" cy="6180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57"/>
          <p:cNvSpPr/>
          <p:nvPr/>
        </p:nvSpPr>
        <p:spPr>
          <a:xfrm>
            <a:off x="5026914" y="2221992"/>
            <a:ext cx="61800" cy="6180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" name="Google Shape;633;p57"/>
          <p:cNvSpPr/>
          <p:nvPr/>
        </p:nvSpPr>
        <p:spPr>
          <a:xfrm>
            <a:off x="5136642" y="2221992"/>
            <a:ext cx="61800" cy="6180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" name="Google Shape;634;p57"/>
          <p:cNvSpPr txBox="1"/>
          <p:nvPr/>
        </p:nvSpPr>
        <p:spPr>
          <a:xfrm>
            <a:off x="7166610" y="2146554"/>
            <a:ext cx="1385400" cy="12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88">
                <a:solidFill>
                  <a:srgbClr val="8891C7"/>
                </a:solidFill>
                <a:latin typeface="Consolas"/>
                <a:ea typeface="Consolas"/>
                <a:cs typeface="Consolas"/>
                <a:sym typeface="Consolas"/>
              </a:rPr>
              <a:t>ex12.py</a:t>
            </a:r>
            <a:endParaRPr sz="1050"/>
          </a:p>
        </p:txBody>
      </p:sp>
      <p:sp>
        <p:nvSpPr>
          <p:cNvPr id="635" name="Google Shape;635;p57"/>
          <p:cNvSpPr txBox="1"/>
          <p:nvPr/>
        </p:nvSpPr>
        <p:spPr>
          <a:xfrm>
            <a:off x="4958334" y="2434590"/>
            <a:ext cx="3593700" cy="7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is_member = input("Member? (yes/no): ") == "yes"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total = float(input("Enter total: "))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F28AA8"/>
                </a:solidFill>
                <a:latin typeface="Consolas"/>
                <a:ea typeface="Consolas"/>
                <a:cs typeface="Consolas"/>
                <a:sym typeface="Consolas"/>
              </a:rPr>
              <a:t># TODO: nested check: member, then loyalty bonus</a:t>
            </a:r>
            <a:endParaRPr sz="1050"/>
          </a:p>
        </p:txBody>
      </p:sp>
      <p:sp>
        <p:nvSpPr>
          <p:cNvPr id="636" name="Google Shape;636;p57"/>
          <p:cNvSpPr txBox="1"/>
          <p:nvPr/>
        </p:nvSpPr>
        <p:spPr>
          <a:xfrm>
            <a:off x="4766310" y="4027361"/>
            <a:ext cx="3977700" cy="54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75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105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[1] is_member=yes, total=150  →  Output: loyalty discount</a:t>
            </a:r>
            <a:endParaRPr sz="1050"/>
          </a:p>
          <a:p>
            <a:pPr indent="0" lvl="0" marL="0" marR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[2] is_member=no, total=200  →  Output: No discount</a:t>
            </a:r>
            <a:endParaRPr sz="10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