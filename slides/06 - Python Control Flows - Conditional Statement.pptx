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7d15d401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7d15d401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eb939ac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eb939ac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fd9fad4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fd9fad4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eb939ac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eb939ac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b939ac0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eb939ac0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eb939ac0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eb939ac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7d15d401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7d15d401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fd9fad44b_0_3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dfd9fad44b_0_37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fd9fad44b_0_37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fd9fad44b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fd9fad44b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score = 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score &gt;= 90: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grade = "A"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elif score &gt;= 80: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grade = "B"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elif score &gt;= 70: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grade = "C"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grade = "F"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print(f"Grade: {grade}")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54fa2a40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54fa2a4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7bb517e4a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7bb517e4a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7bb517e4a_2_7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f7bb517e4a_2_7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7bb517e4a_2_7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7bb517e4a_2_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f7bb517e4a_2_4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7bb517e4a_2_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7bb517e4a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7bb517e4a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fd9fad44b_0_11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dfd9fad44b_0_112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fd9fad44b_0_112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7bb517e4a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7bb517e4a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fd9fad44b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fd9fad44b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81ac52b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81ac52b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81ac52baa_0_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81ac52baa_0_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81ac52baa_0_3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81ac52baa_0_3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81ac52baa_0_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81ac52baa_0_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81ac52baa_0_8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81ac52baa_0_8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1ac52baa_0_1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f81ac52baa_0_1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1229375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4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1" name="Google Shape;101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1" name="Google Shape;111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d70bf31d_14_0)">
  <p:cSld name="Generated (g3dfd70bf31d_14_0)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28_0)">
  <p:cSld name="Title and body (g3dfd70bf31d_28_0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35_0)">
  <p:cSld name="Title and body (g3dfd70bf31d_35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9afcda42_8_0)">
  <p:cSld name="Title and body (g3e19afcda42_8_0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9afcda42_29_0)">
  <p:cSld name="Title and body (g3e19afcda42_29_0)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41" name="Google Shape;141;p24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control flow?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Useful Program Needs to Make Decisions</a:t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411480" y="1131570"/>
            <a:ext cx="8092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25"/>
              <a:buFont typeface="Roboto"/>
              <a:buNone/>
            </a:pPr>
            <a:r>
              <a:rPr b="0" i="0" lang="en" sz="11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🚦  A traffic light checks conditions: red → stop, green → go, yellow → slow down. Your Python code does the same thing!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411480" y="1783080"/>
            <a:ext cx="2537400" cy="2537400"/>
          </a:xfrm>
          <a:prstGeom prst="roundRect">
            <a:avLst>
              <a:gd fmla="val 2162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582930" y="198882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🎮  Game</a:t>
            </a:r>
            <a:endParaRPr b="0" i="0" sz="12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582930" y="246888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None/>
            </a:pPr>
            <a:r>
              <a:rPr b="0" i="1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Is health &gt; 0?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582930" y="3017520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Keep playing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582930" y="3360420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→ Game over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3154680" y="1783080"/>
            <a:ext cx="2537400" cy="2537400"/>
          </a:xfrm>
          <a:prstGeom prst="roundRect">
            <a:avLst>
              <a:gd fmla="val 2162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3326130" y="198882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🏦  Banking</a:t>
            </a:r>
            <a:endParaRPr b="0" i="0" sz="12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3326130" y="246888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None/>
            </a:pPr>
            <a:r>
              <a:rPr b="0" i="1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Is balance enough?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3326130" y="3017520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Allow transfer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3326130" y="3360420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→ Decline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5897880" y="1783080"/>
            <a:ext cx="2537400" cy="2537400"/>
          </a:xfrm>
          <a:prstGeom prst="roundRect">
            <a:avLst>
              <a:gd fmla="val 2162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/>
          <p:nvPr/>
        </p:nvSpPr>
        <p:spPr>
          <a:xfrm>
            <a:off x="6069330" y="198882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🌤️  Weather App</a:t>
            </a:r>
            <a:endParaRPr b="0" i="0" sz="12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6069330" y="2468880"/>
            <a:ext cx="219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None/>
            </a:pPr>
            <a:r>
              <a:rPr b="0" i="1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Is temp &lt; 10°C?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6069330" y="3017520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Show coat icon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6069330" y="3360420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→ Show sun icon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control flow?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control flow?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275" y="1584425"/>
            <a:ext cx="42672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>
            <a:off x="461125" y="839397"/>
            <a:ext cx="8092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Roboto"/>
              <a:buNone/>
            </a:pPr>
            <a:r>
              <a:rPr b="0" i="0" lang="en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Control flow structures allow you to dictate the order in which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statements</a:t>
            </a:r>
            <a:r>
              <a:rPr b="0" i="0" lang="en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execute in your program.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461130" y="1584430"/>
            <a:ext cx="685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Python manages control flow using 2 core structures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461130" y="2064490"/>
            <a:ext cx="342900" cy="3429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>
            <a:off x="461130" y="20644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975477" y="1995900"/>
            <a:ext cx="420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Roboto"/>
              <a:buNone/>
            </a:pPr>
            <a:r>
              <a:rPr b="1" i="0" lang="en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Conditional Statements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975477" y="2304514"/>
            <a:ext cx="420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/ elif / else — branch based on True/False checks.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461130" y="3024610"/>
            <a:ext cx="342900" cy="3429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/>
          <p:nvPr/>
        </p:nvSpPr>
        <p:spPr>
          <a:xfrm>
            <a:off x="461130" y="302461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975477" y="2956032"/>
            <a:ext cx="420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Roboto"/>
              <a:buNone/>
            </a:pPr>
            <a:r>
              <a:rPr b="1" i="0" lang="en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Loop &amp; Transfer Statements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975477" y="3264646"/>
            <a:ext cx="420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Repeat code and control iteration (covered in a later lesson).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Statements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Control Flows: The `</a:t>
            </a:r>
            <a:r>
              <a:rPr b="1" lang="en" sz="252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b="1" lang="en" sz="252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` Statement</a:t>
            </a:r>
            <a:endParaRPr b="1" sz="252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419680" y="1344595"/>
            <a:ext cx="39777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None/>
            </a:pPr>
            <a:r>
              <a:rPr b="0" i="0" lang="en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Control flow statements let us control the order code runs in, based on conditions.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419680" y="1927525"/>
            <a:ext cx="3977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083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38"/>
              <a:buFont typeface="Roboto"/>
              <a:buChar char="●"/>
            </a:pPr>
            <a:r>
              <a:rPr b="1" i="0" lang="en" sz="1138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b="0" i="0" lang="en" sz="11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keyword — starts the decision check</a:t>
            </a:r>
            <a:endParaRPr b="0" i="0" sz="11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0831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38"/>
              <a:buFont typeface="Roboto"/>
              <a:buChar char="●"/>
            </a:pPr>
            <a:r>
              <a:rPr b="1" i="0" lang="en" sz="1138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b="0" i="0" lang="en" sz="11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an expression that is True or False</a:t>
            </a:r>
            <a:endParaRPr b="0" i="0" sz="11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0831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38"/>
              <a:buFont typeface="Roboto"/>
              <a:buChar char="●"/>
            </a:pPr>
            <a:r>
              <a:rPr b="1" lang="en" sz="1138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n" sz="11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colon — REQUIRED at the end of the line</a:t>
            </a:r>
            <a:endParaRPr b="0" i="0" sz="11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0831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138"/>
              <a:buFont typeface="Roboto"/>
              <a:buChar char="●"/>
            </a:pPr>
            <a:r>
              <a:rPr b="1" i="0" lang="en" sz="1138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indented block</a:t>
            </a:r>
            <a:r>
              <a:rPr b="0" i="0" lang="en" sz="11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only runs if condition is True</a:t>
            </a:r>
            <a:endParaRPr b="0" i="0" sz="11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if_stmt.png" id="208" name="Google Shape;2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7932" y="1245155"/>
            <a:ext cx="3840480" cy="15834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Sample</a:t>
            </a:r>
            <a:endParaRPr/>
          </a:p>
        </p:txBody>
      </p:sp>
      <p:sp>
        <p:nvSpPr>
          <p:cNvPr id="210" name="Google Shape;210;p31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flow: `</a:t>
            </a:r>
            <a:r>
              <a:rPr lang="en">
                <a:solidFill>
                  <a:schemeClr val="accent4"/>
                </a:solidFill>
              </a:rPr>
              <a:t>else</a:t>
            </a:r>
            <a:r>
              <a:rPr lang="en"/>
              <a:t>` Statement - A Backup Plan</a:t>
            </a:r>
            <a:endParaRPr/>
          </a:p>
        </p:txBody>
      </p:sp>
      <p:sp>
        <p:nvSpPr>
          <p:cNvPr id="217" name="Google Shape;217;p32"/>
          <p:cNvSpPr txBox="1"/>
          <p:nvPr>
            <p:ph idx="1" type="subTitle"/>
          </p:nvPr>
        </p:nvSpPr>
        <p:spPr>
          <a:xfrm>
            <a:off x="265500" y="1504625"/>
            <a:ext cx="4045200" cy="25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</a:rPr>
              <a:t>Program to check age: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218" name="Google Shape;218;p32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Sample</a:t>
            </a:r>
            <a:endParaRPr/>
          </a:p>
        </p:txBody>
      </p:sp>
      <p:pic>
        <p:nvPicPr>
          <p:cNvPr descr="./imgs/code_hl/else_stmt.png" id="219" name="Google Shape;2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905" y="1125685"/>
            <a:ext cx="2673372" cy="13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32"/>
          <p:cNvGrpSpPr/>
          <p:nvPr/>
        </p:nvGrpSpPr>
        <p:grpSpPr>
          <a:xfrm>
            <a:off x="192600" y="2089525"/>
            <a:ext cx="4191000" cy="2000100"/>
            <a:chOff x="4762500" y="952500"/>
            <a:chExt cx="4191000" cy="2000100"/>
          </a:xfrm>
        </p:grpSpPr>
        <p:sp>
          <p:nvSpPr>
            <p:cNvPr id="221" name="Google Shape;221;p32"/>
            <p:cNvSpPr/>
            <p:nvPr/>
          </p:nvSpPr>
          <p:spPr>
            <a:xfrm>
              <a:off x="4762500" y="952500"/>
              <a:ext cx="4191000" cy="20001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9525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6000750" y="1095375"/>
              <a:ext cx="1714500" cy="381000"/>
            </a:xfrm>
            <a:prstGeom prst="roundRect">
              <a:avLst>
                <a:gd fmla="val 12500" name="adj"/>
              </a:avLst>
            </a:prstGeom>
            <a:solidFill>
              <a:srgbClr val="30699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2"/>
            <p:cNvSpPr txBox="1"/>
            <p:nvPr/>
          </p:nvSpPr>
          <p:spPr>
            <a:xfrm>
              <a:off x="6000750" y="1095375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age &gt;= 18?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4" name="Google Shape;224;p32"/>
            <p:cNvCxnSpPr/>
            <p:nvPr/>
          </p:nvCxnSpPr>
          <p:spPr>
            <a:xfrm flipH="1">
              <a:off x="5715000" y="1476375"/>
              <a:ext cx="762000" cy="381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38A1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32"/>
            <p:cNvCxnSpPr/>
            <p:nvPr/>
          </p:nvCxnSpPr>
          <p:spPr>
            <a:xfrm>
              <a:off x="7239000" y="1476375"/>
              <a:ext cx="762000" cy="381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53E3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6" name="Google Shape;226;p32"/>
            <p:cNvSpPr txBox="1"/>
            <p:nvPr/>
          </p:nvSpPr>
          <p:spPr>
            <a:xfrm>
              <a:off x="5524500" y="1524000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A169"/>
                  </a:solidFill>
                  <a:latin typeface="Roboto"/>
                  <a:ea typeface="Roboto"/>
                  <a:cs typeface="Roboto"/>
                  <a:sym typeface="Roboto"/>
                </a:rPr>
                <a:t>TRUE</a:t>
              </a:r>
              <a:endParaRPr b="1" sz="1000">
                <a:solidFill>
                  <a:srgbClr val="38A1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" name="Google Shape;227;p32"/>
            <p:cNvSpPr txBox="1"/>
            <p:nvPr/>
          </p:nvSpPr>
          <p:spPr>
            <a:xfrm>
              <a:off x="7429500" y="1524000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53E3E"/>
                  </a:solidFill>
                  <a:latin typeface="Roboto"/>
                  <a:ea typeface="Roboto"/>
                  <a:cs typeface="Roboto"/>
                  <a:sym typeface="Roboto"/>
                </a:rPr>
                <a:t>FALSE</a:t>
              </a:r>
              <a:endParaRPr b="1" sz="1000">
                <a:solidFill>
                  <a:srgbClr val="E53E3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4953000" y="1857375"/>
              <a:ext cx="1524000" cy="476400"/>
            </a:xfrm>
            <a:prstGeom prst="roundRect">
              <a:avLst>
                <a:gd fmla="val 10000" name="adj"/>
              </a:avLst>
            </a:prstGeom>
            <a:solidFill>
              <a:srgbClr val="38A1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2"/>
            <p:cNvSpPr txBox="1"/>
            <p:nvPr/>
          </p:nvSpPr>
          <p:spPr>
            <a:xfrm>
              <a:off x="4953000" y="1857375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"Welcome!"</a:t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7239000" y="1857375"/>
              <a:ext cx="1524000" cy="476400"/>
            </a:xfrm>
            <a:prstGeom prst="roundRect">
              <a:avLst>
                <a:gd fmla="val 10000" name="adj"/>
              </a:avLst>
            </a:prstGeom>
            <a:solidFill>
              <a:srgbClr val="E53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2"/>
            <p:cNvSpPr txBox="1"/>
            <p:nvPr/>
          </p:nvSpPr>
          <p:spPr>
            <a:xfrm>
              <a:off x="7239000" y="1857375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"Too young"</a:t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2" name="Google Shape;232;p32"/>
          <p:cNvSpPr/>
          <p:nvPr/>
        </p:nvSpPr>
        <p:spPr>
          <a:xfrm>
            <a:off x="4937707" y="2984050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OUTPUT (age = 15)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4937707" y="3326950"/>
            <a:ext cx="3703200" cy="617100"/>
          </a:xfrm>
          <a:prstGeom prst="roundRect">
            <a:avLst>
              <a:gd fmla="val 8889" name="adj"/>
            </a:avLst>
          </a:prstGeom>
          <a:solidFill>
            <a:srgbClr val="222A6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2"/>
          <p:cNvSpPr/>
          <p:nvPr/>
        </p:nvSpPr>
        <p:spPr>
          <a:xfrm>
            <a:off x="5143447" y="3326950"/>
            <a:ext cx="336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Roboto"/>
              <a:buNone/>
            </a:pPr>
            <a:r>
              <a:rPr b="0" i="0" lang="en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▶  Sorry, too young 🚫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4937707" y="4149910"/>
            <a:ext cx="3840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975"/>
              <a:buFont typeface="Roboto"/>
              <a:buNone/>
            </a:pPr>
            <a:r>
              <a:rPr b="0" i="1" lang="en" sz="9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Challenge: change age to 20 and re-run — what happens to the output?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988" y="2528025"/>
            <a:ext cx="4045201" cy="159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flow: </a:t>
            </a:r>
            <a:r>
              <a:rPr lang="en"/>
              <a:t>`</a:t>
            </a:r>
            <a:r>
              <a:rPr lang="en">
                <a:solidFill>
                  <a:schemeClr val="accent4"/>
                </a:solidFill>
              </a:rPr>
              <a:t>elif</a:t>
            </a:r>
            <a:r>
              <a:rPr lang="en"/>
              <a:t>`</a:t>
            </a:r>
            <a:r>
              <a:rPr lang="en"/>
              <a:t> Handles Multiple Scenarios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3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Sample</a:t>
            </a:r>
            <a:endParaRPr/>
          </a:p>
        </p:txBody>
      </p:sp>
      <p:sp>
        <p:nvSpPr>
          <p:cNvPr id="243" name="Google Shape;243;p33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3"/>
          <p:cNvSpPr/>
          <p:nvPr/>
        </p:nvSpPr>
        <p:spPr>
          <a:xfrm>
            <a:off x="405420" y="1985530"/>
            <a:ext cx="3977700" cy="493800"/>
          </a:xfrm>
          <a:prstGeom prst="roundRect">
            <a:avLst>
              <a:gd fmla="val 8333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"/>
          <p:cNvSpPr/>
          <p:nvPr/>
        </p:nvSpPr>
        <p:spPr>
          <a:xfrm>
            <a:off x="576870" y="1985530"/>
            <a:ext cx="3634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score &gt;= 90 ?   </a:t>
            </a:r>
            <a:r>
              <a:rPr b="1" i="0" lang="en" sz="101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A — Excellent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405420" y="2589034"/>
            <a:ext cx="3977700" cy="493800"/>
          </a:xfrm>
          <a:prstGeom prst="roundRect">
            <a:avLst>
              <a:gd fmla="val 8333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/>
          <p:nvPr/>
        </p:nvSpPr>
        <p:spPr>
          <a:xfrm>
            <a:off x="576870" y="2589034"/>
            <a:ext cx="3634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score &gt;= 80 ?   </a:t>
            </a:r>
            <a:r>
              <a:rPr b="1" i="0" lang="en" sz="101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B — Good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405420" y="3192538"/>
            <a:ext cx="3977700" cy="493800"/>
          </a:xfrm>
          <a:prstGeom prst="roundRect">
            <a:avLst>
              <a:gd fmla="val 8333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"/>
          <p:cNvSpPr/>
          <p:nvPr/>
        </p:nvSpPr>
        <p:spPr>
          <a:xfrm>
            <a:off x="576870" y="3192538"/>
            <a:ext cx="3634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score &gt;= 70 ?   </a:t>
            </a:r>
            <a:r>
              <a:rPr b="1" i="0" lang="en" sz="101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C — Pass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405420" y="3796042"/>
            <a:ext cx="3977700" cy="493800"/>
          </a:xfrm>
          <a:prstGeom prst="roundRect">
            <a:avLst>
              <a:gd fmla="val 8333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3"/>
          <p:cNvSpPr/>
          <p:nvPr/>
        </p:nvSpPr>
        <p:spPr>
          <a:xfrm>
            <a:off x="576870" y="3796042"/>
            <a:ext cx="3634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else (catch-all)   </a:t>
            </a:r>
            <a:r>
              <a:rPr b="1" i="0" lang="en" sz="101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F — Fail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405420" y="4420120"/>
            <a:ext cx="39777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528864" y="457099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734604" y="4420120"/>
            <a:ext cx="3552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Python checks conditions top-to-bottom and stops at the FIRST match.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elif_stmt.png" id="255" name="Google Shape;2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4880" y="1236635"/>
            <a:ext cx="2868986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 txBox="1"/>
          <p:nvPr>
            <p:ph idx="1" type="subTitle"/>
          </p:nvPr>
        </p:nvSpPr>
        <p:spPr>
          <a:xfrm>
            <a:off x="265500" y="1456363"/>
            <a:ext cx="4045200" cy="25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</a:rPr>
              <a:t>Grading app:</a:t>
            </a:r>
            <a:endParaRPr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Visualize code execution </a:t>
            </a:r>
            <a:endParaRPr/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957" y="789200"/>
            <a:ext cx="6710375" cy="39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your knowledge</a:t>
            </a:r>
            <a:endParaRPr/>
          </a:p>
        </p:txBody>
      </p:sp>
      <p:sp>
        <p:nvSpPr>
          <p:cNvPr id="269" name="Google Shape;269;p3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/>
        </p:nvSpPr>
        <p:spPr>
          <a:xfrm>
            <a:off x="411480" y="240030"/>
            <a:ext cx="6172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🧠 KNOWLEDGE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6"/>
          <p:cNvSpPr/>
          <p:nvPr/>
        </p:nvSpPr>
        <p:spPr>
          <a:xfrm>
            <a:off x="411480" y="466344"/>
            <a:ext cx="720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i="0" lang="en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 Does This Code Print?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quiz_code.png" id="277" name="Google Shape;2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65860"/>
            <a:ext cx="3164673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/>
          <p:nvPr/>
        </p:nvSpPr>
        <p:spPr>
          <a:xfrm>
            <a:off x="4732020" y="1268730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6"/>
          <p:cNvSpPr/>
          <p:nvPr/>
        </p:nvSpPr>
        <p:spPr>
          <a:xfrm>
            <a:off x="4903470" y="1268730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A)  </a:t>
            </a: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Big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4732020" y="1803654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"/>
          <p:cNvSpPr/>
          <p:nvPr/>
        </p:nvSpPr>
        <p:spPr>
          <a:xfrm>
            <a:off x="4903470" y="1803654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50"/>
              <a:buFont typeface="Roboto"/>
              <a:buNone/>
            </a:pPr>
            <a:r>
              <a:rPr b="1" lang="en" sz="10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B)  </a:t>
            </a:r>
            <a:r>
              <a:rPr lang="en" sz="10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Mediu</a:t>
            </a:r>
            <a:r>
              <a:rPr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4732020" y="2338578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6"/>
          <p:cNvSpPr/>
          <p:nvPr/>
        </p:nvSpPr>
        <p:spPr>
          <a:xfrm>
            <a:off x="4903470" y="2338578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C)  </a:t>
            </a: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Small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4732020" y="2873502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6"/>
          <p:cNvSpPr/>
          <p:nvPr/>
        </p:nvSpPr>
        <p:spPr>
          <a:xfrm>
            <a:off x="4903470" y="2873502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D)  </a:t>
            </a: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Nothing — syntax error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6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50"/>
              <a:buFont typeface="Roboto"/>
              <a:buNone/>
            </a:pPr>
            <a:r>
              <a:rPr b="0" i="0" lang="en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/>
          <p:nvPr/>
        </p:nvSpPr>
        <p:spPr>
          <a:xfrm>
            <a:off x="411480" y="240030"/>
            <a:ext cx="6172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🧠 KNOWLEDGE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411480" y="466344"/>
            <a:ext cx="720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i="0" lang="en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 Does This Code Print?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quiz_code.png" id="294" name="Google Shape;2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65860"/>
            <a:ext cx="3164673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/>
          <p:nvPr/>
        </p:nvSpPr>
        <p:spPr>
          <a:xfrm>
            <a:off x="4732020" y="1268730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7"/>
          <p:cNvSpPr/>
          <p:nvPr/>
        </p:nvSpPr>
        <p:spPr>
          <a:xfrm>
            <a:off x="4903470" y="1268730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A)  </a:t>
            </a: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Big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4732020" y="1803654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/>
          <p:nvPr/>
        </p:nvSpPr>
        <p:spPr>
          <a:xfrm>
            <a:off x="4903470" y="1803654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B)  </a:t>
            </a: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Medium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4732020" y="2338578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/>
          <p:nvPr/>
        </p:nvSpPr>
        <p:spPr>
          <a:xfrm>
            <a:off x="4903470" y="2338578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C)  </a:t>
            </a: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Small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4732020" y="2873502"/>
            <a:ext cx="3977700" cy="445800"/>
          </a:xfrm>
          <a:prstGeom prst="roundRect">
            <a:avLst>
              <a:gd fmla="val 923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"/>
          <p:cNvSpPr/>
          <p:nvPr/>
        </p:nvSpPr>
        <p:spPr>
          <a:xfrm>
            <a:off x="4903470" y="2873502"/>
            <a:ext cx="3634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Roboto"/>
              <a:buNone/>
            </a:pPr>
            <a:r>
              <a:rPr b="1" i="0" lang="en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D)  </a:t>
            </a: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Nothing — syntax error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7"/>
          <p:cNvSpPr/>
          <p:nvPr/>
        </p:nvSpPr>
        <p:spPr>
          <a:xfrm>
            <a:off x="4732020" y="3463290"/>
            <a:ext cx="3977700" cy="548700"/>
          </a:xfrm>
          <a:prstGeom prst="roundRect">
            <a:avLst>
              <a:gd fmla="val 75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/>
          <p:nvPr/>
        </p:nvSpPr>
        <p:spPr>
          <a:xfrm>
            <a:off x="4855464" y="3675888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7"/>
          <p:cNvSpPr/>
          <p:nvPr/>
        </p:nvSpPr>
        <p:spPr>
          <a:xfrm>
            <a:off x="5061204" y="3463290"/>
            <a:ext cx="3552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Answer: B) Medium — x is 7, which is &gt; 5 but NOT &gt; 10, so elif matches first.</a:t>
            </a:r>
            <a:endParaRPr b="0" i="0" sz="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7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50"/>
              <a:buFont typeface="Roboto"/>
              <a:buNone/>
            </a:pPr>
            <a:r>
              <a:rPr b="0" i="0" lang="en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if Statements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`</a:t>
            </a:r>
            <a:r>
              <a:rPr lang="en">
                <a:solidFill>
                  <a:schemeClr val="accent4"/>
                </a:solidFill>
              </a:rPr>
              <a:t>Nested if</a:t>
            </a:r>
            <a:r>
              <a:rPr lang="en"/>
              <a:t>` Statements Go Deeper Into Decisions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9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 for login check</a:t>
            </a:r>
            <a:endParaRPr/>
          </a:p>
        </p:txBody>
      </p:sp>
      <p:sp>
        <p:nvSpPr>
          <p:cNvPr id="319" name="Google Shape;319;p39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"/>
          <p:cNvSpPr/>
          <p:nvPr/>
        </p:nvSpPr>
        <p:spPr>
          <a:xfrm>
            <a:off x="299220" y="1458450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INDENTATION = NESTING LEVEL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9"/>
          <p:cNvSpPr/>
          <p:nvPr/>
        </p:nvSpPr>
        <p:spPr>
          <a:xfrm>
            <a:off x="299220" y="1801350"/>
            <a:ext cx="3977700" cy="480000"/>
          </a:xfrm>
          <a:prstGeom prst="roundRect">
            <a:avLst>
              <a:gd fmla="val 857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470670" y="1801350"/>
            <a:ext cx="377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Level 0  —  </a:t>
            </a: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outer if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539250" y="2384280"/>
            <a:ext cx="3737700" cy="480000"/>
          </a:xfrm>
          <a:prstGeom prst="roundRect">
            <a:avLst>
              <a:gd fmla="val 857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9"/>
          <p:cNvSpPr/>
          <p:nvPr/>
        </p:nvSpPr>
        <p:spPr>
          <a:xfrm>
            <a:off x="710700" y="2384280"/>
            <a:ext cx="353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Level 1  —  </a:t>
            </a: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inner if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779280" y="2967210"/>
            <a:ext cx="3497700" cy="480000"/>
          </a:xfrm>
          <a:prstGeom prst="roundRect">
            <a:avLst>
              <a:gd fmla="val 857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9"/>
          <p:cNvSpPr/>
          <p:nvPr/>
        </p:nvSpPr>
        <p:spPr>
          <a:xfrm>
            <a:off x="950730" y="2967210"/>
            <a:ext cx="329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Level 2  —  </a:t>
            </a: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inner else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9"/>
          <p:cNvSpPr/>
          <p:nvPr/>
        </p:nvSpPr>
        <p:spPr>
          <a:xfrm>
            <a:off x="230680" y="4044325"/>
            <a:ext cx="39777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"/>
          <p:cNvSpPr/>
          <p:nvPr/>
        </p:nvSpPr>
        <p:spPr>
          <a:xfrm>
            <a:off x="354124" y="4195201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9"/>
          <p:cNvSpPr/>
          <p:nvPr/>
        </p:nvSpPr>
        <p:spPr>
          <a:xfrm>
            <a:off x="559864" y="4044325"/>
            <a:ext cx="3552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avoid nesting more than 2–3 levels deep. Consider combining conditions with and / or instead.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899" y="1236625"/>
            <a:ext cx="4254200" cy="239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Ternary Expressions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Ternary Expressions: </a:t>
            </a:r>
            <a:r>
              <a:rPr lang="en">
                <a:solidFill>
                  <a:schemeClr val="accent4"/>
                </a:solidFill>
              </a:rPr>
              <a:t>Simple If-else Into One Line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411480" y="1131570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😵  Before (4 lines)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ternary_before.png" id="342" name="Google Shape;34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71600"/>
            <a:ext cx="3221140" cy="116586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1"/>
          <p:cNvSpPr/>
          <p:nvPr/>
        </p:nvSpPr>
        <p:spPr>
          <a:xfrm>
            <a:off x="4354830" y="1714500"/>
            <a:ext cx="411600" cy="4116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1"/>
          <p:cNvSpPr/>
          <p:nvPr/>
        </p:nvSpPr>
        <p:spPr>
          <a:xfrm>
            <a:off x="4354830" y="17145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1"/>
          <p:cNvSpPr/>
          <p:nvPr/>
        </p:nvSpPr>
        <p:spPr>
          <a:xfrm>
            <a:off x="4869180" y="1131570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😎  After (1 line)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ternary_after.png" id="346" name="Google Shape;34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9180" y="1371600"/>
            <a:ext cx="325299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1"/>
          <p:cNvSpPr/>
          <p:nvPr/>
        </p:nvSpPr>
        <p:spPr>
          <a:xfrm>
            <a:off x="411480" y="281178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ANATOMY OF </a:t>
            </a: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Ternary Expressions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1"/>
          <p:cNvSpPr/>
          <p:nvPr/>
        </p:nvSpPr>
        <p:spPr>
          <a:xfrm>
            <a:off x="411480" y="3086100"/>
            <a:ext cx="8092500" cy="548700"/>
          </a:xfrm>
          <a:prstGeom prst="roundRect">
            <a:avLst>
              <a:gd fmla="val 10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1"/>
          <p:cNvSpPr/>
          <p:nvPr/>
        </p:nvSpPr>
        <p:spPr>
          <a:xfrm>
            <a:off x="617220" y="308610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25"/>
              <a:buFont typeface="Roboto"/>
              <a:buNone/>
            </a:pP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value_if_true</a:t>
            </a:r>
            <a:r>
              <a:rPr b="0" i="0" lang="en" sz="11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  if   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b="0" i="0" lang="en" sz="11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  else   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value_if_false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1"/>
          <p:cNvSpPr/>
          <p:nvPr/>
        </p:nvSpPr>
        <p:spPr>
          <a:xfrm>
            <a:off x="411480" y="3840480"/>
            <a:ext cx="80925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1"/>
          <p:cNvSpPr/>
          <p:nvPr/>
        </p:nvSpPr>
        <p:spPr>
          <a:xfrm>
            <a:off x="534924" y="399135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1"/>
          <p:cNvSpPr/>
          <p:nvPr/>
        </p:nvSpPr>
        <p:spPr>
          <a:xfrm>
            <a:off x="740664" y="3840480"/>
            <a:ext cx="7667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ternary for simple, readable assignments. For complex logic, stick with full if/elif/else.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Practices</a:t>
            </a:r>
            <a:endParaRPr/>
          </a:p>
        </p:txBody>
      </p:sp>
      <p:sp>
        <p:nvSpPr>
          <p:cNvPr id="358" name="Google Shape;358;p4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LEVEL 1 · EXERCISES 1–2</a:t>
            </a:r>
            <a:endParaRPr/>
          </a:p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Positive Number  &amp;  Even Number</a:t>
            </a:r>
            <a:endParaRPr/>
          </a:p>
        </p:txBody>
      </p:sp>
      <p:sp>
        <p:nvSpPr>
          <p:cNvPr id="365" name="Google Shape;365;p43"/>
          <p:cNvSpPr/>
          <p:nvPr/>
        </p:nvSpPr>
        <p:spPr>
          <a:xfrm>
            <a:off x="4114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00"/>
          </a:p>
        </p:txBody>
      </p:sp>
      <p:sp>
        <p:nvSpPr>
          <p:cNvPr id="366" name="Google Shape;366;p43"/>
          <p:cNvSpPr txBox="1"/>
          <p:nvPr/>
        </p:nvSpPr>
        <p:spPr>
          <a:xfrm>
            <a:off x="7886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Positive Number</a:t>
            </a:r>
            <a:endParaRPr sz="1100"/>
          </a:p>
        </p:txBody>
      </p:sp>
      <p:sp>
        <p:nvSpPr>
          <p:cNvPr id="367" name="Google Shape;367;p43"/>
          <p:cNvSpPr/>
          <p:nvPr/>
        </p:nvSpPr>
        <p:spPr>
          <a:xfrm>
            <a:off x="4114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4114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3"/>
          <p:cNvSpPr/>
          <p:nvPr/>
        </p:nvSpPr>
        <p:spPr>
          <a:xfrm>
            <a:off x="5074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3"/>
          <p:cNvSpPr/>
          <p:nvPr/>
        </p:nvSpPr>
        <p:spPr>
          <a:xfrm>
            <a:off x="6377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7680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4114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ex01.py</a:t>
            </a:r>
            <a:endParaRPr sz="1100"/>
          </a:p>
        </p:txBody>
      </p:sp>
      <p:sp>
        <p:nvSpPr>
          <p:cNvPr id="373" name="Google Shape;373;p43"/>
          <p:cNvSpPr txBox="1"/>
          <p:nvPr/>
        </p:nvSpPr>
        <p:spPr>
          <a:xfrm>
            <a:off x="5486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number = float(input("Enter a number: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check if number is positive</a:t>
            </a:r>
            <a:endParaRPr sz="1100"/>
          </a:p>
        </p:txBody>
      </p:sp>
      <p:sp>
        <p:nvSpPr>
          <p:cNvPr id="374" name="Google Shape;374;p43"/>
          <p:cNvSpPr txBox="1"/>
          <p:nvPr/>
        </p:nvSpPr>
        <p:spPr>
          <a:xfrm>
            <a:off x="4114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Ask for a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number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If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positive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print `Positive`</a:t>
            </a:r>
            <a:endParaRPr sz="1100"/>
          </a:p>
        </p:txBody>
      </p:sp>
      <p:sp>
        <p:nvSpPr>
          <p:cNvPr id="375" name="Google Shape;375;p43"/>
          <p:cNvSpPr/>
          <p:nvPr/>
        </p:nvSpPr>
        <p:spPr>
          <a:xfrm>
            <a:off x="48691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00"/>
          </a:p>
        </p:txBody>
      </p:sp>
      <p:sp>
        <p:nvSpPr>
          <p:cNvPr id="376" name="Google Shape;376;p43"/>
          <p:cNvSpPr txBox="1"/>
          <p:nvPr/>
        </p:nvSpPr>
        <p:spPr>
          <a:xfrm>
            <a:off x="52463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Even Number</a:t>
            </a:r>
            <a:endParaRPr sz="1100"/>
          </a:p>
        </p:txBody>
      </p:sp>
      <p:sp>
        <p:nvSpPr>
          <p:cNvPr id="377" name="Google Shape;377;p43"/>
          <p:cNvSpPr/>
          <p:nvPr/>
        </p:nvSpPr>
        <p:spPr>
          <a:xfrm>
            <a:off x="48691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3"/>
          <p:cNvSpPr/>
          <p:nvPr/>
        </p:nvSpPr>
        <p:spPr>
          <a:xfrm>
            <a:off x="48691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3"/>
          <p:cNvSpPr/>
          <p:nvPr/>
        </p:nvSpPr>
        <p:spPr>
          <a:xfrm>
            <a:off x="49651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3"/>
          <p:cNvSpPr/>
          <p:nvPr/>
        </p:nvSpPr>
        <p:spPr>
          <a:xfrm>
            <a:off x="50954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3"/>
          <p:cNvSpPr/>
          <p:nvPr/>
        </p:nvSpPr>
        <p:spPr>
          <a:xfrm>
            <a:off x="52257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48691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ex02.py</a:t>
            </a:r>
            <a:endParaRPr sz="1100"/>
          </a:p>
        </p:txBody>
      </p:sp>
      <p:sp>
        <p:nvSpPr>
          <p:cNvPr id="383" name="Google Shape;383;p43"/>
          <p:cNvSpPr txBox="1"/>
          <p:nvPr/>
        </p:nvSpPr>
        <p:spPr>
          <a:xfrm>
            <a:off x="50063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num = int(input("Enter an integer: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use % to check even</a:t>
            </a:r>
            <a:endParaRPr sz="1100"/>
          </a:p>
        </p:txBody>
      </p:sp>
      <p:sp>
        <p:nvSpPr>
          <p:cNvPr id="384" name="Google Shape;384;p43"/>
          <p:cNvSpPr txBox="1"/>
          <p:nvPr/>
        </p:nvSpPr>
        <p:spPr>
          <a:xfrm>
            <a:off x="48691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Input an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integer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If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even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print `Even`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LEVEL 1 · EXERCISES 3–4</a:t>
            </a:r>
            <a:endParaRPr/>
          </a:p>
        </p:txBody>
      </p:sp>
      <p:sp>
        <p:nvSpPr>
          <p:cNvPr id="390" name="Google Shape;390;p4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Adult Check  &amp;  Pass or Fail</a:t>
            </a:r>
            <a:endParaRPr/>
          </a:p>
        </p:txBody>
      </p:sp>
      <p:sp>
        <p:nvSpPr>
          <p:cNvPr id="391" name="Google Shape;391;p44"/>
          <p:cNvSpPr/>
          <p:nvPr/>
        </p:nvSpPr>
        <p:spPr>
          <a:xfrm>
            <a:off x="4114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100"/>
          </a:p>
        </p:txBody>
      </p:sp>
      <p:sp>
        <p:nvSpPr>
          <p:cNvPr id="392" name="Google Shape;392;p44"/>
          <p:cNvSpPr txBox="1"/>
          <p:nvPr/>
        </p:nvSpPr>
        <p:spPr>
          <a:xfrm>
            <a:off x="7886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Adult Check</a:t>
            </a:r>
            <a:endParaRPr sz="1100"/>
          </a:p>
        </p:txBody>
      </p:sp>
      <p:sp>
        <p:nvSpPr>
          <p:cNvPr id="393" name="Google Shape;393;p44"/>
          <p:cNvSpPr/>
          <p:nvPr/>
        </p:nvSpPr>
        <p:spPr>
          <a:xfrm>
            <a:off x="4114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4"/>
          <p:cNvSpPr/>
          <p:nvPr/>
        </p:nvSpPr>
        <p:spPr>
          <a:xfrm>
            <a:off x="4114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4"/>
          <p:cNvSpPr/>
          <p:nvPr/>
        </p:nvSpPr>
        <p:spPr>
          <a:xfrm>
            <a:off x="5074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4"/>
          <p:cNvSpPr/>
          <p:nvPr/>
        </p:nvSpPr>
        <p:spPr>
          <a:xfrm>
            <a:off x="6377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4"/>
          <p:cNvSpPr/>
          <p:nvPr/>
        </p:nvSpPr>
        <p:spPr>
          <a:xfrm>
            <a:off x="7680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4"/>
          <p:cNvSpPr txBox="1"/>
          <p:nvPr/>
        </p:nvSpPr>
        <p:spPr>
          <a:xfrm>
            <a:off x="4114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ex03.py</a:t>
            </a:r>
            <a:endParaRPr sz="1100"/>
          </a:p>
        </p:txBody>
      </p:sp>
      <p:sp>
        <p:nvSpPr>
          <p:cNvPr id="399" name="Google Shape;399;p44"/>
          <p:cNvSpPr txBox="1"/>
          <p:nvPr/>
        </p:nvSpPr>
        <p:spPr>
          <a:xfrm>
            <a:off x="5486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age = int(input("Enter age: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compare age to 18</a:t>
            </a:r>
            <a:endParaRPr sz="1100"/>
          </a:p>
        </p:txBody>
      </p:sp>
      <p:sp>
        <p:nvSpPr>
          <p:cNvPr id="400" name="Google Shape;400;p44"/>
          <p:cNvSpPr txBox="1"/>
          <p:nvPr/>
        </p:nvSpPr>
        <p:spPr>
          <a:xfrm>
            <a:off x="4114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Input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18+ -&gt; `Adult`, else `Minor`</a:t>
            </a:r>
            <a:endParaRPr sz="1100"/>
          </a:p>
        </p:txBody>
      </p:sp>
      <p:sp>
        <p:nvSpPr>
          <p:cNvPr id="401" name="Google Shape;401;p44"/>
          <p:cNvSpPr/>
          <p:nvPr/>
        </p:nvSpPr>
        <p:spPr>
          <a:xfrm>
            <a:off x="48691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100"/>
          </a:p>
        </p:txBody>
      </p:sp>
      <p:sp>
        <p:nvSpPr>
          <p:cNvPr id="402" name="Google Shape;402;p44"/>
          <p:cNvSpPr txBox="1"/>
          <p:nvPr/>
        </p:nvSpPr>
        <p:spPr>
          <a:xfrm>
            <a:off x="52463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Pass or Fail</a:t>
            </a:r>
            <a:endParaRPr sz="1100"/>
          </a:p>
        </p:txBody>
      </p:sp>
      <p:sp>
        <p:nvSpPr>
          <p:cNvPr id="403" name="Google Shape;403;p44"/>
          <p:cNvSpPr/>
          <p:nvPr/>
        </p:nvSpPr>
        <p:spPr>
          <a:xfrm>
            <a:off x="48691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4"/>
          <p:cNvSpPr/>
          <p:nvPr/>
        </p:nvSpPr>
        <p:spPr>
          <a:xfrm>
            <a:off x="48691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4"/>
          <p:cNvSpPr/>
          <p:nvPr/>
        </p:nvSpPr>
        <p:spPr>
          <a:xfrm>
            <a:off x="49651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4"/>
          <p:cNvSpPr/>
          <p:nvPr/>
        </p:nvSpPr>
        <p:spPr>
          <a:xfrm>
            <a:off x="50954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4"/>
          <p:cNvSpPr/>
          <p:nvPr/>
        </p:nvSpPr>
        <p:spPr>
          <a:xfrm>
            <a:off x="52257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4"/>
          <p:cNvSpPr txBox="1"/>
          <p:nvPr/>
        </p:nvSpPr>
        <p:spPr>
          <a:xfrm>
            <a:off x="48691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ex04.py</a:t>
            </a:r>
            <a:endParaRPr sz="1100"/>
          </a:p>
        </p:txBody>
      </p:sp>
      <p:sp>
        <p:nvSpPr>
          <p:cNvPr id="409" name="Google Shape;409;p44"/>
          <p:cNvSpPr txBox="1"/>
          <p:nvPr/>
        </p:nvSpPr>
        <p:spPr>
          <a:xfrm>
            <a:off x="50063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score = float(input("Enter score: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compare score to 50</a:t>
            </a:r>
            <a:endParaRPr sz="1100"/>
          </a:p>
        </p:txBody>
      </p:sp>
      <p:sp>
        <p:nvSpPr>
          <p:cNvPr id="410" name="Google Shape;410;p44"/>
          <p:cNvSpPr txBox="1"/>
          <p:nvPr/>
        </p:nvSpPr>
        <p:spPr>
          <a:xfrm>
            <a:off x="48691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Input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score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&gt;= 50 -&gt; `Pass`, else `Fail`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LEVEL 1 · EXERCISES 5–6</a:t>
            </a:r>
            <a:endParaRPr/>
          </a:p>
        </p:txBody>
      </p:sp>
      <p:sp>
        <p:nvSpPr>
          <p:cNvPr id="416" name="Google Shape;416;p4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Bigger Number  &amp;  Temperature</a:t>
            </a:r>
            <a:endParaRPr/>
          </a:p>
        </p:txBody>
      </p:sp>
      <p:sp>
        <p:nvSpPr>
          <p:cNvPr id="417" name="Google Shape;417;p45"/>
          <p:cNvSpPr/>
          <p:nvPr/>
        </p:nvSpPr>
        <p:spPr>
          <a:xfrm>
            <a:off x="4114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100"/>
          </a:p>
        </p:txBody>
      </p:sp>
      <p:sp>
        <p:nvSpPr>
          <p:cNvPr id="418" name="Google Shape;418;p45"/>
          <p:cNvSpPr txBox="1"/>
          <p:nvPr/>
        </p:nvSpPr>
        <p:spPr>
          <a:xfrm>
            <a:off x="7886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Bigger Number</a:t>
            </a:r>
            <a:endParaRPr sz="1100"/>
          </a:p>
        </p:txBody>
      </p:sp>
      <p:sp>
        <p:nvSpPr>
          <p:cNvPr id="419" name="Google Shape;419;p45"/>
          <p:cNvSpPr/>
          <p:nvPr/>
        </p:nvSpPr>
        <p:spPr>
          <a:xfrm>
            <a:off x="4114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5"/>
          <p:cNvSpPr/>
          <p:nvPr/>
        </p:nvSpPr>
        <p:spPr>
          <a:xfrm>
            <a:off x="4114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5"/>
          <p:cNvSpPr/>
          <p:nvPr/>
        </p:nvSpPr>
        <p:spPr>
          <a:xfrm>
            <a:off x="5074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5"/>
          <p:cNvSpPr/>
          <p:nvPr/>
        </p:nvSpPr>
        <p:spPr>
          <a:xfrm>
            <a:off x="6377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5"/>
          <p:cNvSpPr/>
          <p:nvPr/>
        </p:nvSpPr>
        <p:spPr>
          <a:xfrm>
            <a:off x="7680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5"/>
          <p:cNvSpPr txBox="1"/>
          <p:nvPr/>
        </p:nvSpPr>
        <p:spPr>
          <a:xfrm>
            <a:off x="4114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ex05.py</a:t>
            </a:r>
            <a:endParaRPr sz="1100"/>
          </a:p>
        </p:txBody>
      </p:sp>
      <p:sp>
        <p:nvSpPr>
          <p:cNvPr id="425" name="Google Shape;425;p45"/>
          <p:cNvSpPr txBox="1"/>
          <p:nvPr/>
        </p:nvSpPr>
        <p:spPr>
          <a:xfrm>
            <a:off x="548640" y="1748790"/>
            <a:ext cx="384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a = int(input("First number: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b = int(input("Second number: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compare a and b</a:t>
            </a:r>
            <a:endParaRPr sz="1100"/>
          </a:p>
        </p:txBody>
      </p:sp>
      <p:sp>
        <p:nvSpPr>
          <p:cNvPr id="426" name="Google Shape;426;p45"/>
          <p:cNvSpPr txBox="1"/>
          <p:nvPr/>
        </p:nvSpPr>
        <p:spPr>
          <a:xfrm>
            <a:off x="4114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Input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two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integers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Print the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larger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one</a:t>
            </a:r>
            <a:endParaRPr sz="1100"/>
          </a:p>
        </p:txBody>
      </p:sp>
      <p:sp>
        <p:nvSpPr>
          <p:cNvPr id="427" name="Google Shape;427;p45"/>
          <p:cNvSpPr/>
          <p:nvPr/>
        </p:nvSpPr>
        <p:spPr>
          <a:xfrm>
            <a:off x="48691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100"/>
          </a:p>
        </p:txBody>
      </p:sp>
      <p:sp>
        <p:nvSpPr>
          <p:cNvPr id="428" name="Google Shape;428;p45"/>
          <p:cNvSpPr txBox="1"/>
          <p:nvPr/>
        </p:nvSpPr>
        <p:spPr>
          <a:xfrm>
            <a:off x="52463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Temperature</a:t>
            </a:r>
            <a:endParaRPr sz="1100"/>
          </a:p>
        </p:txBody>
      </p:sp>
      <p:sp>
        <p:nvSpPr>
          <p:cNvPr id="429" name="Google Shape;429;p45"/>
          <p:cNvSpPr/>
          <p:nvPr/>
        </p:nvSpPr>
        <p:spPr>
          <a:xfrm>
            <a:off x="48691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5"/>
          <p:cNvSpPr/>
          <p:nvPr/>
        </p:nvSpPr>
        <p:spPr>
          <a:xfrm>
            <a:off x="48691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5"/>
          <p:cNvSpPr/>
          <p:nvPr/>
        </p:nvSpPr>
        <p:spPr>
          <a:xfrm>
            <a:off x="49651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5"/>
          <p:cNvSpPr/>
          <p:nvPr/>
        </p:nvSpPr>
        <p:spPr>
          <a:xfrm>
            <a:off x="50954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/>
          <p:nvPr/>
        </p:nvSpPr>
        <p:spPr>
          <a:xfrm>
            <a:off x="52257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5"/>
          <p:cNvSpPr txBox="1"/>
          <p:nvPr/>
        </p:nvSpPr>
        <p:spPr>
          <a:xfrm>
            <a:off x="48691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ex06.py</a:t>
            </a:r>
            <a:endParaRPr sz="1100"/>
          </a:p>
        </p:txBody>
      </p:sp>
      <p:sp>
        <p:nvSpPr>
          <p:cNvPr id="435" name="Google Shape;435;p45"/>
          <p:cNvSpPr txBox="1"/>
          <p:nvPr/>
        </p:nvSpPr>
        <p:spPr>
          <a:xfrm>
            <a:off x="50063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temp = float(input("Enter temperature: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compare temp to 30</a:t>
            </a:r>
            <a:endParaRPr sz="1100"/>
          </a:p>
        </p:txBody>
      </p:sp>
      <p:sp>
        <p:nvSpPr>
          <p:cNvPr id="436" name="Google Shape;436;p45"/>
          <p:cNvSpPr txBox="1"/>
          <p:nvPr/>
        </p:nvSpPr>
        <p:spPr>
          <a:xfrm>
            <a:off x="48691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Input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temperature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&gt; 30 -&gt; `Hot`, else `Cool`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LEVEL 1 · EXERCISES 7–8</a:t>
            </a:r>
            <a:endParaRPr/>
          </a:p>
        </p:txBody>
      </p:sp>
      <p:sp>
        <p:nvSpPr>
          <p:cNvPr id="442" name="Google Shape;442;p4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Divisible by 5  &amp;  Username Check</a:t>
            </a:r>
            <a:endParaRPr/>
          </a:p>
        </p:txBody>
      </p:sp>
      <p:sp>
        <p:nvSpPr>
          <p:cNvPr id="443" name="Google Shape;443;p46"/>
          <p:cNvSpPr/>
          <p:nvPr/>
        </p:nvSpPr>
        <p:spPr>
          <a:xfrm>
            <a:off x="4114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100"/>
          </a:p>
        </p:txBody>
      </p:sp>
      <p:sp>
        <p:nvSpPr>
          <p:cNvPr id="444" name="Google Shape;444;p46"/>
          <p:cNvSpPr txBox="1"/>
          <p:nvPr/>
        </p:nvSpPr>
        <p:spPr>
          <a:xfrm>
            <a:off x="7886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Divisible by 5</a:t>
            </a:r>
            <a:endParaRPr sz="1100"/>
          </a:p>
        </p:txBody>
      </p:sp>
      <p:sp>
        <p:nvSpPr>
          <p:cNvPr id="445" name="Google Shape;445;p46"/>
          <p:cNvSpPr/>
          <p:nvPr/>
        </p:nvSpPr>
        <p:spPr>
          <a:xfrm>
            <a:off x="4114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6"/>
          <p:cNvSpPr/>
          <p:nvPr/>
        </p:nvSpPr>
        <p:spPr>
          <a:xfrm>
            <a:off x="4114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6"/>
          <p:cNvSpPr/>
          <p:nvPr/>
        </p:nvSpPr>
        <p:spPr>
          <a:xfrm>
            <a:off x="5074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6"/>
          <p:cNvSpPr/>
          <p:nvPr/>
        </p:nvSpPr>
        <p:spPr>
          <a:xfrm>
            <a:off x="6377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6"/>
          <p:cNvSpPr/>
          <p:nvPr/>
        </p:nvSpPr>
        <p:spPr>
          <a:xfrm>
            <a:off x="7680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6"/>
          <p:cNvSpPr txBox="1"/>
          <p:nvPr/>
        </p:nvSpPr>
        <p:spPr>
          <a:xfrm>
            <a:off x="4114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ex07.py</a:t>
            </a:r>
            <a:endParaRPr sz="1100"/>
          </a:p>
        </p:txBody>
      </p:sp>
      <p:sp>
        <p:nvSpPr>
          <p:cNvPr id="451" name="Google Shape;451;p46"/>
          <p:cNvSpPr txBox="1"/>
          <p:nvPr/>
        </p:nvSpPr>
        <p:spPr>
          <a:xfrm>
            <a:off x="5486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num = int(input("Enter a number: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use % 5</a:t>
            </a:r>
            <a:endParaRPr sz="1100"/>
          </a:p>
        </p:txBody>
      </p:sp>
      <p:sp>
        <p:nvSpPr>
          <p:cNvPr id="452" name="Google Shape;452;p46"/>
          <p:cNvSpPr txBox="1"/>
          <p:nvPr/>
        </p:nvSpPr>
        <p:spPr>
          <a:xfrm>
            <a:off x="4114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Input a number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Divisible by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-&gt; `Yes`, else `No`</a:t>
            </a:r>
            <a:endParaRPr sz="1100"/>
          </a:p>
        </p:txBody>
      </p:sp>
      <p:sp>
        <p:nvSpPr>
          <p:cNvPr id="453" name="Google Shape;453;p46"/>
          <p:cNvSpPr/>
          <p:nvPr/>
        </p:nvSpPr>
        <p:spPr>
          <a:xfrm>
            <a:off x="48691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sz="1100"/>
          </a:p>
        </p:txBody>
      </p:sp>
      <p:sp>
        <p:nvSpPr>
          <p:cNvPr id="454" name="Google Shape;454;p46"/>
          <p:cNvSpPr txBox="1"/>
          <p:nvPr/>
        </p:nvSpPr>
        <p:spPr>
          <a:xfrm>
            <a:off x="52463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Username Check</a:t>
            </a:r>
            <a:endParaRPr sz="1100"/>
          </a:p>
        </p:txBody>
      </p:sp>
      <p:sp>
        <p:nvSpPr>
          <p:cNvPr id="455" name="Google Shape;455;p46"/>
          <p:cNvSpPr/>
          <p:nvPr/>
        </p:nvSpPr>
        <p:spPr>
          <a:xfrm>
            <a:off x="48691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6"/>
          <p:cNvSpPr/>
          <p:nvPr/>
        </p:nvSpPr>
        <p:spPr>
          <a:xfrm>
            <a:off x="48691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6"/>
          <p:cNvSpPr/>
          <p:nvPr/>
        </p:nvSpPr>
        <p:spPr>
          <a:xfrm>
            <a:off x="49651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6"/>
          <p:cNvSpPr/>
          <p:nvPr/>
        </p:nvSpPr>
        <p:spPr>
          <a:xfrm>
            <a:off x="50954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6"/>
          <p:cNvSpPr/>
          <p:nvPr/>
        </p:nvSpPr>
        <p:spPr>
          <a:xfrm>
            <a:off x="52257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6"/>
          <p:cNvSpPr txBox="1"/>
          <p:nvPr/>
        </p:nvSpPr>
        <p:spPr>
          <a:xfrm>
            <a:off x="48691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ex08.py</a:t>
            </a:r>
            <a:endParaRPr sz="1100"/>
          </a:p>
        </p:txBody>
      </p:sp>
      <p:sp>
        <p:nvSpPr>
          <p:cNvPr id="461" name="Google Shape;461;p46"/>
          <p:cNvSpPr txBox="1"/>
          <p:nvPr/>
        </p:nvSpPr>
        <p:spPr>
          <a:xfrm>
            <a:off x="50063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username = input("Enter username: ")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compare to "admin"</a:t>
            </a:r>
            <a:endParaRPr sz="1100"/>
          </a:p>
        </p:txBody>
      </p:sp>
      <p:sp>
        <p:nvSpPr>
          <p:cNvPr id="462" name="Google Shape;462;p46"/>
          <p:cNvSpPr txBox="1"/>
          <p:nvPr/>
        </p:nvSpPr>
        <p:spPr>
          <a:xfrm>
            <a:off x="48691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Input a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username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`admin` -&gt; `Welcome Admin`, else `Access Denied`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LEVEL 1 · EXERCISES 9–10</a:t>
            </a:r>
            <a:endParaRPr/>
          </a:p>
        </p:txBody>
      </p:sp>
      <p:sp>
        <p:nvSpPr>
          <p:cNvPr id="468" name="Google Shape;468;p4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Ternary: Maximum  &amp;  Ternary: Even/Odd</a:t>
            </a:r>
            <a:endParaRPr/>
          </a:p>
        </p:txBody>
      </p:sp>
      <p:sp>
        <p:nvSpPr>
          <p:cNvPr id="469" name="Google Shape;469;p47"/>
          <p:cNvSpPr/>
          <p:nvPr/>
        </p:nvSpPr>
        <p:spPr>
          <a:xfrm>
            <a:off x="4114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1100"/>
          </a:p>
        </p:txBody>
      </p:sp>
      <p:sp>
        <p:nvSpPr>
          <p:cNvPr id="470" name="Google Shape;470;p47"/>
          <p:cNvSpPr txBox="1"/>
          <p:nvPr/>
        </p:nvSpPr>
        <p:spPr>
          <a:xfrm>
            <a:off x="7886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Ternary: Maximum</a:t>
            </a:r>
            <a:endParaRPr sz="1100"/>
          </a:p>
        </p:txBody>
      </p:sp>
      <p:sp>
        <p:nvSpPr>
          <p:cNvPr id="471" name="Google Shape;471;p47"/>
          <p:cNvSpPr/>
          <p:nvPr/>
        </p:nvSpPr>
        <p:spPr>
          <a:xfrm>
            <a:off x="4114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7"/>
          <p:cNvSpPr/>
          <p:nvPr/>
        </p:nvSpPr>
        <p:spPr>
          <a:xfrm>
            <a:off x="4114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7"/>
          <p:cNvSpPr/>
          <p:nvPr/>
        </p:nvSpPr>
        <p:spPr>
          <a:xfrm>
            <a:off x="5074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7"/>
          <p:cNvSpPr/>
          <p:nvPr/>
        </p:nvSpPr>
        <p:spPr>
          <a:xfrm>
            <a:off x="6377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7"/>
          <p:cNvSpPr/>
          <p:nvPr/>
        </p:nvSpPr>
        <p:spPr>
          <a:xfrm>
            <a:off x="7680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7"/>
          <p:cNvSpPr txBox="1"/>
          <p:nvPr/>
        </p:nvSpPr>
        <p:spPr>
          <a:xfrm>
            <a:off x="4114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ex09.py</a:t>
            </a:r>
            <a:endParaRPr sz="1100"/>
          </a:p>
        </p:txBody>
      </p:sp>
      <p:sp>
        <p:nvSpPr>
          <p:cNvPr id="477" name="Google Shape;477;p47"/>
          <p:cNvSpPr txBox="1"/>
          <p:nvPr/>
        </p:nvSpPr>
        <p:spPr>
          <a:xfrm>
            <a:off x="548640" y="1748790"/>
            <a:ext cx="3840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a = int(input("First: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b = int(input("Second: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one-line ternary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result = ...  # a if ... else b</a:t>
            </a:r>
            <a:endParaRPr sz="1100"/>
          </a:p>
        </p:txBody>
      </p:sp>
      <p:sp>
        <p:nvSpPr>
          <p:cNvPr id="478" name="Google Shape;478;p47"/>
          <p:cNvSpPr txBox="1"/>
          <p:nvPr/>
        </p:nvSpPr>
        <p:spPr>
          <a:xfrm>
            <a:off x="4114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Use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only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 ternary operator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Print the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larger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number</a:t>
            </a:r>
            <a:endParaRPr sz="1100"/>
          </a:p>
        </p:txBody>
      </p:sp>
      <p:sp>
        <p:nvSpPr>
          <p:cNvPr id="479" name="Google Shape;479;p47"/>
          <p:cNvSpPr/>
          <p:nvPr/>
        </p:nvSpPr>
        <p:spPr>
          <a:xfrm>
            <a:off x="4869180" y="1062990"/>
            <a:ext cx="288000" cy="288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1100"/>
          </a:p>
        </p:txBody>
      </p:sp>
      <p:sp>
        <p:nvSpPr>
          <p:cNvPr id="480" name="Google Shape;480;p47"/>
          <p:cNvSpPr txBox="1"/>
          <p:nvPr/>
        </p:nvSpPr>
        <p:spPr>
          <a:xfrm>
            <a:off x="5246370" y="1062990"/>
            <a:ext cx="37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Ternary: Even/Odd</a:t>
            </a:r>
            <a:endParaRPr sz="1100"/>
          </a:p>
        </p:txBody>
      </p:sp>
      <p:sp>
        <p:nvSpPr>
          <p:cNvPr id="481" name="Google Shape;481;p47"/>
          <p:cNvSpPr/>
          <p:nvPr/>
        </p:nvSpPr>
        <p:spPr>
          <a:xfrm>
            <a:off x="4869180" y="1460754"/>
            <a:ext cx="4114800" cy="1268700"/>
          </a:xfrm>
          <a:prstGeom prst="roundRect">
            <a:avLst>
              <a:gd fmla="val 5000" name="adj"/>
            </a:avLst>
          </a:prstGeom>
          <a:solidFill>
            <a:srgbClr val="1A1F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7"/>
          <p:cNvSpPr/>
          <p:nvPr/>
        </p:nvSpPr>
        <p:spPr>
          <a:xfrm>
            <a:off x="4869180" y="1460754"/>
            <a:ext cx="4114800" cy="219300"/>
          </a:xfrm>
          <a:prstGeom prst="roundRect">
            <a:avLst>
              <a:gd fmla="val 10000" name="adj"/>
            </a:avLst>
          </a:prstGeom>
          <a:solidFill>
            <a:srgbClr val="272F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7"/>
          <p:cNvSpPr/>
          <p:nvPr/>
        </p:nvSpPr>
        <p:spPr>
          <a:xfrm>
            <a:off x="4965192" y="1532763"/>
            <a:ext cx="68700" cy="687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7"/>
          <p:cNvSpPr/>
          <p:nvPr/>
        </p:nvSpPr>
        <p:spPr>
          <a:xfrm>
            <a:off x="5095494" y="1532763"/>
            <a:ext cx="68700" cy="68700"/>
          </a:xfrm>
          <a:prstGeom prst="ellipse">
            <a:avLst/>
          </a:prstGeom>
          <a:solidFill>
            <a:srgbClr val="F4C15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7"/>
          <p:cNvSpPr/>
          <p:nvPr/>
        </p:nvSpPr>
        <p:spPr>
          <a:xfrm>
            <a:off x="5225796" y="1532763"/>
            <a:ext cx="68700" cy="68700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7"/>
          <p:cNvSpPr txBox="1"/>
          <p:nvPr/>
        </p:nvSpPr>
        <p:spPr>
          <a:xfrm>
            <a:off x="4869180" y="1460754"/>
            <a:ext cx="40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DA3D4"/>
                </a:solidFill>
                <a:latin typeface="Consolas"/>
                <a:ea typeface="Consolas"/>
                <a:cs typeface="Consolas"/>
                <a:sym typeface="Consolas"/>
              </a:rPr>
              <a:t>ex10.py</a:t>
            </a:r>
            <a:endParaRPr sz="1100"/>
          </a:p>
        </p:txBody>
      </p:sp>
      <p:sp>
        <p:nvSpPr>
          <p:cNvPr id="487" name="Google Shape;487;p47"/>
          <p:cNvSpPr txBox="1"/>
          <p:nvPr/>
        </p:nvSpPr>
        <p:spPr>
          <a:xfrm>
            <a:off x="5006340" y="1748790"/>
            <a:ext cx="384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num = int(input("Enter integer: "))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1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A6BB"/>
                </a:solidFill>
                <a:latin typeface="Consolas"/>
                <a:ea typeface="Consolas"/>
                <a:cs typeface="Consolas"/>
                <a:sym typeface="Consolas"/>
              </a:rPr>
              <a:t># TODO: ternary -&gt; "Even" or "Odd"</a:t>
            </a:r>
            <a:endParaRPr sz="1100"/>
          </a:p>
        </p:txBody>
      </p:sp>
      <p:sp>
        <p:nvSpPr>
          <p:cNvPr id="488" name="Google Shape;488;p47"/>
          <p:cNvSpPr txBox="1"/>
          <p:nvPr/>
        </p:nvSpPr>
        <p:spPr>
          <a:xfrm>
            <a:off x="4869180" y="2852928"/>
            <a:ext cx="4114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Use a </a:t>
            </a:r>
            <a:r>
              <a:rPr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ternary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operator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•  Print `Even` or `Odd`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