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3"/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2 min. Hook: today we answer one question — do you really need to code?</a:t>
            </a:r>
            <a:endParaRPr/>
          </a:p>
        </p:txBody>
      </p:sp>
      <p:sp>
        <p:nvSpPr>
          <p:cNvPr id="498" name="Google Shape;49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0d5825ee9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f0d5825ee9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23.</a:t>
            </a:r>
            <a:endParaRPr/>
          </a:p>
        </p:txBody>
      </p:sp>
      <p:sp>
        <p:nvSpPr>
          <p:cNvPr id="506" name="Google Shape;506;g3f0d5825ee9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the room first. Take a show of hands.</a:t>
            </a:r>
            <a:endParaRPr/>
          </a:p>
        </p:txBody>
      </p:sp>
      <p:sp>
        <p:nvSpPr>
          <p:cNvPr id="517" name="Google Shape;51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Pause on this slide — it surprises people. Then pivot to the tasks.</a:t>
            </a:r>
            <a:endParaRPr/>
          </a:p>
        </p:txBody>
      </p:sp>
      <p:sp>
        <p:nvSpPr>
          <p:cNvPr id="525" name="Google Shape;5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task on this slide can be done with OR without code — next slide compares.</a:t>
            </a:r>
            <a:endParaRPr/>
          </a:p>
        </p:txBody>
      </p:sp>
      <p:sp>
        <p:nvSpPr>
          <p:cNvPr id="540" name="Google Shape;5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0d5825ee9_0_525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0d5825ee9_0_5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0d5825ee9_0_531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f0d5825ee9_0_5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0d5825ee9_0_537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0d5825ee9_0_53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0d5825ee9_0_543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f0d5825ee9_0_5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'why it matters' beat — no-code hits a ceiling; Python removes it.</a:t>
            </a:r>
            <a:endParaRPr/>
          </a:p>
        </p:txBody>
      </p:sp>
      <p:sp>
        <p:nvSpPr>
          <p:cNvPr id="589" name="Google Shape;5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into the language itself.</a:t>
            </a:r>
            <a:endParaRPr/>
          </a:p>
        </p:txBody>
      </p:sp>
      <p:sp>
        <p:nvSpPr>
          <p:cNvPr id="600" name="Google Shape;6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0d5825ee9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0d5825ee9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slides 24–25 merged; OS logos kept.</a:t>
            </a:r>
            <a:endParaRPr/>
          </a:p>
        </p:txBody>
      </p:sp>
      <p:sp>
        <p:nvSpPr>
          <p:cNvPr id="608" name="Google Shape;608;g3f0d5825ee9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print('Hello, World!') live if possible.</a:t>
            </a:r>
            <a:endParaRPr/>
          </a:p>
        </p:txBody>
      </p:sp>
      <p:sp>
        <p:nvSpPr>
          <p:cNvPr id="620" name="Google Shape;6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quietly — exercises live in the separate exercise deck.</a:t>
            </a:r>
            <a:endParaRPr/>
          </a:p>
        </p:txBody>
      </p:sp>
      <p:sp>
        <p:nvSpPr>
          <p:cNvPr id="633" name="Google Shape;6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10941710" y="-764438"/>
            <a:ext cx="2011680" cy="201168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011680" y="4206240"/>
            <a:ext cx="4937760" cy="493776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22960" y="21945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822960" y="25603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822960" y="4343400"/>
            <a:ext cx="8869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822960" y="512064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SECTION_BREAK_NAVY">
  <p:cSld name="S16_SECTION_BREAK_NAVY">
    <p:bg>
      <p:bgPr>
        <a:solidFill>
          <a:srgbClr val="2A348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  <a:defRPr b="1" i="0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640080" y="1828800"/>
            <a:ext cx="10881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FIVE_CARDS">
  <p:cSld name="S15_FIVE_CARDS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>
            <a:off x="548650" y="1920250"/>
            <a:ext cx="2084700" cy="26034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749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body"/>
          </p:nvPr>
        </p:nvSpPr>
        <p:spPr>
          <a:xfrm>
            <a:off x="749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2834650" y="1920250"/>
            <a:ext cx="2084700" cy="26034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>
            <p:ph idx="4" type="body"/>
          </p:nvPr>
        </p:nvSpPr>
        <p:spPr>
          <a:xfrm>
            <a:off x="3035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5" type="body"/>
          </p:nvPr>
        </p:nvSpPr>
        <p:spPr>
          <a:xfrm>
            <a:off x="3035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5120649" y="1920250"/>
            <a:ext cx="2084700" cy="26034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>
            <p:ph idx="6" type="body"/>
          </p:nvPr>
        </p:nvSpPr>
        <p:spPr>
          <a:xfrm>
            <a:off x="5321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7" type="body"/>
          </p:nvPr>
        </p:nvSpPr>
        <p:spPr>
          <a:xfrm>
            <a:off x="5321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5"/>
          <p:cNvSpPr/>
          <p:nvPr/>
        </p:nvSpPr>
        <p:spPr>
          <a:xfrm>
            <a:off x="7406649" y="1920250"/>
            <a:ext cx="2084700" cy="26034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>
            <p:ph idx="8" type="body"/>
          </p:nvPr>
        </p:nvSpPr>
        <p:spPr>
          <a:xfrm>
            <a:off x="7607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9" type="body"/>
          </p:nvPr>
        </p:nvSpPr>
        <p:spPr>
          <a:xfrm>
            <a:off x="7607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5"/>
          <p:cNvSpPr/>
          <p:nvPr/>
        </p:nvSpPr>
        <p:spPr>
          <a:xfrm>
            <a:off x="9692649" y="1920250"/>
            <a:ext cx="2084700" cy="26034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>
            <p:ph idx="13" type="body"/>
          </p:nvPr>
        </p:nvSpPr>
        <p:spPr>
          <a:xfrm>
            <a:off x="9893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4" type="body"/>
          </p:nvPr>
        </p:nvSpPr>
        <p:spPr>
          <a:xfrm>
            <a:off x="9893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>
            <a:off x="548640" y="1737360"/>
            <a:ext cx="5394960" cy="3657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6B7085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3" type="body"/>
          </p:nvPr>
        </p:nvSpPr>
        <p:spPr>
          <a:xfrm>
            <a:off x="86868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6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>
            <p:ph idx="4" type="body"/>
          </p:nvPr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1A1F5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5" type="body"/>
          </p:nvPr>
        </p:nvSpPr>
        <p:spPr>
          <a:xfrm>
            <a:off x="653796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NUMBERED_ROWS_4">
  <p:cSld name="S12_NUMBERED_ROWS_4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7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>
            <p:ph idx="2" type="body"/>
          </p:nvPr>
        </p:nvSpPr>
        <p:spPr>
          <a:xfrm>
            <a:off x="1234440" y="1783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3" type="body"/>
          </p:nvPr>
        </p:nvSpPr>
        <p:spPr>
          <a:xfrm>
            <a:off x="1234440" y="216712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>
            <p:ph idx="4" type="body"/>
          </p:nvPr>
        </p:nvSpPr>
        <p:spPr>
          <a:xfrm>
            <a:off x="1234440" y="2971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idx="5" type="body"/>
          </p:nvPr>
        </p:nvSpPr>
        <p:spPr>
          <a:xfrm>
            <a:off x="1234440" y="335584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>
            <p:ph idx="6" type="body"/>
          </p:nvPr>
        </p:nvSpPr>
        <p:spPr>
          <a:xfrm>
            <a:off x="1234440" y="4160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7" type="body"/>
          </p:nvPr>
        </p:nvSpPr>
        <p:spPr>
          <a:xfrm>
            <a:off x="1234440" y="454456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7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>
            <p:ph idx="8" type="body"/>
          </p:nvPr>
        </p:nvSpPr>
        <p:spPr>
          <a:xfrm>
            <a:off x="1234440" y="5349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9" type="body"/>
          </p:nvPr>
        </p:nvSpPr>
        <p:spPr>
          <a:xfrm>
            <a:off x="1234440" y="573328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NUMBERED_ROWS_3">
  <p:cSld name="S11_NUMBERED_ROWS_3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8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>
            <p:ph idx="2" type="body"/>
          </p:nvPr>
        </p:nvSpPr>
        <p:spPr>
          <a:xfrm>
            <a:off x="1234440" y="1828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3" type="body"/>
          </p:nvPr>
        </p:nvSpPr>
        <p:spPr>
          <a:xfrm>
            <a:off x="1234440" y="22128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>
            <p:ph idx="4" type="body"/>
          </p:nvPr>
        </p:nvSpPr>
        <p:spPr>
          <a:xfrm>
            <a:off x="1234440" y="3200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5" type="body"/>
          </p:nvPr>
        </p:nvSpPr>
        <p:spPr>
          <a:xfrm>
            <a:off x="1234440" y="35844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8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 txBox="1"/>
          <p:nvPr>
            <p:ph idx="6" type="body"/>
          </p:nvPr>
        </p:nvSpPr>
        <p:spPr>
          <a:xfrm>
            <a:off x="123444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8"/>
          <p:cNvSpPr txBox="1"/>
          <p:nvPr>
            <p:ph idx="7" type="body"/>
          </p:nvPr>
        </p:nvSpPr>
        <p:spPr>
          <a:xfrm>
            <a:off x="1234440" y="4956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9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Google Shape;110;p9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9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9"/>
          <p:cNvSpPr txBox="1"/>
          <p:nvPr>
            <p:ph idx="4" type="body"/>
          </p:nvPr>
        </p:nvSpPr>
        <p:spPr>
          <a:xfrm>
            <a:off x="6414516" y="1097280"/>
            <a:ext cx="5454396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8" name="Google Shape;118;p11"/>
          <p:cNvSpPr/>
          <p:nvPr/>
        </p:nvSpPr>
        <p:spPr>
          <a:xfrm>
            <a:off x="548640" y="1965960"/>
            <a:ext cx="2606040" cy="379476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 txBox="1"/>
          <p:nvPr>
            <p:ph idx="2" type="body"/>
          </p:nvPr>
        </p:nvSpPr>
        <p:spPr>
          <a:xfrm>
            <a:off x="777240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3" type="body"/>
          </p:nvPr>
        </p:nvSpPr>
        <p:spPr>
          <a:xfrm>
            <a:off x="777240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"/>
          <p:cNvSpPr/>
          <p:nvPr/>
        </p:nvSpPr>
        <p:spPr>
          <a:xfrm>
            <a:off x="3410712" y="1965960"/>
            <a:ext cx="2606040" cy="379476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3639312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3639312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>
            <p:ph idx="4" type="body"/>
          </p:nvPr>
        </p:nvSpPr>
        <p:spPr>
          <a:xfrm>
            <a:off x="3639312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5" type="body"/>
          </p:nvPr>
        </p:nvSpPr>
        <p:spPr>
          <a:xfrm>
            <a:off x="3639312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1"/>
          <p:cNvSpPr/>
          <p:nvPr/>
        </p:nvSpPr>
        <p:spPr>
          <a:xfrm>
            <a:off x="6272784" y="1965960"/>
            <a:ext cx="2606040" cy="379476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6501384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"/>
          <p:cNvSpPr/>
          <p:nvPr/>
        </p:nvSpPr>
        <p:spPr>
          <a:xfrm>
            <a:off x="650138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>
            <p:ph idx="6" type="body"/>
          </p:nvPr>
        </p:nvSpPr>
        <p:spPr>
          <a:xfrm>
            <a:off x="6501384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7" type="body"/>
          </p:nvPr>
        </p:nvSpPr>
        <p:spPr>
          <a:xfrm>
            <a:off x="6501384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1"/>
          <p:cNvSpPr/>
          <p:nvPr/>
        </p:nvSpPr>
        <p:spPr>
          <a:xfrm>
            <a:off x="9134856" y="1965960"/>
            <a:ext cx="2606040" cy="379476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/>
          <p:nvPr>
            <p:ph idx="8" type="body"/>
          </p:nvPr>
        </p:nvSpPr>
        <p:spPr>
          <a:xfrm>
            <a:off x="9363456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9" type="body"/>
          </p:nvPr>
        </p:nvSpPr>
        <p:spPr>
          <a:xfrm>
            <a:off x="9363456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2" name="Google Shape;142;p12"/>
          <p:cNvSpPr/>
          <p:nvPr/>
        </p:nvSpPr>
        <p:spPr>
          <a:xfrm>
            <a:off x="548640" y="1828800"/>
            <a:ext cx="3520440" cy="292608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>
            <p:ph idx="2" type="body"/>
          </p:nvPr>
        </p:nvSpPr>
        <p:spPr>
          <a:xfrm>
            <a:off x="77724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3" type="body"/>
          </p:nvPr>
        </p:nvSpPr>
        <p:spPr>
          <a:xfrm>
            <a:off x="77724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12"/>
          <p:cNvSpPr/>
          <p:nvPr/>
        </p:nvSpPr>
        <p:spPr>
          <a:xfrm>
            <a:off x="4343400" y="1828800"/>
            <a:ext cx="3520440" cy="292608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>
            <p:ph idx="4" type="body"/>
          </p:nvPr>
        </p:nvSpPr>
        <p:spPr>
          <a:xfrm>
            <a:off x="457200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5" type="body"/>
          </p:nvPr>
        </p:nvSpPr>
        <p:spPr>
          <a:xfrm>
            <a:off x="457200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12"/>
          <p:cNvSpPr/>
          <p:nvPr/>
        </p:nvSpPr>
        <p:spPr>
          <a:xfrm>
            <a:off x="8138160" y="1828800"/>
            <a:ext cx="3520440" cy="292608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>
            <p:ph idx="6" type="body"/>
          </p:nvPr>
        </p:nvSpPr>
        <p:spPr>
          <a:xfrm>
            <a:off x="836676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7" type="body"/>
          </p:nvPr>
        </p:nvSpPr>
        <p:spPr>
          <a:xfrm>
            <a:off x="836676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8" type="body"/>
          </p:nvPr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12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STEP_CODE_LEFT">
  <p:cSld name="S07_STEP_CODE_LEFT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13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idx="4" type="body"/>
          </p:nvPr>
        </p:nvSpPr>
        <p:spPr>
          <a:xfrm>
            <a:off x="6414516" y="1828800"/>
            <a:ext cx="5454396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CODE_WIDE">
  <p:cSld name="S08_CODE_WIDE"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1" name="Google Shape;171;p14"/>
          <p:cNvSpPr txBox="1"/>
          <p:nvPr>
            <p:ph idx="2" type="body"/>
          </p:nvPr>
        </p:nvSpPr>
        <p:spPr>
          <a:xfrm>
            <a:off x="548640" y="201168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3" type="body"/>
          </p:nvPr>
        </p:nvSpPr>
        <p:spPr>
          <a:xfrm>
            <a:off x="6414516" y="2194560"/>
            <a:ext cx="5454396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4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EXERCISE">
  <p:cSld name="S09_EXERCISE"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7" name="Google Shape;177;p15"/>
          <p:cNvSpPr txBox="1"/>
          <p:nvPr>
            <p:ph idx="2" type="body"/>
          </p:nvPr>
        </p:nvSpPr>
        <p:spPr>
          <a:xfrm>
            <a:off x="548640" y="1554480"/>
            <a:ext cx="6309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15"/>
          <p:cNvSpPr txBox="1"/>
          <p:nvPr>
            <p:ph idx="3" type="body"/>
          </p:nvPr>
        </p:nvSpPr>
        <p:spPr>
          <a:xfrm>
            <a:off x="7223760" y="1737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15"/>
          <p:cNvSpPr txBox="1"/>
          <p:nvPr>
            <p:ph idx="4" type="body"/>
          </p:nvPr>
        </p:nvSpPr>
        <p:spPr>
          <a:xfrm>
            <a:off x="7223760" y="2148840"/>
            <a:ext cx="43891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5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FLOW_DIAGRAM">
  <p:cSld name="S10_FLOW_DIAGRAM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6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4" name="Google Shape;184;p16"/>
          <p:cNvSpPr/>
          <p:nvPr/>
        </p:nvSpPr>
        <p:spPr>
          <a:xfrm>
            <a:off x="64008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 txBox="1"/>
          <p:nvPr>
            <p:ph idx="2" type="body"/>
          </p:nvPr>
        </p:nvSpPr>
        <p:spPr>
          <a:xfrm>
            <a:off x="73152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16"/>
          <p:cNvSpPr/>
          <p:nvPr/>
        </p:nvSpPr>
        <p:spPr>
          <a:xfrm>
            <a:off x="306324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520440" y="2103120"/>
            <a:ext cx="2377440" cy="137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 txBox="1"/>
          <p:nvPr>
            <p:ph idx="3" type="body"/>
          </p:nvPr>
        </p:nvSpPr>
        <p:spPr>
          <a:xfrm>
            <a:off x="361188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1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16"/>
          <p:cNvSpPr/>
          <p:nvPr/>
        </p:nvSpPr>
        <p:spPr>
          <a:xfrm>
            <a:off x="594360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640080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 txBox="1"/>
          <p:nvPr>
            <p:ph idx="4" type="body"/>
          </p:nvPr>
        </p:nvSpPr>
        <p:spPr>
          <a:xfrm>
            <a:off x="649224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16"/>
          <p:cNvSpPr/>
          <p:nvPr/>
        </p:nvSpPr>
        <p:spPr>
          <a:xfrm>
            <a:off x="882396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928116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 txBox="1"/>
          <p:nvPr>
            <p:ph idx="5" type="body"/>
          </p:nvPr>
        </p:nvSpPr>
        <p:spPr>
          <a:xfrm>
            <a:off x="937260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16"/>
          <p:cNvSpPr txBox="1"/>
          <p:nvPr>
            <p:ph idx="6" type="body"/>
          </p:nvPr>
        </p:nvSpPr>
        <p:spPr>
          <a:xfrm>
            <a:off x="640080" y="3931920"/>
            <a:ext cx="10881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ERRORS_WITH_CODE">
  <p:cSld name="S13_ERRORS_WITH_CODE"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7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0" name="Google Shape;200;p17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1143000" y="1691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3" type="body"/>
          </p:nvPr>
        </p:nvSpPr>
        <p:spPr>
          <a:xfrm>
            <a:off x="1143000" y="21945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17"/>
          <p:cNvSpPr/>
          <p:nvPr/>
        </p:nvSpPr>
        <p:spPr>
          <a:xfrm>
            <a:off x="6675120" y="178308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667512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>
            <p:ph idx="4" type="body"/>
          </p:nvPr>
        </p:nvSpPr>
        <p:spPr>
          <a:xfrm>
            <a:off x="7269480" y="16916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5" type="body"/>
          </p:nvPr>
        </p:nvSpPr>
        <p:spPr>
          <a:xfrm>
            <a:off x="7269480" y="219456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17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>
            <p:ph idx="6" type="body"/>
          </p:nvPr>
        </p:nvSpPr>
        <p:spPr>
          <a:xfrm>
            <a:off x="1143000" y="4114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17"/>
          <p:cNvSpPr txBox="1"/>
          <p:nvPr>
            <p:ph idx="7" type="body"/>
          </p:nvPr>
        </p:nvSpPr>
        <p:spPr>
          <a:xfrm>
            <a:off x="1143000" y="4526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QUIZ_MCQ">
  <p:cSld name="S14_QUIZ_MCQ"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6" name="Google Shape;216;p18"/>
          <p:cNvSpPr txBox="1"/>
          <p:nvPr>
            <p:ph idx="2" type="body"/>
          </p:nvPr>
        </p:nvSpPr>
        <p:spPr>
          <a:xfrm>
            <a:off x="548640" y="1645920"/>
            <a:ext cx="5760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18"/>
          <p:cNvSpPr/>
          <p:nvPr/>
        </p:nvSpPr>
        <p:spPr>
          <a:xfrm>
            <a:off x="6675120" y="18288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>
            <a:off x="6903720" y="1828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8"/>
          <p:cNvSpPr/>
          <p:nvPr/>
        </p:nvSpPr>
        <p:spPr>
          <a:xfrm>
            <a:off x="6675120" y="25146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 txBox="1"/>
          <p:nvPr>
            <p:ph idx="4" type="body"/>
          </p:nvPr>
        </p:nvSpPr>
        <p:spPr>
          <a:xfrm>
            <a:off x="6903720" y="25146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18"/>
          <p:cNvSpPr/>
          <p:nvPr/>
        </p:nvSpPr>
        <p:spPr>
          <a:xfrm>
            <a:off x="6675120" y="3200400"/>
            <a:ext cx="4937760" cy="54864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 txBox="1"/>
          <p:nvPr>
            <p:ph idx="5" type="body"/>
          </p:nvPr>
        </p:nvSpPr>
        <p:spPr>
          <a:xfrm>
            <a:off x="6903720" y="3200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18"/>
          <p:cNvSpPr/>
          <p:nvPr/>
        </p:nvSpPr>
        <p:spPr>
          <a:xfrm>
            <a:off x="6675120" y="38862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6" type="body"/>
          </p:nvPr>
        </p:nvSpPr>
        <p:spPr>
          <a:xfrm>
            <a:off x="6903720" y="38862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CONTENT_IMAGE_RIGHT">
  <p:cSld name="S17_CONTENT_IMAGE_RIGHT"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9" name="Google Shape;229;p19"/>
          <p:cNvSpPr txBox="1"/>
          <p:nvPr>
            <p:ph idx="2" type="body"/>
          </p:nvPr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3" type="body"/>
          </p:nvPr>
        </p:nvSpPr>
        <p:spPr>
          <a:xfrm>
            <a:off x="5943600" y="1645920"/>
            <a:ext cx="57607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8_BULLET_SCALE_SAMPLE">
  <p:cSld name="S18_BULLET_SCALE_SAMPLE"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5" name="Google Shape;235;p20"/>
          <p:cNvSpPr txBox="1"/>
          <p:nvPr>
            <p:ph idx="2" type="body"/>
          </p:nvPr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9_CLOSING_NAVY">
  <p:cSld name="S19_CLOSING_NAVY">
    <p:bg>
      <p:bgPr>
        <a:solidFill>
          <a:srgbClr val="2A348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-1645920" y="4297680"/>
            <a:ext cx="4572000" cy="45720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822960" y="33832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40"/>
              </a:spcBef>
              <a:spcAft>
                <a:spcPts val="0"/>
              </a:spcAft>
              <a:buClr>
                <a:srgbClr val="D6DAF2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42" name="Google Shape;242;p21"/>
          <p:cNvCxnSpPr/>
          <p:nvPr/>
        </p:nvCxnSpPr>
        <p:spPr>
          <a:xfrm>
            <a:off x="822960" y="42976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1"/>
          <p:cNvSpPr txBox="1"/>
          <p:nvPr>
            <p:ph idx="2" type="body"/>
          </p:nvPr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2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247" name="Google Shape;247;p2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22"/>
          <p:cNvSpPr txBox="1"/>
          <p:nvPr>
            <p:ph type="title"/>
          </p:nvPr>
        </p:nvSpPr>
        <p:spPr>
          <a:xfrm>
            <a:off x="415600" y="2418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9pPr>
          </a:lstStyle>
          <a:p/>
        </p:txBody>
      </p:sp>
      <p:sp>
        <p:nvSpPr>
          <p:cNvPr id="253" name="Google Shape;253;p22"/>
          <p:cNvSpPr txBox="1"/>
          <p:nvPr>
            <p:ph idx="1" type="body"/>
          </p:nvPr>
        </p:nvSpPr>
        <p:spPr>
          <a:xfrm>
            <a:off x="415600" y="1189417"/>
            <a:ext cx="11360700" cy="49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type="title"/>
          </p:nvPr>
        </p:nvSpPr>
        <p:spPr>
          <a:xfrm>
            <a:off x="415600" y="2418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b="1"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b="1"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b="1" sz="1900"/>
            </a:lvl9pPr>
          </a:lstStyle>
          <a:p/>
        </p:txBody>
      </p:sp>
      <p:sp>
        <p:nvSpPr>
          <p:cNvPr id="257" name="Google Shape;257;p23"/>
          <p:cNvSpPr txBox="1"/>
          <p:nvPr>
            <p:ph idx="1" type="body"/>
          </p:nvPr>
        </p:nvSpPr>
        <p:spPr>
          <a:xfrm>
            <a:off x="415600" y="1189417"/>
            <a:ext cx="11360700" cy="49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58" name="Google Shape;258;p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/>
          <p:nvPr/>
        </p:nvSpPr>
        <p:spPr>
          <a:xfrm>
            <a:off x="10941710" y="-764438"/>
            <a:ext cx="2011800" cy="20118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-2011680" y="4206240"/>
            <a:ext cx="4937700" cy="49377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822960" y="2194560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type="title"/>
          </p:nvPr>
        </p:nvSpPr>
        <p:spPr>
          <a:xfrm>
            <a:off x="822960" y="2560320"/>
            <a:ext cx="10515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5"/>
          <p:cNvSpPr txBox="1"/>
          <p:nvPr>
            <p:ph idx="2" type="body"/>
          </p:nvPr>
        </p:nvSpPr>
        <p:spPr>
          <a:xfrm>
            <a:off x="822960" y="4343400"/>
            <a:ext cx="8869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67" name="Google Shape;267;p25"/>
          <p:cNvCxnSpPr/>
          <p:nvPr/>
        </p:nvCxnSpPr>
        <p:spPr>
          <a:xfrm>
            <a:off x="822960" y="512064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5"/>
          <p:cNvSpPr txBox="1"/>
          <p:nvPr>
            <p:ph idx="3" type="body"/>
          </p:nvPr>
        </p:nvSpPr>
        <p:spPr>
          <a:xfrm>
            <a:off x="822960" y="53035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NUMBERED_ROWS_3">
  <p:cSld name="S11_NUMBERED_ROWS_3"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3" name="Google Shape;273;p26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>
            <p:ph idx="2" type="body"/>
          </p:nvPr>
        </p:nvSpPr>
        <p:spPr>
          <a:xfrm>
            <a:off x="1234440" y="182880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3" type="body"/>
          </p:nvPr>
        </p:nvSpPr>
        <p:spPr>
          <a:xfrm>
            <a:off x="1234440" y="22128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7" name="Google Shape;277;p26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 txBox="1"/>
          <p:nvPr>
            <p:ph idx="4" type="body"/>
          </p:nvPr>
        </p:nvSpPr>
        <p:spPr>
          <a:xfrm>
            <a:off x="1234440" y="320040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26"/>
          <p:cNvSpPr txBox="1"/>
          <p:nvPr>
            <p:ph idx="5" type="body"/>
          </p:nvPr>
        </p:nvSpPr>
        <p:spPr>
          <a:xfrm>
            <a:off x="1234440" y="35844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26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 txBox="1"/>
          <p:nvPr>
            <p:ph idx="6" type="body"/>
          </p:nvPr>
        </p:nvSpPr>
        <p:spPr>
          <a:xfrm>
            <a:off x="1234440" y="457200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7" type="body"/>
          </p:nvPr>
        </p:nvSpPr>
        <p:spPr>
          <a:xfrm>
            <a:off x="1234440" y="4956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6094476" y="0"/>
            <a:ext cx="6094500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7"/>
          <p:cNvSpPr txBox="1"/>
          <p:nvPr>
            <p:ph type="title"/>
          </p:nvPr>
        </p:nvSpPr>
        <p:spPr>
          <a:xfrm>
            <a:off x="548640" y="621792"/>
            <a:ext cx="5212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0" name="Google Shape;290;p27"/>
          <p:cNvSpPr txBox="1"/>
          <p:nvPr>
            <p:ph idx="2" type="body"/>
          </p:nvPr>
        </p:nvSpPr>
        <p:spPr>
          <a:xfrm>
            <a:off x="548640" y="182880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3" type="body"/>
          </p:nvPr>
        </p:nvSpPr>
        <p:spPr>
          <a:xfrm>
            <a:off x="548640" y="2240280"/>
            <a:ext cx="5212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4" type="body"/>
          </p:nvPr>
        </p:nvSpPr>
        <p:spPr>
          <a:xfrm>
            <a:off x="6414516" y="1097280"/>
            <a:ext cx="5454300" cy="4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STEP_CODE_LEFT">
  <p:cSld name="S07_STEP_CODE_LEFT"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/>
          <p:nvPr/>
        </p:nvSpPr>
        <p:spPr>
          <a:xfrm>
            <a:off x="6094476" y="0"/>
            <a:ext cx="6094500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type="title"/>
          </p:nvPr>
        </p:nvSpPr>
        <p:spPr>
          <a:xfrm>
            <a:off x="548640" y="621792"/>
            <a:ext cx="5212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8" name="Google Shape;298;p28"/>
          <p:cNvSpPr txBox="1"/>
          <p:nvPr>
            <p:ph idx="2" type="body"/>
          </p:nvPr>
        </p:nvSpPr>
        <p:spPr>
          <a:xfrm>
            <a:off x="548640" y="182880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3" type="body"/>
          </p:nvPr>
        </p:nvSpPr>
        <p:spPr>
          <a:xfrm>
            <a:off x="548640" y="2240280"/>
            <a:ext cx="5212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4" type="body"/>
          </p:nvPr>
        </p:nvSpPr>
        <p:spPr>
          <a:xfrm>
            <a:off x="6414516" y="1828800"/>
            <a:ext cx="5454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CODE_WIDE">
  <p:cSld name="S08_CODE_WIDE"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/>
          <p:nvPr/>
        </p:nvSpPr>
        <p:spPr>
          <a:xfrm>
            <a:off x="6094476" y="0"/>
            <a:ext cx="6094500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type="title"/>
          </p:nvPr>
        </p:nvSpPr>
        <p:spPr>
          <a:xfrm>
            <a:off x="548640" y="621792"/>
            <a:ext cx="5212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6" name="Google Shape;306;p29"/>
          <p:cNvSpPr txBox="1"/>
          <p:nvPr>
            <p:ph idx="2" type="body"/>
          </p:nvPr>
        </p:nvSpPr>
        <p:spPr>
          <a:xfrm>
            <a:off x="548640" y="2011680"/>
            <a:ext cx="5212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idx="3" type="body"/>
          </p:nvPr>
        </p:nvSpPr>
        <p:spPr>
          <a:xfrm>
            <a:off x="6414516" y="2194560"/>
            <a:ext cx="54543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29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2" name="Google Shape;312;p31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3" name="Google Shape;313;p31"/>
          <p:cNvSpPr txBox="1"/>
          <p:nvPr>
            <p:ph idx="2" type="body"/>
          </p:nvPr>
        </p:nvSpPr>
        <p:spPr>
          <a:xfrm>
            <a:off x="640080" y="1828800"/>
            <a:ext cx="108813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1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8" name="Google Shape;318;p32"/>
          <p:cNvSpPr/>
          <p:nvPr/>
        </p:nvSpPr>
        <p:spPr>
          <a:xfrm>
            <a:off x="548640" y="1965960"/>
            <a:ext cx="2606100" cy="37947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777240" y="219456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777240" y="2194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 txBox="1"/>
          <p:nvPr>
            <p:ph idx="2" type="body"/>
          </p:nvPr>
        </p:nvSpPr>
        <p:spPr>
          <a:xfrm>
            <a:off x="777240" y="2880360"/>
            <a:ext cx="214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3" type="body"/>
          </p:nvPr>
        </p:nvSpPr>
        <p:spPr>
          <a:xfrm>
            <a:off x="777240" y="3566160"/>
            <a:ext cx="214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2"/>
          <p:cNvSpPr/>
          <p:nvPr/>
        </p:nvSpPr>
        <p:spPr>
          <a:xfrm>
            <a:off x="3410712" y="1965960"/>
            <a:ext cx="2606100" cy="37947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3639312" y="219456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3639312" y="2194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 txBox="1"/>
          <p:nvPr>
            <p:ph idx="4" type="body"/>
          </p:nvPr>
        </p:nvSpPr>
        <p:spPr>
          <a:xfrm>
            <a:off x="3639312" y="2880360"/>
            <a:ext cx="214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7" name="Google Shape;327;p32"/>
          <p:cNvSpPr txBox="1"/>
          <p:nvPr>
            <p:ph idx="5" type="body"/>
          </p:nvPr>
        </p:nvSpPr>
        <p:spPr>
          <a:xfrm>
            <a:off x="3639312" y="3566160"/>
            <a:ext cx="214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32"/>
          <p:cNvSpPr/>
          <p:nvPr/>
        </p:nvSpPr>
        <p:spPr>
          <a:xfrm>
            <a:off x="6272784" y="1965960"/>
            <a:ext cx="2606100" cy="37947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6501384" y="219456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6501384" y="2194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2"/>
          <p:cNvSpPr txBox="1"/>
          <p:nvPr>
            <p:ph idx="6" type="body"/>
          </p:nvPr>
        </p:nvSpPr>
        <p:spPr>
          <a:xfrm>
            <a:off x="6501384" y="2880360"/>
            <a:ext cx="214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32"/>
          <p:cNvSpPr txBox="1"/>
          <p:nvPr>
            <p:ph idx="7" type="body"/>
          </p:nvPr>
        </p:nvSpPr>
        <p:spPr>
          <a:xfrm>
            <a:off x="6501384" y="3566160"/>
            <a:ext cx="214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3" name="Google Shape;333;p32"/>
          <p:cNvSpPr/>
          <p:nvPr/>
        </p:nvSpPr>
        <p:spPr>
          <a:xfrm>
            <a:off x="9134856" y="1965960"/>
            <a:ext cx="2606100" cy="37947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9363456" y="219456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9363456" y="2194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2"/>
          <p:cNvSpPr txBox="1"/>
          <p:nvPr>
            <p:ph idx="8" type="body"/>
          </p:nvPr>
        </p:nvSpPr>
        <p:spPr>
          <a:xfrm>
            <a:off x="9363456" y="2880360"/>
            <a:ext cx="214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7" name="Google Shape;337;p32"/>
          <p:cNvSpPr txBox="1"/>
          <p:nvPr>
            <p:ph idx="9" type="body"/>
          </p:nvPr>
        </p:nvSpPr>
        <p:spPr>
          <a:xfrm>
            <a:off x="9363456" y="3566160"/>
            <a:ext cx="214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2" name="Google Shape;342;p33"/>
          <p:cNvSpPr/>
          <p:nvPr/>
        </p:nvSpPr>
        <p:spPr>
          <a:xfrm>
            <a:off x="548640" y="1828800"/>
            <a:ext cx="3520500" cy="29262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777240" y="205740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777240" y="2057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3"/>
          <p:cNvSpPr txBox="1"/>
          <p:nvPr>
            <p:ph idx="2" type="body"/>
          </p:nvPr>
        </p:nvSpPr>
        <p:spPr>
          <a:xfrm>
            <a:off x="777240" y="274320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33"/>
          <p:cNvSpPr txBox="1"/>
          <p:nvPr>
            <p:ph idx="3" type="body"/>
          </p:nvPr>
        </p:nvSpPr>
        <p:spPr>
          <a:xfrm>
            <a:off x="777240" y="3246120"/>
            <a:ext cx="306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4343400" y="1828800"/>
            <a:ext cx="3520500" cy="29262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4572000" y="205740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4572000" y="2057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3"/>
          <p:cNvSpPr txBox="1"/>
          <p:nvPr>
            <p:ph idx="4" type="body"/>
          </p:nvPr>
        </p:nvSpPr>
        <p:spPr>
          <a:xfrm>
            <a:off x="4572000" y="274320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1" name="Google Shape;351;p33"/>
          <p:cNvSpPr txBox="1"/>
          <p:nvPr>
            <p:ph idx="5" type="body"/>
          </p:nvPr>
        </p:nvSpPr>
        <p:spPr>
          <a:xfrm>
            <a:off x="4572000" y="3246120"/>
            <a:ext cx="306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2" name="Google Shape;352;p33"/>
          <p:cNvSpPr/>
          <p:nvPr/>
        </p:nvSpPr>
        <p:spPr>
          <a:xfrm>
            <a:off x="8138160" y="1828800"/>
            <a:ext cx="3520500" cy="29262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8366760" y="2057400"/>
            <a:ext cx="502800" cy="5028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8366760" y="2057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 txBox="1"/>
          <p:nvPr>
            <p:ph idx="6" type="body"/>
          </p:nvPr>
        </p:nvSpPr>
        <p:spPr>
          <a:xfrm>
            <a:off x="8366760" y="274320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6" name="Google Shape;356;p33"/>
          <p:cNvSpPr txBox="1"/>
          <p:nvPr>
            <p:ph idx="7" type="body"/>
          </p:nvPr>
        </p:nvSpPr>
        <p:spPr>
          <a:xfrm>
            <a:off x="8366760" y="3246120"/>
            <a:ext cx="306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8" type="body"/>
          </p:nvPr>
        </p:nvSpPr>
        <p:spPr>
          <a:xfrm>
            <a:off x="548640" y="502920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1" name="Google Shape;361;p34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2" name="Google Shape;362;p34"/>
          <p:cNvSpPr/>
          <p:nvPr/>
        </p:nvSpPr>
        <p:spPr>
          <a:xfrm>
            <a:off x="548640" y="1737360"/>
            <a:ext cx="5394900" cy="3657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 txBox="1"/>
          <p:nvPr>
            <p:ph idx="2" type="body"/>
          </p:nvPr>
        </p:nvSpPr>
        <p:spPr>
          <a:xfrm>
            <a:off x="868680" y="196596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20"/>
              </a:spcBef>
              <a:spcAft>
                <a:spcPts val="0"/>
              </a:spcAft>
              <a:buClr>
                <a:srgbClr val="6B7085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4" name="Google Shape;364;p34"/>
          <p:cNvSpPr txBox="1"/>
          <p:nvPr>
            <p:ph idx="3" type="body"/>
          </p:nvPr>
        </p:nvSpPr>
        <p:spPr>
          <a:xfrm>
            <a:off x="868680" y="2468880"/>
            <a:ext cx="4755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5" name="Google Shape;365;p34"/>
          <p:cNvSpPr/>
          <p:nvPr/>
        </p:nvSpPr>
        <p:spPr>
          <a:xfrm>
            <a:off x="6217920" y="1737360"/>
            <a:ext cx="5394900" cy="3657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 txBox="1"/>
          <p:nvPr>
            <p:ph idx="4" type="body"/>
          </p:nvPr>
        </p:nvSpPr>
        <p:spPr>
          <a:xfrm>
            <a:off x="6537960" y="196596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20"/>
              </a:spcBef>
              <a:spcAft>
                <a:spcPts val="0"/>
              </a:spcAft>
              <a:buClr>
                <a:srgbClr val="1A1F5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34"/>
          <p:cNvSpPr txBox="1"/>
          <p:nvPr>
            <p:ph idx="5" type="body"/>
          </p:nvPr>
        </p:nvSpPr>
        <p:spPr>
          <a:xfrm>
            <a:off x="6537960" y="2468880"/>
            <a:ext cx="4755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34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EXERCISE">
  <p:cSld name="S09_EXERCISE"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548640" y="1554480"/>
            <a:ext cx="63093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idx="3" type="body"/>
          </p:nvPr>
        </p:nvSpPr>
        <p:spPr>
          <a:xfrm>
            <a:off x="7223760" y="1737360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idx="4" type="body"/>
          </p:nvPr>
        </p:nvSpPr>
        <p:spPr>
          <a:xfrm>
            <a:off x="7223760" y="2148840"/>
            <a:ext cx="4389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FLOW_DIAGRAM">
  <p:cSld name="S10_FLOW_DIAGRAM"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8" name="Google Shape;378;p36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9" name="Google Shape;379;p36"/>
          <p:cNvSpPr/>
          <p:nvPr/>
        </p:nvSpPr>
        <p:spPr>
          <a:xfrm>
            <a:off x="640080" y="2103120"/>
            <a:ext cx="237750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 txBox="1"/>
          <p:nvPr>
            <p:ph idx="2" type="body"/>
          </p:nvPr>
        </p:nvSpPr>
        <p:spPr>
          <a:xfrm>
            <a:off x="731520" y="2103120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1" name="Google Shape;381;p36"/>
          <p:cNvSpPr/>
          <p:nvPr/>
        </p:nvSpPr>
        <p:spPr>
          <a:xfrm>
            <a:off x="3063240" y="251460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3520440" y="2103120"/>
            <a:ext cx="2377500" cy="137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 txBox="1"/>
          <p:nvPr>
            <p:ph idx="3" type="body"/>
          </p:nvPr>
        </p:nvSpPr>
        <p:spPr>
          <a:xfrm>
            <a:off x="3611880" y="2103120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1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" name="Google Shape;384;p36"/>
          <p:cNvSpPr/>
          <p:nvPr/>
        </p:nvSpPr>
        <p:spPr>
          <a:xfrm>
            <a:off x="5943600" y="251460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6400800" y="2103120"/>
            <a:ext cx="237750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6"/>
          <p:cNvSpPr txBox="1"/>
          <p:nvPr>
            <p:ph idx="4" type="body"/>
          </p:nvPr>
        </p:nvSpPr>
        <p:spPr>
          <a:xfrm>
            <a:off x="6492240" y="2103120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7" name="Google Shape;387;p36"/>
          <p:cNvSpPr/>
          <p:nvPr/>
        </p:nvSpPr>
        <p:spPr>
          <a:xfrm>
            <a:off x="8823960" y="251460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9281160" y="2103120"/>
            <a:ext cx="237750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6"/>
          <p:cNvSpPr txBox="1"/>
          <p:nvPr>
            <p:ph idx="5" type="body"/>
          </p:nvPr>
        </p:nvSpPr>
        <p:spPr>
          <a:xfrm>
            <a:off x="9372600" y="2103120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36"/>
          <p:cNvSpPr txBox="1"/>
          <p:nvPr>
            <p:ph idx="6" type="body"/>
          </p:nvPr>
        </p:nvSpPr>
        <p:spPr>
          <a:xfrm>
            <a:off x="640080" y="3931920"/>
            <a:ext cx="10881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NUMBERED_ROWS_4">
  <p:cSld name="S12_NUMBERED_ROWS_4"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5" name="Google Shape;395;p37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 txBox="1"/>
          <p:nvPr>
            <p:ph idx="2" type="body"/>
          </p:nvPr>
        </p:nvSpPr>
        <p:spPr>
          <a:xfrm>
            <a:off x="1234440" y="178308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37"/>
          <p:cNvSpPr txBox="1"/>
          <p:nvPr>
            <p:ph idx="3" type="body"/>
          </p:nvPr>
        </p:nvSpPr>
        <p:spPr>
          <a:xfrm>
            <a:off x="1234440" y="2167128"/>
            <a:ext cx="1033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9" name="Google Shape;399;p3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7"/>
          <p:cNvSpPr txBox="1"/>
          <p:nvPr>
            <p:ph idx="4" type="body"/>
          </p:nvPr>
        </p:nvSpPr>
        <p:spPr>
          <a:xfrm>
            <a:off x="1234440" y="297180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2" name="Google Shape;402;p37"/>
          <p:cNvSpPr txBox="1"/>
          <p:nvPr>
            <p:ph idx="5" type="body"/>
          </p:nvPr>
        </p:nvSpPr>
        <p:spPr>
          <a:xfrm>
            <a:off x="1234440" y="3355848"/>
            <a:ext cx="1033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3" name="Google Shape;403;p3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7"/>
          <p:cNvSpPr txBox="1"/>
          <p:nvPr>
            <p:ph idx="6" type="body"/>
          </p:nvPr>
        </p:nvSpPr>
        <p:spPr>
          <a:xfrm>
            <a:off x="1234440" y="416052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7" type="body"/>
          </p:nvPr>
        </p:nvSpPr>
        <p:spPr>
          <a:xfrm>
            <a:off x="1234440" y="4544568"/>
            <a:ext cx="1033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7" name="Google Shape;407;p37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7"/>
          <p:cNvSpPr txBox="1"/>
          <p:nvPr>
            <p:ph idx="8" type="body"/>
          </p:nvPr>
        </p:nvSpPr>
        <p:spPr>
          <a:xfrm>
            <a:off x="1234440" y="534924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9" type="body"/>
          </p:nvPr>
        </p:nvSpPr>
        <p:spPr>
          <a:xfrm>
            <a:off x="1234440" y="5733288"/>
            <a:ext cx="1033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ERRORS_WITH_CODE">
  <p:cSld name="S13_ERRORS_WITH_CODE"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4" name="Google Shape;414;p38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5" name="Google Shape;415;p38"/>
          <p:cNvSpPr/>
          <p:nvPr/>
        </p:nvSpPr>
        <p:spPr>
          <a:xfrm>
            <a:off x="548640" y="1783080"/>
            <a:ext cx="411600" cy="4116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548640" y="17830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 txBox="1"/>
          <p:nvPr>
            <p:ph idx="2" type="body"/>
          </p:nvPr>
        </p:nvSpPr>
        <p:spPr>
          <a:xfrm>
            <a:off x="1143000" y="1691640"/>
            <a:ext cx="502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8" name="Google Shape;418;p38"/>
          <p:cNvSpPr txBox="1"/>
          <p:nvPr>
            <p:ph idx="3" type="body"/>
          </p:nvPr>
        </p:nvSpPr>
        <p:spPr>
          <a:xfrm>
            <a:off x="1143000" y="2194560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9" name="Google Shape;419;p38"/>
          <p:cNvSpPr/>
          <p:nvPr/>
        </p:nvSpPr>
        <p:spPr>
          <a:xfrm>
            <a:off x="6675120" y="1783080"/>
            <a:ext cx="411600" cy="4116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6675120" y="17830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8"/>
          <p:cNvSpPr txBox="1"/>
          <p:nvPr>
            <p:ph idx="4" type="body"/>
          </p:nvPr>
        </p:nvSpPr>
        <p:spPr>
          <a:xfrm>
            <a:off x="7269480" y="169164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38"/>
          <p:cNvSpPr txBox="1"/>
          <p:nvPr>
            <p:ph idx="5" type="body"/>
          </p:nvPr>
        </p:nvSpPr>
        <p:spPr>
          <a:xfrm>
            <a:off x="7269480" y="2194560"/>
            <a:ext cx="4572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3" name="Google Shape;423;p38"/>
          <p:cNvSpPr/>
          <p:nvPr/>
        </p:nvSpPr>
        <p:spPr>
          <a:xfrm>
            <a:off x="548640" y="4206240"/>
            <a:ext cx="411600" cy="4116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548640" y="42062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 txBox="1"/>
          <p:nvPr>
            <p:ph idx="6" type="body"/>
          </p:nvPr>
        </p:nvSpPr>
        <p:spPr>
          <a:xfrm>
            <a:off x="1143000" y="411480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6" name="Google Shape;426;p38"/>
          <p:cNvSpPr txBox="1"/>
          <p:nvPr>
            <p:ph idx="7" type="body"/>
          </p:nvPr>
        </p:nvSpPr>
        <p:spPr>
          <a:xfrm>
            <a:off x="1143000" y="4526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7" name="Google Shape;427;p38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QUIZ_MCQ">
  <p:cSld name="S14_QUIZ_MCQ"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1" name="Google Shape;431;p39"/>
          <p:cNvSpPr txBox="1"/>
          <p:nvPr>
            <p:ph idx="2" type="body"/>
          </p:nvPr>
        </p:nvSpPr>
        <p:spPr>
          <a:xfrm>
            <a:off x="548640" y="1645920"/>
            <a:ext cx="5760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2" name="Google Shape;432;p39"/>
          <p:cNvSpPr/>
          <p:nvPr/>
        </p:nvSpPr>
        <p:spPr>
          <a:xfrm>
            <a:off x="6675120" y="1828800"/>
            <a:ext cx="4937700" cy="54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 txBox="1"/>
          <p:nvPr>
            <p:ph idx="3" type="body"/>
          </p:nvPr>
        </p:nvSpPr>
        <p:spPr>
          <a:xfrm>
            <a:off x="6903720" y="182880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4" name="Google Shape;434;p39"/>
          <p:cNvSpPr/>
          <p:nvPr/>
        </p:nvSpPr>
        <p:spPr>
          <a:xfrm>
            <a:off x="6675120" y="2514600"/>
            <a:ext cx="4937700" cy="54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 txBox="1"/>
          <p:nvPr>
            <p:ph idx="4" type="body"/>
          </p:nvPr>
        </p:nvSpPr>
        <p:spPr>
          <a:xfrm>
            <a:off x="6903720" y="251460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6" name="Google Shape;436;p39"/>
          <p:cNvSpPr/>
          <p:nvPr/>
        </p:nvSpPr>
        <p:spPr>
          <a:xfrm>
            <a:off x="6675120" y="3200400"/>
            <a:ext cx="4937700" cy="54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 txBox="1"/>
          <p:nvPr>
            <p:ph idx="5" type="body"/>
          </p:nvPr>
        </p:nvSpPr>
        <p:spPr>
          <a:xfrm>
            <a:off x="6903720" y="320040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8" name="Google Shape;438;p39"/>
          <p:cNvSpPr/>
          <p:nvPr/>
        </p:nvSpPr>
        <p:spPr>
          <a:xfrm>
            <a:off x="6675120" y="3886200"/>
            <a:ext cx="4937700" cy="54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 txBox="1"/>
          <p:nvPr>
            <p:ph idx="6" type="body"/>
          </p:nvPr>
        </p:nvSpPr>
        <p:spPr>
          <a:xfrm>
            <a:off x="6903720" y="388620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0" name="Google Shape;440;p39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FIVE_CARDS">
  <p:cSld name="S15_FIVE_CARDS"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3" name="Google Shape;443;p40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4" name="Google Shape;444;p40"/>
          <p:cNvSpPr/>
          <p:nvPr/>
        </p:nvSpPr>
        <p:spPr>
          <a:xfrm>
            <a:off x="548640" y="1920240"/>
            <a:ext cx="2084700" cy="32919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 txBox="1"/>
          <p:nvPr>
            <p:ph idx="2" type="body"/>
          </p:nvPr>
        </p:nvSpPr>
        <p:spPr>
          <a:xfrm>
            <a:off x="749808" y="2788920"/>
            <a:ext cx="168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8" name="Google Shape;448;p40"/>
          <p:cNvSpPr txBox="1"/>
          <p:nvPr>
            <p:ph idx="3" type="body"/>
          </p:nvPr>
        </p:nvSpPr>
        <p:spPr>
          <a:xfrm>
            <a:off x="749808" y="3474720"/>
            <a:ext cx="168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9" name="Google Shape;449;p40"/>
          <p:cNvSpPr/>
          <p:nvPr/>
        </p:nvSpPr>
        <p:spPr>
          <a:xfrm>
            <a:off x="2834640" y="1920240"/>
            <a:ext cx="2084700" cy="32919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0"/>
          <p:cNvSpPr txBox="1"/>
          <p:nvPr>
            <p:ph idx="4" type="body"/>
          </p:nvPr>
        </p:nvSpPr>
        <p:spPr>
          <a:xfrm>
            <a:off x="3035808" y="2788920"/>
            <a:ext cx="168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3" name="Google Shape;453;p40"/>
          <p:cNvSpPr txBox="1"/>
          <p:nvPr>
            <p:ph idx="5" type="body"/>
          </p:nvPr>
        </p:nvSpPr>
        <p:spPr>
          <a:xfrm>
            <a:off x="3035808" y="3474720"/>
            <a:ext cx="168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4" name="Google Shape;454;p40"/>
          <p:cNvSpPr/>
          <p:nvPr/>
        </p:nvSpPr>
        <p:spPr>
          <a:xfrm>
            <a:off x="5120640" y="1920240"/>
            <a:ext cx="2084700" cy="32919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 txBox="1"/>
          <p:nvPr>
            <p:ph idx="6" type="body"/>
          </p:nvPr>
        </p:nvSpPr>
        <p:spPr>
          <a:xfrm>
            <a:off x="5321808" y="2788920"/>
            <a:ext cx="168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8" name="Google Shape;458;p40"/>
          <p:cNvSpPr txBox="1"/>
          <p:nvPr>
            <p:ph idx="7" type="body"/>
          </p:nvPr>
        </p:nvSpPr>
        <p:spPr>
          <a:xfrm>
            <a:off x="5321808" y="3474720"/>
            <a:ext cx="168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9" name="Google Shape;459;p40"/>
          <p:cNvSpPr/>
          <p:nvPr/>
        </p:nvSpPr>
        <p:spPr>
          <a:xfrm>
            <a:off x="7406640" y="1920240"/>
            <a:ext cx="2084700" cy="32919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0"/>
          <p:cNvSpPr txBox="1"/>
          <p:nvPr>
            <p:ph idx="8" type="body"/>
          </p:nvPr>
        </p:nvSpPr>
        <p:spPr>
          <a:xfrm>
            <a:off x="7607808" y="2788920"/>
            <a:ext cx="168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3" name="Google Shape;463;p40"/>
          <p:cNvSpPr txBox="1"/>
          <p:nvPr>
            <p:ph idx="9" type="body"/>
          </p:nvPr>
        </p:nvSpPr>
        <p:spPr>
          <a:xfrm>
            <a:off x="7607808" y="3474720"/>
            <a:ext cx="168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4" name="Google Shape;464;p40"/>
          <p:cNvSpPr/>
          <p:nvPr/>
        </p:nvSpPr>
        <p:spPr>
          <a:xfrm>
            <a:off x="9692640" y="1920240"/>
            <a:ext cx="2084700" cy="32919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0"/>
          <p:cNvSpPr txBox="1"/>
          <p:nvPr>
            <p:ph idx="13" type="body"/>
          </p:nvPr>
        </p:nvSpPr>
        <p:spPr>
          <a:xfrm>
            <a:off x="9893808" y="2788920"/>
            <a:ext cx="168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8" name="Google Shape;468;p40"/>
          <p:cNvSpPr txBox="1"/>
          <p:nvPr>
            <p:ph idx="14" type="body"/>
          </p:nvPr>
        </p:nvSpPr>
        <p:spPr>
          <a:xfrm>
            <a:off x="9893808" y="3474720"/>
            <a:ext cx="168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9" name="Google Shape;469;p40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SECTION_BREAK_NAVY">
  <p:cSld name="S16_SECTION_BREAK_NAVY">
    <p:bg>
      <p:bgPr>
        <a:solidFill>
          <a:srgbClr val="2A348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1"/>
          <p:cNvSpPr txBox="1"/>
          <p:nvPr>
            <p:ph idx="1" type="body"/>
          </p:nvPr>
        </p:nvSpPr>
        <p:spPr>
          <a:xfrm>
            <a:off x="822960" y="2651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3" name="Google Shape;473;p41"/>
          <p:cNvSpPr txBox="1"/>
          <p:nvPr>
            <p:ph type="title"/>
          </p:nvPr>
        </p:nvSpPr>
        <p:spPr>
          <a:xfrm>
            <a:off x="822960" y="3017520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  <a:defRPr b="1" i="0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4" name="Google Shape;474;p41"/>
          <p:cNvSpPr txBox="1"/>
          <p:nvPr>
            <p:ph idx="2" type="body"/>
          </p:nvPr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CONTENT_IMAGE_RIGHT">
  <p:cSld name="S17_CONTENT_IMAGE_RIGHT"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9" name="Google Shape;479;p42"/>
          <p:cNvSpPr txBox="1"/>
          <p:nvPr>
            <p:ph idx="2" type="body"/>
          </p:nvPr>
        </p:nvSpPr>
        <p:spPr>
          <a:xfrm>
            <a:off x="548640" y="1828800"/>
            <a:ext cx="5120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3" type="body"/>
          </p:nvPr>
        </p:nvSpPr>
        <p:spPr>
          <a:xfrm>
            <a:off x="5943600" y="1645920"/>
            <a:ext cx="5760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8_BULLET_SCALE_SAMPLE">
  <p:cSld name="S18_BULLET_SCALE_SAMPLE"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4" name="Google Shape;484;p43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5" name="Google Shape;485;p43"/>
          <p:cNvSpPr txBox="1"/>
          <p:nvPr>
            <p:ph idx="2" type="body"/>
          </p:nvPr>
        </p:nvSpPr>
        <p:spPr>
          <a:xfrm>
            <a:off x="640080" y="1828800"/>
            <a:ext cx="10881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6" name="Google Shape;486;p43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9_CLOSING_NAVY">
  <p:cSld name="S19_CLOSING_NAVY">
    <p:bg>
      <p:bgPr>
        <a:solidFill>
          <a:srgbClr val="2A3480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4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4"/>
          <p:cNvSpPr/>
          <p:nvPr/>
        </p:nvSpPr>
        <p:spPr>
          <a:xfrm>
            <a:off x="-1645920" y="4297680"/>
            <a:ext cx="4572000" cy="4572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4"/>
          <p:cNvSpPr txBox="1"/>
          <p:nvPr>
            <p:ph type="title"/>
          </p:nvPr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1" name="Google Shape;491;p44"/>
          <p:cNvSpPr txBox="1"/>
          <p:nvPr>
            <p:ph idx="1" type="body"/>
          </p:nvPr>
        </p:nvSpPr>
        <p:spPr>
          <a:xfrm>
            <a:off x="822960" y="338328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340"/>
              </a:spcBef>
              <a:spcAft>
                <a:spcPts val="0"/>
              </a:spcAft>
              <a:buClr>
                <a:srgbClr val="D6DAF2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92" name="Google Shape;492;p44"/>
          <p:cNvCxnSpPr/>
          <p:nvPr/>
        </p:nvCxnSpPr>
        <p:spPr>
          <a:xfrm>
            <a:off x="822960" y="42976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44"/>
          <p:cNvSpPr txBox="1"/>
          <p:nvPr>
            <p:ph idx="2" type="body"/>
          </p:nvPr>
        </p:nvSpPr>
        <p:spPr>
          <a:xfrm>
            <a:off x="822960" y="45262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4" name="Google Shape;494;p44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1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idx="12" type="sldNum"/>
          </p:nvPr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 txBox="1"/>
          <p:nvPr>
            <p:ph idx="1" type="body"/>
          </p:nvPr>
        </p:nvSpPr>
        <p:spPr>
          <a:xfrm>
            <a:off x="822960" y="21945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400"/>
              <a:buNone/>
            </a:pPr>
            <a:r>
              <a:rPr b="1" lang="en-US" sz="1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DATA SCIENCE COURSE</a:t>
            </a:r>
            <a:endParaRPr/>
          </a:p>
        </p:txBody>
      </p:sp>
      <p:sp>
        <p:nvSpPr>
          <p:cNvPr id="501" name="Google Shape;501;p45"/>
          <p:cNvSpPr txBox="1"/>
          <p:nvPr>
            <p:ph type="title"/>
          </p:nvPr>
        </p:nvSpPr>
        <p:spPr>
          <a:xfrm>
            <a:off x="822960" y="25603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</a:pPr>
            <a:r>
              <a:rPr lang="en-US"/>
              <a:t>Why Python for Data Science?</a:t>
            </a:r>
            <a:endParaRPr/>
          </a:p>
        </p:txBody>
      </p:sp>
      <p:sp>
        <p:nvSpPr>
          <p:cNvPr id="502" name="Google Shape;502;p45"/>
          <p:cNvSpPr txBox="1"/>
          <p:nvPr>
            <p:ph idx="3" type="body"/>
          </p:nvPr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A3D4"/>
              </a:buClr>
              <a:buSzPts val="1300"/>
              <a:buNone/>
            </a:pPr>
            <a:r>
              <a:rPr lang="en-US" sz="13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Lecturer  SO Vengleab   ·  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PROGRAMMING</a:t>
            </a:r>
            <a:endParaRPr/>
          </a:p>
        </p:txBody>
      </p:sp>
      <p:sp>
        <p:nvSpPr>
          <p:cNvPr id="509" name="Google Shape;509;p46"/>
          <p:cNvSpPr txBox="1"/>
          <p:nvPr>
            <p:ph type="title"/>
          </p:nvPr>
        </p:nvSpPr>
        <p:spPr>
          <a:xfrm>
            <a:off x="548650" y="621797"/>
            <a:ext cx="5212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Introduction to </a:t>
            </a:r>
            <a:r>
              <a:rPr lang="en-US"/>
              <a:t>Python</a:t>
            </a:r>
            <a:endParaRPr/>
          </a:p>
        </p:txBody>
      </p:sp>
      <p:sp>
        <p:nvSpPr>
          <p:cNvPr id="510" name="Google Shape;510;p46"/>
          <p:cNvSpPr txBox="1"/>
          <p:nvPr>
            <p:ph idx="2" type="body"/>
          </p:nvPr>
        </p:nvSpPr>
        <p:spPr>
          <a:xfrm>
            <a:off x="548640" y="182880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lang="en-US"/>
              <a:t>Python </a:t>
            </a: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is a </a:t>
            </a:r>
            <a:r>
              <a:rPr lang="en-US"/>
              <a:t>Programming</a:t>
            </a: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 language.</a:t>
            </a:r>
            <a:endParaRPr/>
          </a:p>
        </p:txBody>
      </p:sp>
      <p:sp>
        <p:nvSpPr>
          <p:cNvPr id="511" name="Google Shape;511;p46"/>
          <p:cNvSpPr txBox="1"/>
          <p:nvPr>
            <p:ph idx="3" type="body"/>
          </p:nvPr>
        </p:nvSpPr>
        <p:spPr>
          <a:xfrm>
            <a:off x="548640" y="2240280"/>
            <a:ext cx="5212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You write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source code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human-readable instructions.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It is translated into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computer code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machine executes.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Together they become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s23_1.png" id="512" name="Google Shape;51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347218"/>
            <a:ext cx="3566160" cy="1717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23_2.png" id="513" name="Google Shape;51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920" y="3201418"/>
            <a:ext cx="3566160" cy="230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idx="1" type="body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400"/>
              <a:buNone/>
            </a:pPr>
            <a:r>
              <a:rPr b="1" lang="en-US" sz="1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THE BIG QUESTION</a:t>
            </a:r>
            <a:endParaRPr/>
          </a:p>
        </p:txBody>
      </p:sp>
      <p:sp>
        <p:nvSpPr>
          <p:cNvPr id="520" name="Google Shape;520;p47"/>
          <p:cNvSpPr txBox="1"/>
          <p:nvPr>
            <p:ph type="title"/>
          </p:nvPr>
        </p:nvSpPr>
        <p:spPr>
          <a:xfrm>
            <a:off x="822953" y="3017525"/>
            <a:ext cx="7030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</a:pPr>
            <a:r>
              <a:rPr b="1" lang="en-US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Is coding a must for Data Science?</a:t>
            </a:r>
            <a:endParaRPr/>
          </a:p>
        </p:txBody>
      </p:sp>
      <p:sp>
        <p:nvSpPr>
          <p:cNvPr id="521" name="Google Shape;521;p47"/>
          <p:cNvSpPr txBox="1"/>
          <p:nvPr>
            <p:ph idx="2" type="body"/>
          </p:nvPr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500"/>
              <a:buNone/>
            </a:pPr>
            <a:r>
              <a:rPr lang="en-US" sz="15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Let’s settle this before we write a single line.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THE BIG QUESTION</a:t>
            </a:r>
            <a:endParaRPr/>
          </a:p>
        </p:txBody>
      </p:sp>
      <p:sp>
        <p:nvSpPr>
          <p:cNvPr id="528" name="Google Shape;528;p48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Answer is NO!</a:t>
            </a:r>
            <a:endParaRPr/>
          </a:p>
        </p:txBody>
      </p:sp>
      <p:sp>
        <p:nvSpPr>
          <p:cNvPr id="529" name="Google Shape;529;p48"/>
          <p:cNvSpPr txBox="1"/>
          <p:nvPr>
            <p:ph idx="2" type="body"/>
          </p:nvPr>
        </p:nvSpPr>
        <p:spPr>
          <a:xfrm>
            <a:off x="548640" y="1554480"/>
            <a:ext cx="63093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You can do data science without writing code.</a:t>
            </a:r>
            <a:endParaRPr/>
          </a:p>
          <a:p>
            <a:pPr indent="-342900" lvl="0" marL="342900" rtl="0" algn="l">
              <a:spcBef>
                <a:spcPts val="112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No-code tools cover the basics: Excel, Google Sheets, Power BI, Tableau, KNIME.</a:t>
            </a:r>
            <a:endParaRPr/>
          </a:p>
          <a:p>
            <a:pPr indent="-342900" lvl="0" marL="342900" rtl="0" algn="l">
              <a:spcBef>
                <a:spcPts val="112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Drag-and-drop workflows can collect, clean, and chart data.</a:t>
            </a:r>
            <a:endParaRPr/>
          </a:p>
        </p:txBody>
      </p:sp>
      <p:sp>
        <p:nvSpPr>
          <p:cNvPr id="530" name="Google Shape;530;p48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8"/>
          <p:cNvSpPr/>
          <p:nvPr/>
        </p:nvSpPr>
        <p:spPr>
          <a:xfrm>
            <a:off x="713232" y="591616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8"/>
          <p:cNvSpPr txBox="1"/>
          <p:nvPr/>
        </p:nvSpPr>
        <p:spPr>
          <a:xfrm>
            <a:off x="987552" y="5715000"/>
            <a:ext cx="10497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-US" sz="11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No-code gets you started fast — the question is what happens when the data grows and the task repeats.</a:t>
            </a:r>
            <a:endParaRPr/>
          </a:p>
        </p:txBody>
      </p:sp>
      <p:sp>
        <p:nvSpPr>
          <p:cNvPr id="533" name="Google Shape;533;p48"/>
          <p:cNvSpPr txBox="1"/>
          <p:nvPr>
            <p:ph idx="3" type="body"/>
          </p:nvPr>
        </p:nvSpPr>
        <p:spPr>
          <a:xfrm>
            <a:off x="7223760" y="1737360"/>
            <a:ext cx="43890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Venn Diagram of Data Science Field</a:t>
            </a:r>
            <a:endParaRPr/>
          </a:p>
        </p:txBody>
      </p:sp>
      <p:sp>
        <p:nvSpPr>
          <p:cNvPr id="534" name="Google Shape;534;p48"/>
          <p:cNvSpPr txBox="1"/>
          <p:nvPr>
            <p:ph idx="4" type="body"/>
          </p:nvPr>
        </p:nvSpPr>
        <p:spPr>
          <a:xfrm>
            <a:off x="7223760" y="2148840"/>
            <a:ext cx="4389000" cy="21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535" name="Google Shape;5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759" y="2094992"/>
            <a:ext cx="2850790" cy="285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8"/>
          <p:cNvPicPr preferRelativeResize="0"/>
          <p:nvPr/>
        </p:nvPicPr>
        <p:blipFill rotWithShape="1">
          <a:blip r:embed="rId4">
            <a:alphaModFix/>
          </a:blip>
          <a:srcRect b="3293" l="7450" r="7313" t="4710"/>
          <a:stretch/>
        </p:blipFill>
        <p:spPr>
          <a:xfrm>
            <a:off x="877825" y="3607238"/>
            <a:ext cx="2121801" cy="14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9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DAY-TO-DAY WORK</a:t>
            </a:r>
            <a:endParaRPr/>
          </a:p>
        </p:txBody>
      </p:sp>
      <p:sp>
        <p:nvSpPr>
          <p:cNvPr id="543" name="Google Shape;543;p49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Data Scientists Do</a:t>
            </a:r>
            <a:endParaRPr/>
          </a:p>
        </p:txBody>
      </p:sp>
      <p:sp>
        <p:nvSpPr>
          <p:cNvPr id="544" name="Google Shape;544;p49"/>
          <p:cNvSpPr txBox="1"/>
          <p:nvPr>
            <p:ph idx="2" type="body"/>
          </p:nvPr>
        </p:nvSpPr>
        <p:spPr>
          <a:xfrm>
            <a:off x="749800" y="2788924"/>
            <a:ext cx="1682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00"/>
              <a:buNone/>
            </a:pPr>
            <a:r>
              <a:rPr b="1" lang="en-US" sz="15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Data Collection</a:t>
            </a:r>
            <a:endParaRPr/>
          </a:p>
        </p:txBody>
      </p:sp>
      <p:sp>
        <p:nvSpPr>
          <p:cNvPr id="545" name="Google Shape;545;p49"/>
          <p:cNvSpPr txBox="1"/>
          <p:nvPr>
            <p:ph idx="3" type="body"/>
          </p:nvPr>
        </p:nvSpPr>
        <p:spPr>
          <a:xfrm>
            <a:off x="749800" y="3300679"/>
            <a:ext cx="168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None/>
            </a:pPr>
            <a:r>
              <a:rPr lang="en-US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Pull data from files, databases, APIs, and the web.</a:t>
            </a:r>
            <a:endParaRPr/>
          </a:p>
        </p:txBody>
      </p:sp>
      <p:sp>
        <p:nvSpPr>
          <p:cNvPr id="546" name="Google Shape;546;p49"/>
          <p:cNvSpPr txBox="1"/>
          <p:nvPr>
            <p:ph idx="4" type="body"/>
          </p:nvPr>
        </p:nvSpPr>
        <p:spPr>
          <a:xfrm>
            <a:off x="3035800" y="2788924"/>
            <a:ext cx="1682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00"/>
              <a:buNone/>
            </a:pPr>
            <a:r>
              <a:rPr b="1" lang="en-US" sz="15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Preparation &amp; Cleansing</a:t>
            </a:r>
            <a:endParaRPr/>
          </a:p>
        </p:txBody>
      </p:sp>
      <p:sp>
        <p:nvSpPr>
          <p:cNvPr id="547" name="Google Shape;547;p49"/>
          <p:cNvSpPr txBox="1"/>
          <p:nvPr>
            <p:ph idx="5" type="body"/>
          </p:nvPr>
        </p:nvSpPr>
        <p:spPr>
          <a:xfrm>
            <a:off x="3035800" y="3300679"/>
            <a:ext cx="168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None/>
            </a:pPr>
            <a:r>
              <a:rPr lang="en-US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Fix missing values, duplicates, and messy formats.</a:t>
            </a:r>
            <a:endParaRPr/>
          </a:p>
        </p:txBody>
      </p:sp>
      <p:sp>
        <p:nvSpPr>
          <p:cNvPr id="548" name="Google Shape;548;p49"/>
          <p:cNvSpPr txBox="1"/>
          <p:nvPr>
            <p:ph idx="6" type="body"/>
          </p:nvPr>
        </p:nvSpPr>
        <p:spPr>
          <a:xfrm>
            <a:off x="5321800" y="2788924"/>
            <a:ext cx="1682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00"/>
              <a:buNone/>
            </a:pPr>
            <a:r>
              <a:rPr b="1" lang="en-US" sz="15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EDA</a:t>
            </a:r>
            <a:endParaRPr/>
          </a:p>
        </p:txBody>
      </p:sp>
      <p:sp>
        <p:nvSpPr>
          <p:cNvPr id="549" name="Google Shape;549;p49"/>
          <p:cNvSpPr txBox="1"/>
          <p:nvPr>
            <p:ph idx="7" type="body"/>
          </p:nvPr>
        </p:nvSpPr>
        <p:spPr>
          <a:xfrm>
            <a:off x="5321800" y="3300679"/>
            <a:ext cx="168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None/>
            </a:pPr>
            <a:r>
              <a:rPr lang="en-US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Explore, summarize, and visualize to find patterns.</a:t>
            </a:r>
            <a:endParaRPr/>
          </a:p>
        </p:txBody>
      </p:sp>
      <p:sp>
        <p:nvSpPr>
          <p:cNvPr id="550" name="Google Shape;550;p49"/>
          <p:cNvSpPr txBox="1"/>
          <p:nvPr>
            <p:ph idx="8" type="body"/>
          </p:nvPr>
        </p:nvSpPr>
        <p:spPr>
          <a:xfrm>
            <a:off x="7607800" y="2788924"/>
            <a:ext cx="1682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00"/>
              <a:buNone/>
            </a:pPr>
            <a:r>
              <a:rPr b="1" lang="en-US" sz="15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Model Building</a:t>
            </a:r>
            <a:endParaRPr/>
          </a:p>
        </p:txBody>
      </p:sp>
      <p:sp>
        <p:nvSpPr>
          <p:cNvPr id="551" name="Google Shape;551;p49"/>
          <p:cNvSpPr txBox="1"/>
          <p:nvPr>
            <p:ph idx="9" type="body"/>
          </p:nvPr>
        </p:nvSpPr>
        <p:spPr>
          <a:xfrm>
            <a:off x="7607800" y="3300679"/>
            <a:ext cx="168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None/>
            </a:pPr>
            <a:r>
              <a:rPr lang="en-US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Train machine learning models — if the problem needs one.</a:t>
            </a:r>
            <a:endParaRPr/>
          </a:p>
        </p:txBody>
      </p:sp>
      <p:sp>
        <p:nvSpPr>
          <p:cNvPr id="552" name="Google Shape;552;p49"/>
          <p:cNvSpPr txBox="1"/>
          <p:nvPr>
            <p:ph idx="13" type="body"/>
          </p:nvPr>
        </p:nvSpPr>
        <p:spPr>
          <a:xfrm>
            <a:off x="9893800" y="2788924"/>
            <a:ext cx="1682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00"/>
              <a:buNone/>
            </a:pPr>
            <a:r>
              <a:rPr b="1" lang="en-US" sz="15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Communicate</a:t>
            </a:r>
            <a:endParaRPr/>
          </a:p>
        </p:txBody>
      </p:sp>
      <p:sp>
        <p:nvSpPr>
          <p:cNvPr id="553" name="Google Shape;553;p49"/>
          <p:cNvSpPr txBox="1"/>
          <p:nvPr>
            <p:ph idx="14" type="body"/>
          </p:nvPr>
        </p:nvSpPr>
        <p:spPr>
          <a:xfrm>
            <a:off x="9893800" y="3300679"/>
            <a:ext cx="16824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00"/>
              <a:buNone/>
            </a:pPr>
            <a:r>
              <a:rPr lang="en-US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Share findings and collaborate with the team.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559" name="Google Shape;559;p50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169" y="1602633"/>
            <a:ext cx="4552735" cy="44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0"/>
          <p:cNvSpPr txBox="1"/>
          <p:nvPr>
            <p:ph idx="2" type="body"/>
          </p:nvPr>
        </p:nvSpPr>
        <p:spPr>
          <a:xfrm>
            <a:off x="640080" y="1828800"/>
            <a:ext cx="10881300" cy="35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1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Preparation and Cleansing</a:t>
            </a:r>
            <a:endParaRPr/>
          </a:p>
        </p:txBody>
      </p:sp>
      <p:sp>
        <p:nvSpPr>
          <p:cNvPr id="567" name="Google Shape;567;p51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000" y="1822450"/>
            <a:ext cx="10160000" cy="32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1"/>
          <p:cNvSpPr txBox="1"/>
          <p:nvPr>
            <p:ph idx="2" type="body"/>
          </p:nvPr>
        </p:nvSpPr>
        <p:spPr>
          <a:xfrm>
            <a:off x="640080" y="1828800"/>
            <a:ext cx="10881300" cy="35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2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 Data Analysis (EDA)</a:t>
            </a:r>
            <a:endParaRPr/>
          </a:p>
        </p:txBody>
      </p:sp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800" y="1013767"/>
            <a:ext cx="8623186" cy="584423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2"/>
          <p:cNvSpPr txBox="1"/>
          <p:nvPr>
            <p:ph idx="2" type="body"/>
          </p:nvPr>
        </p:nvSpPr>
        <p:spPr>
          <a:xfrm>
            <a:off x="640080" y="1828800"/>
            <a:ext cx="10881300" cy="35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3"/>
          <p:cNvSpPr txBox="1"/>
          <p:nvPr>
            <p:ph type="title"/>
          </p:nvPr>
        </p:nvSpPr>
        <p:spPr>
          <a:xfrm>
            <a:off x="548640" y="621792"/>
            <a:ext cx="11064300" cy="64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 Data Analysis (EDA)</a:t>
            </a:r>
            <a:endParaRPr/>
          </a:p>
        </p:txBody>
      </p:sp>
      <p:sp>
        <p:nvSpPr>
          <p:cNvPr id="583" name="Google Shape;583;p53"/>
          <p:cNvSpPr txBox="1"/>
          <p:nvPr>
            <p:ph idx="1" type="body"/>
          </p:nvPr>
        </p:nvSpPr>
        <p:spPr>
          <a:xfrm>
            <a:off x="548640" y="320040"/>
            <a:ext cx="100584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584" name="Google Shape;584;p53"/>
          <p:cNvPicPr preferRelativeResize="0"/>
          <p:nvPr/>
        </p:nvPicPr>
        <p:blipFill rotWithShape="1">
          <a:blip r:embed="rId3">
            <a:alphaModFix/>
          </a:blip>
          <a:srcRect b="0" l="7461" r="2213" t="9420"/>
          <a:stretch/>
        </p:blipFill>
        <p:spPr>
          <a:xfrm>
            <a:off x="1066500" y="1052267"/>
            <a:ext cx="9257639" cy="57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3"/>
          <p:cNvSpPr txBox="1"/>
          <p:nvPr>
            <p:ph idx="2" type="body"/>
          </p:nvPr>
        </p:nvSpPr>
        <p:spPr>
          <a:xfrm>
            <a:off x="640080" y="1828800"/>
            <a:ext cx="10881300" cy="35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THE TRADE-OFF</a:t>
            </a:r>
            <a:endParaRPr/>
          </a:p>
        </p:txBody>
      </p:sp>
      <p:sp>
        <p:nvSpPr>
          <p:cNvPr id="592" name="Google Shape;592;p54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Without Coding vs With Python</a:t>
            </a:r>
            <a:endParaRPr/>
          </a:p>
        </p:txBody>
      </p:sp>
      <p:sp>
        <p:nvSpPr>
          <p:cNvPr id="593" name="Google Shape;593;p54"/>
          <p:cNvSpPr txBox="1"/>
          <p:nvPr>
            <p:ph idx="2" type="body"/>
          </p:nvPr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1600"/>
              <a:buNone/>
            </a:pPr>
            <a:r>
              <a:rPr b="1" lang="en-US" sz="16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Without coding</a:t>
            </a:r>
            <a:endParaRPr/>
          </a:p>
        </p:txBody>
      </p:sp>
      <p:sp>
        <p:nvSpPr>
          <p:cNvPr id="594" name="Google Shape;594;p54"/>
          <p:cNvSpPr txBox="1"/>
          <p:nvPr>
            <p:ph idx="3" type="body"/>
          </p:nvPr>
        </p:nvSpPr>
        <p:spPr>
          <a:xfrm>
            <a:off x="86868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Quick start — click, drag, drop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Limited to what the tool offers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Hard to automate repeated work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Struggles with large or messy data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Workflows are hard to share and reproduce</a:t>
            </a:r>
            <a:endParaRPr/>
          </a:p>
        </p:txBody>
      </p:sp>
      <p:sp>
        <p:nvSpPr>
          <p:cNvPr id="595" name="Google Shape;595;p54"/>
          <p:cNvSpPr txBox="1"/>
          <p:nvPr>
            <p:ph idx="4" type="body"/>
          </p:nvPr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600"/>
              <a:buNone/>
            </a:pPr>
            <a:r>
              <a:rPr b="1" lang="en-US" sz="16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With coding — especially Python</a:t>
            </a:r>
            <a:endParaRPr/>
          </a:p>
        </p:txBody>
      </p:sp>
      <p:sp>
        <p:nvSpPr>
          <p:cNvPr id="596" name="Google Shape;596;p54"/>
          <p:cNvSpPr txBox="1"/>
          <p:nvPr>
            <p:ph idx="5" type="body"/>
          </p:nvPr>
        </p:nvSpPr>
        <p:spPr>
          <a:xfrm>
            <a:off x="653796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One script handles collection to communication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Automate anything, schedule it, rerun it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Scales to millions of rows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Full control over cleaning, EDA, and models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Code is shareable, versioned, reproducible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5"/>
          <p:cNvSpPr txBox="1"/>
          <p:nvPr>
            <p:ph idx="1" type="body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400"/>
              <a:buNone/>
            </a:pPr>
            <a:r>
              <a:rPr b="1" lang="en-US" sz="1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GETTING STARTED</a:t>
            </a:r>
            <a:endParaRPr/>
          </a:p>
        </p:txBody>
      </p:sp>
      <p:sp>
        <p:nvSpPr>
          <p:cNvPr id="603" name="Google Shape;603;p55"/>
          <p:cNvSpPr txBox="1"/>
          <p:nvPr>
            <p:ph type="title"/>
          </p:nvPr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</a:pPr>
            <a:r>
              <a:rPr lang="en-US"/>
              <a:t>Why</a:t>
            </a:r>
            <a:r>
              <a:rPr b="1" lang="en-US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Python?</a:t>
            </a:r>
            <a:endParaRPr/>
          </a:p>
        </p:txBody>
      </p:sp>
      <p:sp>
        <p:nvSpPr>
          <p:cNvPr id="604" name="Google Shape;604;p55"/>
          <p:cNvSpPr txBox="1"/>
          <p:nvPr>
            <p:ph idx="2" type="body"/>
          </p:nvPr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500"/>
              <a:buNone/>
            </a:pPr>
            <a:r>
              <a:rPr lang="en-US" sz="15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A one-slide definition — then your first program.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6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PROGRAMMING</a:t>
            </a:r>
            <a:endParaRPr/>
          </a:p>
        </p:txBody>
      </p:sp>
      <p:sp>
        <p:nvSpPr>
          <p:cNvPr id="611" name="Google Shape;611;p56"/>
          <p:cNvSpPr txBox="1"/>
          <p:nvPr>
            <p:ph type="title"/>
          </p:nvPr>
        </p:nvSpPr>
        <p:spPr>
          <a:xfrm>
            <a:off x="548640" y="621792"/>
            <a:ext cx="5212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Python?</a:t>
            </a:r>
            <a:endParaRPr/>
          </a:p>
        </p:txBody>
      </p:sp>
      <p:sp>
        <p:nvSpPr>
          <p:cNvPr id="612" name="Google Shape;612;p56"/>
          <p:cNvSpPr txBox="1"/>
          <p:nvPr>
            <p:ph idx="2" type="body"/>
          </p:nvPr>
        </p:nvSpPr>
        <p:spPr>
          <a:xfrm>
            <a:off x="548640" y="182880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Simple, powerful, everywhere.</a:t>
            </a:r>
            <a:endParaRPr/>
          </a:p>
        </p:txBody>
      </p:sp>
      <p:sp>
        <p:nvSpPr>
          <p:cNvPr id="613" name="Google Shape;613;p56"/>
          <p:cNvSpPr txBox="1"/>
          <p:nvPr>
            <p:ph idx="3" type="body"/>
          </p:nvPr>
        </p:nvSpPr>
        <p:spPr>
          <a:xfrm>
            <a:off x="548640" y="2240280"/>
            <a:ext cx="5212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Open-source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free, running on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Windows, Mac, and Linux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General purpose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suitable for analysis of financial data and far beyond.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High-level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human-readable code that beginners can pick up fast.</a:t>
            </a:r>
            <a:endParaRPr/>
          </a:p>
        </p:txBody>
      </p:sp>
      <p:pic>
        <p:nvPicPr>
          <p:cNvPr descr="s24_1.png" id="614" name="Google Shape;61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8351" y="457202"/>
            <a:ext cx="1671298" cy="164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24_2.png" id="615" name="Google Shape;615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351" y="2240337"/>
            <a:ext cx="1671298" cy="2043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24_3.png" id="616" name="Google Shape;616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8351" y="4421203"/>
            <a:ext cx="1671298" cy="1979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7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GETTING STARTED</a:t>
            </a:r>
            <a:endParaRPr/>
          </a:p>
        </p:txBody>
      </p:sp>
      <p:sp>
        <p:nvSpPr>
          <p:cNvPr id="623" name="Google Shape;623;p57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is Python</a:t>
            </a:r>
            <a:endParaRPr/>
          </a:p>
        </p:txBody>
      </p:sp>
      <p:sp>
        <p:nvSpPr>
          <p:cNvPr id="624" name="Google Shape;624;p57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Three things to know</a:t>
            </a:r>
            <a:endParaRPr/>
          </a:p>
        </p:txBody>
      </p:sp>
      <p:sp>
        <p:nvSpPr>
          <p:cNvPr id="625" name="Google Shape;625;p57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High-level language — Python reads almost like plain English, easy to learn and write.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Created in 1991 — designed by Guido van Rossum; now one of the world’s most popular languages.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Used everywhere — web dev, data science, AI, automation, scripting.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Your first Python program →</a:t>
            </a:r>
            <a:endParaRPr/>
          </a:p>
        </p:txBody>
      </p:sp>
      <p:pic>
        <p:nvPicPr>
          <p:cNvPr descr="hello.png" id="626" name="Google Shape;62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4516" y="1097280"/>
            <a:ext cx="5454396" cy="2248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7"/>
          <p:cNvSpPr/>
          <p:nvPr/>
        </p:nvSpPr>
        <p:spPr>
          <a:xfrm>
            <a:off x="548640" y="5394960"/>
            <a:ext cx="521208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7"/>
          <p:cNvSpPr/>
          <p:nvPr/>
        </p:nvSpPr>
        <p:spPr>
          <a:xfrm>
            <a:off x="713232" y="559612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7"/>
          <p:cNvSpPr txBox="1"/>
          <p:nvPr/>
        </p:nvSpPr>
        <p:spPr>
          <a:xfrm>
            <a:off x="987552" y="5394960"/>
            <a:ext cx="46451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11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Simple. Powerful. Elegant — one line of Python is already a complete program.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8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REFERENCE</a:t>
            </a:r>
            <a:endParaRPr/>
          </a:p>
        </p:txBody>
      </p:sp>
      <p:sp>
        <p:nvSpPr>
          <p:cNvPr id="636" name="Google Shape;636;p58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Reference</a:t>
            </a:r>
            <a:endParaRPr/>
          </a:p>
        </p:txBody>
      </p:sp>
      <p:sp>
        <p:nvSpPr>
          <p:cNvPr id="637" name="Google Shape;637;p58"/>
          <p:cNvSpPr txBox="1"/>
          <p:nvPr>
            <p:ph idx="2" type="body"/>
          </p:nvPr>
        </p:nvSpPr>
        <p:spPr>
          <a:xfrm>
            <a:off x="640080" y="1828800"/>
            <a:ext cx="10881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https://www.python.org/about/</a:t>
            </a:r>
            <a:endParaRPr/>
          </a:p>
          <a:p>
            <a:pPr indent="-342900" lvl="0" marL="342900" rtl="0" algn="l">
              <a:spcBef>
                <a:spcPts val="112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https://docs.python.org/3/tutorial/</a:t>
            </a:r>
            <a:endParaRPr/>
          </a:p>
          <a:p>
            <a:pPr indent="-342900" lvl="0" marL="342900" rtl="0" algn="l">
              <a:spcBef>
                <a:spcPts val="112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https://pandas.pydata.org/</a:t>
            </a:r>
            <a:endParaRPr/>
          </a:p>
          <a:p>
            <a:pPr indent="-342900" lvl="0" marL="342900" rtl="0" algn="l">
              <a:spcBef>
                <a:spcPts val="1120"/>
              </a:spcBef>
              <a:spcAft>
                <a:spcPts val="0"/>
              </a:spcAft>
              <a:buClr>
                <a:srgbClr val="222540"/>
              </a:buClr>
              <a:buSzPts val="1600"/>
              <a:buChar char="•"/>
            </a:pPr>
            <a:r>
              <a:rPr lang="en-US" sz="16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https://scikit-learn.org/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