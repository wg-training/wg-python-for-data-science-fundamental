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" Target="slides/slide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2.xml"/><Relationship Id="rId18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 1.</a:t>
            </a:r>
            <a:endParaRPr/>
          </a:p>
        </p:txBody>
      </p:sp>
      <p:sp>
        <p:nvSpPr>
          <p:cNvPr id="248" name="Google Shape;24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pages 3–4.</a:t>
            </a:r>
            <a:endParaRPr/>
          </a:p>
        </p:txBody>
      </p:sp>
      <p:sp>
        <p:nvSpPr>
          <p:cNvPr id="257" name="Google Shape;2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pages 2, 22.</a:t>
            </a:r>
            <a:endParaRPr/>
          </a:p>
        </p:txBody>
      </p:sp>
      <p:sp>
        <p:nvSpPr>
          <p:cNvPr id="273" name="Google Shape;27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4ad3d78f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f4ad3d78f6_0_0:notes"/>
          <p:cNvSpPr txBox="1"/>
          <p:nvPr>
            <p:ph idx="1" type="body"/>
          </p:nvPr>
        </p:nvSpPr>
        <p:spPr>
          <a:xfrm>
            <a:off x="685800" y="4400550"/>
            <a:ext cx="5486400" cy="3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pages 14–18. Browser choice (page 19): pick Chrome + Always.</a:t>
            </a:r>
            <a:endParaRPr/>
          </a:p>
        </p:txBody>
      </p:sp>
      <p:sp>
        <p:nvSpPr>
          <p:cNvPr id="285" name="Google Shape;285;g3f4ad3d78f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4ad3d78f6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4ad3d78f6_0_10:notes"/>
          <p:cNvSpPr txBox="1"/>
          <p:nvPr>
            <p:ph idx="1" type="body"/>
          </p:nvPr>
        </p:nvSpPr>
        <p:spPr>
          <a:xfrm>
            <a:off x="685800" y="4400550"/>
            <a:ext cx="5486400" cy="36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4ad3d78f6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0d64ee698_3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0d64ee698_3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f0d64ee698_3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pages 23–24.</a:t>
            </a:r>
            <a:endParaRPr/>
          </a:p>
        </p:txBody>
      </p:sp>
      <p:sp>
        <p:nvSpPr>
          <p:cNvPr id="317" name="Google Shape;3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 25.</a:t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pages 26–36.</a:t>
            </a:r>
            <a:endParaRPr/>
          </a:p>
        </p:txBody>
      </p:sp>
      <p:sp>
        <p:nvSpPr>
          <p:cNvPr id="339" name="Google Shape;3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pages 27–30, 37.</a:t>
            </a:r>
            <a:endParaRPr/>
          </a:p>
        </p:txBody>
      </p:sp>
      <p:sp>
        <p:nvSpPr>
          <p:cNvPr id="354" name="Google Shape;35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pages 4, 36.</a:t>
            </a:r>
            <a:endParaRPr/>
          </a:p>
        </p:txBody>
      </p:sp>
      <p:sp>
        <p:nvSpPr>
          <p:cNvPr id="368" name="Google Shape;36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10941710" y="-764438"/>
            <a:ext cx="2011680" cy="201168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2011680" y="4206240"/>
            <a:ext cx="4937760" cy="493776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822960" y="21945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EC5F8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822960" y="256032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oboto"/>
              <a:buNone/>
              <a:defRPr b="1" i="0" sz="4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822960" y="4343400"/>
            <a:ext cx="8869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D6DAF2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7" name="Google Shape;17;p2"/>
          <p:cNvCxnSpPr/>
          <p:nvPr/>
        </p:nvCxnSpPr>
        <p:spPr>
          <a:xfrm>
            <a:off x="822960" y="512064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2"/>
          <p:cNvSpPr txBox="1"/>
          <p:nvPr>
            <p:ph idx="3" type="body"/>
          </p:nvPr>
        </p:nvSpPr>
        <p:spPr>
          <a:xfrm>
            <a:off x="822960" y="5303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60"/>
              </a:spcBef>
              <a:spcAft>
                <a:spcPts val="0"/>
              </a:spcAft>
              <a:buClr>
                <a:srgbClr val="9DA3D4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NUMBERED_ROWS_3">
  <p:cSld name="S11_NUMBERED_ROWS_3"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>
            <p:ph idx="2" type="body"/>
          </p:nvPr>
        </p:nvSpPr>
        <p:spPr>
          <a:xfrm>
            <a:off x="1234440" y="18288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3" type="body"/>
          </p:nvPr>
        </p:nvSpPr>
        <p:spPr>
          <a:xfrm>
            <a:off x="1234440" y="22128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3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 txBox="1"/>
          <p:nvPr>
            <p:ph idx="4" type="body"/>
          </p:nvPr>
        </p:nvSpPr>
        <p:spPr>
          <a:xfrm>
            <a:off x="1234440" y="32004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5" type="body"/>
          </p:nvPr>
        </p:nvSpPr>
        <p:spPr>
          <a:xfrm>
            <a:off x="1234440" y="35844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>
            <p:ph idx="6" type="body"/>
          </p:nvPr>
        </p:nvSpPr>
        <p:spPr>
          <a:xfrm>
            <a:off x="1234440" y="45720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3"/>
          <p:cNvSpPr txBox="1"/>
          <p:nvPr>
            <p:ph idx="7" type="body"/>
          </p:nvPr>
        </p:nvSpPr>
        <p:spPr>
          <a:xfrm>
            <a:off x="1234440" y="49560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3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8_CODE_WIDE">
  <p:cSld name="S08_CODE_WIDE">
    <p:bg>
      <p:bgPr>
        <a:solidFill>
          <a:srgbClr val="FFFFF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54864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type="title"/>
          </p:nvPr>
        </p:nvSpPr>
        <p:spPr>
          <a:xfrm>
            <a:off x="548640" y="621792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4"/>
          <p:cNvSpPr txBox="1"/>
          <p:nvPr>
            <p:ph idx="2" type="body"/>
          </p:nvPr>
        </p:nvSpPr>
        <p:spPr>
          <a:xfrm>
            <a:off x="548640" y="2011680"/>
            <a:ext cx="52120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3" type="body"/>
          </p:nvPr>
        </p:nvSpPr>
        <p:spPr>
          <a:xfrm>
            <a:off x="6414516" y="2194560"/>
            <a:ext cx="5454396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TEP_CODE_RIGHT">
  <p:cSld name="S06_STEP_CODE_RIGHT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54864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type="title"/>
          </p:nvPr>
        </p:nvSpPr>
        <p:spPr>
          <a:xfrm>
            <a:off x="548640" y="621792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5"/>
          <p:cNvSpPr txBox="1"/>
          <p:nvPr>
            <p:ph idx="2" type="body"/>
          </p:nvPr>
        </p:nvSpPr>
        <p:spPr>
          <a:xfrm>
            <a:off x="548640" y="18288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29348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5"/>
          <p:cNvSpPr txBox="1"/>
          <p:nvPr>
            <p:ph idx="3" type="body"/>
          </p:nvPr>
        </p:nvSpPr>
        <p:spPr>
          <a:xfrm>
            <a:off x="548640" y="2240280"/>
            <a:ext cx="52120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4" type="body"/>
          </p:nvPr>
        </p:nvSpPr>
        <p:spPr>
          <a:xfrm>
            <a:off x="6414516" y="1097280"/>
            <a:ext cx="5454396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NUMBERED_ROWS_4">
  <p:cSld name="S12_NUMBERED_ROWS_4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" name="Google Shape;54;p6"/>
          <p:cNvSpPr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 txBox="1"/>
          <p:nvPr>
            <p:ph idx="2" type="body"/>
          </p:nvPr>
        </p:nvSpPr>
        <p:spPr>
          <a:xfrm>
            <a:off x="1234440" y="17830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3" type="body"/>
          </p:nvPr>
        </p:nvSpPr>
        <p:spPr>
          <a:xfrm>
            <a:off x="1234440" y="216712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6"/>
          <p:cNvSpPr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 txBox="1"/>
          <p:nvPr>
            <p:ph idx="4" type="body"/>
          </p:nvPr>
        </p:nvSpPr>
        <p:spPr>
          <a:xfrm>
            <a:off x="1234440" y="29718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6"/>
          <p:cNvSpPr txBox="1"/>
          <p:nvPr>
            <p:ph idx="5" type="body"/>
          </p:nvPr>
        </p:nvSpPr>
        <p:spPr>
          <a:xfrm>
            <a:off x="1234440" y="335584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6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 txBox="1"/>
          <p:nvPr>
            <p:ph idx="6" type="body"/>
          </p:nvPr>
        </p:nvSpPr>
        <p:spPr>
          <a:xfrm>
            <a:off x="1234440" y="41605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7" type="body"/>
          </p:nvPr>
        </p:nvSpPr>
        <p:spPr>
          <a:xfrm>
            <a:off x="1234440" y="454456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6"/>
          <p:cNvSpPr/>
          <p:nvPr/>
        </p:nvSpPr>
        <p:spPr>
          <a:xfrm>
            <a:off x="548640" y="545896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48640" y="5458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>
            <p:ph idx="8" type="body"/>
          </p:nvPr>
        </p:nvSpPr>
        <p:spPr>
          <a:xfrm>
            <a:off x="1234440" y="53492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10"/>
              </a:spcBef>
              <a:spcAft>
                <a:spcPts val="0"/>
              </a:spcAft>
              <a:buClr>
                <a:srgbClr val="1A1F5C"/>
              </a:buClr>
              <a:buSzPts val="1550"/>
              <a:buFont typeface="Arial"/>
              <a:buNone/>
              <a:defRPr b="1" i="0" sz="15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9" type="body"/>
          </p:nvPr>
        </p:nvSpPr>
        <p:spPr>
          <a:xfrm>
            <a:off x="1234440" y="573328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STEP_CODE_LEFT">
  <p:cSld name="S07_STEP_CODE_LEFT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 txBox="1"/>
          <p:nvPr>
            <p:ph idx="1" type="body"/>
          </p:nvPr>
        </p:nvSpPr>
        <p:spPr>
          <a:xfrm>
            <a:off x="54864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548640" y="621792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5" name="Google Shape;75;p7"/>
          <p:cNvSpPr txBox="1"/>
          <p:nvPr>
            <p:ph idx="2" type="body"/>
          </p:nvPr>
        </p:nvSpPr>
        <p:spPr>
          <a:xfrm>
            <a:off x="548640" y="18288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29348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7"/>
          <p:cNvSpPr txBox="1"/>
          <p:nvPr>
            <p:ph idx="3" type="body"/>
          </p:nvPr>
        </p:nvSpPr>
        <p:spPr>
          <a:xfrm>
            <a:off x="548640" y="2240280"/>
            <a:ext cx="52120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7"/>
          <p:cNvSpPr txBox="1"/>
          <p:nvPr>
            <p:ph idx="4" type="body"/>
          </p:nvPr>
        </p:nvSpPr>
        <p:spPr>
          <a:xfrm>
            <a:off x="6414516" y="1828800"/>
            <a:ext cx="5454396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3" name="Google Shape;83;p9"/>
          <p:cNvSpPr txBox="1"/>
          <p:nvPr>
            <p:ph idx="2" type="body"/>
          </p:nvPr>
        </p:nvSpPr>
        <p:spPr>
          <a:xfrm>
            <a:off x="640080" y="1828800"/>
            <a:ext cx="108813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22254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9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3_FOUR_CARDS">
  <p:cSld name="S03_FOUR_CARDS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8" name="Google Shape;88;p10"/>
          <p:cNvSpPr/>
          <p:nvPr/>
        </p:nvSpPr>
        <p:spPr>
          <a:xfrm>
            <a:off x="548640" y="1965960"/>
            <a:ext cx="2606040" cy="379476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 txBox="1"/>
          <p:nvPr>
            <p:ph idx="2" type="body"/>
          </p:nvPr>
        </p:nvSpPr>
        <p:spPr>
          <a:xfrm>
            <a:off x="777240" y="288036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1A1F5C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3" type="body"/>
          </p:nvPr>
        </p:nvSpPr>
        <p:spPr>
          <a:xfrm>
            <a:off x="777240" y="356616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0"/>
          <p:cNvSpPr/>
          <p:nvPr/>
        </p:nvSpPr>
        <p:spPr>
          <a:xfrm>
            <a:off x="3410712" y="1965960"/>
            <a:ext cx="2606040" cy="379476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3639312" y="219456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3639312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 txBox="1"/>
          <p:nvPr>
            <p:ph idx="4" type="body"/>
          </p:nvPr>
        </p:nvSpPr>
        <p:spPr>
          <a:xfrm>
            <a:off x="3639312" y="288036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1A1F5C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0"/>
          <p:cNvSpPr txBox="1"/>
          <p:nvPr>
            <p:ph idx="5" type="body"/>
          </p:nvPr>
        </p:nvSpPr>
        <p:spPr>
          <a:xfrm>
            <a:off x="3639312" y="356616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0"/>
          <p:cNvSpPr/>
          <p:nvPr/>
        </p:nvSpPr>
        <p:spPr>
          <a:xfrm>
            <a:off x="6272784" y="1965960"/>
            <a:ext cx="2606040" cy="379476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6501384" y="219456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6501384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 txBox="1"/>
          <p:nvPr>
            <p:ph idx="6" type="body"/>
          </p:nvPr>
        </p:nvSpPr>
        <p:spPr>
          <a:xfrm>
            <a:off x="6501384" y="288036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1A1F5C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0"/>
          <p:cNvSpPr txBox="1"/>
          <p:nvPr>
            <p:ph idx="7" type="body"/>
          </p:nvPr>
        </p:nvSpPr>
        <p:spPr>
          <a:xfrm>
            <a:off x="6501384" y="356616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0"/>
          <p:cNvSpPr/>
          <p:nvPr/>
        </p:nvSpPr>
        <p:spPr>
          <a:xfrm>
            <a:off x="9134856" y="1965960"/>
            <a:ext cx="2606040" cy="379476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9363456" y="219456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9363456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 txBox="1"/>
          <p:nvPr>
            <p:ph idx="8" type="body"/>
          </p:nvPr>
        </p:nvSpPr>
        <p:spPr>
          <a:xfrm>
            <a:off x="9363456" y="288036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1A1F5C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10"/>
          <p:cNvSpPr txBox="1"/>
          <p:nvPr>
            <p:ph idx="9" type="body"/>
          </p:nvPr>
        </p:nvSpPr>
        <p:spPr>
          <a:xfrm>
            <a:off x="9363456" y="3566160"/>
            <a:ext cx="2148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4_THREE_CARDS_ROADMAP">
  <p:cSld name="S04_THREE_CARDS_ROADMAP"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2" name="Google Shape;112;p11"/>
          <p:cNvSpPr/>
          <p:nvPr/>
        </p:nvSpPr>
        <p:spPr>
          <a:xfrm>
            <a:off x="548640" y="1828800"/>
            <a:ext cx="3520440" cy="292608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 txBox="1"/>
          <p:nvPr>
            <p:ph idx="2" type="body"/>
          </p:nvPr>
        </p:nvSpPr>
        <p:spPr>
          <a:xfrm>
            <a:off x="777240" y="27432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293480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11"/>
          <p:cNvSpPr txBox="1"/>
          <p:nvPr>
            <p:ph idx="3" type="body"/>
          </p:nvPr>
        </p:nvSpPr>
        <p:spPr>
          <a:xfrm>
            <a:off x="777240" y="324612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/>
          <p:nvPr/>
        </p:nvSpPr>
        <p:spPr>
          <a:xfrm>
            <a:off x="4343400" y="1828800"/>
            <a:ext cx="3520440" cy="292608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4572000" y="205740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45720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1"/>
          <p:cNvSpPr txBox="1"/>
          <p:nvPr>
            <p:ph idx="4" type="body"/>
          </p:nvPr>
        </p:nvSpPr>
        <p:spPr>
          <a:xfrm>
            <a:off x="4572000" y="27432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293480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p11"/>
          <p:cNvSpPr txBox="1"/>
          <p:nvPr>
            <p:ph idx="5" type="body"/>
          </p:nvPr>
        </p:nvSpPr>
        <p:spPr>
          <a:xfrm>
            <a:off x="4572000" y="324612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11"/>
          <p:cNvSpPr/>
          <p:nvPr/>
        </p:nvSpPr>
        <p:spPr>
          <a:xfrm>
            <a:off x="8138160" y="1828800"/>
            <a:ext cx="3520440" cy="292608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8366760" y="2057400"/>
            <a:ext cx="502920" cy="50292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836676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 txBox="1"/>
          <p:nvPr>
            <p:ph idx="6" type="body"/>
          </p:nvPr>
        </p:nvSpPr>
        <p:spPr>
          <a:xfrm>
            <a:off x="8366760" y="274320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30"/>
              </a:spcBef>
              <a:spcAft>
                <a:spcPts val="0"/>
              </a:spcAft>
              <a:buClr>
                <a:srgbClr val="293480"/>
              </a:buClr>
              <a:buSzPts val="1650"/>
              <a:buFont typeface="Arial"/>
              <a:buNone/>
              <a:defRPr b="1" i="0" sz="16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11"/>
          <p:cNvSpPr txBox="1"/>
          <p:nvPr>
            <p:ph idx="7" type="body"/>
          </p:nvPr>
        </p:nvSpPr>
        <p:spPr>
          <a:xfrm>
            <a:off x="8366760" y="3246120"/>
            <a:ext cx="3063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11"/>
          <p:cNvSpPr txBox="1"/>
          <p:nvPr>
            <p:ph idx="8" type="body"/>
          </p:nvPr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60"/>
              </a:spcBef>
              <a:spcAft>
                <a:spcPts val="0"/>
              </a:spcAft>
              <a:buClr>
                <a:srgbClr val="22254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1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2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2" name="Google Shape;132;p12"/>
          <p:cNvSpPr/>
          <p:nvPr/>
        </p:nvSpPr>
        <p:spPr>
          <a:xfrm>
            <a:off x="548640" y="1737360"/>
            <a:ext cx="5394960" cy="3657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"/>
          <p:cNvSpPr txBox="1"/>
          <p:nvPr>
            <p:ph idx="2" type="body"/>
          </p:nvPr>
        </p:nvSpPr>
        <p:spPr>
          <a:xfrm>
            <a:off x="868680" y="19659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6B7085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12"/>
          <p:cNvSpPr txBox="1"/>
          <p:nvPr>
            <p:ph idx="3" type="body"/>
          </p:nvPr>
        </p:nvSpPr>
        <p:spPr>
          <a:xfrm>
            <a:off x="868680" y="246888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12"/>
          <p:cNvSpPr/>
          <p:nvPr/>
        </p:nvSpPr>
        <p:spPr>
          <a:xfrm>
            <a:off x="6217920" y="1737360"/>
            <a:ext cx="5394960" cy="3657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 txBox="1"/>
          <p:nvPr>
            <p:ph idx="4" type="body"/>
          </p:nvPr>
        </p:nvSpPr>
        <p:spPr>
          <a:xfrm>
            <a:off x="6537960" y="19659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1A1F5C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12"/>
          <p:cNvSpPr txBox="1"/>
          <p:nvPr>
            <p:ph idx="5" type="body"/>
          </p:nvPr>
        </p:nvSpPr>
        <p:spPr>
          <a:xfrm>
            <a:off x="6537960" y="2468880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12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EXERCISE">
  <p:cSld name="S09_EXERCISE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13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2" name="Google Shape;142;p13"/>
          <p:cNvSpPr txBox="1"/>
          <p:nvPr>
            <p:ph idx="2" type="body"/>
          </p:nvPr>
        </p:nvSpPr>
        <p:spPr>
          <a:xfrm>
            <a:off x="548640" y="1554480"/>
            <a:ext cx="63093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3" type="body"/>
          </p:nvPr>
        </p:nvSpPr>
        <p:spPr>
          <a:xfrm>
            <a:off x="7223760" y="17373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rgbClr val="29348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4" type="body"/>
          </p:nvPr>
        </p:nvSpPr>
        <p:spPr>
          <a:xfrm>
            <a:off x="7223760" y="2148840"/>
            <a:ext cx="438912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13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0_FLOW_DIAGRAM">
  <p:cSld name="S10_FLOW_DIAGRAM"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14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9" name="Google Shape;149;p14"/>
          <p:cNvSpPr/>
          <p:nvPr/>
        </p:nvSpPr>
        <p:spPr>
          <a:xfrm>
            <a:off x="640080" y="2103120"/>
            <a:ext cx="2377440" cy="137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>
            <p:ph idx="2" type="body"/>
          </p:nvPr>
        </p:nvSpPr>
        <p:spPr>
          <a:xfrm>
            <a:off x="731520" y="210312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50"/>
              </a:spcBef>
              <a:spcAft>
                <a:spcPts val="0"/>
              </a:spcAft>
              <a:buClr>
                <a:srgbClr val="1A1F5C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14"/>
          <p:cNvSpPr/>
          <p:nvPr/>
        </p:nvSpPr>
        <p:spPr>
          <a:xfrm>
            <a:off x="3063240" y="25146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2400"/>
              <a:buFont typeface="Roboto"/>
              <a:buNone/>
            </a:pPr>
            <a:r>
              <a:rPr lang="en-US" sz="2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3520440" y="2103120"/>
            <a:ext cx="2377440" cy="1371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 txBox="1"/>
          <p:nvPr>
            <p:ph idx="3" type="body"/>
          </p:nvPr>
        </p:nvSpPr>
        <p:spPr>
          <a:xfrm>
            <a:off x="3611880" y="210312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50"/>
              </a:spcBef>
              <a:spcAft>
                <a:spcPts val="0"/>
              </a:spcAft>
              <a:buClr>
                <a:srgbClr val="1A1F5C"/>
              </a:buClr>
              <a:buSzPts val="1250"/>
              <a:buFont typeface="Arial"/>
              <a:buNone/>
              <a:defRPr b="1" i="0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p14"/>
          <p:cNvSpPr/>
          <p:nvPr/>
        </p:nvSpPr>
        <p:spPr>
          <a:xfrm>
            <a:off x="5943600" y="25146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2400"/>
              <a:buFont typeface="Roboto"/>
              <a:buNone/>
            </a:pPr>
            <a:r>
              <a:rPr lang="en-US" sz="2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6400800" y="2103120"/>
            <a:ext cx="2377440" cy="137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 txBox="1"/>
          <p:nvPr>
            <p:ph idx="4" type="body"/>
          </p:nvPr>
        </p:nvSpPr>
        <p:spPr>
          <a:xfrm>
            <a:off x="6492240" y="210312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50"/>
              </a:spcBef>
              <a:spcAft>
                <a:spcPts val="0"/>
              </a:spcAft>
              <a:buClr>
                <a:srgbClr val="1A1F5C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7" name="Google Shape;157;p14"/>
          <p:cNvSpPr/>
          <p:nvPr/>
        </p:nvSpPr>
        <p:spPr>
          <a:xfrm>
            <a:off x="8823960" y="251460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2400"/>
              <a:buFont typeface="Roboto"/>
              <a:buNone/>
            </a:pPr>
            <a:r>
              <a:rPr lang="en-US" sz="2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9281160" y="2103120"/>
            <a:ext cx="2377440" cy="137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 txBox="1"/>
          <p:nvPr>
            <p:ph idx="5" type="body"/>
          </p:nvPr>
        </p:nvSpPr>
        <p:spPr>
          <a:xfrm>
            <a:off x="9372600" y="210312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250"/>
              </a:spcBef>
              <a:spcAft>
                <a:spcPts val="0"/>
              </a:spcAft>
              <a:buClr>
                <a:srgbClr val="1A1F5C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14"/>
          <p:cNvSpPr txBox="1"/>
          <p:nvPr>
            <p:ph idx="6" type="body"/>
          </p:nvPr>
        </p:nvSpPr>
        <p:spPr>
          <a:xfrm>
            <a:off x="640080" y="3931920"/>
            <a:ext cx="108813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2225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14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3_ERRORS_WITH_CODE">
  <p:cSld name="S13_ERRORS_WITH_CODE"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15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5" name="Google Shape;165;p15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548640" y="1783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>
            <p:ph idx="2" type="body"/>
          </p:nvPr>
        </p:nvSpPr>
        <p:spPr>
          <a:xfrm>
            <a:off x="1143000" y="16916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1A1F5C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15"/>
          <p:cNvSpPr txBox="1"/>
          <p:nvPr>
            <p:ph idx="3" type="body"/>
          </p:nvPr>
        </p:nvSpPr>
        <p:spPr>
          <a:xfrm>
            <a:off x="1143000" y="2194560"/>
            <a:ext cx="4754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15"/>
          <p:cNvSpPr/>
          <p:nvPr/>
        </p:nvSpPr>
        <p:spPr>
          <a:xfrm>
            <a:off x="6675120" y="1783080"/>
            <a:ext cx="411480" cy="41148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6675120" y="1783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 txBox="1"/>
          <p:nvPr>
            <p:ph idx="4" type="body"/>
          </p:nvPr>
        </p:nvSpPr>
        <p:spPr>
          <a:xfrm>
            <a:off x="7269480" y="169164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1A1F5C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15"/>
          <p:cNvSpPr txBox="1"/>
          <p:nvPr>
            <p:ph idx="5" type="body"/>
          </p:nvPr>
        </p:nvSpPr>
        <p:spPr>
          <a:xfrm>
            <a:off x="7269480" y="2194560"/>
            <a:ext cx="4572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15"/>
          <p:cNvSpPr/>
          <p:nvPr/>
        </p:nvSpPr>
        <p:spPr>
          <a:xfrm>
            <a:off x="548640" y="4206240"/>
            <a:ext cx="411480" cy="41148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48640" y="42062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>
            <p:ph idx="6" type="body"/>
          </p:nvPr>
        </p:nvSpPr>
        <p:spPr>
          <a:xfrm>
            <a:off x="1143000" y="41148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1A1F5C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15"/>
          <p:cNvSpPr txBox="1"/>
          <p:nvPr>
            <p:ph idx="7" type="body"/>
          </p:nvPr>
        </p:nvSpPr>
        <p:spPr>
          <a:xfrm>
            <a:off x="1143000" y="45262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15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QUIZ_MCQ">
  <p:cSld name="S14_QUIZ_MCQ"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16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1" name="Google Shape;181;p16"/>
          <p:cNvSpPr txBox="1"/>
          <p:nvPr>
            <p:ph idx="2" type="body"/>
          </p:nvPr>
        </p:nvSpPr>
        <p:spPr>
          <a:xfrm>
            <a:off x="548640" y="1645920"/>
            <a:ext cx="57607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16"/>
          <p:cNvSpPr/>
          <p:nvPr/>
        </p:nvSpPr>
        <p:spPr>
          <a:xfrm>
            <a:off x="6675120" y="1828800"/>
            <a:ext cx="4937760" cy="54864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>
            <p:ph idx="3" type="body"/>
          </p:nvPr>
        </p:nvSpPr>
        <p:spPr>
          <a:xfrm>
            <a:off x="6903720" y="1828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16"/>
          <p:cNvSpPr/>
          <p:nvPr/>
        </p:nvSpPr>
        <p:spPr>
          <a:xfrm>
            <a:off x="6675120" y="2514600"/>
            <a:ext cx="4937760" cy="54864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>
            <p:ph idx="4" type="body"/>
          </p:nvPr>
        </p:nvSpPr>
        <p:spPr>
          <a:xfrm>
            <a:off x="6903720" y="25146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6" name="Google Shape;186;p16"/>
          <p:cNvSpPr/>
          <p:nvPr/>
        </p:nvSpPr>
        <p:spPr>
          <a:xfrm>
            <a:off x="6675120" y="3200400"/>
            <a:ext cx="4937760" cy="54864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>
            <p:ph idx="5" type="body"/>
          </p:nvPr>
        </p:nvSpPr>
        <p:spPr>
          <a:xfrm>
            <a:off x="6903720" y="32004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16"/>
          <p:cNvSpPr/>
          <p:nvPr/>
        </p:nvSpPr>
        <p:spPr>
          <a:xfrm>
            <a:off x="6675120" y="3886200"/>
            <a:ext cx="4937760" cy="54864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 txBox="1"/>
          <p:nvPr>
            <p:ph idx="6" type="body"/>
          </p:nvPr>
        </p:nvSpPr>
        <p:spPr>
          <a:xfrm>
            <a:off x="6903720" y="38862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50"/>
              </a:spcBef>
              <a:spcAft>
                <a:spcPts val="0"/>
              </a:spcAft>
              <a:buClr>
                <a:srgbClr val="222540"/>
              </a:buClr>
              <a:buSzPts val="1250"/>
              <a:buFont typeface="Arial"/>
              <a:buNone/>
              <a:defRPr b="0" i="0" sz="12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16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5_FIVE_CARDS">
  <p:cSld name="S15_FIVE_CARDS"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17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4" name="Google Shape;194;p17"/>
          <p:cNvSpPr/>
          <p:nvPr/>
        </p:nvSpPr>
        <p:spPr>
          <a:xfrm>
            <a:off x="548640" y="1920240"/>
            <a:ext cx="2084832" cy="329184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749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749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>
            <p:ph idx="2" type="body"/>
          </p:nvPr>
        </p:nvSpPr>
        <p:spPr>
          <a:xfrm>
            <a:off x="749808" y="2788920"/>
            <a:ext cx="16824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8" name="Google Shape;198;p17"/>
          <p:cNvSpPr txBox="1"/>
          <p:nvPr>
            <p:ph idx="3" type="body"/>
          </p:nvPr>
        </p:nvSpPr>
        <p:spPr>
          <a:xfrm>
            <a:off x="749808" y="3474720"/>
            <a:ext cx="168249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17"/>
          <p:cNvSpPr/>
          <p:nvPr/>
        </p:nvSpPr>
        <p:spPr>
          <a:xfrm>
            <a:off x="2834640" y="1920240"/>
            <a:ext cx="2084832" cy="329184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3035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3035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 txBox="1"/>
          <p:nvPr>
            <p:ph idx="4" type="body"/>
          </p:nvPr>
        </p:nvSpPr>
        <p:spPr>
          <a:xfrm>
            <a:off x="3035808" y="2788920"/>
            <a:ext cx="16824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5" type="body"/>
          </p:nvPr>
        </p:nvSpPr>
        <p:spPr>
          <a:xfrm>
            <a:off x="3035808" y="3474720"/>
            <a:ext cx="168249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4" name="Google Shape;204;p17"/>
          <p:cNvSpPr/>
          <p:nvPr/>
        </p:nvSpPr>
        <p:spPr>
          <a:xfrm>
            <a:off x="5120640" y="1920240"/>
            <a:ext cx="2084832" cy="329184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5321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5321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>
            <p:ph idx="6" type="body"/>
          </p:nvPr>
        </p:nvSpPr>
        <p:spPr>
          <a:xfrm>
            <a:off x="5321808" y="2788920"/>
            <a:ext cx="16824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7" type="body"/>
          </p:nvPr>
        </p:nvSpPr>
        <p:spPr>
          <a:xfrm>
            <a:off x="5321808" y="3474720"/>
            <a:ext cx="168249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17"/>
          <p:cNvSpPr/>
          <p:nvPr/>
        </p:nvSpPr>
        <p:spPr>
          <a:xfrm>
            <a:off x="7406640" y="1920240"/>
            <a:ext cx="2084832" cy="329184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7607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7607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 txBox="1"/>
          <p:nvPr>
            <p:ph idx="8" type="body"/>
          </p:nvPr>
        </p:nvSpPr>
        <p:spPr>
          <a:xfrm>
            <a:off x="7607808" y="2788920"/>
            <a:ext cx="16824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3" name="Google Shape;213;p17"/>
          <p:cNvSpPr txBox="1"/>
          <p:nvPr>
            <p:ph idx="9" type="body"/>
          </p:nvPr>
        </p:nvSpPr>
        <p:spPr>
          <a:xfrm>
            <a:off x="7607808" y="3474720"/>
            <a:ext cx="168249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4" name="Google Shape;214;p17"/>
          <p:cNvSpPr/>
          <p:nvPr/>
        </p:nvSpPr>
        <p:spPr>
          <a:xfrm>
            <a:off x="9692640" y="1920240"/>
            <a:ext cx="2084832" cy="329184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101600" rotWithShape="0" algn="bl" dir="5400000" dist="38100">
              <a:srgbClr val="1B2430">
                <a:alpha val="1215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9893808" y="2121408"/>
            <a:ext cx="457200" cy="4572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9893808" y="2121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None/>
            </a:pPr>
            <a:r>
              <a:rPr b="1" lang="en-US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>
            <p:ph idx="13" type="body"/>
          </p:nvPr>
        </p:nvSpPr>
        <p:spPr>
          <a:xfrm>
            <a:off x="9893808" y="2788920"/>
            <a:ext cx="16824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1A1F5C"/>
              </a:buClr>
              <a:buSzPts val="1500"/>
              <a:buFont typeface="Arial"/>
              <a:buNone/>
              <a:defRPr b="1" i="0" sz="15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17"/>
          <p:cNvSpPr txBox="1"/>
          <p:nvPr>
            <p:ph idx="14" type="body"/>
          </p:nvPr>
        </p:nvSpPr>
        <p:spPr>
          <a:xfrm>
            <a:off x="9893808" y="3474720"/>
            <a:ext cx="168249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9" name="Google Shape;219;p17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6_SECTION_BREAK_NAVY">
  <p:cSld name="S16_SECTION_BREAK_NAVY">
    <p:bg>
      <p:bgPr>
        <a:solidFill>
          <a:srgbClr val="2A348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/>
          <p:nvPr/>
        </p:nvSpPr>
        <p:spPr>
          <a:xfrm>
            <a:off x="11055096" y="-694944"/>
            <a:ext cx="1828800" cy="18288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>
            <p:ph idx="1" type="body"/>
          </p:nvPr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rgbClr val="EC5F82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type="title"/>
          </p:nvPr>
        </p:nvSpPr>
        <p:spPr>
          <a:xfrm>
            <a:off x="822960" y="301752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Roboto"/>
              <a:buNone/>
              <a:defRPr b="1" i="0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4" name="Google Shape;224;p18"/>
          <p:cNvSpPr txBox="1"/>
          <p:nvPr>
            <p:ph idx="2" type="body"/>
          </p:nvPr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Clr>
                <a:srgbClr val="D6DAF2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18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CONTENT_IMAGE_RIGHT">
  <p:cSld name="S17_CONTENT_IMAGE_RIGHT"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9" name="Google Shape;229;p19"/>
          <p:cNvSpPr txBox="1"/>
          <p:nvPr>
            <p:ph idx="2" type="body"/>
          </p:nvPr>
        </p:nvSpPr>
        <p:spPr>
          <a:xfrm>
            <a:off x="548640" y="1828800"/>
            <a:ext cx="51206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22254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3" type="body"/>
          </p:nvPr>
        </p:nvSpPr>
        <p:spPr>
          <a:xfrm>
            <a:off x="5943600" y="1645920"/>
            <a:ext cx="57607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8_BULLET_SCALE_SAMPLE">
  <p:cSld name="S18_BULLET_SCALE_SAMPLE"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  <a:defRPr b="1" i="0" sz="28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5" name="Google Shape;235;p20"/>
          <p:cNvSpPr txBox="1"/>
          <p:nvPr>
            <p:ph idx="2" type="body"/>
          </p:nvPr>
        </p:nvSpPr>
        <p:spPr>
          <a:xfrm>
            <a:off x="640080" y="1828800"/>
            <a:ext cx="108813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20"/>
              </a:spcBef>
              <a:spcAft>
                <a:spcPts val="0"/>
              </a:spcAft>
              <a:buClr>
                <a:srgbClr val="22254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9_CLOSING_NAVY">
  <p:cSld name="S19_CLOSING_NAVY">
    <p:bg>
      <p:bgPr>
        <a:solidFill>
          <a:srgbClr val="2A348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/>
          <p:nvPr/>
        </p:nvSpPr>
        <p:spPr>
          <a:xfrm>
            <a:off x="11055096" y="-694944"/>
            <a:ext cx="1828800" cy="1828800"/>
          </a:xfrm>
          <a:prstGeom prst="rect">
            <a:avLst/>
          </a:prstGeom>
          <a:solidFill>
            <a:srgbClr val="EC5F82">
              <a:alpha val="2196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-1645920" y="4297680"/>
            <a:ext cx="4572000" cy="4572000"/>
          </a:xfrm>
          <a:prstGeom prst="rect">
            <a:avLst/>
          </a:prstGeom>
          <a:solidFill>
            <a:srgbClr val="FFFFFF">
              <a:alpha val="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>
            <p:ph type="title"/>
          </p:nvPr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oboto"/>
              <a:buNone/>
              <a:defRPr b="1" i="0" sz="4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1" name="Google Shape;241;p21"/>
          <p:cNvSpPr txBox="1"/>
          <p:nvPr>
            <p:ph idx="1" type="body"/>
          </p:nvPr>
        </p:nvSpPr>
        <p:spPr>
          <a:xfrm>
            <a:off x="822960" y="338328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40"/>
              </a:spcBef>
              <a:spcAft>
                <a:spcPts val="0"/>
              </a:spcAft>
              <a:buClr>
                <a:srgbClr val="D6DAF2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42" name="Google Shape;242;p21"/>
          <p:cNvCxnSpPr/>
          <p:nvPr/>
        </p:nvCxnSpPr>
        <p:spPr>
          <a:xfrm>
            <a:off x="822960" y="4297680"/>
            <a:ext cx="2743200" cy="0"/>
          </a:xfrm>
          <a:prstGeom prst="straightConnector1">
            <a:avLst/>
          </a:prstGeom>
          <a:noFill/>
          <a:ln cap="flat" cmpd="sng" w="2540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21"/>
          <p:cNvSpPr txBox="1"/>
          <p:nvPr>
            <p:ph idx="2" type="body"/>
          </p:nvPr>
        </p:nvSpPr>
        <p:spPr>
          <a:xfrm>
            <a:off x="822960" y="4526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60"/>
              </a:spcBef>
              <a:spcAft>
                <a:spcPts val="0"/>
              </a:spcAft>
              <a:buClr>
                <a:srgbClr val="9DA3D4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4" name="Google Shape;244;p21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10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idx="1" type="body"/>
          </p:nvPr>
        </p:nvSpPr>
        <p:spPr>
          <a:xfrm>
            <a:off x="822960" y="21945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400"/>
              <a:buNone/>
            </a:pPr>
            <a:r>
              <a:rPr b="1" lang="en-US" sz="140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DATA SCIENCE 101 — LESSON 03</a:t>
            </a:r>
            <a:endParaRPr/>
          </a:p>
        </p:txBody>
      </p:sp>
      <p:sp>
        <p:nvSpPr>
          <p:cNvPr id="251" name="Google Shape;251;p22"/>
          <p:cNvSpPr txBox="1"/>
          <p:nvPr>
            <p:ph type="title"/>
          </p:nvPr>
        </p:nvSpPr>
        <p:spPr>
          <a:xfrm>
            <a:off x="822960" y="256032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Roboto"/>
              <a:buNone/>
            </a:pPr>
            <a:r>
              <a:rPr b="1" lang="en-US" sz="4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Welcome to Jupyter</a:t>
            </a:r>
            <a:endParaRPr/>
          </a:p>
        </p:txBody>
      </p:sp>
      <p:sp>
        <p:nvSpPr>
          <p:cNvPr id="252" name="Google Shape;252;p22"/>
          <p:cNvSpPr txBox="1"/>
          <p:nvPr>
            <p:ph idx="2" type="body"/>
          </p:nvPr>
        </p:nvSpPr>
        <p:spPr>
          <a:xfrm>
            <a:off x="822960" y="4343400"/>
            <a:ext cx="8869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500"/>
              <a:buNone/>
            </a:pPr>
            <a:r>
              <a:rPr lang="en-US" sz="1500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Introduction to Jupyter Notebook: what it is, how to install it with Anaconda, and how to work faster with shortcuts.</a:t>
            </a:r>
            <a:endParaRPr/>
          </a:p>
        </p:txBody>
      </p:sp>
      <p:sp>
        <p:nvSpPr>
          <p:cNvPr id="253" name="Google Shape;253;p22"/>
          <p:cNvSpPr txBox="1"/>
          <p:nvPr>
            <p:ph idx="3" type="body"/>
          </p:nvPr>
        </p:nvSpPr>
        <p:spPr>
          <a:xfrm>
            <a:off x="822960" y="53035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DA3D4"/>
              </a:buClr>
              <a:buSzPts val="1300"/>
              <a:buNone/>
            </a:pPr>
            <a:r>
              <a:rPr lang="en-US" sz="13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rPr>
              <a:t>Heng Somoradane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TODAY'S AGENDA</a:t>
            </a:r>
            <a:endParaRPr/>
          </a:p>
        </p:txBody>
      </p:sp>
      <p:sp>
        <p:nvSpPr>
          <p:cNvPr id="260" name="Google Shape;260;p23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What Will We Cover?</a:t>
            </a:r>
            <a:endParaRPr/>
          </a:p>
        </p:txBody>
      </p:sp>
      <p:sp>
        <p:nvSpPr>
          <p:cNvPr id="261" name="Google Shape;261;p23"/>
          <p:cNvSpPr txBox="1"/>
          <p:nvPr>
            <p:ph idx="2" type="body"/>
          </p:nvPr>
        </p:nvSpPr>
        <p:spPr>
          <a:xfrm>
            <a:off x="1234440" y="18288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50"/>
              <a:buNone/>
            </a:pPr>
            <a:r>
              <a:rPr lang="en-US"/>
              <a:t>What is</a:t>
            </a:r>
            <a:r>
              <a:rPr b="1" lang="en-US" sz="15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 Jupyter Notebook / Jup</a:t>
            </a:r>
            <a:r>
              <a:rPr lang="en-US"/>
              <a:t>yperLab?</a:t>
            </a:r>
            <a:endParaRPr/>
          </a:p>
        </p:txBody>
      </p:sp>
      <p:sp>
        <p:nvSpPr>
          <p:cNvPr id="262" name="Google Shape;262;p23"/>
          <p:cNvSpPr txBox="1"/>
          <p:nvPr>
            <p:ph idx="3" type="body"/>
          </p:nvPr>
        </p:nvSpPr>
        <p:spPr>
          <a:xfrm>
            <a:off x="1234440" y="22128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300"/>
              <a:buNone/>
            </a:pPr>
            <a:r>
              <a:rPr lang="en-US"/>
              <a:t>Understand different between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the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Jupyter Notebook App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63" name="Google Shape;263;p23"/>
          <p:cNvSpPr txBox="1"/>
          <p:nvPr>
            <p:ph idx="4" type="body"/>
          </p:nvPr>
        </p:nvSpPr>
        <p:spPr>
          <a:xfrm>
            <a:off x="1234440" y="32004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50"/>
              <a:buNone/>
            </a:pPr>
            <a:r>
              <a:rPr b="1" lang="en-US" sz="15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How to use Jupyter</a:t>
            </a:r>
            <a:endParaRPr/>
          </a:p>
        </p:txBody>
      </p:sp>
      <p:sp>
        <p:nvSpPr>
          <p:cNvPr id="264" name="Google Shape;264;p23"/>
          <p:cNvSpPr txBox="1"/>
          <p:nvPr>
            <p:ph idx="5" type="body"/>
          </p:nvPr>
        </p:nvSpPr>
        <p:spPr>
          <a:xfrm>
            <a:off x="1234440" y="35844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300"/>
              <a:buNone/>
            </a:pP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tour of the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dashboard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notebooks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cells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and the difference between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edit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command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mode.</a:t>
            </a:r>
            <a:endParaRPr/>
          </a:p>
        </p:txBody>
      </p:sp>
      <p:sp>
        <p:nvSpPr>
          <p:cNvPr id="265" name="Google Shape;265;p23"/>
          <p:cNvSpPr txBox="1"/>
          <p:nvPr>
            <p:ph idx="6" type="body"/>
          </p:nvPr>
        </p:nvSpPr>
        <p:spPr>
          <a:xfrm>
            <a:off x="1234440" y="45720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50"/>
              <a:buNone/>
            </a:pPr>
            <a:r>
              <a:rPr b="1" lang="en-US" sz="15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Shortcuts consumption</a:t>
            </a:r>
            <a:endParaRPr/>
          </a:p>
        </p:txBody>
      </p:sp>
      <p:sp>
        <p:nvSpPr>
          <p:cNvPr id="266" name="Google Shape;266;p23"/>
          <p:cNvSpPr txBox="1"/>
          <p:nvPr>
            <p:ph idx="7" type="body"/>
          </p:nvPr>
        </p:nvSpPr>
        <p:spPr>
          <a:xfrm>
            <a:off x="1234440" y="49560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300"/>
              <a:buNone/>
            </a:pP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Work faster with keyboard shortcuts: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cut/copy/paste cells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add/delete cells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markdown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cells.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548640" y="5852160"/>
            <a:ext cx="11064240" cy="566928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713232" y="6053328"/>
            <a:ext cx="164592" cy="164592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987552" y="5852160"/>
            <a:ext cx="104973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-US" sz="11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Along the way: coding techniques — solving error messages and starting with a clean slate.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/>
          <p:nvPr>
            <p:ph idx="1" type="body"/>
          </p:nvPr>
        </p:nvSpPr>
        <p:spPr>
          <a:xfrm>
            <a:off x="54864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WHAT IS JUPYTER</a:t>
            </a:r>
            <a:endParaRPr/>
          </a:p>
        </p:txBody>
      </p:sp>
      <p:sp>
        <p:nvSpPr>
          <p:cNvPr id="276" name="Google Shape;276;p24"/>
          <p:cNvSpPr txBox="1"/>
          <p:nvPr>
            <p:ph type="title"/>
          </p:nvPr>
        </p:nvSpPr>
        <p:spPr>
          <a:xfrm>
            <a:off x="548640" y="621792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 Server–Client Application</a:t>
            </a:r>
            <a:endParaRPr/>
          </a:p>
        </p:txBody>
      </p:sp>
      <p:sp>
        <p:nvSpPr>
          <p:cNvPr id="277" name="Google Shape;277;p24"/>
          <p:cNvSpPr txBox="1"/>
          <p:nvPr>
            <p:ph idx="2" type="body"/>
          </p:nvPr>
        </p:nvSpPr>
        <p:spPr>
          <a:xfrm>
            <a:off x="548640" y="2011680"/>
            <a:ext cx="52120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Jupyter Notebook App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(or simply Jupyter) is a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server–client application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342900" lvl="0" marL="342900" rtl="0" algn="l">
              <a:spcBef>
                <a:spcPts val="10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You type code on your machine, the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Jupyter server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runs it through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Python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and the results render right back in your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browser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548640" y="5715000"/>
            <a:ext cx="5212080" cy="566928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713232" y="5916168"/>
            <a:ext cx="164592" cy="164592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987552" y="5715000"/>
            <a:ext cx="46451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-US" sz="11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Notebook files are saved in the IPython Notebook format — *.ipynb for brief.</a:t>
            </a:r>
            <a:endParaRPr/>
          </a:p>
        </p:txBody>
      </p:sp>
      <p:pic>
        <p:nvPicPr>
          <p:cNvPr id="281" name="Google Shape;281;p24"/>
          <p:cNvPicPr preferRelativeResize="0"/>
          <p:nvPr/>
        </p:nvPicPr>
        <p:blipFill rotWithShape="1">
          <a:blip r:embed="rId3">
            <a:alphaModFix/>
          </a:blip>
          <a:srcRect b="0" l="0" r="0" t="7944"/>
          <a:stretch/>
        </p:blipFill>
        <p:spPr>
          <a:xfrm>
            <a:off x="6523800" y="2200050"/>
            <a:ext cx="5515801" cy="242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 txBox="1"/>
          <p:nvPr>
            <p:ph idx="1" type="body"/>
          </p:nvPr>
        </p:nvSpPr>
        <p:spPr>
          <a:xfrm>
            <a:off x="731520" y="426720"/>
            <a:ext cx="6339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INSTALLATION — STEP 4 OF 4</a:t>
            </a:r>
            <a:endParaRPr/>
          </a:p>
        </p:txBody>
      </p:sp>
      <p:sp>
        <p:nvSpPr>
          <p:cNvPr id="288" name="Google Shape;288;p25"/>
          <p:cNvSpPr txBox="1"/>
          <p:nvPr>
            <p:ph type="title"/>
          </p:nvPr>
        </p:nvSpPr>
        <p:spPr>
          <a:xfrm>
            <a:off x="731520" y="829056"/>
            <a:ext cx="6949500" cy="13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Finish and Launch</a:t>
            </a:r>
            <a:endParaRPr/>
          </a:p>
        </p:txBody>
      </p:sp>
      <p:sp>
        <p:nvSpPr>
          <p:cNvPr id="289" name="Google Shape;289;p25"/>
          <p:cNvSpPr txBox="1"/>
          <p:nvPr>
            <p:ph idx="2" type="body"/>
          </p:nvPr>
        </p:nvSpPr>
        <p:spPr>
          <a:xfrm>
            <a:off x="731520" y="2438400"/>
            <a:ext cx="69495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900"/>
              <a:buNone/>
            </a:pPr>
            <a:r>
              <a:rPr b="1" lang="en-US" sz="19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Untick the extras.</a:t>
            </a:r>
            <a:endParaRPr/>
          </a:p>
        </p:txBody>
      </p:sp>
      <p:sp>
        <p:nvSpPr>
          <p:cNvPr id="290" name="Google Shape;290;p25"/>
          <p:cNvSpPr txBox="1"/>
          <p:nvPr>
            <p:ph idx="3" type="body"/>
          </p:nvPr>
        </p:nvSpPr>
        <p:spPr>
          <a:xfrm>
            <a:off x="731520" y="2987040"/>
            <a:ext cx="6949500" cy="4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3429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500"/>
              <a:buChar char="•"/>
            </a:pPr>
            <a:r>
              <a:rPr lang="en-US" sz="15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Click </a:t>
            </a:r>
            <a:r>
              <a:rPr b="1" lang="en-US" sz="15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Next → Finish</a:t>
            </a:r>
            <a:r>
              <a:rPr lang="en-US" sz="15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; you can </a:t>
            </a:r>
            <a:r>
              <a:rPr b="1" lang="en-US" sz="15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untick all selections</a:t>
            </a:r>
            <a:r>
              <a:rPr lang="en-US" sz="15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 the last screen.</a:t>
            </a:r>
            <a:endParaRPr/>
          </a:p>
          <a:p>
            <a:pPr indent="-349250" lvl="0" marL="342900" rtl="0" algn="l">
              <a:spcBef>
                <a:spcPts val="1100"/>
              </a:spcBef>
              <a:spcAft>
                <a:spcPts val="0"/>
              </a:spcAft>
              <a:buClr>
                <a:srgbClr val="222540"/>
              </a:buClr>
              <a:buSzPts val="1500"/>
              <a:buChar char="•"/>
            </a:pPr>
            <a:r>
              <a:rPr lang="en-US" sz="15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</a:t>
            </a:r>
            <a:r>
              <a:rPr b="1" lang="en-US" sz="15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Anaconda Navigator</a:t>
            </a:r>
            <a:r>
              <a:rPr lang="en-US" sz="15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 the Start menu and press </a:t>
            </a:r>
            <a:r>
              <a:rPr b="1" lang="en-US" sz="15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Launch</a:t>
            </a:r>
            <a:r>
              <a:rPr lang="en-US" sz="15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 the </a:t>
            </a:r>
            <a:r>
              <a:rPr b="1" lang="en-US" sz="15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Jupyter Notebook</a:t>
            </a:r>
            <a:r>
              <a:rPr lang="en-US" sz="15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tile (or open Jupyter Notebook directly).</a:t>
            </a:r>
            <a:endParaRPr/>
          </a:p>
        </p:txBody>
      </p:sp>
      <p:pic>
        <p:nvPicPr>
          <p:cNvPr descr="jup_finish.png" id="291" name="Google Shape;29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0920" y="915003"/>
            <a:ext cx="3566159" cy="2775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_nav.png" id="292" name="Google Shape;29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0920" y="3827358"/>
            <a:ext cx="3566162" cy="2115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/>
          <p:nvPr>
            <p:ph idx="1" type="body"/>
          </p:nvPr>
        </p:nvSpPr>
        <p:spPr>
          <a:xfrm>
            <a:off x="731520" y="426720"/>
            <a:ext cx="13411200" cy="42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6"/>
          <p:cNvSpPr txBox="1"/>
          <p:nvPr>
            <p:ph type="title"/>
          </p:nvPr>
        </p:nvSpPr>
        <p:spPr>
          <a:xfrm>
            <a:off x="731520" y="829056"/>
            <a:ext cx="14752500" cy="85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Anaconda</a:t>
            </a:r>
            <a:endParaRPr/>
          </a:p>
        </p:txBody>
      </p:sp>
      <p:sp>
        <p:nvSpPr>
          <p:cNvPr id="300" name="Google Shape;300;p26"/>
          <p:cNvSpPr txBox="1"/>
          <p:nvPr>
            <p:ph idx="2" type="body"/>
          </p:nvPr>
        </p:nvSpPr>
        <p:spPr>
          <a:xfrm>
            <a:off x="853440" y="2438400"/>
            <a:ext cx="14508300" cy="475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2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820" y="1368275"/>
            <a:ext cx="7808918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/>
          <p:nvPr>
            <p:ph idx="1" type="body"/>
          </p:nvPr>
        </p:nvSpPr>
        <p:spPr>
          <a:xfrm>
            <a:off x="548640" y="320040"/>
            <a:ext cx="4755000" cy="32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7"/>
          <p:cNvSpPr txBox="1"/>
          <p:nvPr>
            <p:ph type="title"/>
          </p:nvPr>
        </p:nvSpPr>
        <p:spPr>
          <a:xfrm>
            <a:off x="548640" y="621792"/>
            <a:ext cx="5212200" cy="100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and Create Notebook</a:t>
            </a:r>
            <a:endParaRPr/>
          </a:p>
        </p:txBody>
      </p:sp>
      <p:sp>
        <p:nvSpPr>
          <p:cNvPr id="309" name="Google Shape;309;p27"/>
          <p:cNvSpPr txBox="1"/>
          <p:nvPr>
            <p:ph idx="2" type="body"/>
          </p:nvPr>
        </p:nvSpPr>
        <p:spPr>
          <a:xfrm>
            <a:off x="548640" y="1828800"/>
            <a:ext cx="5212200" cy="32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7"/>
          <p:cNvSpPr txBox="1"/>
          <p:nvPr>
            <p:ph idx="3" type="body"/>
          </p:nvPr>
        </p:nvSpPr>
        <p:spPr>
          <a:xfrm>
            <a:off x="548640" y="2240280"/>
            <a:ext cx="5212200" cy="3108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7"/>
          <p:cNvSpPr txBox="1"/>
          <p:nvPr>
            <p:ph idx="4" type="body"/>
          </p:nvPr>
        </p:nvSpPr>
        <p:spPr>
          <a:xfrm>
            <a:off x="6414516" y="1828800"/>
            <a:ext cx="5454300" cy="32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0200" y="1527511"/>
            <a:ext cx="5662948" cy="408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238" y="1442000"/>
            <a:ext cx="5509024" cy="490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"/>
          <p:cNvSpPr txBox="1"/>
          <p:nvPr>
            <p:ph idx="1" type="body"/>
          </p:nvPr>
        </p:nvSpPr>
        <p:spPr>
          <a:xfrm>
            <a:off x="54864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 TOUR OF JUPYTER</a:t>
            </a:r>
            <a:endParaRPr/>
          </a:p>
        </p:txBody>
      </p:sp>
      <p:sp>
        <p:nvSpPr>
          <p:cNvPr id="320" name="Google Shape;320;p28"/>
          <p:cNvSpPr txBox="1"/>
          <p:nvPr>
            <p:ph type="title"/>
          </p:nvPr>
        </p:nvSpPr>
        <p:spPr>
          <a:xfrm>
            <a:off x="548640" y="621792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Cells: Edit vs Command Mode</a:t>
            </a:r>
            <a:endParaRPr/>
          </a:p>
        </p:txBody>
      </p:sp>
      <p:sp>
        <p:nvSpPr>
          <p:cNvPr id="321" name="Google Shape;321;p28"/>
          <p:cNvSpPr txBox="1"/>
          <p:nvPr>
            <p:ph idx="2" type="body"/>
          </p:nvPr>
        </p:nvSpPr>
        <p:spPr>
          <a:xfrm>
            <a:off x="548640" y="18288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800"/>
              <a:buNone/>
            </a:pPr>
            <a:r>
              <a:rPr b="1" lang="en-US" sz="1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gray box is the input field.</a:t>
            </a:r>
            <a:endParaRPr/>
          </a:p>
        </p:txBody>
      </p:sp>
      <p:sp>
        <p:nvSpPr>
          <p:cNvPr id="322" name="Google Shape;322;p28"/>
          <p:cNvSpPr txBox="1"/>
          <p:nvPr>
            <p:ph idx="3" type="body"/>
          </p:nvPr>
        </p:nvSpPr>
        <p:spPr>
          <a:xfrm>
            <a:off x="548640" y="2240280"/>
            <a:ext cx="52120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Press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Enter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enter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edit mode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a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green border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appears and you can type.</a:t>
            </a:r>
            <a:endParaRPr/>
          </a:p>
          <a:p>
            <a:pPr indent="-342900" lvl="0" marL="342900" rtl="0" algn="l">
              <a:spcBef>
                <a:spcPts val="10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Press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Escape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return to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command mode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the border turns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blue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keys become shortcuts.</a:t>
            </a:r>
            <a:endParaRPr/>
          </a:p>
        </p:txBody>
      </p:sp>
      <p:pic>
        <p:nvPicPr>
          <p:cNvPr descr="jup_cell.png" id="323" name="Google Shape;3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0" y="2732644"/>
            <a:ext cx="4754880" cy="362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_toolbar.png" id="324" name="Google Shape;32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0" y="3232202"/>
            <a:ext cx="4754880" cy="893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9"/>
          <p:cNvSpPr txBox="1"/>
          <p:nvPr>
            <p:ph idx="1" type="body"/>
          </p:nvPr>
        </p:nvSpPr>
        <p:spPr>
          <a:xfrm>
            <a:off x="54864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RUNNING CODE</a:t>
            </a:r>
            <a:endParaRPr/>
          </a:p>
        </p:txBody>
      </p:sp>
      <p:sp>
        <p:nvSpPr>
          <p:cNvPr id="331" name="Google Shape;331;p29"/>
          <p:cNvSpPr txBox="1"/>
          <p:nvPr>
            <p:ph type="title"/>
          </p:nvPr>
        </p:nvSpPr>
        <p:spPr>
          <a:xfrm>
            <a:off x="548640" y="621792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Execute Cells</a:t>
            </a:r>
            <a:endParaRPr/>
          </a:p>
        </p:txBody>
      </p:sp>
      <p:sp>
        <p:nvSpPr>
          <p:cNvPr id="332" name="Google Shape;332;p29"/>
          <p:cNvSpPr txBox="1"/>
          <p:nvPr>
            <p:ph idx="2" type="body"/>
          </p:nvPr>
        </p:nvSpPr>
        <p:spPr>
          <a:xfrm>
            <a:off x="548640" y="18288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800"/>
              <a:buNone/>
            </a:pPr>
            <a:r>
              <a:rPr b="1" lang="en-US" sz="1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Ctrl+Enter vs Shift+Enter.</a:t>
            </a:r>
            <a:endParaRPr/>
          </a:p>
        </p:txBody>
      </p:sp>
      <p:sp>
        <p:nvSpPr>
          <p:cNvPr id="333" name="Google Shape;333;p29"/>
          <p:cNvSpPr txBox="1"/>
          <p:nvPr>
            <p:ph idx="3" type="body"/>
          </p:nvPr>
        </p:nvSpPr>
        <p:spPr>
          <a:xfrm>
            <a:off x="548640" y="2240280"/>
            <a:ext cx="52120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Type x = [1, 2, 3, 4] then x, and press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Ctrl + Enter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execute in place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342900" lvl="0" marL="342900" rtl="0" algn="l">
              <a:spcBef>
                <a:spcPts val="10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Press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Shift + Enter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execute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and create a new cell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below at the same time.</a:t>
            </a:r>
            <a:endParaRPr/>
          </a:p>
        </p:txBody>
      </p:sp>
      <p:pic>
        <p:nvPicPr>
          <p:cNvPr descr="jup_ctrl.png" id="334" name="Google Shape;33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1224" y="2632141"/>
            <a:ext cx="5425448" cy="529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_shift.png" id="335" name="Google Shape;33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1224" y="3318549"/>
            <a:ext cx="5425451" cy="751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SHORTCUTS CONSUMPTION</a:t>
            </a:r>
            <a:endParaRPr/>
          </a:p>
        </p:txBody>
      </p:sp>
      <p:sp>
        <p:nvSpPr>
          <p:cNvPr id="342" name="Google Shape;342;p30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3000"/>
              <a:buFont typeface="Roboto"/>
              <a:buNone/>
            </a:pPr>
            <a:r>
              <a:rPr b="1" lang="en-US" sz="30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Command-Mode Shortcuts</a:t>
            </a:r>
            <a:endParaRPr/>
          </a:p>
        </p:txBody>
      </p:sp>
      <p:sp>
        <p:nvSpPr>
          <p:cNvPr id="343" name="Google Shape;343;p30"/>
          <p:cNvSpPr txBox="1"/>
          <p:nvPr>
            <p:ph idx="2" type="body"/>
          </p:nvPr>
        </p:nvSpPr>
        <p:spPr>
          <a:xfrm>
            <a:off x="1234440" y="178308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50"/>
              <a:buNone/>
            </a:pPr>
            <a:r>
              <a:rPr b="1" lang="en-US" sz="15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Cut, copy, paste cells</a:t>
            </a:r>
            <a:endParaRPr/>
          </a:p>
        </p:txBody>
      </p:sp>
      <p:sp>
        <p:nvSpPr>
          <p:cNvPr id="344" name="Google Shape;344;p30"/>
          <p:cNvSpPr txBox="1"/>
          <p:nvPr>
            <p:ph idx="3" type="body"/>
          </p:nvPr>
        </p:nvSpPr>
        <p:spPr>
          <a:xfrm>
            <a:off x="1234440" y="216712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300"/>
              <a:buNone/>
            </a:pP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cuts the selected cell,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copies it,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pastes it below the selected cell.</a:t>
            </a:r>
            <a:endParaRPr/>
          </a:p>
        </p:txBody>
      </p:sp>
      <p:sp>
        <p:nvSpPr>
          <p:cNvPr id="345" name="Google Shape;345;p30"/>
          <p:cNvSpPr txBox="1"/>
          <p:nvPr>
            <p:ph idx="4" type="body"/>
          </p:nvPr>
        </p:nvSpPr>
        <p:spPr>
          <a:xfrm>
            <a:off x="1234440" y="29718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50"/>
              <a:buNone/>
            </a:pPr>
            <a:r>
              <a:rPr b="1" lang="en-US" sz="15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Add cells</a:t>
            </a:r>
            <a:endParaRPr/>
          </a:p>
        </p:txBody>
      </p:sp>
      <p:sp>
        <p:nvSpPr>
          <p:cNvPr id="346" name="Google Shape;346;p30"/>
          <p:cNvSpPr txBox="1"/>
          <p:nvPr>
            <p:ph idx="5" type="body"/>
          </p:nvPr>
        </p:nvSpPr>
        <p:spPr>
          <a:xfrm>
            <a:off x="1234440" y="335584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300"/>
              <a:buNone/>
            </a:pP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inserts an empty cell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above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selection;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inserts one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below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347" name="Google Shape;347;p30"/>
          <p:cNvSpPr txBox="1"/>
          <p:nvPr>
            <p:ph idx="6" type="body"/>
          </p:nvPr>
        </p:nvSpPr>
        <p:spPr>
          <a:xfrm>
            <a:off x="1234440" y="41605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50"/>
              <a:buNone/>
            </a:pPr>
            <a:r>
              <a:rPr b="1" lang="en-US" sz="15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Delete cells</a:t>
            </a:r>
            <a:endParaRPr/>
          </a:p>
        </p:txBody>
      </p:sp>
      <p:sp>
        <p:nvSpPr>
          <p:cNvPr id="348" name="Google Shape;348;p30"/>
          <p:cNvSpPr txBox="1"/>
          <p:nvPr>
            <p:ph idx="7" type="body"/>
          </p:nvPr>
        </p:nvSpPr>
        <p:spPr>
          <a:xfrm>
            <a:off x="1234440" y="454456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300"/>
              <a:buNone/>
            </a:pP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Press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 twice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delete the selected cell — handy when you've made a mistake.</a:t>
            </a:r>
            <a:endParaRPr/>
          </a:p>
        </p:txBody>
      </p:sp>
      <p:sp>
        <p:nvSpPr>
          <p:cNvPr id="349" name="Google Shape;349;p30"/>
          <p:cNvSpPr txBox="1"/>
          <p:nvPr>
            <p:ph idx="8" type="body"/>
          </p:nvPr>
        </p:nvSpPr>
        <p:spPr>
          <a:xfrm>
            <a:off x="1234440" y="53492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50"/>
              <a:buNone/>
            </a:pPr>
            <a:r>
              <a:rPr b="1" lang="en-US" sz="15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Markdown vs code</a:t>
            </a:r>
            <a:endParaRPr/>
          </a:p>
        </p:txBody>
      </p:sp>
      <p:sp>
        <p:nvSpPr>
          <p:cNvPr id="350" name="Google Shape;350;p30"/>
          <p:cNvSpPr txBox="1"/>
          <p:nvPr>
            <p:ph idx="9" type="body"/>
          </p:nvPr>
        </p:nvSpPr>
        <p:spPr>
          <a:xfrm>
            <a:off x="1234440" y="5733288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300"/>
              <a:buNone/>
            </a:pP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turns a cell into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markdown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(documentation, not executed);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turns it back into a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code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cell.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/>
          <p:nvPr>
            <p:ph idx="1" type="body"/>
          </p:nvPr>
        </p:nvSpPr>
        <p:spPr>
          <a:xfrm>
            <a:off x="548640" y="32004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SHORTCUTS IN PRACTICE</a:t>
            </a:r>
            <a:endParaRPr/>
          </a:p>
        </p:txBody>
      </p:sp>
      <p:sp>
        <p:nvSpPr>
          <p:cNvPr id="357" name="Google Shape;357;p31"/>
          <p:cNvSpPr txBox="1"/>
          <p:nvPr>
            <p:ph type="title"/>
          </p:nvPr>
        </p:nvSpPr>
        <p:spPr>
          <a:xfrm>
            <a:off x="548640" y="621792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Example: Move a Cell with X and V</a:t>
            </a:r>
            <a:endParaRPr/>
          </a:p>
        </p:txBody>
      </p:sp>
      <p:sp>
        <p:nvSpPr>
          <p:cNvPr id="358" name="Google Shape;358;p31"/>
          <p:cNvSpPr txBox="1"/>
          <p:nvPr>
            <p:ph idx="2" type="body"/>
          </p:nvPr>
        </p:nvSpPr>
        <p:spPr>
          <a:xfrm>
            <a:off x="548640" y="18288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800"/>
              <a:buNone/>
            </a:pPr>
            <a:r>
              <a:rPr b="1" lang="en-US" sz="1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Select, cut, move, paste.</a:t>
            </a:r>
            <a:endParaRPr/>
          </a:p>
        </p:txBody>
      </p:sp>
      <p:sp>
        <p:nvSpPr>
          <p:cNvPr id="359" name="Google Shape;359;p31"/>
          <p:cNvSpPr txBox="1"/>
          <p:nvPr>
            <p:ph idx="3" type="body"/>
          </p:nvPr>
        </p:nvSpPr>
        <p:spPr>
          <a:xfrm>
            <a:off x="548640" y="2240280"/>
            <a:ext cx="52120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 = a + 2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cell and press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cut it.</a:t>
            </a:r>
            <a:endParaRPr/>
          </a:p>
          <a:p>
            <a:pPr indent="-342900" lvl="0" marL="342900" rtl="0" algn="l">
              <a:spcBef>
                <a:spcPts val="10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Move up to the target cell and press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the cell is pasted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below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it.</a:t>
            </a:r>
            <a:endParaRPr/>
          </a:p>
          <a:p>
            <a:pPr indent="-342900" lvl="0" marL="342900" rtl="0" algn="l">
              <a:spcBef>
                <a:spcPts val="1080"/>
              </a:spcBef>
              <a:spcAft>
                <a:spcPts val="0"/>
              </a:spcAft>
              <a:buClr>
                <a:srgbClr val="222540"/>
              </a:buClr>
              <a:buSzPts val="1400"/>
              <a:buChar char="•"/>
            </a:pP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Only the toolbar </a:t>
            </a:r>
            <a:r>
              <a:rPr b="1" lang="en-US" sz="14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arrow buttons</a:t>
            </a:r>
            <a:r>
              <a:rPr lang="en-US" sz="14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move cells directly; there's no shortcut for that.</a:t>
            </a:r>
            <a:endParaRPr/>
          </a:p>
        </p:txBody>
      </p:sp>
      <p:pic>
        <p:nvPicPr>
          <p:cNvPr descr="jup_cut.png" id="360" name="Google Shape;3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0" y="2036825"/>
            <a:ext cx="4754880" cy="1519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p_cutres.png" id="361" name="Google Shape;36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0" y="3693729"/>
            <a:ext cx="4754880" cy="112744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/>
          <p:nvPr/>
        </p:nvSpPr>
        <p:spPr>
          <a:xfrm>
            <a:off x="548640" y="5394960"/>
            <a:ext cx="5212080" cy="566928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713232" y="5596128"/>
            <a:ext cx="164592" cy="164592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 txBox="1"/>
          <p:nvPr/>
        </p:nvSpPr>
        <p:spPr>
          <a:xfrm>
            <a:off x="987552" y="5394960"/>
            <a:ext cx="464515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-US" sz="11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In command mode, press H to see the full keyboard-shortcuts reference.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"/>
          <p:cNvSpPr txBox="1"/>
          <p:nvPr>
            <p:ph idx="1" type="body"/>
          </p:nvPr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200"/>
              <a:buNone/>
            </a:pPr>
            <a:r>
              <a:rPr b="1" lang="en-US" sz="12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WHY JUPYTER</a:t>
            </a:r>
            <a:endParaRPr/>
          </a:p>
        </p:txBody>
      </p:sp>
      <p:sp>
        <p:nvSpPr>
          <p:cNvPr id="371" name="Google Shape;371;p32"/>
          <p:cNvSpPr txBox="1"/>
          <p:nvPr>
            <p:ph type="title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Benefits</a:t>
            </a:r>
            <a:endParaRPr/>
          </a:p>
        </p:txBody>
      </p:sp>
      <p:sp>
        <p:nvSpPr>
          <p:cNvPr id="372" name="Google Shape;372;p32"/>
          <p:cNvSpPr txBox="1"/>
          <p:nvPr>
            <p:ph idx="2" type="body"/>
          </p:nvPr>
        </p:nvSpPr>
        <p:spPr>
          <a:xfrm>
            <a:off x="1234440" y="18288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50"/>
              <a:buNone/>
            </a:pPr>
            <a:r>
              <a:rPr b="1" lang="en-US" sz="15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Documentation next to code</a:t>
            </a:r>
            <a:endParaRPr/>
          </a:p>
        </p:txBody>
      </p:sp>
      <p:sp>
        <p:nvSpPr>
          <p:cNvPr id="373" name="Google Shape;373;p32"/>
          <p:cNvSpPr txBox="1"/>
          <p:nvPr>
            <p:ph idx="3" type="body"/>
          </p:nvPr>
        </p:nvSpPr>
        <p:spPr>
          <a:xfrm>
            <a:off x="1234440" y="22128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300"/>
              <a:buNone/>
            </a:pP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When code gets long,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markdown cells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let you leave comments and explain the solution you've created.</a:t>
            </a:r>
            <a:endParaRPr/>
          </a:p>
        </p:txBody>
      </p:sp>
      <p:sp>
        <p:nvSpPr>
          <p:cNvPr id="374" name="Google Shape;374;p32"/>
          <p:cNvSpPr txBox="1"/>
          <p:nvPr>
            <p:ph idx="4" type="body"/>
          </p:nvPr>
        </p:nvSpPr>
        <p:spPr>
          <a:xfrm>
            <a:off x="1234440" y="32004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50"/>
              <a:buNone/>
            </a:pPr>
            <a:r>
              <a:rPr b="1" lang="en-US" sz="15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Run any cell, any time</a:t>
            </a:r>
            <a:endParaRPr/>
          </a:p>
        </p:txBody>
      </p:sp>
      <p:sp>
        <p:nvSpPr>
          <p:cNvPr id="375" name="Google Shape;375;p32"/>
          <p:cNvSpPr txBox="1"/>
          <p:nvPr>
            <p:ph idx="5" type="body"/>
          </p:nvPr>
        </p:nvSpPr>
        <p:spPr>
          <a:xfrm>
            <a:off x="1234440" y="35844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300"/>
              <a:buNone/>
            </a:pP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and execute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whichever cell you want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solve problems in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pieces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376" name="Google Shape;376;p32"/>
          <p:cNvSpPr txBox="1"/>
          <p:nvPr>
            <p:ph idx="6" type="body"/>
          </p:nvPr>
        </p:nvSpPr>
        <p:spPr>
          <a:xfrm>
            <a:off x="1234440" y="45720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F5C"/>
              </a:buClr>
              <a:buSzPts val="1550"/>
              <a:buNone/>
            </a:pPr>
            <a:r>
              <a:rPr b="1" lang="en-US" sz="15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Coding techniques</a:t>
            </a:r>
            <a:endParaRPr/>
          </a:p>
        </p:txBody>
      </p:sp>
      <p:sp>
        <p:nvSpPr>
          <p:cNvPr id="377" name="Google Shape;377;p32"/>
          <p:cNvSpPr txBox="1"/>
          <p:nvPr>
            <p:ph idx="7" type="body"/>
          </p:nvPr>
        </p:nvSpPr>
        <p:spPr>
          <a:xfrm>
            <a:off x="1234440" y="49560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1300"/>
              <a:buNone/>
            </a:pP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Read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error messages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(like NameError) to fix bugs, and restart the kernel to </a:t>
            </a:r>
            <a:r>
              <a:rPr b="1" lang="en-US" sz="13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start with a clean slate</a:t>
            </a:r>
            <a:r>
              <a:rPr lang="en-US" sz="13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378" name="Google Shape;378;p32"/>
          <p:cNvSpPr/>
          <p:nvPr/>
        </p:nvSpPr>
        <p:spPr>
          <a:xfrm>
            <a:off x="548640" y="5852160"/>
            <a:ext cx="11064240" cy="566928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2"/>
          <p:cNvSpPr/>
          <p:nvPr/>
        </p:nvSpPr>
        <p:spPr>
          <a:xfrm>
            <a:off x="713232" y="6053328"/>
            <a:ext cx="164592" cy="164592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2"/>
          <p:cNvSpPr txBox="1"/>
          <p:nvPr/>
        </p:nvSpPr>
        <p:spPr>
          <a:xfrm>
            <a:off x="987552" y="5852160"/>
            <a:ext cx="1049731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-US" sz="11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Practice the shortcuts this week — they quickly become muscle memory.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