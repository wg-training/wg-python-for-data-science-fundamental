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0" r:id="rId3"/>
    <p:sldMasterId id="214748369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Robo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bold.fntdata"/><Relationship Id="rId10" Type="http://schemas.openxmlformats.org/officeDocument/2006/relationships/slide" Target="slides/slide5.xml"/><Relationship Id="rId32" Type="http://schemas.openxmlformats.org/officeDocument/2006/relationships/font" Target="fonts/Roboto-regular.fntdata"/><Relationship Id="rId13" Type="http://schemas.openxmlformats.org/officeDocument/2006/relationships/slide" Target="slides/slide8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7.xml"/><Relationship Id="rId34" Type="http://schemas.openxmlformats.org/officeDocument/2006/relationships/font" Target="fonts/Robot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7049000af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27049000af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6fef4c9fc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26fef4c9fc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6fef4c9fcc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26fef4c9fcc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h57b6d7e07322b89d_1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h57b6d7e07322b89d_1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f95d68ab25_0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g3f95d68ab25_0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f95d68ab25_1_70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g3f95d68ab25_1_70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f95d68ab25_1_24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g3f95d68ab25_1_24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numpy as np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NumPy version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print(np.__version__)      # '1.26.4'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Quick test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= np.array([1, 2, 3, 4, 5])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print(a * 2)               # [ 2  4  6  8 10]</a:t>
            </a:r>
            <a:endParaRPr/>
          </a:p>
        </p:txBody>
      </p:sp>
      <p:sp>
        <p:nvSpPr>
          <p:cNvPr id="484" name="Google Shape;484;g3f95d68ab25_1_24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f5bb9991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f5bb9991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6e7c43c4a4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26e7c43c4a4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f95d68ab25_1_93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g3f95d68ab25_1_93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= np.array([[1, 2, 3],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[4, 5, 6]], dtype=np.float32)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print(a.shape)     # (2, 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print(a.ndim)      #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print(a.dtype)     # float32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print(a.size)      # 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print(a.itemsize)  # 4 bytes</a:t>
            </a:r>
            <a:endParaRPr/>
          </a:p>
        </p:txBody>
      </p:sp>
      <p:sp>
        <p:nvSpPr>
          <p:cNvPr id="518" name="Google Shape;518;g3f95d68ab25_1_93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6e7c43c4a4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26e7c43c4a4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26e7c43c4a4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26e7c43c4a4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f95d68ab25_1_118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g3f95d68ab25_1_118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= np.array([1.0, 4.0, 9.0, 16.0])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Element-wise math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np.sqrt(a)      # [1. 2. 3. 4.]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np.exp(a)       # e **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np.log(a)       # natural log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np.power(a, 2)  # a squared</a:t>
            </a:r>
            <a:endParaRPr/>
          </a:p>
        </p:txBody>
      </p:sp>
      <p:sp>
        <p:nvSpPr>
          <p:cNvPr id="550" name="Google Shape;550;g3f95d68ab25_1_118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6e7c43c4a4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26e7c43c4a4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26e7c43c4a4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26e7c43c4a4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26e7c43c4a4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26e7c43c4a4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26e7c43c4a4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26e7c43c4a4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6e7c43c4a4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26e7c43c4a4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f9a877ddde_0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g3f9a877ddde_0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fab4c5aae9_0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g3fab4c5aae9_0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f8447a1612_0_26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g3f8447a1612_0_26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f8447a1612_0_51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6" name="Google Shape;636;g3f8447a1612_0_51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# Exercise 1 — Add &amp; Subtract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n = np.array([1, 2, 3])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print(n + 1)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print(n - 2)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# Exercise 2 — Divide &amp; Raise a Power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n = np.array([1, 2, 3])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print(n / 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print(n ** 2)</a:t>
            </a:r>
            <a:endParaRPr/>
          </a:p>
        </p:txBody>
      </p:sp>
      <p:sp>
        <p:nvSpPr>
          <p:cNvPr id="637" name="Google Shape;637;g3f8447a1612_0_51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f8447a1612_0_103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g3f8447a1612_0_103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# Exercise 7 — Transpose a Matrix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n = np.array([[1, 2, 3],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      [4, 5, 6]])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print(n.T)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# Exercise 8 — Inspect &amp; Convert Type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n = np.array([[1, 2, 3],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      [4, 5, 6]])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print(n.dtype)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print(n.astype('f'))</a:t>
            </a:r>
            <a:endParaRPr/>
          </a:p>
        </p:txBody>
      </p:sp>
      <p:sp>
        <p:nvSpPr>
          <p:cNvPr id="659" name="Google Shape;659;g3f8447a1612_0_103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f8447a1612_0_130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0" name="Google Shape;680;g3f8447a1612_0_130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# Exercise 9 — Total It Two Ways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n = np.array([[1, 2, 3],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      [4, 5, 6]])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print(n.sum())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print(np.sum(n))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# Exercise 10 — Four Quick Stats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n = np.array([[1, 2, 3],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        [4, 5, 6]])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print(n.mean(), n.min(),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     n.max(), np.median(n))</a:t>
            </a:r>
            <a:endParaRPr/>
          </a:p>
        </p:txBody>
      </p:sp>
      <p:sp>
        <p:nvSpPr>
          <p:cNvPr id="681" name="Google Shape;681;g3f8447a1612_0_130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f8447a1612_0_156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g3f8447a1612_0_156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f8447a1612_0_156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9" name="Google Shape;709;g3f8447a1612_0_156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# Exercise 1 — First Element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n = np.arange(13) **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print(n[0])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# Exercise 2 — A Later Element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n = np.arange(13) **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print(n[11])</a:t>
            </a:r>
            <a:endParaRPr/>
          </a:p>
        </p:txBody>
      </p:sp>
      <p:sp>
        <p:nvSpPr>
          <p:cNvPr id="710" name="Google Shape;710;g3f8447a1612_0_156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6" name="Google Shape;56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" name="Google Shape;65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10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1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3" name="Google Shape;73;p11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1"/>
          <p:cNvSpPr txBox="1"/>
          <p:nvPr>
            <p:ph idx="2" type="title"/>
          </p:nvPr>
        </p:nvSpPr>
        <p:spPr>
          <a:xfrm>
            <a:off x="4835400" y="12156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3" type="subTitle"/>
          </p:nvPr>
        </p:nvSpPr>
        <p:spPr>
          <a:xfrm>
            <a:off x="4835400" y="277505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">
  <p:cSld name="SECTION_TITLE_AND_DESCRIPTION_1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2"/>
          <p:cNvSpPr txBox="1"/>
          <p:nvPr>
            <p:ph type="title"/>
          </p:nvPr>
        </p:nvSpPr>
        <p:spPr>
          <a:xfrm>
            <a:off x="2100" y="276526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9pPr>
          </a:lstStyle>
          <a:p/>
        </p:txBody>
      </p:sp>
      <p:sp>
        <p:nvSpPr>
          <p:cNvPr id="80" name="Google Shape;80;p12"/>
          <p:cNvSpPr txBox="1"/>
          <p:nvPr>
            <p:ph idx="1" type="subTitle"/>
          </p:nvPr>
        </p:nvSpPr>
        <p:spPr>
          <a:xfrm>
            <a:off x="265500" y="1439074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2"/>
          <p:cNvSpPr txBox="1"/>
          <p:nvPr>
            <p:ph idx="2" type="title"/>
          </p:nvPr>
        </p:nvSpPr>
        <p:spPr>
          <a:xfrm>
            <a:off x="4572000" y="271791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3" type="subTitle"/>
          </p:nvPr>
        </p:nvSpPr>
        <p:spPr>
          <a:xfrm>
            <a:off x="4835400" y="1451433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 1">
  <p:cSld name="SECTION_TITLE_AND_DESCRIPTION_1_1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5684300" y="-175"/>
            <a:ext cx="3459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>
            <p:ph type="title"/>
          </p:nvPr>
        </p:nvSpPr>
        <p:spPr>
          <a:xfrm>
            <a:off x="2100" y="8100"/>
            <a:ext cx="5682300" cy="15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329460" y="2769000"/>
            <a:ext cx="50274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3"/>
          <p:cNvSpPr txBox="1"/>
          <p:nvPr>
            <p:ph idx="2" type="title"/>
          </p:nvPr>
        </p:nvSpPr>
        <p:spPr>
          <a:xfrm>
            <a:off x="5684300" y="-3600"/>
            <a:ext cx="3459600" cy="15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13"/>
          <p:cNvSpPr txBox="1"/>
          <p:nvPr>
            <p:ph idx="3" type="subTitle"/>
          </p:nvPr>
        </p:nvSpPr>
        <p:spPr>
          <a:xfrm>
            <a:off x="5883618" y="2775051"/>
            <a:ext cx="3061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5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96" name="Google Shape;96;p1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5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15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7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08" name="Google Shape;108;p17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7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7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7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7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114" name="Google Shape;114;p17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" name="Google Shape;115;p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8" name="Google Shape;118;p1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" name="Google Shape;123;p18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124" name="Google Shape;124;p18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6" name="Google Shape;12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225" y="228600"/>
            <a:ext cx="6109998" cy="12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e1e2e78876_7_0)">
  <p:cSld name="Title and body (g3e1e2e78876_7_0)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1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e1e2e78876_14_0)">
  <p:cSld name="Title and body (g3e1e2e78876_14_0)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4" name="Google Shape;134;p2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4_SECTION_BREAK_NAVY">
  <p:cSld name="S14_SECTION_BREAK_NAVY">
    <p:bg>
      <p:bgPr>
        <a:solidFill>
          <a:srgbClr val="2A3480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/>
          <p:nvPr/>
        </p:nvSpPr>
        <p:spPr>
          <a:xfrm>
            <a:off x="8291322" y="-521208"/>
            <a:ext cx="1371600" cy="13716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1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b="1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9pPr>
          </a:lstStyle>
          <a:p/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EC5F82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" name="Google Shape;139;p21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6DAF2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" name="Google Shape;140;p21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6_SPLIT_PANEL">
  <p:cSld name="S06_SPLIT_PANEL"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/>
          <p:nvPr/>
        </p:nvSpPr>
        <p:spPr>
          <a:xfrm>
            <a:off x="4570857" y="0"/>
            <a:ext cx="4570800" cy="51435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2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" name="Google Shape;145;p22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70"/>
              </a:spcBef>
              <a:spcAft>
                <a:spcPts val="0"/>
              </a:spcAft>
              <a:buClr>
                <a:srgbClr val="293480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" name="Google Shape;146;p22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5275" lvl="0" marL="457200" marR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" name="Google Shape;147;p22"/>
          <p:cNvSpPr txBox="1"/>
          <p:nvPr>
            <p:ph idx="4" type="body"/>
          </p:nvPr>
        </p:nvSpPr>
        <p:spPr>
          <a:xfrm>
            <a:off x="411480" y="452628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165"/>
              </a:spcBef>
              <a:spcAft>
                <a:spcPts val="0"/>
              </a:spcAft>
              <a:buClr>
                <a:srgbClr val="D84568"/>
              </a:buClr>
              <a:buSzPts val="825"/>
              <a:buFont typeface="Arial"/>
              <a:buNone/>
              <a:defRPr b="0" i="1" sz="82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" name="Google Shape;148;p22"/>
          <p:cNvSpPr txBox="1"/>
          <p:nvPr>
            <p:ph idx="5" type="title"/>
          </p:nvPr>
        </p:nvSpPr>
        <p:spPr>
          <a:xfrm>
            <a:off x="4879467" y="219456"/>
            <a:ext cx="3953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49" name="Google Shape;149;p22"/>
          <p:cNvSpPr txBox="1"/>
          <p:nvPr>
            <p:ph idx="6" type="body"/>
          </p:nvPr>
        </p:nvSpPr>
        <p:spPr>
          <a:xfrm>
            <a:off x="4879467" y="617220"/>
            <a:ext cx="3953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EC5F82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" name="Google Shape;150;p22"/>
          <p:cNvSpPr txBox="1"/>
          <p:nvPr>
            <p:ph idx="7" type="body"/>
          </p:nvPr>
        </p:nvSpPr>
        <p:spPr>
          <a:xfrm>
            <a:off x="4879467" y="1062990"/>
            <a:ext cx="3953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7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1" name="Google Shape;151;p22"/>
          <p:cNvSpPr txBox="1"/>
          <p:nvPr>
            <p:ph idx="8" type="body"/>
          </p:nvPr>
        </p:nvSpPr>
        <p:spPr>
          <a:xfrm>
            <a:off x="4879467" y="1371600"/>
            <a:ext cx="39537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5275" lvl="0" marL="457200" marR="0" algn="l">
              <a:spcBef>
                <a:spcPts val="21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Google Shape;152;p22"/>
          <p:cNvSpPr txBox="1"/>
          <p:nvPr>
            <p:ph idx="9" type="body"/>
          </p:nvPr>
        </p:nvSpPr>
        <p:spPr>
          <a:xfrm>
            <a:off x="4810887" y="822960"/>
            <a:ext cx="40908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22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9_NUMBERED_ROWS_3">
  <p:cSld name="S09_NUMBERED_ROWS_3"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9pPr>
          </a:lstStyle>
          <a:p/>
        </p:txBody>
      </p:sp>
      <p:sp>
        <p:nvSpPr>
          <p:cNvPr id="157" name="Google Shape;157;p23"/>
          <p:cNvSpPr/>
          <p:nvPr/>
        </p:nvSpPr>
        <p:spPr>
          <a:xfrm>
            <a:off x="411480" y="12001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3"/>
          <p:cNvSpPr/>
          <p:nvPr/>
        </p:nvSpPr>
        <p:spPr>
          <a:xfrm>
            <a:off x="411480" y="12001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3"/>
          <p:cNvSpPr txBox="1"/>
          <p:nvPr>
            <p:ph idx="2" type="body"/>
          </p:nvPr>
        </p:nvSpPr>
        <p:spPr>
          <a:xfrm>
            <a:off x="925830" y="10972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" name="Google Shape;160;p23"/>
          <p:cNvSpPr txBox="1"/>
          <p:nvPr>
            <p:ph idx="3" type="body"/>
          </p:nvPr>
        </p:nvSpPr>
        <p:spPr>
          <a:xfrm>
            <a:off x="925830" y="138531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23"/>
          <p:cNvSpPr/>
          <p:nvPr/>
        </p:nvSpPr>
        <p:spPr>
          <a:xfrm>
            <a:off x="411480" y="22288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3"/>
          <p:cNvSpPr/>
          <p:nvPr/>
        </p:nvSpPr>
        <p:spPr>
          <a:xfrm>
            <a:off x="411480" y="22288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3"/>
          <p:cNvSpPr txBox="1"/>
          <p:nvPr>
            <p:ph idx="4" type="body"/>
          </p:nvPr>
        </p:nvSpPr>
        <p:spPr>
          <a:xfrm>
            <a:off x="925830" y="21259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23"/>
          <p:cNvSpPr txBox="1"/>
          <p:nvPr>
            <p:ph idx="5" type="body"/>
          </p:nvPr>
        </p:nvSpPr>
        <p:spPr>
          <a:xfrm>
            <a:off x="925830" y="241401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5" name="Google Shape;165;p23"/>
          <p:cNvSpPr/>
          <p:nvPr/>
        </p:nvSpPr>
        <p:spPr>
          <a:xfrm>
            <a:off x="411480" y="32575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3"/>
          <p:cNvSpPr/>
          <p:nvPr/>
        </p:nvSpPr>
        <p:spPr>
          <a:xfrm>
            <a:off x="411480" y="32575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3"/>
          <p:cNvSpPr txBox="1"/>
          <p:nvPr>
            <p:ph idx="6" type="body"/>
          </p:nvPr>
        </p:nvSpPr>
        <p:spPr>
          <a:xfrm>
            <a:off x="925830" y="31546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23"/>
          <p:cNvSpPr txBox="1"/>
          <p:nvPr>
            <p:ph idx="7" type="body"/>
          </p:nvPr>
        </p:nvSpPr>
        <p:spPr>
          <a:xfrm>
            <a:off x="925830" y="344271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23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1_TITLE_NAVY">
  <p:cSld name="S01_TITLE_NAVY">
    <p:bg>
      <p:bgPr>
        <a:solidFill>
          <a:srgbClr val="2A3480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/>
          <p:nvPr/>
        </p:nvSpPr>
        <p:spPr>
          <a:xfrm>
            <a:off x="8206283" y="-573328"/>
            <a:ext cx="1509000" cy="15090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4"/>
          <p:cNvSpPr/>
          <p:nvPr/>
        </p:nvSpPr>
        <p:spPr>
          <a:xfrm>
            <a:off x="-1508760" y="3154680"/>
            <a:ext cx="3703200" cy="3703200"/>
          </a:xfrm>
          <a:prstGeom prst="rect">
            <a:avLst/>
          </a:prstGeom>
          <a:solidFill>
            <a:srgbClr val="FFFFFF">
              <a:alpha val="784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4"/>
          <p:cNvSpPr txBox="1"/>
          <p:nvPr>
            <p:ph type="title"/>
          </p:nvPr>
        </p:nvSpPr>
        <p:spPr>
          <a:xfrm>
            <a:off x="617220" y="1577340"/>
            <a:ext cx="78867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"/>
              <a:buNone/>
              <a:defRPr b="1" i="0" sz="3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9pPr>
          </a:lstStyle>
          <a:p/>
        </p:txBody>
      </p:sp>
      <p:sp>
        <p:nvSpPr>
          <p:cNvPr id="174" name="Google Shape;174;p24"/>
          <p:cNvSpPr txBox="1"/>
          <p:nvPr>
            <p:ph idx="1" type="body"/>
          </p:nvPr>
        </p:nvSpPr>
        <p:spPr>
          <a:xfrm>
            <a:off x="617220" y="2914650"/>
            <a:ext cx="720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EC5F82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24"/>
          <p:cNvSpPr txBox="1"/>
          <p:nvPr>
            <p:ph idx="2" type="body"/>
          </p:nvPr>
        </p:nvSpPr>
        <p:spPr>
          <a:xfrm>
            <a:off x="617220" y="3257550"/>
            <a:ext cx="6652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6DAF2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76" name="Google Shape;176;p24"/>
          <p:cNvCxnSpPr/>
          <p:nvPr/>
        </p:nvCxnSpPr>
        <p:spPr>
          <a:xfrm>
            <a:off x="617220" y="3840480"/>
            <a:ext cx="2057400" cy="0"/>
          </a:xfrm>
          <a:prstGeom prst="straightConnector1">
            <a:avLst/>
          </a:prstGeom>
          <a:noFill/>
          <a:ln cap="flat" cmpd="sng" w="19050">
            <a:solidFill>
              <a:srgbClr val="EC5F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24"/>
          <p:cNvSpPr txBox="1"/>
          <p:nvPr>
            <p:ph idx="3" type="body"/>
          </p:nvPr>
        </p:nvSpPr>
        <p:spPr>
          <a:xfrm>
            <a:off x="617220" y="3977640"/>
            <a:ext cx="548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9DA3D4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8" name="Google Shape;178;p24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7_TWO_EXERCISES">
  <p:cSld name="S17_TWO_EXERCISES"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1" name="Google Shape;181;p25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9pPr>
          </a:lstStyle>
          <a:p/>
        </p:txBody>
      </p:sp>
      <p:sp>
        <p:nvSpPr>
          <p:cNvPr id="182" name="Google Shape;182;p25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ctr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3" name="Google Shape;183;p25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29348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4" name="Google Shape;184;p25"/>
          <p:cNvSpPr txBox="1"/>
          <p:nvPr>
            <p:ph idx="4" type="body"/>
          </p:nvPr>
        </p:nvSpPr>
        <p:spPr>
          <a:xfrm>
            <a:off x="411480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800"/>
              <a:buFont typeface="Arial"/>
              <a:buChar char="●"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66700" lvl="1" marL="9144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600"/>
              <a:buFont typeface="Arial"/>
              <a:buChar char="○"/>
              <a:defRPr b="0" i="0" sz="8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0350" lvl="2" marL="13716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■"/>
              <a:defRPr b="0" i="0" sz="7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60350" lvl="3" marL="18288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60350" lvl="4" marL="22860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60350" lvl="5" marL="27432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60350" lvl="6" marL="32004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60350" lvl="8" marL="4114800" marR="0" algn="l">
              <a:spcBef>
                <a:spcPts val="500"/>
              </a:spcBef>
              <a:spcAft>
                <a:spcPts val="50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5" name="Google Shape;185;p25"/>
          <p:cNvSpPr txBox="1"/>
          <p:nvPr>
            <p:ph idx="5" type="body"/>
          </p:nvPr>
        </p:nvSpPr>
        <p:spPr>
          <a:xfrm>
            <a:off x="2811780" y="1988820"/>
            <a:ext cx="150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r">
              <a:spcBef>
                <a:spcPts val="200"/>
              </a:spcBef>
              <a:spcAft>
                <a:spcPts val="0"/>
              </a:spcAft>
              <a:buClr>
                <a:srgbClr val="6B7085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6" name="Google Shape;186;p25"/>
          <p:cNvSpPr txBox="1"/>
          <p:nvPr>
            <p:ph idx="6" type="body"/>
          </p:nvPr>
        </p:nvSpPr>
        <p:spPr>
          <a:xfrm>
            <a:off x="582930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7" name="Google Shape;187;p25"/>
          <p:cNvSpPr txBox="1"/>
          <p:nvPr>
            <p:ph idx="7" type="body"/>
          </p:nvPr>
        </p:nvSpPr>
        <p:spPr>
          <a:xfrm>
            <a:off x="411480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8" name="Google Shape;188;p25"/>
          <p:cNvSpPr txBox="1"/>
          <p:nvPr>
            <p:ph idx="8" type="body"/>
          </p:nvPr>
        </p:nvSpPr>
        <p:spPr>
          <a:xfrm>
            <a:off x="411480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9" name="Google Shape;189;p25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ctr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0" name="Google Shape;190;p25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29348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1" name="Google Shape;191;p25"/>
          <p:cNvSpPr txBox="1"/>
          <p:nvPr>
            <p:ph idx="14" type="body"/>
          </p:nvPr>
        </p:nvSpPr>
        <p:spPr>
          <a:xfrm>
            <a:off x="4684014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794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800"/>
              <a:buFont typeface="Arial"/>
              <a:buChar char="●"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66700" lvl="1" marL="9144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600"/>
              <a:buFont typeface="Arial"/>
              <a:buChar char="○"/>
              <a:defRPr b="0" i="0" sz="8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0350" lvl="2" marL="13716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■"/>
              <a:defRPr b="0" i="0" sz="7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60350" lvl="3" marL="18288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60350" lvl="4" marL="22860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60350" lvl="5" marL="27432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60350" lvl="6" marL="32004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spcBef>
                <a:spcPts val="500"/>
              </a:spcBef>
              <a:spcAft>
                <a:spcPts val="0"/>
              </a:spcAft>
              <a:buClr>
                <a:srgbClr val="222540"/>
              </a:buClr>
              <a:buSzPts val="500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60350" lvl="8" marL="4114800" marR="0" algn="l">
              <a:spcBef>
                <a:spcPts val="500"/>
              </a:spcBef>
              <a:spcAft>
                <a:spcPts val="500"/>
              </a:spcAft>
              <a:buClr>
                <a:srgbClr val="222540"/>
              </a:buClr>
              <a:buSzPts val="500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2" name="Google Shape;192;p25"/>
          <p:cNvSpPr txBox="1"/>
          <p:nvPr>
            <p:ph idx="15" type="body"/>
          </p:nvPr>
        </p:nvSpPr>
        <p:spPr>
          <a:xfrm>
            <a:off x="7084314" y="1988820"/>
            <a:ext cx="150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r">
              <a:spcBef>
                <a:spcPts val="200"/>
              </a:spcBef>
              <a:spcAft>
                <a:spcPts val="0"/>
              </a:spcAft>
              <a:buClr>
                <a:srgbClr val="6B7085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3" name="Google Shape;193;p25"/>
          <p:cNvSpPr txBox="1"/>
          <p:nvPr>
            <p:ph idx="16" type="body"/>
          </p:nvPr>
        </p:nvSpPr>
        <p:spPr>
          <a:xfrm>
            <a:off x="4855464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4" name="Google Shape;194;p25"/>
          <p:cNvSpPr txBox="1"/>
          <p:nvPr>
            <p:ph idx="17" type="body"/>
          </p:nvPr>
        </p:nvSpPr>
        <p:spPr>
          <a:xfrm>
            <a:off x="4684014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5" name="Google Shape;195;p25"/>
          <p:cNvSpPr txBox="1"/>
          <p:nvPr>
            <p:ph idx="18" type="body"/>
          </p:nvPr>
        </p:nvSpPr>
        <p:spPr>
          <a:xfrm>
            <a:off x="4684014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6" name="Google Shape;196;p25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57b6d7e07322b89d_8_0)">
  <p:cSld name="Generated (h57b6d7e07322b89d_8_0)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1_TITLE_NAVY">
  <p:cSld name="S01_TITLE_NAVY">
    <p:bg>
      <p:bgPr>
        <a:solidFill>
          <a:srgbClr val="2A3480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/>
          <p:nvPr/>
        </p:nvSpPr>
        <p:spPr>
          <a:xfrm>
            <a:off x="8206283" y="-573328"/>
            <a:ext cx="1509000" cy="15090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8"/>
          <p:cNvSpPr/>
          <p:nvPr/>
        </p:nvSpPr>
        <p:spPr>
          <a:xfrm>
            <a:off x="-1508760" y="3154680"/>
            <a:ext cx="3703200" cy="3703200"/>
          </a:xfrm>
          <a:prstGeom prst="rect">
            <a:avLst/>
          </a:prstGeom>
          <a:solidFill>
            <a:srgbClr val="FFFFFF">
              <a:alpha val="784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8"/>
          <p:cNvSpPr txBox="1"/>
          <p:nvPr>
            <p:ph type="title"/>
          </p:nvPr>
        </p:nvSpPr>
        <p:spPr>
          <a:xfrm>
            <a:off x="617220" y="1577340"/>
            <a:ext cx="78867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"/>
              <a:buNone/>
              <a:defRPr b="1" i="0" sz="3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04" name="Google Shape;204;p28"/>
          <p:cNvSpPr txBox="1"/>
          <p:nvPr>
            <p:ph idx="1" type="body"/>
          </p:nvPr>
        </p:nvSpPr>
        <p:spPr>
          <a:xfrm>
            <a:off x="617220" y="2914650"/>
            <a:ext cx="720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EC5F82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2" type="body"/>
          </p:nvPr>
        </p:nvSpPr>
        <p:spPr>
          <a:xfrm>
            <a:off x="617220" y="3257550"/>
            <a:ext cx="6652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6DAF2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206" name="Google Shape;206;p28"/>
          <p:cNvCxnSpPr/>
          <p:nvPr/>
        </p:nvCxnSpPr>
        <p:spPr>
          <a:xfrm>
            <a:off x="617220" y="3840480"/>
            <a:ext cx="2057400" cy="0"/>
          </a:xfrm>
          <a:prstGeom prst="straightConnector1">
            <a:avLst/>
          </a:prstGeom>
          <a:noFill/>
          <a:ln cap="flat" cmpd="sng" w="19050">
            <a:solidFill>
              <a:srgbClr val="EC5F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28"/>
          <p:cNvSpPr txBox="1"/>
          <p:nvPr>
            <p:ph idx="3" type="body"/>
          </p:nvPr>
        </p:nvSpPr>
        <p:spPr>
          <a:xfrm>
            <a:off x="617220" y="3977640"/>
            <a:ext cx="548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9DA3D4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3_FOUR_CARDS">
  <p:cSld name="S03_FOUR_CARDS"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1" name="Google Shape;211;p29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12" name="Google Shape;212;p29"/>
          <p:cNvSpPr/>
          <p:nvPr/>
        </p:nvSpPr>
        <p:spPr>
          <a:xfrm>
            <a:off x="411480" y="1062990"/>
            <a:ext cx="1954500" cy="30861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9"/>
          <p:cNvSpPr/>
          <p:nvPr/>
        </p:nvSpPr>
        <p:spPr>
          <a:xfrm>
            <a:off x="582930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9"/>
          <p:cNvSpPr/>
          <p:nvPr/>
        </p:nvSpPr>
        <p:spPr>
          <a:xfrm>
            <a:off x="582930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9"/>
          <p:cNvSpPr txBox="1"/>
          <p:nvPr>
            <p:ph idx="2" type="body"/>
          </p:nvPr>
        </p:nvSpPr>
        <p:spPr>
          <a:xfrm>
            <a:off x="582930" y="1748790"/>
            <a:ext cx="1611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6" name="Google Shape;216;p29"/>
          <p:cNvSpPr txBox="1"/>
          <p:nvPr>
            <p:ph idx="3" type="body"/>
          </p:nvPr>
        </p:nvSpPr>
        <p:spPr>
          <a:xfrm>
            <a:off x="582930" y="2263140"/>
            <a:ext cx="16116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7" name="Google Shape;217;p29"/>
          <p:cNvSpPr/>
          <p:nvPr/>
        </p:nvSpPr>
        <p:spPr>
          <a:xfrm>
            <a:off x="2558034" y="1062990"/>
            <a:ext cx="1954500" cy="30861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9"/>
          <p:cNvSpPr/>
          <p:nvPr/>
        </p:nvSpPr>
        <p:spPr>
          <a:xfrm>
            <a:off x="2729484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9"/>
          <p:cNvSpPr/>
          <p:nvPr/>
        </p:nvSpPr>
        <p:spPr>
          <a:xfrm>
            <a:off x="2729484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9"/>
          <p:cNvSpPr txBox="1"/>
          <p:nvPr>
            <p:ph idx="4" type="body"/>
          </p:nvPr>
        </p:nvSpPr>
        <p:spPr>
          <a:xfrm>
            <a:off x="2729484" y="1748790"/>
            <a:ext cx="1611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1" name="Google Shape;221;p29"/>
          <p:cNvSpPr txBox="1"/>
          <p:nvPr>
            <p:ph idx="5" type="body"/>
          </p:nvPr>
        </p:nvSpPr>
        <p:spPr>
          <a:xfrm>
            <a:off x="2729484" y="2263140"/>
            <a:ext cx="16116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2" name="Google Shape;222;p29"/>
          <p:cNvSpPr/>
          <p:nvPr/>
        </p:nvSpPr>
        <p:spPr>
          <a:xfrm>
            <a:off x="4704588" y="1062990"/>
            <a:ext cx="1954500" cy="30861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9"/>
          <p:cNvSpPr/>
          <p:nvPr/>
        </p:nvSpPr>
        <p:spPr>
          <a:xfrm>
            <a:off x="4876038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9"/>
          <p:cNvSpPr/>
          <p:nvPr/>
        </p:nvSpPr>
        <p:spPr>
          <a:xfrm>
            <a:off x="4876038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9"/>
          <p:cNvSpPr txBox="1"/>
          <p:nvPr>
            <p:ph idx="6" type="body"/>
          </p:nvPr>
        </p:nvSpPr>
        <p:spPr>
          <a:xfrm>
            <a:off x="4876038" y="1748790"/>
            <a:ext cx="1611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6" name="Google Shape;226;p29"/>
          <p:cNvSpPr txBox="1"/>
          <p:nvPr>
            <p:ph idx="7" type="body"/>
          </p:nvPr>
        </p:nvSpPr>
        <p:spPr>
          <a:xfrm>
            <a:off x="4876038" y="2263140"/>
            <a:ext cx="16116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7" name="Google Shape;227;p29"/>
          <p:cNvSpPr/>
          <p:nvPr/>
        </p:nvSpPr>
        <p:spPr>
          <a:xfrm>
            <a:off x="6851142" y="1062990"/>
            <a:ext cx="1954500" cy="30861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9"/>
          <p:cNvSpPr/>
          <p:nvPr/>
        </p:nvSpPr>
        <p:spPr>
          <a:xfrm>
            <a:off x="7022592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9"/>
          <p:cNvSpPr/>
          <p:nvPr/>
        </p:nvSpPr>
        <p:spPr>
          <a:xfrm>
            <a:off x="7022592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9"/>
          <p:cNvSpPr txBox="1"/>
          <p:nvPr>
            <p:ph idx="8" type="body"/>
          </p:nvPr>
        </p:nvSpPr>
        <p:spPr>
          <a:xfrm>
            <a:off x="7022592" y="1748790"/>
            <a:ext cx="1611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1" name="Google Shape;231;p29"/>
          <p:cNvSpPr txBox="1"/>
          <p:nvPr>
            <p:ph idx="9" type="body"/>
          </p:nvPr>
        </p:nvSpPr>
        <p:spPr>
          <a:xfrm>
            <a:off x="7022592" y="2263140"/>
            <a:ext cx="16116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2" name="Google Shape;232;p29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4_SECTION_BREAK_NAVY">
  <p:cSld name="S14_SECTION_BREAK_NAVY">
    <p:bg>
      <p:bgPr>
        <a:solidFill>
          <a:srgbClr val="2A3480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/>
          <p:nvPr/>
        </p:nvSpPr>
        <p:spPr>
          <a:xfrm>
            <a:off x="8291322" y="-521208"/>
            <a:ext cx="1371600" cy="13716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0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b="1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36" name="Google Shape;236;p30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EC5F82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7" name="Google Shape;237;p30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6DAF2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8" name="Google Shape;238;p30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2_CONTENT_BULLETS">
  <p:cSld name="S02_CONTENT_BULLETS"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1" name="Google Shape;241;p31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42" name="Google Shape;242;p31"/>
          <p:cNvSpPr txBox="1"/>
          <p:nvPr>
            <p:ph idx="2" type="body"/>
          </p:nvPr>
        </p:nvSpPr>
        <p:spPr>
          <a:xfrm>
            <a:off x="480060" y="1062990"/>
            <a:ext cx="8160900" cy="29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3" name="Google Shape;243;p31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6_SPLIT_PANEL">
  <p:cSld name="S06_SPLIT_PANEL"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"/>
          <p:cNvSpPr/>
          <p:nvPr/>
        </p:nvSpPr>
        <p:spPr>
          <a:xfrm>
            <a:off x="4570857" y="0"/>
            <a:ext cx="4570800" cy="51435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2"/>
          <p:cNvSpPr txBox="1"/>
          <p:nvPr>
            <p:ph type="title"/>
          </p:nvPr>
        </p:nvSpPr>
        <p:spPr>
          <a:xfrm>
            <a:off x="411480" y="219456"/>
            <a:ext cx="3909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47" name="Google Shape;247;p32"/>
          <p:cNvSpPr txBox="1"/>
          <p:nvPr>
            <p:ph idx="1" type="body"/>
          </p:nvPr>
        </p:nvSpPr>
        <p:spPr>
          <a:xfrm>
            <a:off x="411480" y="617220"/>
            <a:ext cx="3909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8" name="Google Shape;248;p32"/>
          <p:cNvSpPr txBox="1"/>
          <p:nvPr>
            <p:ph idx="2" type="body"/>
          </p:nvPr>
        </p:nvSpPr>
        <p:spPr>
          <a:xfrm>
            <a:off x="411480" y="1062990"/>
            <a:ext cx="390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29348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9" name="Google Shape;249;p32"/>
          <p:cNvSpPr txBox="1"/>
          <p:nvPr>
            <p:ph idx="3" type="body"/>
          </p:nvPr>
        </p:nvSpPr>
        <p:spPr>
          <a:xfrm>
            <a:off x="411480" y="1371600"/>
            <a:ext cx="39093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0" name="Google Shape;250;p32"/>
          <p:cNvSpPr txBox="1"/>
          <p:nvPr>
            <p:ph idx="4" type="body"/>
          </p:nvPr>
        </p:nvSpPr>
        <p:spPr>
          <a:xfrm>
            <a:off x="411480" y="4526280"/>
            <a:ext cx="3909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800"/>
              <a:buFont typeface="Arial"/>
              <a:buNone/>
              <a:defRPr b="0" i="1" sz="8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32"/>
          <p:cNvSpPr txBox="1"/>
          <p:nvPr>
            <p:ph idx="5" type="title"/>
          </p:nvPr>
        </p:nvSpPr>
        <p:spPr>
          <a:xfrm>
            <a:off x="4879467" y="219456"/>
            <a:ext cx="3953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52" name="Google Shape;252;p32"/>
          <p:cNvSpPr txBox="1"/>
          <p:nvPr>
            <p:ph idx="6" type="body"/>
          </p:nvPr>
        </p:nvSpPr>
        <p:spPr>
          <a:xfrm>
            <a:off x="4879467" y="617220"/>
            <a:ext cx="3953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EC5F82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3" name="Google Shape;253;p32"/>
          <p:cNvSpPr txBox="1"/>
          <p:nvPr>
            <p:ph idx="7" type="body"/>
          </p:nvPr>
        </p:nvSpPr>
        <p:spPr>
          <a:xfrm>
            <a:off x="4879467" y="1062990"/>
            <a:ext cx="3953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4" name="Google Shape;254;p32"/>
          <p:cNvSpPr txBox="1"/>
          <p:nvPr>
            <p:ph idx="8" type="body"/>
          </p:nvPr>
        </p:nvSpPr>
        <p:spPr>
          <a:xfrm>
            <a:off x="4879467" y="1371600"/>
            <a:ext cx="39537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marR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5" name="Google Shape;255;p32"/>
          <p:cNvSpPr txBox="1"/>
          <p:nvPr>
            <p:ph idx="9" type="body"/>
          </p:nvPr>
        </p:nvSpPr>
        <p:spPr>
          <a:xfrm>
            <a:off x="4810887" y="822960"/>
            <a:ext cx="40908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6" name="Google Shape;256;p32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3_FIVE_CARDS">
  <p:cSld name="S13_FIVE_CARDS"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3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9" name="Google Shape;259;p33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60" name="Google Shape;260;p33"/>
          <p:cNvSpPr/>
          <p:nvPr/>
        </p:nvSpPr>
        <p:spPr>
          <a:xfrm>
            <a:off x="411480" y="1062990"/>
            <a:ext cx="1563600" cy="267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3"/>
          <p:cNvSpPr/>
          <p:nvPr/>
        </p:nvSpPr>
        <p:spPr>
          <a:xfrm>
            <a:off x="5623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3"/>
          <p:cNvSpPr/>
          <p:nvPr/>
        </p:nvSpPr>
        <p:spPr>
          <a:xfrm>
            <a:off x="5623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3"/>
          <p:cNvSpPr txBox="1"/>
          <p:nvPr>
            <p:ph idx="2" type="body"/>
          </p:nvPr>
        </p:nvSpPr>
        <p:spPr>
          <a:xfrm>
            <a:off x="5623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4" name="Google Shape;264;p33"/>
          <p:cNvSpPr txBox="1"/>
          <p:nvPr>
            <p:ph idx="3" type="body"/>
          </p:nvPr>
        </p:nvSpPr>
        <p:spPr>
          <a:xfrm>
            <a:off x="562356" y="2228850"/>
            <a:ext cx="12618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5" name="Google Shape;265;p33"/>
          <p:cNvSpPr/>
          <p:nvPr/>
        </p:nvSpPr>
        <p:spPr>
          <a:xfrm>
            <a:off x="2125980" y="1062990"/>
            <a:ext cx="1563600" cy="26745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3"/>
          <p:cNvSpPr/>
          <p:nvPr/>
        </p:nvSpPr>
        <p:spPr>
          <a:xfrm>
            <a:off x="22768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3"/>
          <p:cNvSpPr/>
          <p:nvPr/>
        </p:nvSpPr>
        <p:spPr>
          <a:xfrm>
            <a:off x="22768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3"/>
          <p:cNvSpPr txBox="1"/>
          <p:nvPr>
            <p:ph idx="4" type="body"/>
          </p:nvPr>
        </p:nvSpPr>
        <p:spPr>
          <a:xfrm>
            <a:off x="22768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9" name="Google Shape;269;p33"/>
          <p:cNvSpPr txBox="1"/>
          <p:nvPr>
            <p:ph idx="5" type="body"/>
          </p:nvPr>
        </p:nvSpPr>
        <p:spPr>
          <a:xfrm>
            <a:off x="2276856" y="2228850"/>
            <a:ext cx="12618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0" name="Google Shape;270;p33"/>
          <p:cNvSpPr/>
          <p:nvPr/>
        </p:nvSpPr>
        <p:spPr>
          <a:xfrm>
            <a:off x="3840480" y="1062990"/>
            <a:ext cx="1563600" cy="267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3"/>
          <p:cNvSpPr/>
          <p:nvPr/>
        </p:nvSpPr>
        <p:spPr>
          <a:xfrm>
            <a:off x="39913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3"/>
          <p:cNvSpPr/>
          <p:nvPr/>
        </p:nvSpPr>
        <p:spPr>
          <a:xfrm>
            <a:off x="39913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3"/>
          <p:cNvSpPr txBox="1"/>
          <p:nvPr>
            <p:ph idx="6" type="body"/>
          </p:nvPr>
        </p:nvSpPr>
        <p:spPr>
          <a:xfrm>
            <a:off x="39913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4" name="Google Shape;274;p33"/>
          <p:cNvSpPr txBox="1"/>
          <p:nvPr>
            <p:ph idx="7" type="body"/>
          </p:nvPr>
        </p:nvSpPr>
        <p:spPr>
          <a:xfrm>
            <a:off x="3991356" y="2228850"/>
            <a:ext cx="12618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5" name="Google Shape;275;p33"/>
          <p:cNvSpPr/>
          <p:nvPr/>
        </p:nvSpPr>
        <p:spPr>
          <a:xfrm>
            <a:off x="5554980" y="1062990"/>
            <a:ext cx="1563600" cy="26745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3"/>
          <p:cNvSpPr/>
          <p:nvPr/>
        </p:nvSpPr>
        <p:spPr>
          <a:xfrm>
            <a:off x="57058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3"/>
          <p:cNvSpPr/>
          <p:nvPr/>
        </p:nvSpPr>
        <p:spPr>
          <a:xfrm>
            <a:off x="57058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3"/>
          <p:cNvSpPr txBox="1"/>
          <p:nvPr>
            <p:ph idx="8" type="body"/>
          </p:nvPr>
        </p:nvSpPr>
        <p:spPr>
          <a:xfrm>
            <a:off x="57058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9" name="Google Shape;279;p33"/>
          <p:cNvSpPr txBox="1"/>
          <p:nvPr>
            <p:ph idx="9" type="body"/>
          </p:nvPr>
        </p:nvSpPr>
        <p:spPr>
          <a:xfrm>
            <a:off x="5705856" y="2228850"/>
            <a:ext cx="12618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0" name="Google Shape;280;p33"/>
          <p:cNvSpPr/>
          <p:nvPr/>
        </p:nvSpPr>
        <p:spPr>
          <a:xfrm>
            <a:off x="7269480" y="1062990"/>
            <a:ext cx="1563600" cy="267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3"/>
          <p:cNvSpPr/>
          <p:nvPr/>
        </p:nvSpPr>
        <p:spPr>
          <a:xfrm>
            <a:off x="74203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3"/>
          <p:cNvSpPr/>
          <p:nvPr/>
        </p:nvSpPr>
        <p:spPr>
          <a:xfrm>
            <a:off x="74203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3"/>
          <p:cNvSpPr txBox="1"/>
          <p:nvPr>
            <p:ph idx="13" type="body"/>
          </p:nvPr>
        </p:nvSpPr>
        <p:spPr>
          <a:xfrm>
            <a:off x="74203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4" name="Google Shape;284;p33"/>
          <p:cNvSpPr txBox="1"/>
          <p:nvPr>
            <p:ph idx="14" type="body"/>
          </p:nvPr>
        </p:nvSpPr>
        <p:spPr>
          <a:xfrm>
            <a:off x="7420356" y="2228850"/>
            <a:ext cx="12618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5" name="Google Shape;285;p33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5_TWO_COLUMN_COMPARE">
  <p:cSld name="S05_TWO_COLUMN_COMPARE"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8" name="Google Shape;288;p34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89" name="Google Shape;289;p34"/>
          <p:cNvSpPr/>
          <p:nvPr/>
        </p:nvSpPr>
        <p:spPr>
          <a:xfrm>
            <a:off x="411480" y="1062990"/>
            <a:ext cx="4046100" cy="2880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4"/>
          <p:cNvSpPr txBox="1"/>
          <p:nvPr>
            <p:ph idx="2" type="body"/>
          </p:nvPr>
        </p:nvSpPr>
        <p:spPr>
          <a:xfrm>
            <a:off x="651510" y="1234440"/>
            <a:ext cx="356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6B7085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34"/>
          <p:cNvSpPr txBox="1"/>
          <p:nvPr>
            <p:ph idx="3" type="body"/>
          </p:nvPr>
        </p:nvSpPr>
        <p:spPr>
          <a:xfrm>
            <a:off x="651510" y="1611630"/>
            <a:ext cx="35664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34"/>
          <p:cNvSpPr/>
          <p:nvPr/>
        </p:nvSpPr>
        <p:spPr>
          <a:xfrm>
            <a:off x="4663440" y="1062990"/>
            <a:ext cx="4046100" cy="28806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4"/>
          <p:cNvSpPr txBox="1"/>
          <p:nvPr>
            <p:ph idx="4" type="body"/>
          </p:nvPr>
        </p:nvSpPr>
        <p:spPr>
          <a:xfrm>
            <a:off x="4903470" y="1234440"/>
            <a:ext cx="356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4" name="Google Shape;294;p34"/>
          <p:cNvSpPr txBox="1"/>
          <p:nvPr>
            <p:ph idx="5" type="body"/>
          </p:nvPr>
        </p:nvSpPr>
        <p:spPr>
          <a:xfrm>
            <a:off x="4903470" y="1611630"/>
            <a:ext cx="3566400" cy="21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5" name="Google Shape;295;p34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9_NUMBERED_ROWS_3">
  <p:cSld name="S09_NUMBERED_ROWS_3"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5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8" name="Google Shape;298;p35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99" name="Google Shape;299;p35"/>
          <p:cNvSpPr/>
          <p:nvPr/>
        </p:nvSpPr>
        <p:spPr>
          <a:xfrm>
            <a:off x="411480" y="12001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5"/>
          <p:cNvSpPr/>
          <p:nvPr/>
        </p:nvSpPr>
        <p:spPr>
          <a:xfrm>
            <a:off x="411480" y="12001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5"/>
          <p:cNvSpPr txBox="1"/>
          <p:nvPr>
            <p:ph idx="2" type="body"/>
          </p:nvPr>
        </p:nvSpPr>
        <p:spPr>
          <a:xfrm>
            <a:off x="925830" y="10972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35"/>
          <p:cNvSpPr txBox="1"/>
          <p:nvPr>
            <p:ph idx="3" type="body"/>
          </p:nvPr>
        </p:nvSpPr>
        <p:spPr>
          <a:xfrm>
            <a:off x="925830" y="138531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35"/>
          <p:cNvSpPr/>
          <p:nvPr/>
        </p:nvSpPr>
        <p:spPr>
          <a:xfrm>
            <a:off x="411480" y="22288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5"/>
          <p:cNvSpPr/>
          <p:nvPr/>
        </p:nvSpPr>
        <p:spPr>
          <a:xfrm>
            <a:off x="411480" y="22288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5"/>
          <p:cNvSpPr txBox="1"/>
          <p:nvPr>
            <p:ph idx="4" type="body"/>
          </p:nvPr>
        </p:nvSpPr>
        <p:spPr>
          <a:xfrm>
            <a:off x="925830" y="21259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6" name="Google Shape;306;p35"/>
          <p:cNvSpPr txBox="1"/>
          <p:nvPr>
            <p:ph idx="5" type="body"/>
          </p:nvPr>
        </p:nvSpPr>
        <p:spPr>
          <a:xfrm>
            <a:off x="925830" y="241401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7" name="Google Shape;307;p35"/>
          <p:cNvSpPr/>
          <p:nvPr/>
        </p:nvSpPr>
        <p:spPr>
          <a:xfrm>
            <a:off x="411480" y="32575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5"/>
          <p:cNvSpPr/>
          <p:nvPr/>
        </p:nvSpPr>
        <p:spPr>
          <a:xfrm>
            <a:off x="411480" y="32575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5"/>
          <p:cNvSpPr txBox="1"/>
          <p:nvPr>
            <p:ph idx="6" type="body"/>
          </p:nvPr>
        </p:nvSpPr>
        <p:spPr>
          <a:xfrm>
            <a:off x="925830" y="31546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0" name="Google Shape;310;p35"/>
          <p:cNvSpPr txBox="1"/>
          <p:nvPr>
            <p:ph idx="7" type="body"/>
          </p:nvPr>
        </p:nvSpPr>
        <p:spPr>
          <a:xfrm>
            <a:off x="925830" y="344271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1" name="Google Shape;311;p35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0_NUMBERED_ROWS_4">
  <p:cSld name="S10_NUMBERED_ROWS_4"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6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6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300"/>
              <a:buFont typeface="Roboto"/>
              <a:buNone/>
              <a:defRPr b="1" i="0" sz="23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15" name="Google Shape;315;p36"/>
          <p:cNvSpPr/>
          <p:nvPr/>
        </p:nvSpPr>
        <p:spPr>
          <a:xfrm>
            <a:off x="411480" y="114528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6"/>
          <p:cNvSpPr/>
          <p:nvPr/>
        </p:nvSpPr>
        <p:spPr>
          <a:xfrm>
            <a:off x="411480" y="114528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6"/>
          <p:cNvSpPr txBox="1"/>
          <p:nvPr>
            <p:ph idx="2" type="body"/>
          </p:nvPr>
        </p:nvSpPr>
        <p:spPr>
          <a:xfrm>
            <a:off x="925830" y="106299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8" name="Google Shape;318;p36"/>
          <p:cNvSpPr txBox="1"/>
          <p:nvPr>
            <p:ph idx="3" type="body"/>
          </p:nvPr>
        </p:nvSpPr>
        <p:spPr>
          <a:xfrm>
            <a:off x="925830" y="135102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9" name="Google Shape;319;p36"/>
          <p:cNvSpPr/>
          <p:nvPr/>
        </p:nvSpPr>
        <p:spPr>
          <a:xfrm>
            <a:off x="411480" y="203682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6"/>
          <p:cNvSpPr/>
          <p:nvPr/>
        </p:nvSpPr>
        <p:spPr>
          <a:xfrm>
            <a:off x="411480" y="203682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6"/>
          <p:cNvSpPr txBox="1"/>
          <p:nvPr>
            <p:ph idx="4" type="body"/>
          </p:nvPr>
        </p:nvSpPr>
        <p:spPr>
          <a:xfrm>
            <a:off x="925830" y="195453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2" name="Google Shape;322;p36"/>
          <p:cNvSpPr txBox="1"/>
          <p:nvPr>
            <p:ph idx="5" type="body"/>
          </p:nvPr>
        </p:nvSpPr>
        <p:spPr>
          <a:xfrm>
            <a:off x="925830" y="224256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6"/>
          <p:cNvSpPr/>
          <p:nvPr/>
        </p:nvSpPr>
        <p:spPr>
          <a:xfrm>
            <a:off x="411480" y="29283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6"/>
          <p:cNvSpPr/>
          <p:nvPr/>
        </p:nvSpPr>
        <p:spPr>
          <a:xfrm>
            <a:off x="411480" y="29283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6"/>
          <p:cNvSpPr txBox="1"/>
          <p:nvPr>
            <p:ph idx="6" type="body"/>
          </p:nvPr>
        </p:nvSpPr>
        <p:spPr>
          <a:xfrm>
            <a:off x="925830" y="284607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6" name="Google Shape;326;p36"/>
          <p:cNvSpPr txBox="1"/>
          <p:nvPr>
            <p:ph idx="7" type="body"/>
          </p:nvPr>
        </p:nvSpPr>
        <p:spPr>
          <a:xfrm>
            <a:off x="925830" y="313410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7" name="Google Shape;327;p36"/>
          <p:cNvSpPr/>
          <p:nvPr/>
        </p:nvSpPr>
        <p:spPr>
          <a:xfrm>
            <a:off x="411480" y="381990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6"/>
          <p:cNvSpPr/>
          <p:nvPr/>
        </p:nvSpPr>
        <p:spPr>
          <a:xfrm>
            <a:off x="411480" y="381990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6"/>
          <p:cNvSpPr txBox="1"/>
          <p:nvPr>
            <p:ph idx="8" type="body"/>
          </p:nvPr>
        </p:nvSpPr>
        <p:spPr>
          <a:xfrm>
            <a:off x="925830" y="373761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0" name="Google Shape;330;p36"/>
          <p:cNvSpPr txBox="1"/>
          <p:nvPr>
            <p:ph idx="9" type="body"/>
          </p:nvPr>
        </p:nvSpPr>
        <p:spPr>
          <a:xfrm>
            <a:off x="925830" y="402564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1" name="Google Shape;331;p36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6_CLOSING_NAVY">
  <p:cSld name="S16_CLOSING_NAVY">
    <p:bg>
      <p:bgPr>
        <a:solidFill>
          <a:srgbClr val="2A3480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7"/>
          <p:cNvSpPr/>
          <p:nvPr/>
        </p:nvSpPr>
        <p:spPr>
          <a:xfrm>
            <a:off x="8291322" y="-521208"/>
            <a:ext cx="1371600" cy="13716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7"/>
          <p:cNvSpPr/>
          <p:nvPr/>
        </p:nvSpPr>
        <p:spPr>
          <a:xfrm>
            <a:off x="-1234440" y="3223260"/>
            <a:ext cx="3429000" cy="3429000"/>
          </a:xfrm>
          <a:prstGeom prst="rect">
            <a:avLst/>
          </a:prstGeom>
          <a:solidFill>
            <a:srgbClr val="FFFFFF">
              <a:alpha val="784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7"/>
          <p:cNvSpPr txBox="1"/>
          <p:nvPr>
            <p:ph type="title"/>
          </p:nvPr>
        </p:nvSpPr>
        <p:spPr>
          <a:xfrm>
            <a:off x="617220" y="1851660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"/>
              <a:buNone/>
              <a:defRPr b="1" i="0" sz="3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36" name="Google Shape;336;p37"/>
          <p:cNvSpPr txBox="1"/>
          <p:nvPr>
            <p:ph idx="1" type="body"/>
          </p:nvPr>
        </p:nvSpPr>
        <p:spPr>
          <a:xfrm>
            <a:off x="617220" y="2537460"/>
            <a:ext cx="6515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D6DAF2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337" name="Google Shape;337;p37"/>
          <p:cNvCxnSpPr/>
          <p:nvPr/>
        </p:nvCxnSpPr>
        <p:spPr>
          <a:xfrm>
            <a:off x="617220" y="3223260"/>
            <a:ext cx="2057400" cy="0"/>
          </a:xfrm>
          <a:prstGeom prst="straightConnector1">
            <a:avLst/>
          </a:prstGeom>
          <a:noFill/>
          <a:ln cap="flat" cmpd="sng" w="19050">
            <a:solidFill>
              <a:srgbClr val="EC5F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" name="Google Shape;338;p37"/>
          <p:cNvSpPr txBox="1"/>
          <p:nvPr>
            <p:ph idx="2" type="body"/>
          </p:nvPr>
        </p:nvSpPr>
        <p:spPr>
          <a:xfrm>
            <a:off x="617220" y="3394710"/>
            <a:ext cx="6172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9DA3D4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9" name="Google Shape;339;p37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4_THREE_CARDS_ROADMAP">
  <p:cSld name="S04_THREE_CARDS_ROADMAP">
    <p:bg>
      <p:bgPr>
        <a:solidFill>
          <a:srgbClr val="FFFFFF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9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3" name="Google Shape;343;p39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44" name="Google Shape;344;p39"/>
          <p:cNvSpPr/>
          <p:nvPr/>
        </p:nvSpPr>
        <p:spPr>
          <a:xfrm>
            <a:off x="411480" y="1062990"/>
            <a:ext cx="2640300" cy="21948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9"/>
          <p:cNvSpPr/>
          <p:nvPr/>
        </p:nvSpPr>
        <p:spPr>
          <a:xfrm>
            <a:off x="582930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9"/>
          <p:cNvSpPr/>
          <p:nvPr/>
        </p:nvSpPr>
        <p:spPr>
          <a:xfrm>
            <a:off x="582930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9"/>
          <p:cNvSpPr txBox="1"/>
          <p:nvPr>
            <p:ph idx="2" type="body"/>
          </p:nvPr>
        </p:nvSpPr>
        <p:spPr>
          <a:xfrm>
            <a:off x="582930" y="1748790"/>
            <a:ext cx="229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29348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8" name="Google Shape;348;p39"/>
          <p:cNvSpPr txBox="1"/>
          <p:nvPr>
            <p:ph idx="3" type="body"/>
          </p:nvPr>
        </p:nvSpPr>
        <p:spPr>
          <a:xfrm>
            <a:off x="582930" y="2125980"/>
            <a:ext cx="2297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9" name="Google Shape;349;p39"/>
          <p:cNvSpPr/>
          <p:nvPr/>
        </p:nvSpPr>
        <p:spPr>
          <a:xfrm>
            <a:off x="3257550" y="1062990"/>
            <a:ext cx="2640300" cy="21948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9"/>
          <p:cNvSpPr/>
          <p:nvPr/>
        </p:nvSpPr>
        <p:spPr>
          <a:xfrm>
            <a:off x="3429000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9"/>
          <p:cNvSpPr/>
          <p:nvPr/>
        </p:nvSpPr>
        <p:spPr>
          <a:xfrm>
            <a:off x="3429000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9"/>
          <p:cNvSpPr txBox="1"/>
          <p:nvPr>
            <p:ph idx="4" type="body"/>
          </p:nvPr>
        </p:nvSpPr>
        <p:spPr>
          <a:xfrm>
            <a:off x="3429000" y="1748790"/>
            <a:ext cx="229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29348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3" name="Google Shape;353;p39"/>
          <p:cNvSpPr txBox="1"/>
          <p:nvPr>
            <p:ph idx="5" type="body"/>
          </p:nvPr>
        </p:nvSpPr>
        <p:spPr>
          <a:xfrm>
            <a:off x="3429000" y="2125980"/>
            <a:ext cx="2297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4" name="Google Shape;354;p39"/>
          <p:cNvSpPr/>
          <p:nvPr/>
        </p:nvSpPr>
        <p:spPr>
          <a:xfrm>
            <a:off x="6103620" y="1062990"/>
            <a:ext cx="2640300" cy="21948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9"/>
          <p:cNvSpPr/>
          <p:nvPr/>
        </p:nvSpPr>
        <p:spPr>
          <a:xfrm>
            <a:off x="6275070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9"/>
          <p:cNvSpPr/>
          <p:nvPr/>
        </p:nvSpPr>
        <p:spPr>
          <a:xfrm>
            <a:off x="6275070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9"/>
          <p:cNvSpPr txBox="1"/>
          <p:nvPr>
            <p:ph idx="6" type="body"/>
          </p:nvPr>
        </p:nvSpPr>
        <p:spPr>
          <a:xfrm>
            <a:off x="6275070" y="1748790"/>
            <a:ext cx="229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29348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8" name="Google Shape;358;p39"/>
          <p:cNvSpPr txBox="1"/>
          <p:nvPr>
            <p:ph idx="7" type="body"/>
          </p:nvPr>
        </p:nvSpPr>
        <p:spPr>
          <a:xfrm>
            <a:off x="6275070" y="2125980"/>
            <a:ext cx="2297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9" name="Google Shape;359;p39"/>
          <p:cNvSpPr txBox="1"/>
          <p:nvPr>
            <p:ph idx="8" type="body"/>
          </p:nvPr>
        </p:nvSpPr>
        <p:spPr>
          <a:xfrm>
            <a:off x="411480" y="3497580"/>
            <a:ext cx="829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0" name="Google Shape;360;p39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7_EXERCISE">
  <p:cSld name="S07_EXERCISE"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0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3" name="Google Shape;363;p40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64" name="Google Shape;364;p40"/>
          <p:cNvSpPr txBox="1"/>
          <p:nvPr>
            <p:ph idx="2" type="body"/>
          </p:nvPr>
        </p:nvSpPr>
        <p:spPr>
          <a:xfrm>
            <a:off x="411480" y="1062990"/>
            <a:ext cx="4731900" cy="30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5" name="Google Shape;365;p40"/>
          <p:cNvSpPr txBox="1"/>
          <p:nvPr>
            <p:ph idx="3" type="body"/>
          </p:nvPr>
        </p:nvSpPr>
        <p:spPr>
          <a:xfrm>
            <a:off x="5417820" y="106299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300"/>
              </a:spcBef>
              <a:spcAft>
                <a:spcPts val="0"/>
              </a:spcAft>
              <a:buClr>
                <a:srgbClr val="29348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6" name="Google Shape;366;p40"/>
          <p:cNvSpPr txBox="1"/>
          <p:nvPr>
            <p:ph idx="4" type="body"/>
          </p:nvPr>
        </p:nvSpPr>
        <p:spPr>
          <a:xfrm>
            <a:off x="5417820" y="137160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7" name="Google Shape;367;p40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8_FLOW_DIAGRAM">
  <p:cSld name="S08_FLOW_DIAGRAM">
    <p:bg>
      <p:bgPr>
        <a:solidFill>
          <a:srgbClr val="FFFFFF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1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0" name="Google Shape;370;p41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71" name="Google Shape;371;p41"/>
          <p:cNvSpPr/>
          <p:nvPr/>
        </p:nvSpPr>
        <p:spPr>
          <a:xfrm>
            <a:off x="480060" y="1200150"/>
            <a:ext cx="1783200" cy="10287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41"/>
          <p:cNvSpPr txBox="1"/>
          <p:nvPr>
            <p:ph idx="2" type="body"/>
          </p:nvPr>
        </p:nvSpPr>
        <p:spPr>
          <a:xfrm>
            <a:off x="54864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3" name="Google Shape;373;p41"/>
          <p:cNvSpPr/>
          <p:nvPr/>
        </p:nvSpPr>
        <p:spPr>
          <a:xfrm>
            <a:off x="2297430" y="1508760"/>
            <a:ext cx="34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800"/>
              <a:buFont typeface="Roboto"/>
              <a:buNone/>
            </a:pPr>
            <a:r>
              <a:rPr lang="en" sz="180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41"/>
          <p:cNvSpPr/>
          <p:nvPr/>
        </p:nvSpPr>
        <p:spPr>
          <a:xfrm>
            <a:off x="2640330" y="1200150"/>
            <a:ext cx="1783200" cy="10287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1"/>
          <p:cNvSpPr txBox="1"/>
          <p:nvPr>
            <p:ph idx="3" type="body"/>
          </p:nvPr>
        </p:nvSpPr>
        <p:spPr>
          <a:xfrm>
            <a:off x="270891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6" name="Google Shape;376;p41"/>
          <p:cNvSpPr/>
          <p:nvPr/>
        </p:nvSpPr>
        <p:spPr>
          <a:xfrm>
            <a:off x="4457700" y="1508760"/>
            <a:ext cx="34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800"/>
              <a:buFont typeface="Roboto"/>
              <a:buNone/>
            </a:pPr>
            <a:r>
              <a:rPr lang="en" sz="180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1"/>
          <p:cNvSpPr/>
          <p:nvPr/>
        </p:nvSpPr>
        <p:spPr>
          <a:xfrm>
            <a:off x="4800600" y="1200150"/>
            <a:ext cx="1783200" cy="10287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41"/>
          <p:cNvSpPr txBox="1"/>
          <p:nvPr>
            <p:ph idx="4" type="body"/>
          </p:nvPr>
        </p:nvSpPr>
        <p:spPr>
          <a:xfrm>
            <a:off x="486918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9" name="Google Shape;379;p41"/>
          <p:cNvSpPr/>
          <p:nvPr/>
        </p:nvSpPr>
        <p:spPr>
          <a:xfrm>
            <a:off x="6617970" y="1508760"/>
            <a:ext cx="34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800"/>
              <a:buFont typeface="Roboto"/>
              <a:buNone/>
            </a:pPr>
            <a:r>
              <a:rPr lang="en" sz="180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41"/>
          <p:cNvSpPr/>
          <p:nvPr/>
        </p:nvSpPr>
        <p:spPr>
          <a:xfrm>
            <a:off x="6960870" y="1200150"/>
            <a:ext cx="1783200" cy="10287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1"/>
          <p:cNvSpPr txBox="1"/>
          <p:nvPr>
            <p:ph idx="5" type="body"/>
          </p:nvPr>
        </p:nvSpPr>
        <p:spPr>
          <a:xfrm>
            <a:off x="702945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2" name="Google Shape;382;p41"/>
          <p:cNvSpPr txBox="1"/>
          <p:nvPr>
            <p:ph idx="6" type="body"/>
          </p:nvPr>
        </p:nvSpPr>
        <p:spPr>
          <a:xfrm>
            <a:off x="480060" y="2571750"/>
            <a:ext cx="81609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3" name="Google Shape;383;p41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1_ERRORS_WITH_CODE">
  <p:cSld name="S11_ERRORS_WITH_CODE">
    <p:bg>
      <p:bgPr>
        <a:solidFill>
          <a:srgbClr val="FFFFF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2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6" name="Google Shape;386;p42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87" name="Google Shape;387;p42"/>
          <p:cNvSpPr/>
          <p:nvPr/>
        </p:nvSpPr>
        <p:spPr>
          <a:xfrm>
            <a:off x="411480" y="1131570"/>
            <a:ext cx="308700" cy="3087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2"/>
          <p:cNvSpPr/>
          <p:nvPr/>
        </p:nvSpPr>
        <p:spPr>
          <a:xfrm>
            <a:off x="411480" y="113157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2"/>
          <p:cNvSpPr txBox="1"/>
          <p:nvPr>
            <p:ph idx="2" type="body"/>
          </p:nvPr>
        </p:nvSpPr>
        <p:spPr>
          <a:xfrm>
            <a:off x="857250" y="1062990"/>
            <a:ext cx="377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0" name="Google Shape;390;p42"/>
          <p:cNvSpPr txBox="1"/>
          <p:nvPr>
            <p:ph idx="3" type="body"/>
          </p:nvPr>
        </p:nvSpPr>
        <p:spPr>
          <a:xfrm>
            <a:off x="857250" y="1440180"/>
            <a:ext cx="35664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1" name="Google Shape;391;p42"/>
          <p:cNvSpPr/>
          <p:nvPr/>
        </p:nvSpPr>
        <p:spPr>
          <a:xfrm>
            <a:off x="5006340" y="1131570"/>
            <a:ext cx="308700" cy="3087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42"/>
          <p:cNvSpPr/>
          <p:nvPr/>
        </p:nvSpPr>
        <p:spPr>
          <a:xfrm>
            <a:off x="5006340" y="113157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2"/>
          <p:cNvSpPr txBox="1"/>
          <p:nvPr>
            <p:ph idx="4" type="body"/>
          </p:nvPr>
        </p:nvSpPr>
        <p:spPr>
          <a:xfrm>
            <a:off x="5452110" y="106299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4" name="Google Shape;394;p42"/>
          <p:cNvSpPr txBox="1"/>
          <p:nvPr>
            <p:ph idx="5" type="body"/>
          </p:nvPr>
        </p:nvSpPr>
        <p:spPr>
          <a:xfrm>
            <a:off x="5452110" y="1440180"/>
            <a:ext cx="34290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5" name="Google Shape;395;p42"/>
          <p:cNvSpPr/>
          <p:nvPr/>
        </p:nvSpPr>
        <p:spPr>
          <a:xfrm>
            <a:off x="411480" y="2948940"/>
            <a:ext cx="308700" cy="3087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42"/>
          <p:cNvSpPr/>
          <p:nvPr/>
        </p:nvSpPr>
        <p:spPr>
          <a:xfrm>
            <a:off x="411480" y="294894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42"/>
          <p:cNvSpPr txBox="1"/>
          <p:nvPr>
            <p:ph idx="6" type="body"/>
          </p:nvPr>
        </p:nvSpPr>
        <p:spPr>
          <a:xfrm>
            <a:off x="857250" y="2880360"/>
            <a:ext cx="788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8" name="Google Shape;398;p42"/>
          <p:cNvSpPr txBox="1"/>
          <p:nvPr>
            <p:ph idx="7" type="body"/>
          </p:nvPr>
        </p:nvSpPr>
        <p:spPr>
          <a:xfrm>
            <a:off x="857250" y="3188970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9" name="Google Shape;399;p42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2_QUIZ_MCQ">
  <p:cSld name="S12_QUIZ_MCQ">
    <p:bg>
      <p:bgPr>
        <a:solidFill>
          <a:srgbClr val="FFFFFF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3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2" name="Google Shape;402;p43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403" name="Google Shape;403;p43"/>
          <p:cNvSpPr txBox="1"/>
          <p:nvPr>
            <p:ph idx="2" type="body"/>
          </p:nvPr>
        </p:nvSpPr>
        <p:spPr>
          <a:xfrm>
            <a:off x="411480" y="1062990"/>
            <a:ext cx="4320600" cy="26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4" name="Google Shape;404;p43"/>
          <p:cNvSpPr/>
          <p:nvPr/>
        </p:nvSpPr>
        <p:spPr>
          <a:xfrm>
            <a:off x="5006340" y="116586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43"/>
          <p:cNvSpPr txBox="1"/>
          <p:nvPr>
            <p:ph idx="3" type="body"/>
          </p:nvPr>
        </p:nvSpPr>
        <p:spPr>
          <a:xfrm>
            <a:off x="5177790" y="116586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6" name="Google Shape;406;p43"/>
          <p:cNvSpPr/>
          <p:nvPr/>
        </p:nvSpPr>
        <p:spPr>
          <a:xfrm>
            <a:off x="5006340" y="168021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43"/>
          <p:cNvSpPr txBox="1"/>
          <p:nvPr>
            <p:ph idx="4" type="body"/>
          </p:nvPr>
        </p:nvSpPr>
        <p:spPr>
          <a:xfrm>
            <a:off x="5177790" y="168021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8" name="Google Shape;408;p43"/>
          <p:cNvSpPr/>
          <p:nvPr/>
        </p:nvSpPr>
        <p:spPr>
          <a:xfrm>
            <a:off x="5006340" y="2194560"/>
            <a:ext cx="3703200" cy="4116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43"/>
          <p:cNvSpPr txBox="1"/>
          <p:nvPr>
            <p:ph idx="5" type="body"/>
          </p:nvPr>
        </p:nvSpPr>
        <p:spPr>
          <a:xfrm>
            <a:off x="5177790" y="219456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0" name="Google Shape;410;p43"/>
          <p:cNvSpPr/>
          <p:nvPr/>
        </p:nvSpPr>
        <p:spPr>
          <a:xfrm>
            <a:off x="5006340" y="270891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43"/>
          <p:cNvSpPr txBox="1"/>
          <p:nvPr>
            <p:ph idx="6" type="body"/>
          </p:nvPr>
        </p:nvSpPr>
        <p:spPr>
          <a:xfrm>
            <a:off x="5177790" y="270891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2" name="Google Shape;412;p43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5_CONTENT_IMAGE_RIGHT">
  <p:cSld name="S15_CONTENT_IMAGE_RIGHT">
    <p:bg>
      <p:bgPr>
        <a:solidFill>
          <a:srgbClr val="FFFFFF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4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5" name="Google Shape;415;p44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416" name="Google Shape;416;p44"/>
          <p:cNvSpPr txBox="1"/>
          <p:nvPr>
            <p:ph idx="2" type="body"/>
          </p:nvPr>
        </p:nvSpPr>
        <p:spPr>
          <a:xfrm>
            <a:off x="411480" y="1062990"/>
            <a:ext cx="3840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marR="0" algn="l"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7" name="Google Shape;417;p44"/>
          <p:cNvSpPr txBox="1"/>
          <p:nvPr>
            <p:ph idx="3" type="body"/>
          </p:nvPr>
        </p:nvSpPr>
        <p:spPr>
          <a:xfrm>
            <a:off x="4457700" y="1062990"/>
            <a:ext cx="4320600" cy="30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8" name="Google Shape;418;p44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3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41.xml"/><Relationship Id="rId1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gif"/><Relationship Id="rId4" Type="http://schemas.openxmlformats.org/officeDocument/2006/relationships/image" Target="../media/image6.gif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5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in Data Science: Data Manipulation</a:t>
            </a:r>
            <a:endParaRPr/>
          </a:p>
        </p:txBody>
      </p:sp>
      <p:sp>
        <p:nvSpPr>
          <p:cNvPr id="424" name="Google Shape;424;p45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6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430" name="Google Shape;430;p46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7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436" name="Google Shape;436;p47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22540"/>
                </a:solidFill>
              </a:rPr>
              <a:t>We explore the libraries most often used in </a:t>
            </a:r>
            <a:r>
              <a:rPr lang="en" sz="1600">
                <a:solidFill>
                  <a:srgbClr val="D84568"/>
                </a:solidFill>
              </a:rPr>
              <a:t>Data Science</a:t>
            </a:r>
            <a:r>
              <a:rPr lang="en" sz="1600">
                <a:solidFill>
                  <a:srgbClr val="222540"/>
                </a:solidFill>
              </a:rPr>
              <a:t> for real analytical work.</a:t>
            </a:r>
            <a:endParaRPr sz="1600">
              <a:solidFill>
                <a:srgbClr val="22254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D84568"/>
              </a:buClr>
              <a:buSzPts val="1600"/>
              <a:buFont typeface="Arial"/>
              <a:buChar char="•"/>
            </a:pPr>
            <a:r>
              <a:rPr lang="en" sz="1600">
                <a:solidFill>
                  <a:srgbClr val="D84568"/>
                </a:solidFill>
              </a:rPr>
              <a:t>Analyzing</a:t>
            </a:r>
            <a:r>
              <a:rPr lang="en" sz="1600">
                <a:solidFill>
                  <a:srgbClr val="222540"/>
                </a:solidFill>
              </a:rPr>
              <a:t> — compute statistics and summaries over large datasets.</a:t>
            </a:r>
            <a:endParaRPr sz="1600">
              <a:solidFill>
                <a:srgbClr val="22254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D84568"/>
              </a:buClr>
              <a:buSzPts val="1600"/>
              <a:buFont typeface="Arial"/>
              <a:buChar char="•"/>
            </a:pPr>
            <a:r>
              <a:rPr lang="en" sz="1600">
                <a:solidFill>
                  <a:srgbClr val="D84568"/>
                </a:solidFill>
              </a:rPr>
              <a:t>Cleaning</a:t>
            </a:r>
            <a:r>
              <a:rPr lang="en" sz="1600">
                <a:solidFill>
                  <a:srgbClr val="222540"/>
                </a:solidFill>
              </a:rPr>
              <a:t> — handle missing values, wrong types, and messy rows.</a:t>
            </a:r>
            <a:endParaRPr sz="1600">
              <a:solidFill>
                <a:srgbClr val="22254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D84568"/>
              </a:buClr>
              <a:buSzPts val="1600"/>
              <a:buFont typeface="Arial"/>
              <a:buChar char="•"/>
            </a:pPr>
            <a:r>
              <a:rPr lang="en" sz="1600">
                <a:solidFill>
                  <a:srgbClr val="D84568"/>
                </a:solidFill>
              </a:rPr>
              <a:t>Exploring</a:t>
            </a:r>
            <a:r>
              <a:rPr lang="en" sz="1600">
                <a:solidFill>
                  <a:srgbClr val="222540"/>
                </a:solidFill>
              </a:rPr>
              <a:t> — slice, filter, and group data to find patterns.</a:t>
            </a:r>
            <a:endParaRPr sz="1600">
              <a:solidFill>
                <a:srgbClr val="22254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D84568"/>
              </a:buClr>
              <a:buSzPts val="1600"/>
              <a:buFont typeface="Arial"/>
              <a:buChar char="•"/>
            </a:pPr>
            <a:r>
              <a:rPr lang="en" sz="1600">
                <a:solidFill>
                  <a:srgbClr val="D84568"/>
                </a:solidFill>
              </a:rPr>
              <a:t>Manipulating</a:t>
            </a:r>
            <a:r>
              <a:rPr lang="en" sz="1600">
                <a:solidFill>
                  <a:srgbClr val="222540"/>
                </a:solidFill>
              </a:rPr>
              <a:t> — reshape, combine, and derive new columns.</a:t>
            </a:r>
            <a:endParaRPr sz="1600">
              <a:solidFill>
                <a:srgbClr val="22254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48"/>
          <p:cNvGrpSpPr/>
          <p:nvPr/>
        </p:nvGrpSpPr>
        <p:grpSpPr>
          <a:xfrm>
            <a:off x="409575" y="285750"/>
            <a:ext cx="8325000" cy="571500"/>
            <a:chOff x="0" y="0"/>
            <a:chExt cx="8325000" cy="571500"/>
          </a:xfrm>
        </p:grpSpPr>
        <p:sp>
          <p:nvSpPr>
            <p:cNvPr id="442" name="Google Shape;442;p48"/>
            <p:cNvSpPr txBox="1"/>
            <p:nvPr/>
          </p:nvSpPr>
          <p:spPr>
            <a:xfrm>
              <a:off x="0" y="0"/>
              <a:ext cx="832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D84568"/>
                  </a:solidFill>
                  <a:latin typeface="Roboto"/>
                  <a:ea typeface="Roboto"/>
                  <a:cs typeface="Roboto"/>
                  <a:sym typeface="Roboto"/>
                </a:rPr>
                <a:t>CORE LIBRARIES FOR DATA MANIPULATION IN PYTHON</a:t>
              </a:r>
              <a:endParaRPr b="1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3" name="Google Shape;443;p48"/>
            <p:cNvSpPr txBox="1"/>
            <p:nvPr/>
          </p:nvSpPr>
          <p:spPr>
            <a:xfrm>
              <a:off x="0" y="190500"/>
              <a:ext cx="832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293480"/>
                  </a:solidFill>
                  <a:latin typeface="Roboto"/>
                  <a:ea typeface="Roboto"/>
                  <a:cs typeface="Roboto"/>
                  <a:sym typeface="Roboto"/>
                </a:rPr>
                <a:t>Introduction to NumPy &amp; Pandas</a:t>
              </a:r>
              <a:endParaRPr b="1" sz="2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44" name="Google Shape;444;p48"/>
          <p:cNvGrpSpPr/>
          <p:nvPr/>
        </p:nvGrpSpPr>
        <p:grpSpPr>
          <a:xfrm>
            <a:off x="409650" y="1143262"/>
            <a:ext cx="3924300" cy="3667200"/>
            <a:chOff x="0" y="0"/>
            <a:chExt cx="3924300" cy="3667200"/>
          </a:xfrm>
        </p:grpSpPr>
        <p:sp>
          <p:nvSpPr>
            <p:cNvPr id="445" name="Google Shape;445;p48"/>
            <p:cNvSpPr/>
            <p:nvPr/>
          </p:nvSpPr>
          <p:spPr>
            <a:xfrm>
              <a:off x="0" y="0"/>
              <a:ext cx="3924300" cy="3667200"/>
            </a:xfrm>
            <a:prstGeom prst="roundRect">
              <a:avLst>
                <a:gd fmla="val 3116" name="adj"/>
              </a:avLst>
            </a:prstGeom>
            <a:solidFill>
              <a:srgbClr val="EAF1F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48"/>
            <p:cNvSpPr/>
            <p:nvPr/>
          </p:nvSpPr>
          <p:spPr>
            <a:xfrm>
              <a:off x="228600" y="228600"/>
              <a:ext cx="342900" cy="342900"/>
            </a:xfrm>
            <a:prstGeom prst="roundRect">
              <a:avLst>
                <a:gd fmla="val 16666" name="adj"/>
              </a:avLst>
            </a:prstGeom>
            <a:solidFill>
              <a:srgbClr val="EC5F8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48"/>
            <p:cNvSpPr txBox="1"/>
            <p:nvPr/>
          </p:nvSpPr>
          <p:spPr>
            <a:xfrm>
              <a:off x="228600" y="2286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1" sz="101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8" name="Google Shape;448;p48"/>
            <p:cNvSpPr txBox="1"/>
            <p:nvPr/>
          </p:nvSpPr>
          <p:spPr>
            <a:xfrm>
              <a:off x="685800" y="190500"/>
              <a:ext cx="304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1A1F5C"/>
                  </a:solidFill>
                  <a:latin typeface="Roboto"/>
                  <a:ea typeface="Roboto"/>
                  <a:cs typeface="Roboto"/>
                  <a:sym typeface="Roboto"/>
                </a:rPr>
                <a:t>NumPy</a:t>
              </a:r>
              <a:endParaRPr b="1" sz="180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9" name="Google Shape;449;p48"/>
            <p:cNvSpPr txBox="1"/>
            <p:nvPr/>
          </p:nvSpPr>
          <p:spPr>
            <a:xfrm>
              <a:off x="685800" y="457200"/>
              <a:ext cx="3048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D84568"/>
                  </a:solidFill>
                  <a:latin typeface="Roboto"/>
                  <a:ea typeface="Roboto"/>
                  <a:cs typeface="Roboto"/>
                  <a:sym typeface="Roboto"/>
                </a:rPr>
                <a:t>NUMERICAL PYTHON</a:t>
              </a:r>
              <a:endParaRPr b="1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descr="Abstract clean vector illustration of multi-dimensional numerical arrays, matrix data structures, fast mathematical operations, isometric blue grid style, tech minimalist." id="450" name="Google Shape;450;p48"/>
            <p:cNvPicPr preferRelativeResize="0"/>
            <p:nvPr/>
          </p:nvPicPr>
          <p:blipFill rotWithShape="1">
            <a:blip r:embed="rId3">
              <a:alphaModFix/>
            </a:blip>
            <a:srcRect b="17638" l="0" r="0" t="17638"/>
            <a:stretch/>
          </p:blipFill>
          <p:spPr>
            <a:xfrm>
              <a:off x="0" y="762000"/>
              <a:ext cx="3924300" cy="1428900"/>
            </a:xfrm>
            <a:prstGeom prst="roundRect">
              <a:avLst>
                <a:gd fmla="val 0" name="adj"/>
              </a:avLst>
            </a:prstGeom>
            <a:noFill/>
            <a:ln>
              <a:noFill/>
            </a:ln>
          </p:spPr>
        </p:pic>
        <p:sp>
          <p:nvSpPr>
            <p:cNvPr id="451" name="Google Shape;451;p48"/>
            <p:cNvSpPr txBox="1"/>
            <p:nvPr/>
          </p:nvSpPr>
          <p:spPr>
            <a:xfrm>
              <a:off x="228600" y="2333625"/>
              <a:ext cx="34671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222540"/>
                  </a:solidFill>
                  <a:latin typeface="Roboto"/>
                  <a:ea typeface="Roboto"/>
                  <a:cs typeface="Roboto"/>
                  <a:sym typeface="Roboto"/>
                </a:rPr>
                <a:t>• The fundamental package for scientific computing in Python.</a:t>
              </a:r>
              <a:endParaRPr b="0" sz="1018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222540"/>
                  </a:solidFill>
                  <a:latin typeface="Roboto"/>
                  <a:ea typeface="Roboto"/>
                  <a:cs typeface="Roboto"/>
                  <a:sym typeface="Roboto"/>
                </a:rPr>
                <a:t>• Provides high-performance N-dimensional array objects (ndarray).</a:t>
              </a:r>
              <a:endParaRPr b="0" sz="1018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222540"/>
                  </a:solidFill>
                  <a:latin typeface="Roboto"/>
                  <a:ea typeface="Roboto"/>
                  <a:cs typeface="Roboto"/>
                  <a:sym typeface="Roboto"/>
                </a:rPr>
                <a:t>• Offers fast vectorized operations, linear algebra, and random number generation.</a:t>
              </a:r>
              <a:endParaRPr b="0" sz="1018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52" name="Google Shape;452;p48"/>
          <p:cNvGrpSpPr/>
          <p:nvPr/>
        </p:nvGrpSpPr>
        <p:grpSpPr>
          <a:xfrm>
            <a:off x="4810200" y="1143262"/>
            <a:ext cx="3924300" cy="3667200"/>
            <a:chOff x="0" y="0"/>
            <a:chExt cx="3924300" cy="3667200"/>
          </a:xfrm>
        </p:grpSpPr>
        <p:sp>
          <p:nvSpPr>
            <p:cNvPr id="453" name="Google Shape;453;p48"/>
            <p:cNvSpPr/>
            <p:nvPr/>
          </p:nvSpPr>
          <p:spPr>
            <a:xfrm>
              <a:off x="0" y="0"/>
              <a:ext cx="3924300" cy="3667200"/>
            </a:xfrm>
            <a:prstGeom prst="roundRect">
              <a:avLst>
                <a:gd fmla="val 3116" name="adj"/>
              </a:avLst>
            </a:prstGeom>
            <a:solidFill>
              <a:srgbClr val="F4F4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48"/>
            <p:cNvSpPr/>
            <p:nvPr/>
          </p:nvSpPr>
          <p:spPr>
            <a:xfrm>
              <a:off x="228600" y="228600"/>
              <a:ext cx="342900" cy="342900"/>
            </a:xfrm>
            <a:prstGeom prst="roundRect">
              <a:avLst>
                <a:gd fmla="val 16666" name="adj"/>
              </a:avLst>
            </a:prstGeom>
            <a:solidFill>
              <a:srgbClr val="EC5F8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48"/>
            <p:cNvSpPr txBox="1"/>
            <p:nvPr/>
          </p:nvSpPr>
          <p:spPr>
            <a:xfrm>
              <a:off x="228600" y="2286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1" sz="101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6" name="Google Shape;456;p48"/>
            <p:cNvSpPr txBox="1"/>
            <p:nvPr/>
          </p:nvSpPr>
          <p:spPr>
            <a:xfrm>
              <a:off x="685800" y="190500"/>
              <a:ext cx="304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1A1F5C"/>
                  </a:solidFill>
                  <a:latin typeface="Roboto"/>
                  <a:ea typeface="Roboto"/>
                  <a:cs typeface="Roboto"/>
                  <a:sym typeface="Roboto"/>
                </a:rPr>
                <a:t>Pandas</a:t>
              </a:r>
              <a:endParaRPr b="1" sz="180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7" name="Google Shape;457;p48"/>
            <p:cNvSpPr txBox="1"/>
            <p:nvPr/>
          </p:nvSpPr>
          <p:spPr>
            <a:xfrm>
              <a:off x="685800" y="457200"/>
              <a:ext cx="3048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D84568"/>
                  </a:solidFill>
                  <a:latin typeface="Roboto"/>
                  <a:ea typeface="Roboto"/>
                  <a:cs typeface="Roboto"/>
                  <a:sym typeface="Roboto"/>
                </a:rPr>
                <a:t>DATA ANALYSIS &amp; MANIPULATION</a:t>
              </a:r>
              <a:endParaRPr b="1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descr="Abstract clean visual representation of tabular data structures, dataframes, rows and columns filtering and aggregation, soft pink and blue vector style, minimalist design." id="458" name="Google Shape;458;p48"/>
            <p:cNvPicPr preferRelativeResize="0"/>
            <p:nvPr/>
          </p:nvPicPr>
          <p:blipFill rotWithShape="1">
            <a:blip r:embed="rId4">
              <a:alphaModFix/>
            </a:blip>
            <a:srcRect b="17638" l="0" r="0" t="17638"/>
            <a:stretch/>
          </p:blipFill>
          <p:spPr>
            <a:xfrm>
              <a:off x="0" y="762000"/>
              <a:ext cx="3924300" cy="1428900"/>
            </a:xfrm>
            <a:prstGeom prst="roundRect">
              <a:avLst>
                <a:gd fmla="val 0" name="adj"/>
              </a:avLst>
            </a:prstGeom>
            <a:noFill/>
            <a:ln>
              <a:noFill/>
            </a:ln>
          </p:spPr>
        </p:pic>
        <p:sp>
          <p:nvSpPr>
            <p:cNvPr id="459" name="Google Shape;459;p48"/>
            <p:cNvSpPr txBox="1"/>
            <p:nvPr/>
          </p:nvSpPr>
          <p:spPr>
            <a:xfrm>
              <a:off x="228600" y="2333625"/>
              <a:ext cx="34671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222540"/>
                  </a:solidFill>
                  <a:latin typeface="Roboto"/>
                  <a:ea typeface="Roboto"/>
                  <a:cs typeface="Roboto"/>
                  <a:sym typeface="Roboto"/>
                </a:rPr>
                <a:t>• Built on top of NumPy for powerful data analysis and manipulation.</a:t>
              </a:r>
              <a:endParaRPr b="0" sz="1018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222540"/>
                  </a:solidFill>
                  <a:latin typeface="Roboto"/>
                  <a:ea typeface="Roboto"/>
                  <a:cs typeface="Roboto"/>
                  <a:sym typeface="Roboto"/>
                </a:rPr>
                <a:t>• Introduces intuitive DataFrame and Series data structures.</a:t>
              </a:r>
              <a:endParaRPr b="0" sz="1018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18">
                  <a:solidFill>
                    <a:srgbClr val="222540"/>
                  </a:solidFill>
                  <a:latin typeface="Roboto"/>
                  <a:ea typeface="Roboto"/>
                  <a:cs typeface="Roboto"/>
                  <a:sym typeface="Roboto"/>
                </a:rPr>
                <a:t>• Essential for cleaning, transforming, aggregating, and analyzing structured data.</a:t>
              </a:r>
              <a:endParaRPr b="0" sz="1018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9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Lesson 1 · NumPy</a:t>
            </a:r>
            <a:endParaRPr/>
          </a:p>
        </p:txBody>
      </p:sp>
      <p:sp>
        <p:nvSpPr>
          <p:cNvPr id="465" name="Google Shape;465;p49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EC5F82"/>
              </a:buClr>
              <a:buSzPts val="1100"/>
              <a:buNone/>
            </a:pPr>
            <a:r>
              <a:rPr b="1" lang="en" sz="110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NUMERICAL PYTHON</a:t>
            </a:r>
            <a:endParaRPr/>
          </a:p>
        </p:txBody>
      </p:sp>
      <p:sp>
        <p:nvSpPr>
          <p:cNvPr id="466" name="Google Shape;466;p49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6DAF2"/>
              </a:buClr>
              <a:buSzPts val="1100"/>
              <a:buNone/>
            </a:pPr>
            <a:r>
              <a:rPr lang="en" sz="1100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The foundation of scientific computing in Python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0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AT A GLANCE</a:t>
            </a:r>
            <a:endParaRPr sz="900"/>
          </a:p>
        </p:txBody>
      </p:sp>
      <p:sp>
        <p:nvSpPr>
          <p:cNvPr id="472" name="Google Shape;472;p50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NumPy Facts</a:t>
            </a:r>
            <a:endParaRPr sz="2100"/>
          </a:p>
        </p:txBody>
      </p:sp>
      <p:sp>
        <p:nvSpPr>
          <p:cNvPr id="473" name="Google Shape;473;p50"/>
          <p:cNvSpPr txBox="1"/>
          <p:nvPr>
            <p:ph idx="2" type="body"/>
          </p:nvPr>
        </p:nvSpPr>
        <p:spPr>
          <a:xfrm>
            <a:off x="582930" y="1748790"/>
            <a:ext cx="1611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238"/>
              <a:buNone/>
            </a:pPr>
            <a:r>
              <a:rPr b="1" lang="en" sz="1238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2005</a:t>
            </a:r>
            <a:endParaRPr sz="1238"/>
          </a:p>
        </p:txBody>
      </p:sp>
      <p:sp>
        <p:nvSpPr>
          <p:cNvPr id="474" name="Google Shape;474;p50"/>
          <p:cNvSpPr txBox="1"/>
          <p:nvPr>
            <p:ph idx="3" type="body"/>
          </p:nvPr>
        </p:nvSpPr>
        <p:spPr>
          <a:xfrm>
            <a:off x="582930" y="2263140"/>
            <a:ext cx="16116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38"/>
              <a:buNone/>
            </a:pPr>
            <a:r>
              <a:rPr lang="en" sz="938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First released — now the backbone of the scientific Python stack.</a:t>
            </a:r>
            <a:endParaRPr sz="938"/>
          </a:p>
        </p:txBody>
      </p:sp>
      <p:sp>
        <p:nvSpPr>
          <p:cNvPr id="475" name="Google Shape;475;p50"/>
          <p:cNvSpPr txBox="1"/>
          <p:nvPr>
            <p:ph idx="4" type="body"/>
          </p:nvPr>
        </p:nvSpPr>
        <p:spPr>
          <a:xfrm>
            <a:off x="2729484" y="1748790"/>
            <a:ext cx="1611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238"/>
              <a:buNone/>
            </a:pPr>
            <a:r>
              <a:rPr b="1" lang="en" sz="1238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BSD</a:t>
            </a:r>
            <a:endParaRPr sz="1238"/>
          </a:p>
        </p:txBody>
      </p:sp>
      <p:sp>
        <p:nvSpPr>
          <p:cNvPr id="476" name="Google Shape;476;p50"/>
          <p:cNvSpPr txBox="1"/>
          <p:nvPr>
            <p:ph idx="5" type="body"/>
          </p:nvPr>
        </p:nvSpPr>
        <p:spPr>
          <a:xfrm>
            <a:off x="2729484" y="2263140"/>
            <a:ext cx="16116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38"/>
              <a:buNone/>
            </a:pPr>
            <a:r>
              <a:rPr lang="en" sz="938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Permissive open-source license, free for commercial use.</a:t>
            </a:r>
            <a:endParaRPr sz="938"/>
          </a:p>
        </p:txBody>
      </p:sp>
      <p:sp>
        <p:nvSpPr>
          <p:cNvPr id="477" name="Google Shape;477;p50"/>
          <p:cNvSpPr txBox="1"/>
          <p:nvPr>
            <p:ph idx="6" type="body"/>
          </p:nvPr>
        </p:nvSpPr>
        <p:spPr>
          <a:xfrm>
            <a:off x="4876038" y="1748790"/>
            <a:ext cx="1611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238"/>
              <a:buNone/>
            </a:pPr>
            <a:r>
              <a:rPr b="1" lang="en" sz="1238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Python / C</a:t>
            </a:r>
            <a:endParaRPr sz="1238"/>
          </a:p>
        </p:txBody>
      </p:sp>
      <p:sp>
        <p:nvSpPr>
          <p:cNvPr id="478" name="Google Shape;478;p50"/>
          <p:cNvSpPr txBox="1"/>
          <p:nvPr>
            <p:ph idx="7" type="body"/>
          </p:nvPr>
        </p:nvSpPr>
        <p:spPr>
          <a:xfrm>
            <a:off x="4876038" y="2263140"/>
            <a:ext cx="16116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38"/>
              <a:buNone/>
            </a:pPr>
            <a:r>
              <a:rPr lang="en" sz="938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Python interface with a C core for near-native speed.</a:t>
            </a:r>
            <a:endParaRPr sz="938"/>
          </a:p>
        </p:txBody>
      </p:sp>
      <p:sp>
        <p:nvSpPr>
          <p:cNvPr id="479" name="Google Shape;479;p50"/>
          <p:cNvSpPr txBox="1"/>
          <p:nvPr>
            <p:ph idx="8" type="body"/>
          </p:nvPr>
        </p:nvSpPr>
        <p:spPr>
          <a:xfrm>
            <a:off x="7022592" y="1748790"/>
            <a:ext cx="1611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238"/>
              <a:buNone/>
            </a:pPr>
            <a:r>
              <a:rPr b="1" lang="en" sz="1238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600M+ / yr</a:t>
            </a:r>
            <a:endParaRPr sz="1238"/>
          </a:p>
        </p:txBody>
      </p:sp>
      <p:sp>
        <p:nvSpPr>
          <p:cNvPr id="480" name="Google Shape;480;p50"/>
          <p:cNvSpPr txBox="1"/>
          <p:nvPr>
            <p:ph idx="9" type="body"/>
          </p:nvPr>
        </p:nvSpPr>
        <p:spPr>
          <a:xfrm>
            <a:off x="7022592" y="2263140"/>
            <a:ext cx="16116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38"/>
              <a:buNone/>
            </a:pPr>
            <a:r>
              <a:rPr lang="en" sz="938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Downloads per year — one of Python's most-used packages.</a:t>
            </a:r>
            <a:endParaRPr sz="938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1"/>
          <p:cNvSpPr txBox="1"/>
          <p:nvPr>
            <p:ph type="title"/>
          </p:nvPr>
        </p:nvSpPr>
        <p:spPr>
          <a:xfrm>
            <a:off x="411480" y="219456"/>
            <a:ext cx="3909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Why NumPy</a:t>
            </a:r>
            <a:endParaRPr/>
          </a:p>
        </p:txBody>
      </p:sp>
      <p:sp>
        <p:nvSpPr>
          <p:cNvPr id="487" name="Google Shape;487;p51"/>
          <p:cNvSpPr txBox="1"/>
          <p:nvPr>
            <p:ph idx="2" type="body"/>
          </p:nvPr>
        </p:nvSpPr>
        <p:spPr>
          <a:xfrm>
            <a:off x="411480" y="1062990"/>
            <a:ext cx="390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4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The fundamental array library</a:t>
            </a:r>
            <a:endParaRPr/>
          </a:p>
        </p:txBody>
      </p:sp>
      <p:sp>
        <p:nvSpPr>
          <p:cNvPr id="488" name="Google Shape;488;p51"/>
          <p:cNvSpPr txBox="1"/>
          <p:nvPr>
            <p:ph idx="3" type="body"/>
          </p:nvPr>
        </p:nvSpPr>
        <p:spPr>
          <a:xfrm>
            <a:off x="411480" y="1371600"/>
            <a:ext cx="39093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2540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NumPy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gives fast, multi-dimensional array objects plus math tools.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Foundation of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SciPy, Pandas, Matplotlib, scikit-learn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Up to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100× faster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than native Python lists.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Vectorized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operations — no slow Python for-loops.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Memory-efficient: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C-contiguous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typed arrays.</a:t>
            </a:r>
            <a:endParaRPr/>
          </a:p>
        </p:txBody>
      </p:sp>
      <p:pic>
        <p:nvPicPr>
          <p:cNvPr descr="np_intro.png" id="489" name="Google Shape;48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1456813"/>
            <a:ext cx="4090797" cy="2504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2"/>
          <p:cNvSpPr txBox="1"/>
          <p:nvPr>
            <p:ph type="title"/>
          </p:nvPr>
        </p:nvSpPr>
        <p:spPr>
          <a:xfrm>
            <a:off x="411480" y="219456"/>
            <a:ext cx="3909300" cy="35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Loop</a:t>
            </a:r>
            <a:endParaRPr/>
          </a:p>
        </p:txBody>
      </p:sp>
      <p:sp>
        <p:nvSpPr>
          <p:cNvPr id="495" name="Google Shape;495;p52"/>
          <p:cNvSpPr txBox="1"/>
          <p:nvPr>
            <p:ph idx="1" type="body"/>
          </p:nvPr>
        </p:nvSpPr>
        <p:spPr>
          <a:xfrm>
            <a:off x="411480" y="617220"/>
            <a:ext cx="39093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52"/>
          <p:cNvSpPr txBox="1"/>
          <p:nvPr>
            <p:ph idx="2" type="body"/>
          </p:nvPr>
        </p:nvSpPr>
        <p:spPr>
          <a:xfrm>
            <a:off x="411475" y="823035"/>
            <a:ext cx="3909300" cy="480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D84568"/>
                </a:solidFill>
              </a:rPr>
              <a:t>High control</a:t>
            </a:r>
            <a:r>
              <a:rPr lang="en" sz="1100"/>
              <a:t> </a:t>
            </a:r>
            <a:r>
              <a:rPr b="0" lang="en" sz="1100"/>
              <a:t>— you decide exactly what happens at each step</a:t>
            </a:r>
            <a:endParaRPr b="0" sz="1100"/>
          </a:p>
        </p:txBody>
      </p:sp>
      <p:sp>
        <p:nvSpPr>
          <p:cNvPr id="497" name="Google Shape;497;p52"/>
          <p:cNvSpPr txBox="1"/>
          <p:nvPr>
            <p:ph idx="4" type="body"/>
          </p:nvPr>
        </p:nvSpPr>
        <p:spPr>
          <a:xfrm>
            <a:off x="411480" y="4526280"/>
            <a:ext cx="39093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52"/>
          <p:cNvSpPr txBox="1"/>
          <p:nvPr>
            <p:ph idx="5" type="title"/>
          </p:nvPr>
        </p:nvSpPr>
        <p:spPr>
          <a:xfrm>
            <a:off x="4879467" y="219456"/>
            <a:ext cx="3953700" cy="35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Numpy</a:t>
            </a:r>
            <a:endParaRPr/>
          </a:p>
        </p:txBody>
      </p:sp>
      <p:sp>
        <p:nvSpPr>
          <p:cNvPr id="499" name="Google Shape;499;p52"/>
          <p:cNvSpPr txBox="1"/>
          <p:nvPr>
            <p:ph idx="6" type="body"/>
          </p:nvPr>
        </p:nvSpPr>
        <p:spPr>
          <a:xfrm>
            <a:off x="4879467" y="617220"/>
            <a:ext cx="39537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52"/>
          <p:cNvSpPr txBox="1"/>
          <p:nvPr>
            <p:ph idx="7" type="body"/>
          </p:nvPr>
        </p:nvSpPr>
        <p:spPr>
          <a:xfrm>
            <a:off x="4879475" y="781775"/>
            <a:ext cx="3953700" cy="52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00"/>
                </a:solidFill>
              </a:rPr>
              <a:t>Up to ~100× faster</a:t>
            </a:r>
            <a:r>
              <a:rPr lang="en" sz="1100"/>
              <a:t> </a:t>
            </a:r>
            <a:r>
              <a:rPr b="0" lang="en" sz="1100"/>
              <a:t>— operations run in optimized C language, working on the whole array at once rather than step-by-step.</a:t>
            </a:r>
            <a:endParaRPr b="0" sz="1100"/>
          </a:p>
        </p:txBody>
      </p:sp>
      <p:pic>
        <p:nvPicPr>
          <p:cNvPr id="501" name="Google Shape;501;p52" title="dataflow-loop (1).gif"/>
          <p:cNvPicPr preferRelativeResize="0"/>
          <p:nvPr/>
        </p:nvPicPr>
        <p:blipFill rotWithShape="1">
          <a:blip r:embed="rId3">
            <a:alphaModFix/>
          </a:blip>
          <a:srcRect b="0" l="0" r="0" t="13142"/>
          <a:stretch/>
        </p:blipFill>
        <p:spPr>
          <a:xfrm>
            <a:off x="13" y="2557527"/>
            <a:ext cx="4491000" cy="212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52"/>
          <p:cNvPicPr preferRelativeResize="0"/>
          <p:nvPr/>
        </p:nvPicPr>
        <p:blipFill rotWithShape="1">
          <a:blip r:embed="rId4">
            <a:alphaModFix/>
          </a:blip>
          <a:srcRect b="0" l="0" r="0" t="13793"/>
          <a:stretch/>
        </p:blipFill>
        <p:spPr>
          <a:xfrm>
            <a:off x="4677725" y="2647681"/>
            <a:ext cx="4357201" cy="204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7250" y="1183625"/>
            <a:ext cx="2744374" cy="128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17646" y="1202788"/>
            <a:ext cx="2422768" cy="1250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3"/>
          <p:cNvSpPr txBox="1"/>
          <p:nvPr>
            <p:ph type="title"/>
          </p:nvPr>
        </p:nvSpPr>
        <p:spPr>
          <a:xfrm>
            <a:off x="2100" y="276526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1D Array</a:t>
            </a:r>
            <a:endParaRPr/>
          </a:p>
        </p:txBody>
      </p:sp>
      <p:sp>
        <p:nvSpPr>
          <p:cNvPr id="510" name="Google Shape;510;p53"/>
          <p:cNvSpPr txBox="1"/>
          <p:nvPr>
            <p:ph idx="1" type="subTitle"/>
          </p:nvPr>
        </p:nvSpPr>
        <p:spPr>
          <a:xfrm>
            <a:off x="265500" y="1439074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53"/>
          <p:cNvSpPr txBox="1"/>
          <p:nvPr>
            <p:ph idx="2" type="title"/>
          </p:nvPr>
        </p:nvSpPr>
        <p:spPr>
          <a:xfrm>
            <a:off x="4572000" y="271791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2</a:t>
            </a:r>
            <a:r>
              <a:rPr lang="en"/>
              <a:t>D Array</a:t>
            </a:r>
            <a:endParaRPr/>
          </a:p>
        </p:txBody>
      </p:sp>
      <p:sp>
        <p:nvSpPr>
          <p:cNvPr id="512" name="Google Shape;512;p53"/>
          <p:cNvSpPr txBox="1"/>
          <p:nvPr>
            <p:ph idx="3" type="subTitle"/>
          </p:nvPr>
        </p:nvSpPr>
        <p:spPr>
          <a:xfrm>
            <a:off x="4835400" y="1451433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3" name="Google Shape;51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202" y="1039175"/>
            <a:ext cx="3998500" cy="402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5400" y="1039175"/>
            <a:ext cx="4220900" cy="284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4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The ndarray</a:t>
            </a:r>
            <a:endParaRPr sz="2100"/>
          </a:p>
        </p:txBody>
      </p:sp>
      <p:sp>
        <p:nvSpPr>
          <p:cNvPr id="521" name="Google Shape;521;p54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One typed, fixed-size object</a:t>
            </a:r>
            <a:endParaRPr sz="1350"/>
          </a:p>
        </p:txBody>
      </p:sp>
      <p:sp>
        <p:nvSpPr>
          <p:cNvPr id="522" name="Google Shape;522;p54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7175" lvl="0" marL="257175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050"/>
              <a:buChar char="•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.shape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tuple of dimensions, e.g. (2, 3).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1050"/>
              <a:buChar char="•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.dtype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element type, e.g. float32, int64.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1050"/>
              <a:buChar char="•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.ndim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number of axes; </a:t>
            </a:r>
            <a:endParaRPr sz="1050">
              <a:solidFill>
                <a:srgbClr val="2225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1050"/>
              <a:buChar char="•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.size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total elements.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1050"/>
              <a:buChar char="•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.itemsize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bytes per element;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.strides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step per axis.</a:t>
            </a:r>
            <a:endParaRPr sz="1050"/>
          </a:p>
        </p:txBody>
      </p:sp>
      <p:pic>
        <p:nvPicPr>
          <p:cNvPr descr="np_ndarray.png" id="523" name="Google Shape;52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1411052"/>
            <a:ext cx="4090798" cy="2595716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54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54"/>
          <p:cNvSpPr txBox="1"/>
          <p:nvPr>
            <p:ph idx="4" type="body"/>
          </p:nvPr>
        </p:nvSpPr>
        <p:spPr>
          <a:xfrm>
            <a:off x="411480" y="4526280"/>
            <a:ext cx="39090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65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54"/>
          <p:cNvSpPr txBox="1"/>
          <p:nvPr>
            <p:ph idx="5" type="title"/>
          </p:nvPr>
        </p:nvSpPr>
        <p:spPr>
          <a:xfrm>
            <a:off x="4879467" y="219456"/>
            <a:ext cx="3953700" cy="35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54"/>
          <p:cNvSpPr txBox="1"/>
          <p:nvPr>
            <p:ph idx="6" type="body"/>
          </p:nvPr>
        </p:nvSpPr>
        <p:spPr>
          <a:xfrm>
            <a:off x="4879467" y="617220"/>
            <a:ext cx="39537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54"/>
          <p:cNvSpPr txBox="1"/>
          <p:nvPr>
            <p:ph idx="7" type="body"/>
          </p:nvPr>
        </p:nvSpPr>
        <p:spPr>
          <a:xfrm>
            <a:off x="4879467" y="1062990"/>
            <a:ext cx="3953700" cy="240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27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54"/>
          <p:cNvSpPr txBox="1"/>
          <p:nvPr>
            <p:ph idx="8" type="body"/>
          </p:nvPr>
        </p:nvSpPr>
        <p:spPr>
          <a:xfrm>
            <a:off x="4879467" y="1371600"/>
            <a:ext cx="3953700" cy="267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1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54"/>
          <p:cNvSpPr txBox="1"/>
          <p:nvPr>
            <p:ph idx="9" type="body"/>
          </p:nvPr>
        </p:nvSpPr>
        <p:spPr>
          <a:xfrm>
            <a:off x="4810887" y="822960"/>
            <a:ext cx="4090800" cy="3771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5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1.1: Numpy - </a:t>
            </a:r>
            <a:r>
              <a:rPr lang="en"/>
              <a:t>Operations</a:t>
            </a:r>
            <a:endParaRPr/>
          </a:p>
        </p:txBody>
      </p:sp>
      <p:sp>
        <p:nvSpPr>
          <p:cNvPr id="536" name="Google Shape;536;p55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6"/>
          <p:cNvSpPr txBox="1"/>
          <p:nvPr>
            <p:ph type="title"/>
          </p:nvPr>
        </p:nvSpPr>
        <p:spPr>
          <a:xfrm>
            <a:off x="2100" y="276526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Number</a:t>
            </a:r>
            <a:endParaRPr/>
          </a:p>
        </p:txBody>
      </p:sp>
      <p:sp>
        <p:nvSpPr>
          <p:cNvPr id="542" name="Google Shape;542;p56"/>
          <p:cNvSpPr txBox="1"/>
          <p:nvPr>
            <p:ph idx="1" type="subTitle"/>
          </p:nvPr>
        </p:nvSpPr>
        <p:spPr>
          <a:xfrm>
            <a:off x="265500" y="1439074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56"/>
          <p:cNvSpPr txBox="1"/>
          <p:nvPr>
            <p:ph idx="2" type="title"/>
          </p:nvPr>
        </p:nvSpPr>
        <p:spPr>
          <a:xfrm>
            <a:off x="4572000" y="271791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array</a:t>
            </a:r>
            <a:endParaRPr/>
          </a:p>
        </p:txBody>
      </p:sp>
      <p:sp>
        <p:nvSpPr>
          <p:cNvPr id="544" name="Google Shape;544;p56"/>
          <p:cNvSpPr txBox="1"/>
          <p:nvPr>
            <p:ph idx="3" type="subTitle"/>
          </p:nvPr>
        </p:nvSpPr>
        <p:spPr>
          <a:xfrm>
            <a:off x="4835400" y="1451433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5" name="Google Shape;54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652" y="888225"/>
            <a:ext cx="3572101" cy="409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5175" y="913500"/>
            <a:ext cx="4473600" cy="3954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7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Math Functions</a:t>
            </a:r>
            <a:endParaRPr/>
          </a:p>
        </p:txBody>
      </p:sp>
      <p:sp>
        <p:nvSpPr>
          <p:cNvPr id="553" name="Google Shape;553;p57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Vectorized math</a:t>
            </a:r>
            <a:endParaRPr/>
          </a:p>
        </p:txBody>
      </p:sp>
      <p:sp>
        <p:nvSpPr>
          <p:cNvPr id="554" name="Google Shape;554;p57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60350" lvl="0" marL="2540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np.sqrt / exp / log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apply element-wise across the array.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np.power(a, 2)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squares every element.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Trig helpers: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np.sin / cos / tan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Plain operators (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+ * /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) are element-wise too.</a:t>
            </a:r>
            <a:endParaRPr/>
          </a:p>
        </p:txBody>
      </p:sp>
      <p:pic>
        <p:nvPicPr>
          <p:cNvPr descr="np_math.png" id="555" name="Google Shape;55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853521"/>
            <a:ext cx="4090799" cy="3710777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57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57"/>
          <p:cNvSpPr txBox="1"/>
          <p:nvPr>
            <p:ph idx="4" type="body"/>
          </p:nvPr>
        </p:nvSpPr>
        <p:spPr>
          <a:xfrm>
            <a:off x="411480" y="4526280"/>
            <a:ext cx="39090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65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57"/>
          <p:cNvSpPr txBox="1"/>
          <p:nvPr>
            <p:ph idx="5" type="title"/>
          </p:nvPr>
        </p:nvSpPr>
        <p:spPr>
          <a:xfrm>
            <a:off x="4879467" y="219456"/>
            <a:ext cx="3953700" cy="35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57"/>
          <p:cNvSpPr txBox="1"/>
          <p:nvPr>
            <p:ph idx="6" type="body"/>
          </p:nvPr>
        </p:nvSpPr>
        <p:spPr>
          <a:xfrm>
            <a:off x="4879467" y="617220"/>
            <a:ext cx="39537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57"/>
          <p:cNvSpPr txBox="1"/>
          <p:nvPr>
            <p:ph idx="7" type="body"/>
          </p:nvPr>
        </p:nvSpPr>
        <p:spPr>
          <a:xfrm>
            <a:off x="4879467" y="1062990"/>
            <a:ext cx="3953700" cy="240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27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57"/>
          <p:cNvSpPr txBox="1"/>
          <p:nvPr>
            <p:ph idx="8" type="body"/>
          </p:nvPr>
        </p:nvSpPr>
        <p:spPr>
          <a:xfrm>
            <a:off x="4879467" y="1371600"/>
            <a:ext cx="3953700" cy="267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1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57"/>
          <p:cNvSpPr txBox="1"/>
          <p:nvPr>
            <p:ph idx="9" type="body"/>
          </p:nvPr>
        </p:nvSpPr>
        <p:spPr>
          <a:xfrm>
            <a:off x="4810887" y="822960"/>
            <a:ext cx="4090800" cy="3771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58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58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9" name="Google Shape;56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" y="0"/>
            <a:ext cx="563948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9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59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76" name="Google Shape;57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84" y="0"/>
            <a:ext cx="558818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0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60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83" name="Google Shape;58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001" y="122600"/>
            <a:ext cx="2626601" cy="481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1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1.2: </a:t>
            </a:r>
            <a:r>
              <a:rPr lang="en"/>
              <a:t>Indexing and Slicing</a:t>
            </a:r>
            <a:endParaRPr/>
          </a:p>
        </p:txBody>
      </p:sp>
      <p:sp>
        <p:nvSpPr>
          <p:cNvPr id="589" name="Google Shape;589;p61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2"/>
          <p:cNvSpPr txBox="1"/>
          <p:nvPr>
            <p:ph idx="1" type="subTitle"/>
          </p:nvPr>
        </p:nvSpPr>
        <p:spPr>
          <a:xfrm>
            <a:off x="265500" y="1439074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62"/>
          <p:cNvSpPr txBox="1"/>
          <p:nvPr>
            <p:ph idx="2" type="title"/>
          </p:nvPr>
        </p:nvSpPr>
        <p:spPr>
          <a:xfrm>
            <a:off x="4572000" y="271791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62"/>
          <p:cNvSpPr txBox="1"/>
          <p:nvPr>
            <p:ph idx="3" type="subTitle"/>
          </p:nvPr>
        </p:nvSpPr>
        <p:spPr>
          <a:xfrm>
            <a:off x="4835400" y="1451433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7" name="Google Shape;59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313" y="881275"/>
            <a:ext cx="4241575" cy="278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2062" y="169850"/>
            <a:ext cx="4351875" cy="186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2050" y="2422230"/>
            <a:ext cx="4404324" cy="24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62"/>
          <p:cNvSpPr txBox="1"/>
          <p:nvPr>
            <p:ph type="title"/>
          </p:nvPr>
        </p:nvSpPr>
        <p:spPr>
          <a:xfrm>
            <a:off x="2100" y="276526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3"/>
          <p:cNvSpPr txBox="1"/>
          <p:nvPr>
            <p:ph type="title"/>
          </p:nvPr>
        </p:nvSpPr>
        <p:spPr>
          <a:xfrm>
            <a:off x="617220" y="1577340"/>
            <a:ext cx="78867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"/>
              <a:buNone/>
            </a:pPr>
            <a:r>
              <a:rPr b="1" lang="en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NumPy Practice</a:t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"/>
              <a:buNone/>
            </a:pPr>
            <a:r>
              <a:rPr b="1" lang="en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Exercises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4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Lists Into Arrays</a:t>
            </a:r>
            <a:endParaRPr/>
          </a:p>
        </p:txBody>
      </p:sp>
      <p:sp>
        <p:nvSpPr>
          <p:cNvPr descr="Step 1 badge" id="611" name="Google Shape;611;p64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64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100"/>
              <a:buNone/>
            </a:pPr>
            <a:r>
              <a:rPr b="1"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613" name="Google Shape;613;p64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14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List to Array</a:t>
            </a:r>
            <a:endParaRPr/>
          </a:p>
        </p:txBody>
      </p:sp>
      <p:sp>
        <p:nvSpPr>
          <p:cNvPr id="614" name="Google Shape;614;p64"/>
          <p:cNvSpPr txBox="1"/>
          <p:nvPr>
            <p:ph idx="4" type="body"/>
          </p:nvPr>
        </p:nvSpPr>
        <p:spPr>
          <a:xfrm>
            <a:off x="411480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2400" lvl="0" marL="2032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Convert a plain Python</a:t>
            </a:r>
            <a:r>
              <a:rPr lang="en"/>
              <a:t> </a:t>
            </a: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list into an ndarray</a:t>
            </a:r>
            <a:endParaRPr/>
          </a:p>
        </p:txBody>
      </p:sp>
      <p:sp>
        <p:nvSpPr>
          <p:cNvPr id="615" name="Google Shape;615;p64"/>
          <p:cNvSpPr/>
          <p:nvPr/>
        </p:nvSpPr>
        <p:spPr>
          <a:xfrm>
            <a:off x="411480" y="1988820"/>
            <a:ext cx="4046100" cy="15090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64"/>
          <p:cNvSpPr txBox="1"/>
          <p:nvPr>
            <p:ph idx="7" type="body"/>
          </p:nvPr>
        </p:nvSpPr>
        <p:spPr>
          <a:xfrm>
            <a:off x="411480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/>
          </a:p>
        </p:txBody>
      </p:sp>
      <p:sp>
        <p:nvSpPr>
          <p:cNvPr id="617" name="Google Shape;617;p64"/>
          <p:cNvSpPr txBox="1"/>
          <p:nvPr>
            <p:ph idx="6" type="body"/>
          </p:nvPr>
        </p:nvSpPr>
        <p:spPr>
          <a:xfrm>
            <a:off x="582930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mylist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x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np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___(mylist)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t/>
            </a:r>
            <a:endParaRPr i="1">
              <a:solidFill>
                <a:srgbClr val="66D9E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(x)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8" name="Google Shape;618;p64"/>
          <p:cNvSpPr txBox="1"/>
          <p:nvPr>
            <p:ph idx="8" type="body"/>
          </p:nvPr>
        </p:nvSpPr>
        <p:spPr>
          <a:xfrm>
            <a:off x="411480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→ [1 2 3]</a:t>
            </a:r>
            <a:endParaRPr/>
          </a:p>
        </p:txBody>
      </p:sp>
      <p:sp>
        <p:nvSpPr>
          <p:cNvPr descr="Step 2 badge" id="619" name="Google Shape;619;p64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64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100"/>
              <a:buNone/>
            </a:pPr>
            <a:r>
              <a:rPr b="1"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621" name="Google Shape;621;p64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14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Vector Dimensions</a:t>
            </a:r>
            <a:endParaRPr/>
          </a:p>
        </p:txBody>
      </p:sp>
      <p:sp>
        <p:nvSpPr>
          <p:cNvPr id="622" name="Google Shape;622;p64"/>
          <p:cNvSpPr txBox="1"/>
          <p:nvPr>
            <p:ph idx="14" type="body"/>
          </p:nvPr>
        </p:nvSpPr>
        <p:spPr>
          <a:xfrm>
            <a:off x="4684014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2400" lvl="0" marL="2032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00"/>
              <a:buChar char="●"/>
            </a:pP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Check the </a:t>
            </a: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dimensions</a:t>
            </a: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of</a:t>
            </a:r>
            <a:r>
              <a:rPr lang="en"/>
              <a:t> </a:t>
            </a: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y = [3, 4, 5</a:t>
            </a: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]</a:t>
            </a:r>
            <a:endParaRPr/>
          </a:p>
        </p:txBody>
      </p:sp>
      <p:sp>
        <p:nvSpPr>
          <p:cNvPr id="623" name="Google Shape;623;p64"/>
          <p:cNvSpPr/>
          <p:nvPr/>
        </p:nvSpPr>
        <p:spPr>
          <a:xfrm>
            <a:off x="4684014" y="1988820"/>
            <a:ext cx="4046100" cy="15090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64"/>
          <p:cNvSpPr txBox="1"/>
          <p:nvPr>
            <p:ph idx="16" type="body"/>
          </p:nvPr>
        </p:nvSpPr>
        <p:spPr>
          <a:xfrm>
            <a:off x="4855464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y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np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array([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t/>
            </a:r>
            <a:endParaRPr i="1">
              <a:solidFill>
                <a:srgbClr val="66D9E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(y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___)</a:t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5" name="Google Shape;625;p64"/>
          <p:cNvSpPr txBox="1"/>
          <p:nvPr>
            <p:ph idx="17" type="body"/>
          </p:nvPr>
        </p:nvSpPr>
        <p:spPr>
          <a:xfrm>
            <a:off x="4684014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/>
          </a:p>
        </p:txBody>
      </p:sp>
      <p:sp>
        <p:nvSpPr>
          <p:cNvPr id="626" name="Google Shape;626;p64"/>
          <p:cNvSpPr txBox="1"/>
          <p:nvPr>
            <p:ph idx="18" type="body"/>
          </p:nvPr>
        </p:nvSpPr>
        <p:spPr>
          <a:xfrm>
            <a:off x="4684014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→ (3,)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65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Operations &amp; Math</a:t>
            </a:r>
            <a:endParaRPr sz="3000"/>
          </a:p>
        </p:txBody>
      </p:sp>
      <p:sp>
        <p:nvSpPr>
          <p:cNvPr id="632" name="Google Shape;632;p65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EC5F82"/>
              </a:buClr>
              <a:buSzPts val="1050"/>
              <a:buNone/>
            </a:pPr>
            <a:r>
              <a:rPr b="1" lang="en" sz="105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SECTION 2 OF 5 · LESSON 1.1</a:t>
            </a:r>
            <a:endParaRPr sz="1050"/>
          </a:p>
        </p:txBody>
      </p:sp>
      <p:sp>
        <p:nvSpPr>
          <p:cNvPr id="633" name="Google Shape;633;p65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6DAF2"/>
              </a:buClr>
              <a:buSzPct val="100000"/>
              <a:buNone/>
            </a:pPr>
            <a:r>
              <a:rPr lang="en" sz="1125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Vectorized arithmetic with scalars and arrays, broadcasting, element-wise math functions, transpose, casting, and aggregation.</a:t>
            </a:r>
            <a:endParaRPr sz="1125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66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Scalar Arithmetic</a:t>
            </a:r>
            <a:endParaRPr sz="2100"/>
          </a:p>
        </p:txBody>
      </p:sp>
      <p:sp>
        <p:nvSpPr>
          <p:cNvPr descr="Step 1 badge" id="640" name="Google Shape;640;p66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66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642" name="Google Shape;642;p66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Add &amp; Subtract</a:t>
            </a:r>
            <a:endParaRPr sz="1350"/>
          </a:p>
        </p:txBody>
      </p:sp>
      <p:sp>
        <p:nvSpPr>
          <p:cNvPr id="643" name="Google Shape;643;p66"/>
          <p:cNvSpPr txBox="1"/>
          <p:nvPr>
            <p:ph idx="4" type="body"/>
          </p:nvPr>
        </p:nvSpPr>
        <p:spPr>
          <a:xfrm>
            <a:off x="411480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For n = [1, 2, 3],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add 1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subtract 2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element-wise</a:t>
            </a:r>
            <a:endParaRPr sz="975"/>
          </a:p>
        </p:txBody>
      </p:sp>
      <p:sp>
        <p:nvSpPr>
          <p:cNvPr id="644" name="Google Shape;644;p66"/>
          <p:cNvSpPr/>
          <p:nvPr/>
        </p:nvSpPr>
        <p:spPr>
          <a:xfrm>
            <a:off x="411480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66"/>
          <p:cNvSpPr txBox="1"/>
          <p:nvPr>
            <p:ph idx="6" type="body"/>
          </p:nvPr>
        </p:nvSpPr>
        <p:spPr>
          <a:xfrm>
            <a:off x="582930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n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np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array([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(n ___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(n ___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hint: the same operators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you'd use on plain numbers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6" name="Google Shape;646;p66"/>
          <p:cNvSpPr txBox="1"/>
          <p:nvPr>
            <p:ph idx="7" type="body"/>
          </p:nvPr>
        </p:nvSpPr>
        <p:spPr>
          <a:xfrm>
            <a:off x="411480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647" name="Google Shape;647;p66"/>
          <p:cNvSpPr txBox="1"/>
          <p:nvPr>
            <p:ph idx="8" type="body"/>
          </p:nvPr>
        </p:nvSpPr>
        <p:spPr>
          <a:xfrm>
            <a:off x="411480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→ [2 3 4]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[2] → [-1  0  1]</a:t>
            </a:r>
            <a:endParaRPr sz="900"/>
          </a:p>
        </p:txBody>
      </p:sp>
      <p:sp>
        <p:nvSpPr>
          <p:cNvPr descr="Step 2 badge" id="648" name="Google Shape;648;p66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66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25"/>
          </a:p>
        </p:txBody>
      </p:sp>
      <p:sp>
        <p:nvSpPr>
          <p:cNvPr id="650" name="Google Shape;650;p66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Divide &amp; Raise a Power</a:t>
            </a:r>
            <a:endParaRPr sz="1350"/>
          </a:p>
        </p:txBody>
      </p:sp>
      <p:sp>
        <p:nvSpPr>
          <p:cNvPr id="651" name="Google Shape;651;p66"/>
          <p:cNvSpPr txBox="1"/>
          <p:nvPr>
            <p:ph idx="14" type="body"/>
          </p:nvPr>
        </p:nvSpPr>
        <p:spPr>
          <a:xfrm>
            <a:off x="4684014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For the same n,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divide by 3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square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every element</a:t>
            </a:r>
            <a:endParaRPr sz="975"/>
          </a:p>
        </p:txBody>
      </p:sp>
      <p:sp>
        <p:nvSpPr>
          <p:cNvPr id="652" name="Google Shape;652;p66"/>
          <p:cNvSpPr/>
          <p:nvPr/>
        </p:nvSpPr>
        <p:spPr>
          <a:xfrm>
            <a:off x="4684014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66"/>
          <p:cNvSpPr txBox="1"/>
          <p:nvPr>
            <p:ph idx="16" type="body"/>
          </p:nvPr>
        </p:nvSpPr>
        <p:spPr>
          <a:xfrm>
            <a:off x="4855464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n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np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array([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(n ___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(n ___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hint: one splits values into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thirds, the other raises a power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4" name="Google Shape;654;p66"/>
          <p:cNvSpPr txBox="1"/>
          <p:nvPr>
            <p:ph idx="17" type="body"/>
          </p:nvPr>
        </p:nvSpPr>
        <p:spPr>
          <a:xfrm>
            <a:off x="4684014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655" name="Google Shape;655;p66"/>
          <p:cNvSpPr txBox="1"/>
          <p:nvPr>
            <p:ph idx="18" type="body"/>
          </p:nvPr>
        </p:nvSpPr>
        <p:spPr>
          <a:xfrm>
            <a:off x="4684014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→ [0.33333333 0.66666667 1.        ]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[2] → [1 4 9]</a:t>
            </a:r>
            <a:endParaRPr sz="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67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Transpose &amp; Type</a:t>
            </a:r>
            <a:endParaRPr sz="2100"/>
          </a:p>
        </p:txBody>
      </p:sp>
      <p:sp>
        <p:nvSpPr>
          <p:cNvPr descr="Step 7 badge" id="662" name="Google Shape;662;p67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67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sz="1125"/>
          </a:p>
        </p:txBody>
      </p:sp>
      <p:sp>
        <p:nvSpPr>
          <p:cNvPr id="664" name="Google Shape;664;p67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Transpose a Matrix</a:t>
            </a:r>
            <a:endParaRPr sz="1350"/>
          </a:p>
        </p:txBody>
      </p:sp>
      <p:sp>
        <p:nvSpPr>
          <p:cNvPr id="665" name="Google Shape;665;p67"/>
          <p:cNvSpPr txBox="1"/>
          <p:nvPr>
            <p:ph idx="4" type="body"/>
          </p:nvPr>
        </p:nvSpPr>
        <p:spPr>
          <a:xfrm>
            <a:off x="411480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For n = [[1,2,3],[4,5,6]],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D84568"/>
              </a:buClr>
              <a:buSzPts val="761"/>
              <a:buChar char="●"/>
            </a:pP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flip its rows and columns</a:t>
            </a:r>
            <a:endParaRPr sz="975"/>
          </a:p>
        </p:txBody>
      </p:sp>
      <p:sp>
        <p:nvSpPr>
          <p:cNvPr id="666" name="Google Shape;666;p67"/>
          <p:cNvSpPr/>
          <p:nvPr/>
        </p:nvSpPr>
        <p:spPr>
          <a:xfrm>
            <a:off x="411480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67"/>
          <p:cNvSpPr txBox="1"/>
          <p:nvPr>
            <p:ph idx="6" type="body"/>
          </p:nvPr>
        </p:nvSpPr>
        <p:spPr>
          <a:xfrm>
            <a:off x="582930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n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np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array([[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(n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___)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hint: a one-letter attribute,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no parentheses needed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8" name="Google Shape;668;p67"/>
          <p:cNvSpPr txBox="1"/>
          <p:nvPr>
            <p:ph idx="7" type="body"/>
          </p:nvPr>
        </p:nvSpPr>
        <p:spPr>
          <a:xfrm>
            <a:off x="411480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669" name="Google Shape;669;p67"/>
          <p:cNvSpPr txBox="1"/>
          <p:nvPr>
            <p:ph idx="8" type="body"/>
          </p:nvPr>
        </p:nvSpPr>
        <p:spPr>
          <a:xfrm>
            <a:off x="411480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45720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[[1 4]</a:t>
            </a:r>
            <a:endParaRPr sz="900"/>
          </a:p>
          <a:p>
            <a:pPr indent="45720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[2 5]</a:t>
            </a:r>
            <a:endParaRPr sz="900"/>
          </a:p>
          <a:p>
            <a:pPr indent="457200" lvl="0" marL="0" rtl="0" algn="l">
              <a:lnSpc>
                <a:spcPct val="110000"/>
              </a:lnSpc>
              <a:spcBef>
                <a:spcPts val="18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[3 6]]</a:t>
            </a:r>
            <a:endParaRPr sz="900"/>
          </a:p>
        </p:txBody>
      </p:sp>
      <p:sp>
        <p:nvSpPr>
          <p:cNvPr descr="Step 8 badge" id="670" name="Google Shape;670;p67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67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 sz="1125"/>
          </a:p>
        </p:txBody>
      </p:sp>
      <p:sp>
        <p:nvSpPr>
          <p:cNvPr id="672" name="Google Shape;672;p67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Inspect &amp; Convert Type</a:t>
            </a:r>
            <a:endParaRPr sz="1350"/>
          </a:p>
        </p:txBody>
      </p:sp>
      <p:sp>
        <p:nvSpPr>
          <p:cNvPr id="673" name="Google Shape;673;p67"/>
          <p:cNvSpPr txBox="1"/>
          <p:nvPr>
            <p:ph idx="14" type="body"/>
          </p:nvPr>
        </p:nvSpPr>
        <p:spPr>
          <a:xfrm>
            <a:off x="4684014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For n = [[1,2,3],[4,5,6]], print its</a:t>
            </a:r>
            <a:r>
              <a:rPr lang="en"/>
              <a:t>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stored type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endParaRPr sz="975">
              <a:solidFill>
                <a:srgbClr val="2225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then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convert it to float32</a:t>
            </a:r>
            <a:endParaRPr sz="975"/>
          </a:p>
        </p:txBody>
      </p:sp>
      <p:sp>
        <p:nvSpPr>
          <p:cNvPr id="674" name="Google Shape;674;p67"/>
          <p:cNvSpPr/>
          <p:nvPr/>
        </p:nvSpPr>
        <p:spPr>
          <a:xfrm>
            <a:off x="4684014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67"/>
          <p:cNvSpPr txBox="1"/>
          <p:nvPr>
            <p:ph idx="16" type="body"/>
          </p:nvPr>
        </p:nvSpPr>
        <p:spPr>
          <a:xfrm>
            <a:off x="4855464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n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np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array([[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(n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___)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(n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___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E6DB74"/>
                </a:solidFill>
              </a:rPr>
              <a:t>___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hint: one just reports the type,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the other returns a converted copy of </a:t>
            </a:r>
            <a:r>
              <a:rPr lang="en">
                <a:solidFill>
                  <a:srgbClr val="959077"/>
                </a:solidFill>
              </a:rPr>
              <a:t>that type</a:t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6" name="Google Shape;676;p67"/>
          <p:cNvSpPr txBox="1"/>
          <p:nvPr>
            <p:ph idx="17" type="body"/>
          </p:nvPr>
        </p:nvSpPr>
        <p:spPr>
          <a:xfrm>
            <a:off x="4684014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677" name="Google Shape;677;p67"/>
          <p:cNvSpPr txBox="1"/>
          <p:nvPr>
            <p:ph idx="18" type="body"/>
          </p:nvPr>
        </p:nvSpPr>
        <p:spPr>
          <a:xfrm>
            <a:off x="4684014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→ int64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[2] → [[1. 2. 3.]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[3] →  [4. 5. 6.]]</a:t>
            </a:r>
            <a:endParaRPr sz="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68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Totals &amp; Stats</a:t>
            </a:r>
            <a:endParaRPr sz="2100"/>
          </a:p>
        </p:txBody>
      </p:sp>
      <p:sp>
        <p:nvSpPr>
          <p:cNvPr descr="Step 9 badge" id="684" name="Google Shape;684;p68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68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 sz="1125"/>
          </a:p>
        </p:txBody>
      </p:sp>
      <p:sp>
        <p:nvSpPr>
          <p:cNvPr id="686" name="Google Shape;686;p68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Total It Two Ways</a:t>
            </a:r>
            <a:endParaRPr sz="1350"/>
          </a:p>
        </p:txBody>
      </p:sp>
      <p:sp>
        <p:nvSpPr>
          <p:cNvPr id="687" name="Google Shape;687;p68"/>
          <p:cNvSpPr txBox="1"/>
          <p:nvPr>
            <p:ph idx="4" type="body"/>
          </p:nvPr>
        </p:nvSpPr>
        <p:spPr>
          <a:xfrm>
            <a:off x="411480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For the same n, add up all its</a:t>
            </a:r>
            <a:r>
              <a:rPr lang="en"/>
              <a:t> 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values using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both call styles</a:t>
            </a:r>
            <a:endParaRPr sz="975"/>
          </a:p>
        </p:txBody>
      </p:sp>
      <p:sp>
        <p:nvSpPr>
          <p:cNvPr id="688" name="Google Shape;688;p68"/>
          <p:cNvSpPr/>
          <p:nvPr/>
        </p:nvSpPr>
        <p:spPr>
          <a:xfrm>
            <a:off x="411480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68"/>
          <p:cNvSpPr txBox="1"/>
          <p:nvPr>
            <p:ph idx="6" type="body"/>
          </p:nvPr>
        </p:nvSpPr>
        <p:spPr>
          <a:xfrm>
            <a:off x="582930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n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np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array([[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(n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___())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(np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___(n))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hint: same operation, once as a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method and once as a function</a:t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0" name="Google Shape;690;p68"/>
          <p:cNvSpPr txBox="1"/>
          <p:nvPr>
            <p:ph idx="7" type="body"/>
          </p:nvPr>
        </p:nvSpPr>
        <p:spPr>
          <a:xfrm>
            <a:off x="411480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691" name="Google Shape;691;p68"/>
          <p:cNvSpPr txBox="1"/>
          <p:nvPr>
            <p:ph idx="8" type="body"/>
          </p:nvPr>
        </p:nvSpPr>
        <p:spPr>
          <a:xfrm>
            <a:off x="411480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→ 21</a:t>
            </a:r>
            <a:endParaRPr sz="900"/>
          </a:p>
          <a:p>
            <a:pPr indent="0" lvl="0" marL="0" rtl="0" algn="l">
              <a:lnSpc>
                <a:spcPct val="110000"/>
              </a:lnSpc>
              <a:spcBef>
                <a:spcPts val="18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[2] → 21</a:t>
            </a:r>
            <a:endParaRPr sz="900"/>
          </a:p>
        </p:txBody>
      </p:sp>
      <p:sp>
        <p:nvSpPr>
          <p:cNvPr descr="Step 10 badge" id="692" name="Google Shape;692;p68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68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 sz="1125"/>
          </a:p>
        </p:txBody>
      </p:sp>
      <p:sp>
        <p:nvSpPr>
          <p:cNvPr id="694" name="Google Shape;694;p68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Four Quick Stats</a:t>
            </a:r>
            <a:endParaRPr sz="1350"/>
          </a:p>
        </p:txBody>
      </p:sp>
      <p:sp>
        <p:nvSpPr>
          <p:cNvPr id="695" name="Google Shape;695;p68"/>
          <p:cNvSpPr txBox="1"/>
          <p:nvPr>
            <p:ph idx="14" type="body"/>
          </p:nvPr>
        </p:nvSpPr>
        <p:spPr>
          <a:xfrm>
            <a:off x="4684014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For the same n, compute its</a:t>
            </a:r>
            <a:r>
              <a:rPr lang="en"/>
              <a:t>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average, </a:t>
            </a:r>
            <a:r>
              <a:rPr lang="en">
                <a:solidFill>
                  <a:srgbClr val="D84568"/>
                </a:solidFill>
              </a:rPr>
              <a:t>min, max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, and middle value</a:t>
            </a:r>
            <a:endParaRPr sz="975"/>
          </a:p>
        </p:txBody>
      </p:sp>
      <p:sp>
        <p:nvSpPr>
          <p:cNvPr id="696" name="Google Shape;696;p68"/>
          <p:cNvSpPr/>
          <p:nvPr/>
        </p:nvSpPr>
        <p:spPr>
          <a:xfrm>
            <a:off x="4684014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68"/>
          <p:cNvSpPr txBox="1"/>
          <p:nvPr>
            <p:ph idx="16" type="body"/>
          </p:nvPr>
        </p:nvSpPr>
        <p:spPr>
          <a:xfrm>
            <a:off x="4855464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n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np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array([[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(n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___(), n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___(),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n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___(), np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___(n))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hint: four stats in one line -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959077"/>
              </a:buClr>
              <a:buSzPts val="900"/>
              <a:buNone/>
            </a:pPr>
            <a:r>
              <a:rPr b="0" i="0" lang="en" sz="900">
                <a:solidFill>
                  <a:srgbClr val="959077"/>
                </a:solidFill>
                <a:latin typeface="Consolas"/>
                <a:ea typeface="Consolas"/>
                <a:cs typeface="Consolas"/>
                <a:sym typeface="Consolas"/>
              </a:rPr>
              <a:t># avg, smallest, largest, mid-point</a:t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8" name="Google Shape;698;p68"/>
          <p:cNvSpPr txBox="1"/>
          <p:nvPr>
            <p:ph idx="17" type="body"/>
          </p:nvPr>
        </p:nvSpPr>
        <p:spPr>
          <a:xfrm>
            <a:off x="4684014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699" name="Google Shape;699;p68"/>
          <p:cNvSpPr txBox="1"/>
          <p:nvPr>
            <p:ph idx="18" type="body"/>
          </p:nvPr>
        </p:nvSpPr>
        <p:spPr>
          <a:xfrm>
            <a:off x="4684014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→ 3.5 1 6 3.5</a:t>
            </a:r>
            <a:endParaRPr sz="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69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Indexing &amp; Slicing</a:t>
            </a:r>
            <a:endParaRPr sz="3000"/>
          </a:p>
        </p:txBody>
      </p:sp>
      <p:sp>
        <p:nvSpPr>
          <p:cNvPr id="705" name="Google Shape;705;p69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EC5F82"/>
              </a:buClr>
              <a:buSzPts val="1050"/>
              <a:buNone/>
            </a:pPr>
            <a:r>
              <a:rPr b="1" lang="en" sz="105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SECTION 3 OF 5 · LESSON 1.2</a:t>
            </a:r>
            <a:endParaRPr sz="1050"/>
          </a:p>
        </p:txBody>
      </p:sp>
      <p:sp>
        <p:nvSpPr>
          <p:cNvPr id="706" name="Google Shape;706;p69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6DAF2"/>
              </a:buClr>
              <a:buSzPts val="1125"/>
              <a:buNone/>
            </a:pPr>
            <a:r>
              <a:rPr lang="en" sz="1125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Pulling values out of an array by single index, and slicing ranges from the front, back, and with a step.</a:t>
            </a:r>
            <a:endParaRPr sz="1125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70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Single-Index Lookups</a:t>
            </a:r>
            <a:endParaRPr sz="2100"/>
          </a:p>
        </p:txBody>
      </p:sp>
      <p:sp>
        <p:nvSpPr>
          <p:cNvPr descr="Step 1 badge" id="713" name="Google Shape;713;p70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70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715" name="Google Shape;715;p70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First Element</a:t>
            </a:r>
            <a:endParaRPr sz="1350"/>
          </a:p>
        </p:txBody>
      </p:sp>
      <p:sp>
        <p:nvSpPr>
          <p:cNvPr id="716" name="Google Shape;716;p70"/>
          <p:cNvSpPr txBox="1"/>
          <p:nvPr>
            <p:ph idx="4" type="body"/>
          </p:nvPr>
        </p:nvSpPr>
        <p:spPr>
          <a:xfrm>
            <a:off x="411480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Get the value at </a:t>
            </a:r>
            <a:r>
              <a:rPr lang="en" sz="975"/>
              <a:t>first element</a:t>
            </a:r>
            <a:endParaRPr sz="975"/>
          </a:p>
        </p:txBody>
      </p:sp>
      <p:sp>
        <p:nvSpPr>
          <p:cNvPr id="717" name="Google Shape;717;p70"/>
          <p:cNvSpPr/>
          <p:nvPr/>
        </p:nvSpPr>
        <p:spPr>
          <a:xfrm>
            <a:off x="411480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70"/>
          <p:cNvSpPr txBox="1"/>
          <p:nvPr>
            <p:ph idx="6" type="body"/>
          </p:nvPr>
        </p:nvSpPr>
        <p:spPr>
          <a:xfrm>
            <a:off x="582930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n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np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/>
              <a:t>array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lang="en">
                <a:solidFill>
                  <a:srgbClr val="AE81FF"/>
                </a:solidFill>
              </a:rPr>
              <a:t>0, 1, 4, 9, 16, 25, 36, 49, 64, 81, 100, 121, 144</a:t>
            </a:r>
            <a:r>
              <a:rPr lang="en"/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t/>
            </a:r>
            <a:endParaRPr i="1">
              <a:solidFill>
                <a:srgbClr val="66D9E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(n[___])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9" name="Google Shape;719;p70"/>
          <p:cNvSpPr txBox="1"/>
          <p:nvPr>
            <p:ph idx="7" type="body"/>
          </p:nvPr>
        </p:nvSpPr>
        <p:spPr>
          <a:xfrm>
            <a:off x="411480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720" name="Google Shape;720;p70"/>
          <p:cNvSpPr txBox="1"/>
          <p:nvPr>
            <p:ph idx="8" type="body"/>
          </p:nvPr>
        </p:nvSpPr>
        <p:spPr>
          <a:xfrm>
            <a:off x="411480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→ 0</a:t>
            </a:r>
            <a:endParaRPr sz="900"/>
          </a:p>
        </p:txBody>
      </p:sp>
      <p:sp>
        <p:nvSpPr>
          <p:cNvPr descr="Step 2 badge" id="721" name="Google Shape;721;p70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70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25"/>
          </a:p>
        </p:txBody>
      </p:sp>
      <p:sp>
        <p:nvSpPr>
          <p:cNvPr id="723" name="Google Shape;723;p70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 Later Element</a:t>
            </a:r>
            <a:endParaRPr sz="1350"/>
          </a:p>
        </p:txBody>
      </p:sp>
      <p:sp>
        <p:nvSpPr>
          <p:cNvPr id="724" name="Google Shape;724;p70"/>
          <p:cNvSpPr txBox="1"/>
          <p:nvPr>
            <p:ph idx="14" type="body"/>
          </p:nvPr>
        </p:nvSpPr>
        <p:spPr>
          <a:xfrm>
            <a:off x="4684014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Get the value at </a:t>
            </a:r>
            <a:r>
              <a:rPr lang="en" sz="975"/>
              <a:t>2nd row, 2nd column</a:t>
            </a:r>
            <a:endParaRPr sz="975"/>
          </a:p>
        </p:txBody>
      </p:sp>
      <p:sp>
        <p:nvSpPr>
          <p:cNvPr id="725" name="Google Shape;725;p70"/>
          <p:cNvSpPr/>
          <p:nvPr/>
        </p:nvSpPr>
        <p:spPr>
          <a:xfrm>
            <a:off x="4684014" y="1988820"/>
            <a:ext cx="4046100" cy="150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70"/>
          <p:cNvSpPr txBox="1"/>
          <p:nvPr>
            <p:ph idx="16" type="body"/>
          </p:nvPr>
        </p:nvSpPr>
        <p:spPr>
          <a:xfrm>
            <a:off x="4855464" y="2160270"/>
            <a:ext cx="3703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lang="en"/>
              <a:t>n </a:t>
            </a:r>
            <a:r>
              <a:rPr lang="en">
                <a:solidFill>
                  <a:srgbClr val="FF4689"/>
                </a:solidFill>
              </a:rPr>
              <a:t>=</a:t>
            </a:r>
            <a:r>
              <a:rPr lang="en"/>
              <a:t> np</a:t>
            </a:r>
            <a:r>
              <a:rPr lang="en">
                <a:solidFill>
                  <a:srgbClr val="FF4689"/>
                </a:solidFill>
              </a:rPr>
              <a:t>.</a:t>
            </a:r>
            <a:r>
              <a:rPr lang="en"/>
              <a:t>array([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lang="en"/>
              <a:t>[</a:t>
            </a:r>
            <a:r>
              <a:rPr lang="en">
                <a:solidFill>
                  <a:srgbClr val="AE81FF"/>
                </a:solidFill>
              </a:rPr>
              <a:t>0, 1</a:t>
            </a:r>
            <a:r>
              <a:rPr lang="en"/>
              <a:t>]</a:t>
            </a:r>
            <a:r>
              <a:rPr lang="en">
                <a:solidFill>
                  <a:srgbClr val="AE81FF"/>
                </a:solidFill>
              </a:rPr>
              <a:t>,</a:t>
            </a:r>
            <a:endParaRPr>
              <a:solidFill>
                <a:srgbClr val="AE81FF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lang="en"/>
              <a:t>[</a:t>
            </a:r>
            <a:r>
              <a:rPr lang="en">
                <a:solidFill>
                  <a:srgbClr val="AE81FF"/>
                </a:solidFill>
              </a:rPr>
              <a:t> 4, 9</a:t>
            </a:r>
            <a:r>
              <a:rPr lang="en"/>
              <a:t>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lang="en"/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t/>
            </a:r>
            <a:endParaRPr i="1">
              <a:solidFill>
                <a:srgbClr val="66D9E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66D9EF"/>
              </a:buClr>
              <a:buSzPts val="900"/>
              <a:buNone/>
            </a:pPr>
            <a:r>
              <a:rPr b="0" i="1" lang="en" sz="9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(n[___])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120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95907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7" name="Google Shape;727;p70"/>
          <p:cNvSpPr txBox="1"/>
          <p:nvPr>
            <p:ph idx="17" type="body"/>
          </p:nvPr>
        </p:nvSpPr>
        <p:spPr>
          <a:xfrm>
            <a:off x="4684014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ct val="100000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id="728" name="Google Shape;728;p70"/>
          <p:cNvSpPr txBox="1"/>
          <p:nvPr>
            <p:ph idx="18" type="body"/>
          </p:nvPr>
        </p:nvSpPr>
        <p:spPr>
          <a:xfrm>
            <a:off x="4684014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222540"/>
              </a:buClr>
              <a:buSzPts val="900"/>
              <a:buNone/>
            </a:pP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[1] → </a:t>
            </a:r>
            <a:r>
              <a:rPr lang="en"/>
              <a:t>9</a:t>
            </a:r>
            <a:endParaRPr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