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</p:sldIdLst>
  <p:sldSz cy="5143500" cx="9144000"/>
  <p:notesSz cx="6858000" cy="9144000"/>
  <p:embeddedFontLst>
    <p:embeddedFont>
      <p:font typeface="Roboto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font" Target="fonts/Roboto-regular.fntdata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font" Target="fonts/Roboto-italic.fntdata"/><Relationship Id="rId21" Type="http://schemas.openxmlformats.org/officeDocument/2006/relationships/slide" Target="slides/slide17.xml"/><Relationship Id="rId43" Type="http://schemas.openxmlformats.org/officeDocument/2006/relationships/font" Target="fonts/Roboto-bold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45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7049000af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7049000af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6e7c43c4a4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6e7c43c4a4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6fef4c9fcc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6fef4c9fcc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6fad29d909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6fad29d909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cc09104f1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cc09104f1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95d68ab25_1_164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f95d68ab25_1_164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= pd.Series([10, 20, 30, 40])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0    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1    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2    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3    40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dtype: int64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= pd.Series([10, 20, 30],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index=['a', 'b', 'c'])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print(s['b'])     # 20  (by label)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print(s.index)    # ['a' 'b' 'c']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print(s.values)   # [10 20 30]</a:t>
            </a:r>
            <a:endParaRPr/>
          </a:p>
        </p:txBody>
      </p:sp>
      <p:sp>
        <p:nvSpPr>
          <p:cNvPr id="256" name="Google Shape;256;g3f95d68ab25_1_164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cc09104f1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2cc09104f1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country = {"sg": "singapore","kh": "Cambodia","us": "United States"}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 = pd.Series(country)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95d68ab25_1_187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g3f95d68ab25_1_187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pd.Series([1, 2, 3])          # dtype: int64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pd.Series([1.0, 2.5])         # dtype: float64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pd.Series(['a', 'b'])         # dtype: object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pd.Series([True, False])      # dtype: bool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Mixed types fall back to object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pd.Series([1, 'two', 3.0])    # dtype: object</a:t>
            </a:r>
            <a:endParaRPr/>
          </a:p>
        </p:txBody>
      </p:sp>
      <p:sp>
        <p:nvSpPr>
          <p:cNvPr id="278" name="Google Shape;278;g3f95d68ab25_1_187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95d68ab25_1_210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g3f95d68ab25_1_210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= pd.Series([10, 20, 30, 40],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index=['a', 'b', 'c', 'd'])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s['b']              # 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s[['a', 'c']]       # a 10, c 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s[s &gt; 20]           # c 30, d 40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'c' in s            # True</a:t>
            </a:r>
            <a:endParaRPr/>
          </a:p>
        </p:txBody>
      </p:sp>
      <p:sp>
        <p:nvSpPr>
          <p:cNvPr id="287" name="Google Shape;287;g3f95d68ab25_1_210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cc09104f1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cc09104f1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95d68ab25_1_233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g3f95d68ab25_1_233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= pd.Series([10, 20, 30],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index=['a', 'b', 'c'])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Access by LOCATION (position)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s.iloc[0]     # 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s.iloc[-1]    # 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s.iloc[0:2]   # a 10, b 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= pd.Series([10, 20, 30],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index=['a', 'b', 'c'])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Access by INDEX (label)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s.loc['a']        # 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s.loc['c']        # 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s.loc['a':'b']    # a 10, b 20</a:t>
            </a:r>
            <a:endParaRPr/>
          </a:p>
        </p:txBody>
      </p:sp>
      <p:sp>
        <p:nvSpPr>
          <p:cNvPr id="303" name="Google Shape;303;g3f95d68ab25_1_233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6fad29d90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6fad29d90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6fad29d90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26fad29d90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6fad29d90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26fad29d90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6fad29d909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26fad29d90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6fad29d909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26fad29d909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f95d68ab25_1_257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g3f95d68ab25_1_257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nums = [1, 2, 3]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= pd.Series([1, 2, 3])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nums * 2    # [1, 2, 3, 1, 2, 3]  (repeat)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* 2       # 0 2, 1 4, 2 6       (math!)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nums + [10] # append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+ 10      # adds 10 to each element</a:t>
            </a:r>
            <a:endParaRPr/>
          </a:p>
        </p:txBody>
      </p:sp>
      <p:sp>
        <p:nvSpPr>
          <p:cNvPr id="351" name="Google Shape;351;g3f95d68ab25_1_257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f95d68ab25_1_280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3f95d68ab25_1_280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= pd.Series([1, 2], index=['x', 'y'])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= pd.Series([3, 4], index=['y', 'z'])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+ aligns on the index (NaN where missing)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+ 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x    NaN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y    5.0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z    NaN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= pd.Series([1, 2], index=['x', 'y'])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= pd.Series([3, 4], index=['y', 'z'])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concat stacks values, keeps every index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pd.concat([a, b])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x 1, y 2, y 3, z 4</a:t>
            </a:r>
            <a:endParaRPr/>
          </a:p>
        </p:txBody>
      </p:sp>
      <p:sp>
        <p:nvSpPr>
          <p:cNvPr id="360" name="Google Shape;360;g3f95d68ab25_1_280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6fad29d909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26fad29d909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6fad29d909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26fad29d90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f844cfccc3_0_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3f844cfccc3_0_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f844cfccc3_0_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f844cfccc3_0_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fb2e3e0b29_0_28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g3fb2e3e0b29_0_28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# Exercise 1 — Create a Series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import pandas as pd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s = pd.Series([10, 20, 30])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print(s)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# Exercise 2 — Custom Labels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s = pd.Series([10, 20, 30], index=['a', 'b', 'c'])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print(s)</a:t>
            </a:r>
            <a:endParaRPr/>
          </a:p>
        </p:txBody>
      </p:sp>
      <p:sp>
        <p:nvSpPr>
          <p:cNvPr id="405" name="Google Shape;405;g3fb2e3e0b29_0_28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fb2e3e0b29_0_30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g3fb2e3e0b29_0_30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# Exercise 3 — Just the Values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s = pd.Series([10, 20, 30], index=['a', 'b', 'c'])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print(s.values)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# Exercise 4 — Just the Labels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s = pd.Series([10, 20, 30], index=['a', 'b', 'c'])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print(s.index)</a:t>
            </a:r>
            <a:endParaRPr/>
          </a:p>
        </p:txBody>
      </p:sp>
      <p:sp>
        <p:nvSpPr>
          <p:cNvPr id="427" name="Google Shape;427;g3fb2e3e0b29_0_30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f844cfccc3_0_29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3f844cfccc3_0_29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fb2e3e0b29_0_85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g3fb2e3e0b29_0_85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# Exercise 1 — Access by Label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s = pd.Series([10, 20, 30], index=['a', 'b', 'c'])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print(s['b'])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# Exercise 2 — Multiple Labels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s = pd.Series([10, 20, 30], index=['a', 'b', 'c'])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print(s[['a', 'c']])</a:t>
            </a:r>
            <a:endParaRPr/>
          </a:p>
        </p:txBody>
      </p:sp>
      <p:sp>
        <p:nvSpPr>
          <p:cNvPr id="456" name="Google Shape;456;g3fb2e3e0b29_0_85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fb2e3e0b29_0_87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g3fb2e3e0b29_0_87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# Exercise 3 — Boolean Filter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s = pd.Series([10, 20, 30], index=['a', 'b', 'c'])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print(s[s &gt; 15])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# Exercise 4 — Membership Test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s = pd.Series([10, 20, 30], index=['a', 'b', 'c'])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print('a' in s)</a:t>
            </a:r>
            <a:endParaRPr/>
          </a:p>
        </p:txBody>
      </p:sp>
      <p:sp>
        <p:nvSpPr>
          <p:cNvPr id="478" name="Google Shape;478;g3fb2e3e0b29_0_87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fb2e3e0b29_0_1136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g3fb2e3e0b29_0_113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fb2e3e0b29_0_114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g3fb2e3e0b29_0_114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# Exercise 1 — Position Access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s = pd.Series([10, 20, 30], index=['a', 'b', 'c'])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print(s.iloc[0])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# Exercise 2 — Label Access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s = pd.Series([10, 20, 30], index=['a', 'b', 'c'])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print(s.loc['b'])</a:t>
            </a:r>
            <a:endParaRPr/>
          </a:p>
        </p:txBody>
      </p:sp>
      <p:sp>
        <p:nvSpPr>
          <p:cNvPr id="507" name="Google Shape;507;g3fb2e3e0b29_0_114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fb2e3e0b29_0_116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g3fb2e3e0b29_0_116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# Exercise 3 — Position Slice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s = pd.Series([10, 20, 30], index=['a', 'b', 'c'])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print(s.iloc[0:2])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# Exercise 4 — Label Slice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s = pd.Series([10, 20, 30], index=['a', 'b', 'c'])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print(s.loc['a':'b'])</a:t>
            </a:r>
            <a:endParaRPr/>
          </a:p>
        </p:txBody>
      </p:sp>
      <p:sp>
        <p:nvSpPr>
          <p:cNvPr id="529" name="Google Shape;529;g3fb2e3e0b29_0_116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fb2e3e0b29_0_118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g3fb2e3e0b29_0_118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# Exercise 5 — Numeric Index Caution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s2 = pd.Series([7, 8, 9], index=[100, 101, 102])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print(s2.iloc[0])</a:t>
            </a:r>
            <a:endParaRPr/>
          </a:p>
        </p:txBody>
      </p:sp>
      <p:sp>
        <p:nvSpPr>
          <p:cNvPr id="551" name="Google Shape;551;g3fb2e3e0b29_0_118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f844cfccc3_0_143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g3f844cfccc3_0_143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f844cfccc3_0_1441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g3f844cfccc3_0_1441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fb2e3e0b29_0_143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g3fb2e3e0b29_0_143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fb2e3e0b29_0_144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9" name="Google Shape;599;g3fb2e3e0b29_0_144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# Exercise 1 — Index Alignment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a = pd.Series([1, 2, 3], index=['x', 'y', 'z'])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b = pd.Series([10, 20], index=['x', 'w'])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print(a + b)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# Exercise 2 — Stack &amp; Keep All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a = pd.Series([1, 2, 3], index=['x', 'y', 'z'])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b = pd.Series([10, 20], index=['x', 'w'])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print(pd.concat([a, b]))</a:t>
            </a:r>
            <a:endParaRPr/>
          </a:p>
        </p:txBody>
      </p:sp>
      <p:sp>
        <p:nvSpPr>
          <p:cNvPr id="600" name="Google Shape;600;g3fb2e3e0b29_0_144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fb2e3e0b29_0_1466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g3fb2e3e0b29_0_146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fb2e3e0b29_0_147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8" name="Google Shape;628;g3fb2e3e0b29_0_147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# Exercise 1 — Duplicate Labels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s = pd.Series([1, 2, 3], index=['a', 'a', 'b'])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print(s)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# Exercise 2 — Access a Duplicate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print(s['a'])</a:t>
            </a:r>
            <a:endParaRPr/>
          </a:p>
        </p:txBody>
      </p:sp>
      <p:sp>
        <p:nvSpPr>
          <p:cNvPr id="629" name="Google Shape;629;g3fb2e3e0b29_0_147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" name="Google Shape;45;p6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" name="Google Shape;52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6" name="Google Shape;56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" name="Google Shape;61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" name="Google Shape;65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10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1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3" name="Google Shape;73;p11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1"/>
          <p:cNvSpPr txBox="1"/>
          <p:nvPr>
            <p:ph idx="2" type="title"/>
          </p:nvPr>
        </p:nvSpPr>
        <p:spPr>
          <a:xfrm>
            <a:off x="4835400" y="12156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3" type="subTitle"/>
          </p:nvPr>
        </p:nvSpPr>
        <p:spPr>
          <a:xfrm>
            <a:off x="4835400" y="277505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1">
  <p:cSld name="SECTION_TITLE_AND_DESCRIPTION_1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2"/>
          <p:cNvSpPr txBox="1"/>
          <p:nvPr>
            <p:ph type="title"/>
          </p:nvPr>
        </p:nvSpPr>
        <p:spPr>
          <a:xfrm>
            <a:off x="2100" y="276526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9pPr>
          </a:lstStyle>
          <a:p/>
        </p:txBody>
      </p:sp>
      <p:sp>
        <p:nvSpPr>
          <p:cNvPr id="80" name="Google Shape;80;p12"/>
          <p:cNvSpPr txBox="1"/>
          <p:nvPr>
            <p:ph idx="1" type="subTitle"/>
          </p:nvPr>
        </p:nvSpPr>
        <p:spPr>
          <a:xfrm>
            <a:off x="265500" y="1439074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2"/>
          <p:cNvSpPr txBox="1"/>
          <p:nvPr>
            <p:ph idx="2" type="title"/>
          </p:nvPr>
        </p:nvSpPr>
        <p:spPr>
          <a:xfrm>
            <a:off x="4572000" y="271791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12"/>
          <p:cNvSpPr txBox="1"/>
          <p:nvPr>
            <p:ph idx="3" type="subTitle"/>
          </p:nvPr>
        </p:nvSpPr>
        <p:spPr>
          <a:xfrm>
            <a:off x="4835400" y="1451433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1 1">
  <p:cSld name="SECTION_TITLE_AND_DESCRIPTION_1_1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5684300" y="-175"/>
            <a:ext cx="3459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 txBox="1"/>
          <p:nvPr>
            <p:ph type="title"/>
          </p:nvPr>
        </p:nvSpPr>
        <p:spPr>
          <a:xfrm>
            <a:off x="2100" y="8100"/>
            <a:ext cx="5682300" cy="15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9pPr>
          </a:lstStyle>
          <a:p/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329460" y="2769000"/>
            <a:ext cx="50274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3"/>
          <p:cNvSpPr txBox="1"/>
          <p:nvPr>
            <p:ph idx="2" type="title"/>
          </p:nvPr>
        </p:nvSpPr>
        <p:spPr>
          <a:xfrm>
            <a:off x="5684300" y="-3600"/>
            <a:ext cx="3459600" cy="15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13"/>
          <p:cNvSpPr txBox="1"/>
          <p:nvPr>
            <p:ph idx="3" type="subTitle"/>
          </p:nvPr>
        </p:nvSpPr>
        <p:spPr>
          <a:xfrm>
            <a:off x="5883618" y="2775051"/>
            <a:ext cx="3061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5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96" name="Google Shape;96;p15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5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5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5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15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7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08" name="Google Shape;108;p17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7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7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7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7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9pPr>
          </a:lstStyle>
          <a:p/>
        </p:txBody>
      </p:sp>
      <p:sp>
        <p:nvSpPr>
          <p:cNvPr id="114" name="Google Shape;114;p17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5" name="Google Shape;115;p1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">
  <p:cSld name="TITLE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1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8" name="Google Shape;118;p1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3" name="Google Shape;123;p18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9pPr>
          </a:lstStyle>
          <a:p/>
        </p:txBody>
      </p:sp>
      <p:sp>
        <p:nvSpPr>
          <p:cNvPr id="124" name="Google Shape;124;p18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1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6" name="Google Shape;12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225" y="228600"/>
            <a:ext cx="6109998" cy="12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e1e2e78876_7_0)">
  <p:cSld name="Title and body (g3e1e2e78876_7_0)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129" name="Google Shape;129;p19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0" name="Google Shape;130;p1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e1e2e78876_14_0)">
  <p:cSld name="Title and body (g3e1e2e78876_14_0)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4" name="Google Shape;134;p2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4_SECTION_BREAK_NAVY">
  <p:cSld name="S14_SECTION_BREAK_NAVY">
    <p:bg>
      <p:bgPr>
        <a:solidFill>
          <a:srgbClr val="2A3480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/>
          <p:nvPr/>
        </p:nvSpPr>
        <p:spPr>
          <a:xfrm>
            <a:off x="8291322" y="-521208"/>
            <a:ext cx="1371600" cy="1371600"/>
          </a:xfrm>
          <a:prstGeom prst="rect">
            <a:avLst/>
          </a:prstGeom>
          <a:solidFill>
            <a:srgbClr val="EC5F82">
              <a:alpha val="2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1"/>
          <p:cNvSpPr txBox="1"/>
          <p:nvPr>
            <p:ph type="title"/>
          </p:nvPr>
        </p:nvSpPr>
        <p:spPr>
          <a:xfrm>
            <a:off x="617220" y="1988820"/>
            <a:ext cx="75438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b="1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9pPr>
          </a:lstStyle>
          <a:p/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EC5F82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9" name="Google Shape;139;p21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6DAF2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0" name="Google Shape;140;p21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6_SPLIT_PANEL">
  <p:cSld name="S06_SPLIT_PANEL"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/>
          <p:nvPr/>
        </p:nvSpPr>
        <p:spPr>
          <a:xfrm>
            <a:off x="4570857" y="0"/>
            <a:ext cx="4570800" cy="5143500"/>
          </a:xfrm>
          <a:prstGeom prst="rect">
            <a:avLst/>
          </a:prstGeom>
          <a:solidFill>
            <a:srgbClr val="29348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2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5" name="Google Shape;145;p22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70"/>
              </a:spcBef>
              <a:spcAft>
                <a:spcPts val="0"/>
              </a:spcAft>
              <a:buClr>
                <a:srgbClr val="293480"/>
              </a:buClr>
              <a:buSzPts val="1350"/>
              <a:buFont typeface="Arial"/>
              <a:buNone/>
              <a:defRPr b="1" i="0" sz="135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6" name="Google Shape;146;p22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5275" lvl="0" marL="457200" marR="0" algn="l">
              <a:spcBef>
                <a:spcPts val="210"/>
              </a:spcBef>
              <a:spcAft>
                <a:spcPts val="0"/>
              </a:spcAft>
              <a:buClr>
                <a:srgbClr val="222540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7" name="Google Shape;147;p22"/>
          <p:cNvSpPr txBox="1"/>
          <p:nvPr>
            <p:ph idx="4" type="body"/>
          </p:nvPr>
        </p:nvSpPr>
        <p:spPr>
          <a:xfrm>
            <a:off x="411480" y="452628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165"/>
              </a:spcBef>
              <a:spcAft>
                <a:spcPts val="0"/>
              </a:spcAft>
              <a:buClr>
                <a:srgbClr val="D84568"/>
              </a:buClr>
              <a:buSzPts val="825"/>
              <a:buFont typeface="Arial"/>
              <a:buNone/>
              <a:defRPr b="0" i="1" sz="825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8" name="Google Shape;148;p22"/>
          <p:cNvSpPr txBox="1"/>
          <p:nvPr>
            <p:ph idx="5" type="title"/>
          </p:nvPr>
        </p:nvSpPr>
        <p:spPr>
          <a:xfrm>
            <a:off x="4879467" y="219456"/>
            <a:ext cx="3953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149" name="Google Shape;149;p22"/>
          <p:cNvSpPr txBox="1"/>
          <p:nvPr>
            <p:ph idx="6" type="body"/>
          </p:nvPr>
        </p:nvSpPr>
        <p:spPr>
          <a:xfrm>
            <a:off x="4879467" y="617220"/>
            <a:ext cx="3953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EC5F82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0" name="Google Shape;150;p22"/>
          <p:cNvSpPr txBox="1"/>
          <p:nvPr>
            <p:ph idx="7" type="body"/>
          </p:nvPr>
        </p:nvSpPr>
        <p:spPr>
          <a:xfrm>
            <a:off x="4879467" y="1062990"/>
            <a:ext cx="3953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7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  <a:defRPr b="1" i="0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1" name="Google Shape;151;p22"/>
          <p:cNvSpPr txBox="1"/>
          <p:nvPr>
            <p:ph idx="8" type="body"/>
          </p:nvPr>
        </p:nvSpPr>
        <p:spPr>
          <a:xfrm>
            <a:off x="4879467" y="1371600"/>
            <a:ext cx="39537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5275" lvl="0" marL="457200" marR="0" algn="l">
              <a:spcBef>
                <a:spcPts val="21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2" name="Google Shape;152;p22"/>
          <p:cNvSpPr txBox="1"/>
          <p:nvPr>
            <p:ph idx="9" type="body"/>
          </p:nvPr>
        </p:nvSpPr>
        <p:spPr>
          <a:xfrm>
            <a:off x="4810887" y="822960"/>
            <a:ext cx="4090800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" name="Google Shape;153;p22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9_NUMBERED_ROWS_3">
  <p:cSld name="S09_NUMBERED_ROWS_3"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9pPr>
          </a:lstStyle>
          <a:p/>
        </p:txBody>
      </p:sp>
      <p:sp>
        <p:nvSpPr>
          <p:cNvPr id="157" name="Google Shape;157;p23"/>
          <p:cNvSpPr/>
          <p:nvPr/>
        </p:nvSpPr>
        <p:spPr>
          <a:xfrm>
            <a:off x="411480" y="120015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3"/>
          <p:cNvSpPr/>
          <p:nvPr/>
        </p:nvSpPr>
        <p:spPr>
          <a:xfrm>
            <a:off x="411480" y="120015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3"/>
          <p:cNvSpPr txBox="1"/>
          <p:nvPr>
            <p:ph idx="2" type="body"/>
          </p:nvPr>
        </p:nvSpPr>
        <p:spPr>
          <a:xfrm>
            <a:off x="925830" y="109728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0" name="Google Shape;160;p23"/>
          <p:cNvSpPr txBox="1"/>
          <p:nvPr>
            <p:ph idx="3" type="body"/>
          </p:nvPr>
        </p:nvSpPr>
        <p:spPr>
          <a:xfrm>
            <a:off x="925830" y="1385316"/>
            <a:ext cx="7749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23"/>
          <p:cNvSpPr/>
          <p:nvPr/>
        </p:nvSpPr>
        <p:spPr>
          <a:xfrm>
            <a:off x="411480" y="222885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3"/>
          <p:cNvSpPr/>
          <p:nvPr/>
        </p:nvSpPr>
        <p:spPr>
          <a:xfrm>
            <a:off x="411480" y="222885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3"/>
          <p:cNvSpPr txBox="1"/>
          <p:nvPr>
            <p:ph idx="4" type="body"/>
          </p:nvPr>
        </p:nvSpPr>
        <p:spPr>
          <a:xfrm>
            <a:off x="925830" y="212598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4" name="Google Shape;164;p23"/>
          <p:cNvSpPr txBox="1"/>
          <p:nvPr>
            <p:ph idx="5" type="body"/>
          </p:nvPr>
        </p:nvSpPr>
        <p:spPr>
          <a:xfrm>
            <a:off x="925830" y="2414016"/>
            <a:ext cx="7749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5" name="Google Shape;165;p23"/>
          <p:cNvSpPr/>
          <p:nvPr/>
        </p:nvSpPr>
        <p:spPr>
          <a:xfrm>
            <a:off x="411480" y="325755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3"/>
          <p:cNvSpPr/>
          <p:nvPr/>
        </p:nvSpPr>
        <p:spPr>
          <a:xfrm>
            <a:off x="411480" y="325755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3"/>
          <p:cNvSpPr txBox="1"/>
          <p:nvPr>
            <p:ph idx="6" type="body"/>
          </p:nvPr>
        </p:nvSpPr>
        <p:spPr>
          <a:xfrm>
            <a:off x="925830" y="315468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8" name="Google Shape;168;p23"/>
          <p:cNvSpPr txBox="1"/>
          <p:nvPr>
            <p:ph idx="7" type="body"/>
          </p:nvPr>
        </p:nvSpPr>
        <p:spPr>
          <a:xfrm>
            <a:off x="925830" y="3442716"/>
            <a:ext cx="7749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9" name="Google Shape;169;p23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1_TITLE_NAVY">
  <p:cSld name="S01_TITLE_NAVY">
    <p:bg>
      <p:bgPr>
        <a:solidFill>
          <a:srgbClr val="2A3480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/>
          <p:nvPr/>
        </p:nvSpPr>
        <p:spPr>
          <a:xfrm>
            <a:off x="8206283" y="-573328"/>
            <a:ext cx="1509000" cy="1509000"/>
          </a:xfrm>
          <a:prstGeom prst="rect">
            <a:avLst/>
          </a:prstGeom>
          <a:solidFill>
            <a:srgbClr val="EC5F82">
              <a:alpha val="2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4"/>
          <p:cNvSpPr/>
          <p:nvPr/>
        </p:nvSpPr>
        <p:spPr>
          <a:xfrm>
            <a:off x="-1508760" y="3154680"/>
            <a:ext cx="3703200" cy="3703200"/>
          </a:xfrm>
          <a:prstGeom prst="rect">
            <a:avLst/>
          </a:prstGeom>
          <a:solidFill>
            <a:srgbClr val="FFFFFF">
              <a:alpha val="784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4"/>
          <p:cNvSpPr txBox="1"/>
          <p:nvPr>
            <p:ph type="title"/>
          </p:nvPr>
        </p:nvSpPr>
        <p:spPr>
          <a:xfrm>
            <a:off x="617220" y="1577340"/>
            <a:ext cx="78867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Roboto"/>
              <a:buNone/>
              <a:defRPr b="1" i="0" sz="3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9pPr>
          </a:lstStyle>
          <a:p/>
        </p:txBody>
      </p:sp>
      <p:sp>
        <p:nvSpPr>
          <p:cNvPr id="174" name="Google Shape;174;p24"/>
          <p:cNvSpPr txBox="1"/>
          <p:nvPr>
            <p:ph idx="1" type="body"/>
          </p:nvPr>
        </p:nvSpPr>
        <p:spPr>
          <a:xfrm>
            <a:off x="617220" y="2914650"/>
            <a:ext cx="7200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EC5F82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5" name="Google Shape;175;p24"/>
          <p:cNvSpPr txBox="1"/>
          <p:nvPr>
            <p:ph idx="2" type="body"/>
          </p:nvPr>
        </p:nvSpPr>
        <p:spPr>
          <a:xfrm>
            <a:off x="617220" y="3257550"/>
            <a:ext cx="6652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6DAF2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176" name="Google Shape;176;p24"/>
          <p:cNvCxnSpPr/>
          <p:nvPr/>
        </p:nvCxnSpPr>
        <p:spPr>
          <a:xfrm>
            <a:off x="617220" y="3840480"/>
            <a:ext cx="2057400" cy="0"/>
          </a:xfrm>
          <a:prstGeom prst="straightConnector1">
            <a:avLst/>
          </a:prstGeom>
          <a:noFill/>
          <a:ln cap="flat" cmpd="sng" w="19050">
            <a:solidFill>
              <a:srgbClr val="EC5F8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24"/>
          <p:cNvSpPr txBox="1"/>
          <p:nvPr>
            <p:ph idx="3" type="body"/>
          </p:nvPr>
        </p:nvSpPr>
        <p:spPr>
          <a:xfrm>
            <a:off x="617220" y="3977640"/>
            <a:ext cx="548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9DA3D4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8" name="Google Shape;178;p24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7_TWO_EXERCISES">
  <p:cSld name="S17_TWO_EXERCISES"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1" name="Google Shape;181;p25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9pPr>
          </a:lstStyle>
          <a:p/>
        </p:txBody>
      </p:sp>
      <p:sp>
        <p:nvSpPr>
          <p:cNvPr id="182" name="Google Shape;182;p25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ctr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3" name="Google Shape;183;p25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300"/>
              </a:spcBef>
              <a:spcAft>
                <a:spcPts val="0"/>
              </a:spcAft>
              <a:buClr>
                <a:srgbClr val="29348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4" name="Google Shape;184;p25"/>
          <p:cNvSpPr txBox="1"/>
          <p:nvPr>
            <p:ph idx="4" type="body"/>
          </p:nvPr>
        </p:nvSpPr>
        <p:spPr>
          <a:xfrm>
            <a:off x="411480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800"/>
              <a:buFont typeface="Arial"/>
              <a:buChar char="●"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66700" lvl="1" marL="9144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600"/>
              <a:buFont typeface="Arial"/>
              <a:buChar char="○"/>
              <a:defRPr b="0" i="0" sz="8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0350" lvl="2" marL="13716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■"/>
              <a:defRPr b="0" i="0" sz="7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60350" lvl="3" marL="18288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60350" lvl="4" marL="22860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60350" lvl="5" marL="27432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60350" lvl="6" marL="32004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60350" lvl="8" marL="4114800" marR="0" algn="l">
              <a:spcBef>
                <a:spcPts val="500"/>
              </a:spcBef>
              <a:spcAft>
                <a:spcPts val="500"/>
              </a:spcAft>
              <a:buClr>
                <a:srgbClr val="222540"/>
              </a:buClr>
              <a:buSzPts val="500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5" name="Google Shape;185;p25"/>
          <p:cNvSpPr txBox="1"/>
          <p:nvPr>
            <p:ph idx="5" type="body"/>
          </p:nvPr>
        </p:nvSpPr>
        <p:spPr>
          <a:xfrm>
            <a:off x="2811780" y="1988820"/>
            <a:ext cx="1509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r">
              <a:spcBef>
                <a:spcPts val="200"/>
              </a:spcBef>
              <a:spcAft>
                <a:spcPts val="0"/>
              </a:spcAft>
              <a:buClr>
                <a:srgbClr val="6B7085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6" name="Google Shape;186;p25"/>
          <p:cNvSpPr txBox="1"/>
          <p:nvPr>
            <p:ph idx="6" type="body"/>
          </p:nvPr>
        </p:nvSpPr>
        <p:spPr>
          <a:xfrm>
            <a:off x="582930" y="2160270"/>
            <a:ext cx="3703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7" name="Google Shape;187;p25"/>
          <p:cNvSpPr txBox="1"/>
          <p:nvPr>
            <p:ph idx="7" type="body"/>
          </p:nvPr>
        </p:nvSpPr>
        <p:spPr>
          <a:xfrm>
            <a:off x="411480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8" name="Google Shape;188;p25"/>
          <p:cNvSpPr txBox="1"/>
          <p:nvPr>
            <p:ph idx="8" type="body"/>
          </p:nvPr>
        </p:nvSpPr>
        <p:spPr>
          <a:xfrm>
            <a:off x="411480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9" name="Google Shape;189;p25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ctr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0" name="Google Shape;190;p25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300"/>
              </a:spcBef>
              <a:spcAft>
                <a:spcPts val="0"/>
              </a:spcAft>
              <a:buClr>
                <a:srgbClr val="29348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1" name="Google Shape;191;p25"/>
          <p:cNvSpPr txBox="1"/>
          <p:nvPr>
            <p:ph idx="14" type="body"/>
          </p:nvPr>
        </p:nvSpPr>
        <p:spPr>
          <a:xfrm>
            <a:off x="4684014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800"/>
              <a:buFont typeface="Arial"/>
              <a:buChar char="●"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66700" lvl="1" marL="9144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600"/>
              <a:buFont typeface="Arial"/>
              <a:buChar char="○"/>
              <a:defRPr b="0" i="0" sz="8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0350" lvl="2" marL="13716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■"/>
              <a:defRPr b="0" i="0" sz="7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60350" lvl="3" marL="18288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60350" lvl="4" marL="22860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60350" lvl="5" marL="27432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60350" lvl="6" marL="32004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60350" lvl="8" marL="4114800" marR="0" algn="l">
              <a:spcBef>
                <a:spcPts val="500"/>
              </a:spcBef>
              <a:spcAft>
                <a:spcPts val="500"/>
              </a:spcAft>
              <a:buClr>
                <a:srgbClr val="222540"/>
              </a:buClr>
              <a:buSzPts val="500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2" name="Google Shape;192;p25"/>
          <p:cNvSpPr txBox="1"/>
          <p:nvPr>
            <p:ph idx="15" type="body"/>
          </p:nvPr>
        </p:nvSpPr>
        <p:spPr>
          <a:xfrm>
            <a:off x="7084314" y="1988820"/>
            <a:ext cx="1509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r">
              <a:spcBef>
                <a:spcPts val="200"/>
              </a:spcBef>
              <a:spcAft>
                <a:spcPts val="0"/>
              </a:spcAft>
              <a:buClr>
                <a:srgbClr val="6B7085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3" name="Google Shape;193;p25"/>
          <p:cNvSpPr txBox="1"/>
          <p:nvPr>
            <p:ph idx="16" type="body"/>
          </p:nvPr>
        </p:nvSpPr>
        <p:spPr>
          <a:xfrm>
            <a:off x="4855464" y="2160270"/>
            <a:ext cx="3703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4" name="Google Shape;194;p25"/>
          <p:cNvSpPr txBox="1"/>
          <p:nvPr>
            <p:ph idx="17" type="body"/>
          </p:nvPr>
        </p:nvSpPr>
        <p:spPr>
          <a:xfrm>
            <a:off x="4684014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5" name="Google Shape;195;p25"/>
          <p:cNvSpPr txBox="1"/>
          <p:nvPr>
            <p:ph idx="18" type="body"/>
          </p:nvPr>
        </p:nvSpPr>
        <p:spPr>
          <a:xfrm>
            <a:off x="4684014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6" name="Google Shape;196;p25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Relationship Id="rId4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Relationship Id="rId4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6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in Data Science: </a:t>
            </a:r>
            <a:r>
              <a:rPr lang="en">
                <a:solidFill>
                  <a:schemeClr val="accent4"/>
                </a:solidFill>
              </a:rPr>
              <a:t>Pandas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202" name="Google Shape;202;p26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oogle Shape;207;p27"/>
          <p:cNvGrpSpPr/>
          <p:nvPr/>
        </p:nvGrpSpPr>
        <p:grpSpPr>
          <a:xfrm>
            <a:off x="314325" y="952500"/>
            <a:ext cx="8515500" cy="571500"/>
            <a:chOff x="314325" y="952500"/>
            <a:chExt cx="8515500" cy="571500"/>
          </a:xfrm>
        </p:grpSpPr>
        <p:sp>
          <p:nvSpPr>
            <p:cNvPr id="208" name="Google Shape;208;p27"/>
            <p:cNvSpPr/>
            <p:nvPr/>
          </p:nvSpPr>
          <p:spPr>
            <a:xfrm>
              <a:off x="314325" y="952500"/>
              <a:ext cx="8515500" cy="571500"/>
            </a:xfrm>
            <a:prstGeom prst="roundRect">
              <a:avLst>
                <a:gd fmla="val 13333" name="adj"/>
              </a:avLst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7"/>
            <p:cNvSpPr txBox="1"/>
            <p:nvPr/>
          </p:nvSpPr>
          <p:spPr>
            <a:xfrm>
              <a:off x="314325" y="952500"/>
              <a:ext cx="8515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A fast, powerful, flexible and easy to use open source data analysis and manipulation tool, built on top of the Python programming language.</a:t>
              </a:r>
              <a:endParaRPr sz="14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0" name="Google Shape;210;p27"/>
          <p:cNvGrpSpPr/>
          <p:nvPr/>
        </p:nvGrpSpPr>
        <p:grpSpPr>
          <a:xfrm>
            <a:off x="314325" y="1714500"/>
            <a:ext cx="8515500" cy="2571750"/>
            <a:chOff x="314325" y="1714500"/>
            <a:chExt cx="8515500" cy="2571750"/>
          </a:xfrm>
        </p:grpSpPr>
        <p:sp>
          <p:nvSpPr>
            <p:cNvPr id="211" name="Google Shape;211;p27"/>
            <p:cNvSpPr/>
            <p:nvPr/>
          </p:nvSpPr>
          <p:spPr>
            <a:xfrm>
              <a:off x="314325" y="1714500"/>
              <a:ext cx="4095900" cy="762000"/>
            </a:xfrm>
            <a:prstGeom prst="roundRect">
              <a:avLst>
                <a:gd fmla="val 12500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7"/>
            <p:cNvSpPr txBox="1"/>
            <p:nvPr/>
          </p:nvSpPr>
          <p:spPr>
            <a:xfrm>
              <a:off x="314325" y="1714500"/>
              <a:ext cx="4095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2A3990"/>
                  </a:solidFill>
                  <a:latin typeface="Roboto"/>
                  <a:ea typeface="Roboto"/>
                  <a:cs typeface="Roboto"/>
                  <a:sym typeface="Roboto"/>
                </a:rPr>
                <a:t>Data I/O</a:t>
              </a:r>
              <a:endParaRPr b="1" sz="13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Read/write from CSV, Excel, SQL, HTML.</a:t>
              </a:r>
              <a:endParaRPr sz="11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3" name="Google Shape;213;p27"/>
            <p:cNvSpPr/>
            <p:nvPr/>
          </p:nvSpPr>
          <p:spPr>
            <a:xfrm>
              <a:off x="4733925" y="1714500"/>
              <a:ext cx="4095900" cy="762000"/>
            </a:xfrm>
            <a:prstGeom prst="roundRect">
              <a:avLst>
                <a:gd fmla="val 12500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7"/>
            <p:cNvSpPr txBox="1"/>
            <p:nvPr/>
          </p:nvSpPr>
          <p:spPr>
            <a:xfrm>
              <a:off x="4733925" y="1714500"/>
              <a:ext cx="4095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2A3990"/>
                  </a:solidFill>
                  <a:latin typeface="Roboto"/>
                  <a:ea typeface="Roboto"/>
                  <a:cs typeface="Roboto"/>
                  <a:sym typeface="Roboto"/>
                </a:rPr>
                <a:t>Statistical Analysis</a:t>
              </a:r>
              <a:endParaRPr b="1" sz="13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Calculate correlations, avg, max, and min.</a:t>
              </a:r>
              <a:endParaRPr sz="11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5" name="Google Shape;215;p27"/>
            <p:cNvSpPr/>
            <p:nvPr/>
          </p:nvSpPr>
          <p:spPr>
            <a:xfrm>
              <a:off x="314325" y="2619375"/>
              <a:ext cx="4095900" cy="762000"/>
            </a:xfrm>
            <a:prstGeom prst="roundRect">
              <a:avLst>
                <a:gd fmla="val 12500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7"/>
            <p:cNvSpPr txBox="1"/>
            <p:nvPr/>
          </p:nvSpPr>
          <p:spPr>
            <a:xfrm>
              <a:off x="314325" y="2619375"/>
              <a:ext cx="4095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2A3990"/>
                  </a:solidFill>
                  <a:latin typeface="Roboto"/>
                  <a:ea typeface="Roboto"/>
                  <a:cs typeface="Roboto"/>
                  <a:sym typeface="Roboto"/>
                </a:rPr>
                <a:t>Data Manipulation</a:t>
              </a:r>
              <a:endParaRPr b="1" sz="13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Grouping, filtering, and pivot tables.</a:t>
              </a:r>
              <a:endParaRPr sz="11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7" name="Google Shape;217;p27"/>
            <p:cNvSpPr/>
            <p:nvPr/>
          </p:nvSpPr>
          <p:spPr>
            <a:xfrm>
              <a:off x="4733925" y="2619375"/>
              <a:ext cx="4095900" cy="762000"/>
            </a:xfrm>
            <a:prstGeom prst="roundRect">
              <a:avLst>
                <a:gd fmla="val 12500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7"/>
            <p:cNvSpPr txBox="1"/>
            <p:nvPr/>
          </p:nvSpPr>
          <p:spPr>
            <a:xfrm>
              <a:off x="4733925" y="2619375"/>
              <a:ext cx="4095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2A3990"/>
                  </a:solidFill>
                  <a:latin typeface="Roboto"/>
                  <a:ea typeface="Roboto"/>
                  <a:cs typeface="Roboto"/>
                  <a:sym typeface="Roboto"/>
                </a:rPr>
                <a:t>Integration</a:t>
              </a:r>
              <a:endParaRPr b="1" sz="13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Merge, join, and concatenate datasets.</a:t>
              </a:r>
              <a:endParaRPr sz="11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9" name="Google Shape;219;p27"/>
            <p:cNvSpPr/>
            <p:nvPr/>
          </p:nvSpPr>
          <p:spPr>
            <a:xfrm>
              <a:off x="314325" y="3524250"/>
              <a:ext cx="4095900" cy="762000"/>
            </a:xfrm>
            <a:prstGeom prst="roundRect">
              <a:avLst>
                <a:gd fmla="val 12500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7"/>
            <p:cNvSpPr txBox="1"/>
            <p:nvPr/>
          </p:nvSpPr>
          <p:spPr>
            <a:xfrm>
              <a:off x="314325" y="3524250"/>
              <a:ext cx="4095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2A3990"/>
                  </a:solidFill>
                  <a:latin typeface="Roboto"/>
                  <a:ea typeface="Roboto"/>
                  <a:cs typeface="Roboto"/>
                  <a:sym typeface="Roboto"/>
                </a:rPr>
                <a:t>Advanced Filtering</a:t>
              </a:r>
              <a:endParaRPr b="1" sz="13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Powerful selection using regular expressions.</a:t>
              </a:r>
              <a:endParaRPr sz="11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1" name="Google Shape;221;p27"/>
            <p:cNvSpPr/>
            <p:nvPr/>
          </p:nvSpPr>
          <p:spPr>
            <a:xfrm>
              <a:off x="4733925" y="3524250"/>
              <a:ext cx="4095900" cy="762000"/>
            </a:xfrm>
            <a:prstGeom prst="roundRect">
              <a:avLst>
                <a:gd fmla="val 12500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7"/>
            <p:cNvSpPr txBox="1"/>
            <p:nvPr/>
          </p:nvSpPr>
          <p:spPr>
            <a:xfrm>
              <a:off x="4733925" y="3524250"/>
              <a:ext cx="4095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2A3990"/>
                  </a:solidFill>
                  <a:latin typeface="Roboto"/>
                  <a:ea typeface="Roboto"/>
                  <a:cs typeface="Roboto"/>
                  <a:sym typeface="Roboto"/>
                </a:rPr>
                <a:t>Open Source</a:t>
              </a:r>
              <a:endParaRPr b="1" sz="13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Built on top of Python for widespread compatibility.</a:t>
              </a:r>
              <a:endParaRPr sz="11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23" name="Google Shape;223;p27"/>
          <p:cNvSpPr/>
          <p:nvPr/>
        </p:nvSpPr>
        <p:spPr>
          <a:xfrm>
            <a:off x="0" y="4762500"/>
            <a:ext cx="9144000" cy="381000"/>
          </a:xfrm>
          <a:prstGeom prst="rect">
            <a:avLst/>
          </a:prstGeom>
          <a:solidFill>
            <a:srgbClr val="2A39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7"/>
          <p:cNvSpPr txBox="1"/>
          <p:nvPr/>
        </p:nvSpPr>
        <p:spPr>
          <a:xfrm>
            <a:off x="314325" y="4762500"/>
            <a:ext cx="8515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Comprehensive Data Analysis with Python</a:t>
            </a:r>
            <a:endParaRPr sz="1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27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Pandas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8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Pandas primary </a:t>
            </a:r>
            <a:r>
              <a:rPr lang="en">
                <a:solidFill>
                  <a:schemeClr val="accent4"/>
                </a:solidFill>
              </a:rPr>
              <a:t>data structures</a:t>
            </a:r>
            <a:endParaRPr>
              <a:solidFill>
                <a:schemeClr val="accent4"/>
              </a:solidFill>
            </a:endParaRPr>
          </a:p>
        </p:txBody>
      </p:sp>
      <p:pic>
        <p:nvPicPr>
          <p:cNvPr id="231" name="Google Shape;231;p28"/>
          <p:cNvPicPr preferRelativeResize="0"/>
          <p:nvPr/>
        </p:nvPicPr>
        <p:blipFill rotWithShape="1">
          <a:blip r:embed="rId3">
            <a:alphaModFix/>
          </a:blip>
          <a:srcRect b="0" l="0" r="0" t="14303"/>
          <a:stretch/>
        </p:blipFill>
        <p:spPr>
          <a:xfrm>
            <a:off x="123250" y="2073000"/>
            <a:ext cx="4362374" cy="2006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8450" y="2320620"/>
            <a:ext cx="4007951" cy="167645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8"/>
          <p:cNvSpPr txBox="1"/>
          <p:nvPr>
            <p:ph idx="2" type="body"/>
          </p:nvPr>
        </p:nvSpPr>
        <p:spPr>
          <a:xfrm>
            <a:off x="411475" y="879296"/>
            <a:ext cx="3909000" cy="42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70"/>
              </a:spcBef>
              <a:spcAft>
                <a:spcPts val="1200"/>
              </a:spcAft>
              <a:buNone/>
            </a:pPr>
            <a:r>
              <a:rPr lang="en" sz="1800"/>
              <a:t>Series</a:t>
            </a:r>
            <a:endParaRPr sz="1800"/>
          </a:p>
        </p:txBody>
      </p:sp>
      <p:sp>
        <p:nvSpPr>
          <p:cNvPr id="234" name="Google Shape;234;p28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10"/>
              </a:spcBef>
              <a:spcAft>
                <a:spcPts val="600"/>
              </a:spcAft>
              <a:buNone/>
            </a:pPr>
            <a:r>
              <a:rPr lang="en"/>
              <a:t>A Series is very similar to a NumPy array</a:t>
            </a:r>
            <a:endParaRPr/>
          </a:p>
        </p:txBody>
      </p:sp>
      <p:sp>
        <p:nvSpPr>
          <p:cNvPr id="235" name="Google Shape;235;p28"/>
          <p:cNvSpPr txBox="1"/>
          <p:nvPr>
            <p:ph idx="5" type="title"/>
          </p:nvPr>
        </p:nvSpPr>
        <p:spPr>
          <a:xfrm>
            <a:off x="4879467" y="219456"/>
            <a:ext cx="3953700" cy="356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8"/>
          <p:cNvSpPr txBox="1"/>
          <p:nvPr>
            <p:ph idx="6" type="body"/>
          </p:nvPr>
        </p:nvSpPr>
        <p:spPr>
          <a:xfrm>
            <a:off x="4879467" y="617220"/>
            <a:ext cx="39537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8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8"/>
          <p:cNvSpPr txBox="1"/>
          <p:nvPr>
            <p:ph idx="7" type="body"/>
          </p:nvPr>
        </p:nvSpPr>
        <p:spPr>
          <a:xfrm>
            <a:off x="4879469" y="879296"/>
            <a:ext cx="3953700" cy="42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7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FFFF00"/>
                </a:solidFill>
              </a:rPr>
              <a:t>DataFrame</a:t>
            </a:r>
            <a:endParaRPr sz="1800">
              <a:solidFill>
                <a:srgbClr val="FFFF00"/>
              </a:solidFill>
            </a:endParaRPr>
          </a:p>
        </p:txBody>
      </p:sp>
      <p:sp>
        <p:nvSpPr>
          <p:cNvPr id="238" name="Google Shape;238;p28"/>
          <p:cNvSpPr txBox="1"/>
          <p:nvPr>
            <p:ph idx="8" type="body"/>
          </p:nvPr>
        </p:nvSpPr>
        <p:spPr>
          <a:xfrm>
            <a:off x="4879467" y="1371600"/>
            <a:ext cx="3953700" cy="267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10"/>
              </a:spcBef>
              <a:spcAft>
                <a:spcPts val="600"/>
              </a:spcAft>
              <a:buNone/>
            </a:pPr>
            <a:r>
              <a:rPr lang="en"/>
              <a:t>C</a:t>
            </a:r>
            <a:r>
              <a:rPr lang="en"/>
              <a:t>ollection of Series objects combined to share the same index, forming a 2-dimensional table (rows × columns), where all columns share a common row index.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9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Pandas Series</a:t>
            </a:r>
            <a:endParaRPr/>
          </a:p>
        </p:txBody>
      </p:sp>
      <p:sp>
        <p:nvSpPr>
          <p:cNvPr id="244" name="Google Shape;244;p29"/>
          <p:cNvSpPr txBox="1"/>
          <p:nvPr>
            <p:ph idx="1" type="subTitle"/>
          </p:nvPr>
        </p:nvSpPr>
        <p:spPr>
          <a:xfrm>
            <a:off x="36100" y="3393825"/>
            <a:ext cx="9108000" cy="16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Series is very similar to a NumPy array, yet it can be indexed by a label, instead of just a number location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0"/>
          <p:cNvSpPr txBox="1"/>
          <p:nvPr>
            <p:ph type="title"/>
          </p:nvPr>
        </p:nvSpPr>
        <p:spPr>
          <a:xfrm>
            <a:off x="34505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Pandas.Series Creation</a:t>
            </a:r>
            <a:endParaRPr/>
          </a:p>
        </p:txBody>
      </p:sp>
      <p:sp>
        <p:nvSpPr>
          <p:cNvPr id="250" name="Google Shape;250;p30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9650" y="1559974"/>
            <a:ext cx="4362374" cy="234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525" y="892075"/>
            <a:ext cx="2878825" cy="4043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1"/>
          <p:cNvSpPr txBox="1"/>
          <p:nvPr>
            <p:ph type="title"/>
          </p:nvPr>
        </p:nvSpPr>
        <p:spPr>
          <a:xfrm>
            <a:off x="308597" y="164600"/>
            <a:ext cx="39444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Create a Series with Inde</a:t>
            </a:r>
            <a:r>
              <a:rPr lang="en"/>
              <a:t>xes</a:t>
            </a:r>
            <a:endParaRPr/>
          </a:p>
        </p:txBody>
      </p:sp>
      <p:sp>
        <p:nvSpPr>
          <p:cNvPr id="259" name="Google Shape;259;p31"/>
          <p:cNvSpPr txBox="1"/>
          <p:nvPr>
            <p:ph idx="2" type="body"/>
          </p:nvPr>
        </p:nvSpPr>
        <p:spPr>
          <a:xfrm>
            <a:off x="308610" y="797242"/>
            <a:ext cx="2931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From a list</a:t>
            </a:r>
            <a:endParaRPr/>
          </a:p>
        </p:txBody>
      </p:sp>
      <p:sp>
        <p:nvSpPr>
          <p:cNvPr id="260" name="Google Shape;260;p31"/>
          <p:cNvSpPr txBox="1"/>
          <p:nvPr>
            <p:ph idx="3" type="body"/>
          </p:nvPr>
        </p:nvSpPr>
        <p:spPr>
          <a:xfrm>
            <a:off x="308610" y="1028700"/>
            <a:ext cx="2931900" cy="20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60350" lvl="0" marL="25400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100"/>
              <a:buChar char="•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pd.Series([...])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builds a labeled 1-D array.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11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 default integer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Index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(0, 1, 2…) is added.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D84568"/>
              </a:buClr>
              <a:buSzPts val="1100"/>
              <a:buChar char="•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.values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holds the data;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.index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the labels.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11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Pass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index=[...]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for custom labels.</a:t>
            </a:r>
            <a:endParaRPr/>
          </a:p>
        </p:txBody>
      </p:sp>
      <p:pic>
        <p:nvPicPr>
          <p:cNvPr descr="pd_series_create.png" id="261" name="Google Shape;2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3622" y="822960"/>
            <a:ext cx="2065325" cy="18002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d_series_labeled.png" id="262" name="Google Shape;26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05242" y="2794635"/>
            <a:ext cx="2902087" cy="18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2"/>
          <p:cNvSpPr txBox="1"/>
          <p:nvPr>
            <p:ph type="title"/>
          </p:nvPr>
        </p:nvSpPr>
        <p:spPr>
          <a:xfrm>
            <a:off x="2100" y="276526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Automatic typed</a:t>
            </a:r>
            <a:endParaRPr/>
          </a:p>
        </p:txBody>
      </p:sp>
      <p:sp>
        <p:nvSpPr>
          <p:cNvPr id="268" name="Google Shape;268;p32"/>
          <p:cNvSpPr txBox="1"/>
          <p:nvPr>
            <p:ph idx="1" type="subTitle"/>
          </p:nvPr>
        </p:nvSpPr>
        <p:spPr>
          <a:xfrm>
            <a:off x="265500" y="1439074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9" name="Google Shape;26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6624" y="1405025"/>
            <a:ext cx="4202751" cy="3596274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2"/>
          <p:cNvSpPr txBox="1"/>
          <p:nvPr>
            <p:ph idx="2" type="title"/>
          </p:nvPr>
        </p:nvSpPr>
        <p:spPr>
          <a:xfrm>
            <a:off x="4572000" y="271791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1" name="Google Shape;27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500" y="1553250"/>
            <a:ext cx="4353199" cy="329982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2"/>
          <p:cNvSpPr/>
          <p:nvPr/>
        </p:nvSpPr>
        <p:spPr>
          <a:xfrm>
            <a:off x="4826950" y="4487025"/>
            <a:ext cx="1076400" cy="249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32"/>
          <p:cNvSpPr/>
          <p:nvPr/>
        </p:nvSpPr>
        <p:spPr>
          <a:xfrm>
            <a:off x="4826950" y="2713175"/>
            <a:ext cx="1262700" cy="249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32"/>
          <p:cNvSpPr txBox="1"/>
          <p:nvPr>
            <p:ph idx="3" type="subTitle"/>
          </p:nvPr>
        </p:nvSpPr>
        <p:spPr>
          <a:xfrm>
            <a:off x="4835400" y="1451433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/>
          <p:nvPr>
            <p:ph type="title"/>
          </p:nvPr>
        </p:nvSpPr>
        <p:spPr>
          <a:xfrm>
            <a:off x="308610" y="164592"/>
            <a:ext cx="29319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Automatic Typing</a:t>
            </a:r>
            <a:endParaRPr/>
          </a:p>
        </p:txBody>
      </p:sp>
      <p:sp>
        <p:nvSpPr>
          <p:cNvPr id="281" name="Google Shape;281;p33"/>
          <p:cNvSpPr txBox="1"/>
          <p:nvPr>
            <p:ph idx="2" type="body"/>
          </p:nvPr>
        </p:nvSpPr>
        <p:spPr>
          <a:xfrm>
            <a:off x="308610" y="797242"/>
            <a:ext cx="2931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Pandas infers dtype</a:t>
            </a:r>
            <a:endParaRPr/>
          </a:p>
        </p:txBody>
      </p:sp>
      <p:sp>
        <p:nvSpPr>
          <p:cNvPr id="282" name="Google Shape;282;p33"/>
          <p:cNvSpPr txBox="1"/>
          <p:nvPr>
            <p:ph idx="3" type="body"/>
          </p:nvPr>
        </p:nvSpPr>
        <p:spPr>
          <a:xfrm>
            <a:off x="308610" y="1028700"/>
            <a:ext cx="2931900" cy="20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60350" lvl="0" marL="25400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1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Integers →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int64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decimals →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float64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11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Text →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object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; True/False →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bool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D84568"/>
              </a:buClr>
              <a:buSzPts val="1100"/>
              <a:buChar char="•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Mixed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types fall back to object.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11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Check it any time with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.dtype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pic>
        <p:nvPicPr>
          <p:cNvPr descr="pd_series_typed.png" id="283" name="Google Shape;28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1569395"/>
            <a:ext cx="4090799" cy="2279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4"/>
          <p:cNvSpPr txBox="1"/>
          <p:nvPr>
            <p:ph type="title"/>
          </p:nvPr>
        </p:nvSpPr>
        <p:spPr>
          <a:xfrm>
            <a:off x="308610" y="164592"/>
            <a:ext cx="29319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Query a Series</a:t>
            </a:r>
            <a:endParaRPr/>
          </a:p>
        </p:txBody>
      </p:sp>
      <p:sp>
        <p:nvSpPr>
          <p:cNvPr id="290" name="Google Shape;290;p34"/>
          <p:cNvSpPr txBox="1"/>
          <p:nvPr>
            <p:ph idx="2" type="body"/>
          </p:nvPr>
        </p:nvSpPr>
        <p:spPr>
          <a:xfrm>
            <a:off x="308610" y="797242"/>
            <a:ext cx="2931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Search and select</a:t>
            </a:r>
            <a:endParaRPr/>
          </a:p>
        </p:txBody>
      </p:sp>
      <p:sp>
        <p:nvSpPr>
          <p:cNvPr id="291" name="Google Shape;291;p34"/>
          <p:cNvSpPr txBox="1"/>
          <p:nvPr>
            <p:ph idx="3" type="body"/>
          </p:nvPr>
        </p:nvSpPr>
        <p:spPr>
          <a:xfrm>
            <a:off x="308610" y="1028700"/>
            <a:ext cx="2931900" cy="20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60350" lvl="0" marL="25400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100"/>
              <a:buChar char="•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s['label']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returns one value by its index label.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11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Pass a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list of labels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to select several.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11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boolean condition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filters like NumPy.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D84568"/>
              </a:buClr>
              <a:buSzPts val="1100"/>
              <a:buChar char="•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'label' in s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tests membership.</a:t>
            </a:r>
            <a:endParaRPr/>
          </a:p>
        </p:txBody>
      </p:sp>
      <p:pic>
        <p:nvPicPr>
          <p:cNvPr descr="pd_series_query.png" id="292" name="Google Shape;29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2762" y="93620"/>
            <a:ext cx="4090797" cy="2496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5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Query / Search  a Series</a:t>
            </a:r>
            <a:endParaRPr/>
          </a:p>
        </p:txBody>
      </p:sp>
      <p:sp>
        <p:nvSpPr>
          <p:cNvPr id="298" name="Google Shape;298;p35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9" name="Google Shape;29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250" y="710050"/>
            <a:ext cx="3364099" cy="428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6"/>
          <p:cNvSpPr txBox="1"/>
          <p:nvPr>
            <p:ph type="title"/>
          </p:nvPr>
        </p:nvSpPr>
        <p:spPr>
          <a:xfrm>
            <a:off x="308610" y="164592"/>
            <a:ext cx="29319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loc vs iloc</a:t>
            </a:r>
            <a:endParaRPr/>
          </a:p>
        </p:txBody>
      </p:sp>
      <p:sp>
        <p:nvSpPr>
          <p:cNvPr id="306" name="Google Shape;306;p36"/>
          <p:cNvSpPr txBox="1"/>
          <p:nvPr>
            <p:ph idx="2" type="body"/>
          </p:nvPr>
        </p:nvSpPr>
        <p:spPr>
          <a:xfrm>
            <a:off x="308610" y="797242"/>
            <a:ext cx="2931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Label vs position</a:t>
            </a:r>
            <a:endParaRPr/>
          </a:p>
        </p:txBody>
      </p:sp>
      <p:sp>
        <p:nvSpPr>
          <p:cNvPr id="307" name="Google Shape;307;p36"/>
          <p:cNvSpPr txBox="1"/>
          <p:nvPr>
            <p:ph idx="3" type="body"/>
          </p:nvPr>
        </p:nvSpPr>
        <p:spPr>
          <a:xfrm>
            <a:off x="308610" y="1028700"/>
            <a:ext cx="2931900" cy="20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60350" lvl="0" marL="25400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100"/>
              <a:buChar char="•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.iloc[]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accesses by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position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(0-based).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D84568"/>
              </a:buClr>
              <a:buSzPts val="1100"/>
              <a:buChar char="•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.loc[]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accesses by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index label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11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Both support slicing and lists.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D84568"/>
              </a:buClr>
              <a:buSzPts val="1100"/>
              <a:buChar char="•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.loc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slices are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inclusive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of the end label.</a:t>
            </a:r>
            <a:endParaRPr/>
          </a:p>
        </p:txBody>
      </p:sp>
      <p:pic>
        <p:nvPicPr>
          <p:cNvPr descr="pd_series_iloc.png" id="308" name="Google Shape;30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0404" y="822960"/>
            <a:ext cx="2671763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d_series_loc.png" id="309" name="Google Shape;30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0404" y="2794635"/>
            <a:ext cx="2671763" cy="18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7"/>
          <p:cNvSpPr txBox="1"/>
          <p:nvPr>
            <p:ph type="title"/>
          </p:nvPr>
        </p:nvSpPr>
        <p:spPr>
          <a:xfrm>
            <a:off x="2100" y="276526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 by location</a:t>
            </a:r>
            <a:endParaRPr/>
          </a:p>
        </p:txBody>
      </p:sp>
      <p:sp>
        <p:nvSpPr>
          <p:cNvPr id="315" name="Google Shape;315;p37"/>
          <p:cNvSpPr txBox="1"/>
          <p:nvPr>
            <p:ph idx="2" type="title"/>
          </p:nvPr>
        </p:nvSpPr>
        <p:spPr>
          <a:xfrm>
            <a:off x="4572000" y="271791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Ac</a:t>
            </a:r>
            <a:r>
              <a:rPr lang="en" sz="2820"/>
              <a:t>cess by index</a:t>
            </a:r>
            <a:endParaRPr sz="28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20"/>
          </a:p>
        </p:txBody>
      </p:sp>
      <p:pic>
        <p:nvPicPr>
          <p:cNvPr id="316" name="Google Shape;31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075" y="1192250"/>
            <a:ext cx="3949375" cy="3509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37"/>
          <p:cNvPicPr preferRelativeResize="0"/>
          <p:nvPr/>
        </p:nvPicPr>
        <p:blipFill rotWithShape="1">
          <a:blip r:embed="rId4">
            <a:alphaModFix/>
          </a:blip>
          <a:srcRect b="0" l="2391" r="0" t="0"/>
          <a:stretch/>
        </p:blipFill>
        <p:spPr>
          <a:xfrm>
            <a:off x="4901050" y="1361275"/>
            <a:ext cx="3854849" cy="202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8"/>
          <p:cNvSpPr txBox="1"/>
          <p:nvPr>
            <p:ph type="title"/>
          </p:nvPr>
        </p:nvSpPr>
        <p:spPr>
          <a:xfrm>
            <a:off x="2100" y="276526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Caution with </a:t>
            </a:r>
            <a:r>
              <a:rPr lang="en">
                <a:solidFill>
                  <a:schemeClr val="accent4"/>
                </a:solidFill>
              </a:rPr>
              <a:t>numerics index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323" name="Google Shape;323;p38"/>
          <p:cNvSpPr txBox="1"/>
          <p:nvPr>
            <p:ph idx="2" type="title"/>
          </p:nvPr>
        </p:nvSpPr>
        <p:spPr>
          <a:xfrm>
            <a:off x="4572000" y="271791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4" name="Google Shape;32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8513" y="971550"/>
            <a:ext cx="4094075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500" y="1503425"/>
            <a:ext cx="4213200" cy="2575949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8"/>
          <p:cNvSpPr txBox="1"/>
          <p:nvPr>
            <p:ph idx="4294967295" type="body"/>
          </p:nvPr>
        </p:nvSpPr>
        <p:spPr>
          <a:xfrm>
            <a:off x="320225" y="1250082"/>
            <a:ext cx="29319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523"/>
              <a:buNone/>
            </a:pPr>
            <a:r>
              <a:rPr b="1" lang="en" sz="1165">
                <a:solidFill>
                  <a:srgbClr val="293480"/>
                </a:solidFill>
              </a:rPr>
              <a:t>Pandas has </a:t>
            </a:r>
            <a:r>
              <a:rPr b="1" lang="en" sz="1165">
                <a:solidFill>
                  <a:srgbClr val="293480"/>
                </a:solidFill>
              </a:rPr>
              <a:t>numerical</a:t>
            </a:r>
            <a:r>
              <a:rPr b="1" lang="en" sz="1165">
                <a:solidFill>
                  <a:srgbClr val="293480"/>
                </a:solidFill>
              </a:rPr>
              <a:t> index</a:t>
            </a:r>
            <a:endParaRPr b="1" sz="1165">
              <a:solidFill>
                <a:srgbClr val="29348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9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Aggregation</a:t>
            </a:r>
            <a:endParaRPr/>
          </a:p>
        </p:txBody>
      </p:sp>
      <p:sp>
        <p:nvSpPr>
          <p:cNvPr id="332" name="Google Shape;332;p39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0"/>
          <p:cNvSpPr txBox="1"/>
          <p:nvPr>
            <p:ph type="title"/>
          </p:nvPr>
        </p:nvSpPr>
        <p:spPr>
          <a:xfrm>
            <a:off x="2100" y="276526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2 Ways of aggregation</a:t>
            </a:r>
            <a:endParaRPr sz="2300"/>
          </a:p>
        </p:txBody>
      </p:sp>
      <p:sp>
        <p:nvSpPr>
          <p:cNvPr id="338" name="Google Shape;338;p40"/>
          <p:cNvSpPr txBox="1"/>
          <p:nvPr>
            <p:ph idx="1" type="subTitle"/>
          </p:nvPr>
        </p:nvSpPr>
        <p:spPr>
          <a:xfrm>
            <a:off x="265500" y="1439074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9" name="Google Shape;33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975" y="963812"/>
            <a:ext cx="3304676" cy="411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5350" y="1096176"/>
            <a:ext cx="2862000" cy="3845574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40"/>
          <p:cNvSpPr txBox="1"/>
          <p:nvPr>
            <p:ph idx="2" type="title"/>
          </p:nvPr>
        </p:nvSpPr>
        <p:spPr>
          <a:xfrm>
            <a:off x="4572000" y="271791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Sum / Count / Average / Minimum / Maximum</a:t>
            </a:r>
            <a:endParaRPr sz="2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1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Pandas.Series vs List</a:t>
            </a:r>
            <a:endParaRPr/>
          </a:p>
        </p:txBody>
      </p:sp>
      <p:sp>
        <p:nvSpPr>
          <p:cNvPr id="347" name="Google Shape;347;p41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2"/>
          <p:cNvSpPr txBox="1"/>
          <p:nvPr>
            <p:ph type="title"/>
          </p:nvPr>
        </p:nvSpPr>
        <p:spPr>
          <a:xfrm>
            <a:off x="308610" y="164592"/>
            <a:ext cx="29319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Series vs List</a:t>
            </a:r>
            <a:endParaRPr/>
          </a:p>
        </p:txBody>
      </p:sp>
      <p:sp>
        <p:nvSpPr>
          <p:cNvPr id="354" name="Google Shape;354;p42"/>
          <p:cNvSpPr txBox="1"/>
          <p:nvPr>
            <p:ph idx="2" type="body"/>
          </p:nvPr>
        </p:nvSpPr>
        <p:spPr>
          <a:xfrm>
            <a:off x="308610" y="797242"/>
            <a:ext cx="2931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Why not just a list?</a:t>
            </a:r>
            <a:endParaRPr/>
          </a:p>
        </p:txBody>
      </p:sp>
      <p:sp>
        <p:nvSpPr>
          <p:cNvPr id="355" name="Google Shape;355;p42"/>
          <p:cNvSpPr txBox="1"/>
          <p:nvPr>
            <p:ph idx="3" type="body"/>
          </p:nvPr>
        </p:nvSpPr>
        <p:spPr>
          <a:xfrm>
            <a:off x="308610" y="1028700"/>
            <a:ext cx="2931900" cy="20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60350" lvl="0" marL="25400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100"/>
              <a:buChar char="•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list * 2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repeats the list;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Series * 2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does math.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11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Arithmetic on a Series is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element-wise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11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Series carry an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index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for alignment.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11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Series plug straight into the rest of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Pandas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pic>
        <p:nvPicPr>
          <p:cNvPr descr="pd_series_vs_list.png" id="356" name="Google Shape;35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1387417"/>
            <a:ext cx="4090797" cy="2642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3"/>
          <p:cNvSpPr txBox="1"/>
          <p:nvPr>
            <p:ph type="title"/>
          </p:nvPr>
        </p:nvSpPr>
        <p:spPr>
          <a:xfrm>
            <a:off x="308610" y="164592"/>
            <a:ext cx="29319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Add vs Concat</a:t>
            </a:r>
            <a:endParaRPr/>
          </a:p>
        </p:txBody>
      </p:sp>
      <p:sp>
        <p:nvSpPr>
          <p:cNvPr id="363" name="Google Shape;363;p43"/>
          <p:cNvSpPr txBox="1"/>
          <p:nvPr>
            <p:ph idx="2" type="body"/>
          </p:nvPr>
        </p:nvSpPr>
        <p:spPr>
          <a:xfrm>
            <a:off x="308610" y="797242"/>
            <a:ext cx="2931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Aligning two Series</a:t>
            </a:r>
            <a:endParaRPr/>
          </a:p>
        </p:txBody>
      </p:sp>
      <p:sp>
        <p:nvSpPr>
          <p:cNvPr id="364" name="Google Shape;364;p43"/>
          <p:cNvSpPr txBox="1"/>
          <p:nvPr>
            <p:ph idx="3" type="body"/>
          </p:nvPr>
        </p:nvSpPr>
        <p:spPr>
          <a:xfrm>
            <a:off x="308610" y="1028700"/>
            <a:ext cx="2931900" cy="20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60350" lvl="0" marL="25400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100"/>
              <a:buChar char="•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aligns on the index — unmatched labels become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NaN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D84568"/>
              </a:buClr>
              <a:buSzPts val="1100"/>
              <a:buChar char="•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pd.concat([a, b])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stacks values and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keeps all labels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11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Use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for math,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concat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to combine.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11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Mind the index — it drives both.</a:t>
            </a:r>
            <a:endParaRPr/>
          </a:p>
        </p:txBody>
      </p:sp>
      <p:pic>
        <p:nvPicPr>
          <p:cNvPr descr="pd_list_plus.png" id="365" name="Google Shape;36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37726" y="822960"/>
            <a:ext cx="2837119" cy="18002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d_series_concat.png" id="366" name="Google Shape;366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3930" y="2794635"/>
            <a:ext cx="3204711" cy="18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4"/>
          <p:cNvSpPr txBox="1"/>
          <p:nvPr>
            <p:ph type="title"/>
          </p:nvPr>
        </p:nvSpPr>
        <p:spPr>
          <a:xfrm>
            <a:off x="2100" y="276526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Plus operator</a:t>
            </a:r>
            <a:endParaRPr sz="3100"/>
          </a:p>
        </p:txBody>
      </p:sp>
      <p:sp>
        <p:nvSpPr>
          <p:cNvPr id="372" name="Google Shape;372;p44"/>
          <p:cNvSpPr txBox="1"/>
          <p:nvPr>
            <p:ph idx="1" type="subTitle"/>
          </p:nvPr>
        </p:nvSpPr>
        <p:spPr>
          <a:xfrm>
            <a:off x="265500" y="1439074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3" name="Google Shape;37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752" y="892075"/>
            <a:ext cx="3371347" cy="36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44"/>
          <p:cNvSpPr txBox="1"/>
          <p:nvPr>
            <p:ph idx="2" type="title"/>
          </p:nvPr>
        </p:nvSpPr>
        <p:spPr>
          <a:xfrm>
            <a:off x="4572000" y="271791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Use Concat for Pandas</a:t>
            </a:r>
            <a:endParaRPr sz="3100"/>
          </a:p>
        </p:txBody>
      </p:sp>
      <p:sp>
        <p:nvSpPr>
          <p:cNvPr id="375" name="Google Shape;375;p44"/>
          <p:cNvSpPr txBox="1"/>
          <p:nvPr>
            <p:ph idx="3" type="subTitle"/>
          </p:nvPr>
        </p:nvSpPr>
        <p:spPr>
          <a:xfrm>
            <a:off x="4835400" y="1451433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6" name="Google Shape;376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5750" y="955225"/>
            <a:ext cx="3371350" cy="4126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5"/>
          <p:cNvSpPr txBox="1"/>
          <p:nvPr>
            <p:ph type="title"/>
          </p:nvPr>
        </p:nvSpPr>
        <p:spPr>
          <a:xfrm>
            <a:off x="2100" y="276526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26902"/>
              <a:buNone/>
            </a:pPr>
            <a:r>
              <a:rPr lang="en" sz="3680"/>
              <a:t>Pandas can be </a:t>
            </a:r>
            <a:r>
              <a:rPr lang="en" sz="3680"/>
              <a:t>duplicated indexes</a:t>
            </a:r>
            <a:endParaRPr sz="3680"/>
          </a:p>
        </p:txBody>
      </p:sp>
      <p:sp>
        <p:nvSpPr>
          <p:cNvPr id="382" name="Google Shape;382;p45"/>
          <p:cNvSpPr txBox="1"/>
          <p:nvPr>
            <p:ph idx="1" type="subTitle"/>
          </p:nvPr>
        </p:nvSpPr>
        <p:spPr>
          <a:xfrm>
            <a:off x="265500" y="1439074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3" name="Google Shape;38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275" y="1560900"/>
            <a:ext cx="2756174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45"/>
          <p:cNvPicPr preferRelativeResize="0"/>
          <p:nvPr/>
        </p:nvPicPr>
        <p:blipFill rotWithShape="1">
          <a:blip r:embed="rId4">
            <a:alphaModFix/>
          </a:blip>
          <a:srcRect b="0" l="8130" r="0" t="10690"/>
          <a:stretch/>
        </p:blipFill>
        <p:spPr>
          <a:xfrm>
            <a:off x="5240200" y="1843825"/>
            <a:ext cx="3080250" cy="198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45"/>
          <p:cNvSpPr txBox="1"/>
          <p:nvPr>
            <p:ph idx="2" type="title"/>
          </p:nvPr>
        </p:nvSpPr>
        <p:spPr>
          <a:xfrm>
            <a:off x="4572000" y="271791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26902"/>
              <a:buNone/>
            </a:pPr>
            <a:r>
              <a:rPr lang="en" sz="3680"/>
              <a:t>Access by index can be </a:t>
            </a:r>
            <a:r>
              <a:rPr lang="en" sz="3680"/>
              <a:t>multiple</a:t>
            </a:r>
            <a:r>
              <a:rPr lang="en" sz="3680"/>
              <a:t> value</a:t>
            </a:r>
            <a:endParaRPr sz="3680"/>
          </a:p>
        </p:txBody>
      </p:sp>
      <p:sp>
        <p:nvSpPr>
          <p:cNvPr id="386" name="Google Shape;386;p45"/>
          <p:cNvSpPr txBox="1"/>
          <p:nvPr>
            <p:ph idx="3" type="subTitle"/>
          </p:nvPr>
        </p:nvSpPr>
        <p:spPr>
          <a:xfrm>
            <a:off x="4835400" y="1451433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6"/>
          <p:cNvSpPr txBox="1"/>
          <p:nvPr>
            <p:ph type="title"/>
          </p:nvPr>
        </p:nvSpPr>
        <p:spPr>
          <a:xfrm>
            <a:off x="462915" y="1183005"/>
            <a:ext cx="5915100" cy="9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Roboto"/>
              <a:buNone/>
            </a:pPr>
            <a:r>
              <a:rPr b="1" lang="en" sz="3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Pandas Series</a:t>
            </a:r>
            <a:endParaRPr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Roboto"/>
              <a:buNone/>
            </a:pPr>
            <a:r>
              <a:rPr b="1" lang="en" sz="3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Practice Exercises</a:t>
            </a:r>
            <a:endParaRPr/>
          </a:p>
        </p:txBody>
      </p:sp>
      <p:sp>
        <p:nvSpPr>
          <p:cNvPr id="392" name="Google Shape;392;p46"/>
          <p:cNvSpPr txBox="1"/>
          <p:nvPr>
            <p:ph idx="1" type="body"/>
          </p:nvPr>
        </p:nvSpPr>
        <p:spPr>
          <a:xfrm>
            <a:off x="462915" y="2185988"/>
            <a:ext cx="5400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EC5F82"/>
              </a:buClr>
              <a:buSzPct val="100000"/>
              <a:buNone/>
            </a:pPr>
            <a:r>
              <a:rPr b="1" lang="en" sz="110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PYTHON IN DATA SCIENCE · PANDAS</a:t>
            </a:r>
            <a:endParaRPr/>
          </a:p>
        </p:txBody>
      </p:sp>
      <p:sp>
        <p:nvSpPr>
          <p:cNvPr id="393" name="Google Shape;393;p46"/>
          <p:cNvSpPr txBox="1"/>
          <p:nvPr>
            <p:ph idx="2" type="body"/>
          </p:nvPr>
        </p:nvSpPr>
        <p:spPr>
          <a:xfrm>
            <a:off x="462915" y="2443163"/>
            <a:ext cx="49893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6DAF2"/>
              </a:buClr>
              <a:buSzPct val="100000"/>
              <a:buNone/>
            </a:pPr>
            <a:r>
              <a:rPr lang="en" sz="1100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rPr>
              <a:t>Fill-in-the-blank drills on Series creation, typing, selection, loc/iloc, aggregation, and alignment.</a:t>
            </a:r>
            <a:endParaRPr/>
          </a:p>
        </p:txBody>
      </p:sp>
      <p:sp>
        <p:nvSpPr>
          <p:cNvPr id="394" name="Google Shape;394;p46"/>
          <p:cNvSpPr txBox="1"/>
          <p:nvPr>
            <p:ph idx="3" type="body"/>
          </p:nvPr>
        </p:nvSpPr>
        <p:spPr>
          <a:xfrm>
            <a:off x="462915" y="2983230"/>
            <a:ext cx="41148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9DA3D4"/>
              </a:buClr>
              <a:buSzPct val="100000"/>
              <a:buNone/>
            </a:pPr>
            <a:r>
              <a:rPr lang="en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rPr>
              <a:t>Slash Foundry Co Ltd · August 2026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7"/>
          <p:cNvSpPr txBox="1"/>
          <p:nvPr>
            <p:ph type="title"/>
          </p:nvPr>
        </p:nvSpPr>
        <p:spPr>
          <a:xfrm>
            <a:off x="462915" y="1491615"/>
            <a:ext cx="5658000" cy="6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</a:pPr>
            <a:r>
              <a:rPr b="1"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Creating a Series</a:t>
            </a:r>
            <a:endParaRPr/>
          </a:p>
        </p:txBody>
      </p:sp>
      <p:sp>
        <p:nvSpPr>
          <p:cNvPr id="400" name="Google Shape;400;p47"/>
          <p:cNvSpPr txBox="1"/>
          <p:nvPr>
            <p:ph idx="1" type="body"/>
          </p:nvPr>
        </p:nvSpPr>
        <p:spPr>
          <a:xfrm>
            <a:off x="462915" y="2134553"/>
            <a:ext cx="5143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EC5F82"/>
              </a:buClr>
              <a:buSzPct val="100000"/>
              <a:buNone/>
            </a:pPr>
            <a:r>
              <a:rPr b="1" lang="en" sz="110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SECTION 1 OF 8 · SERIES CREATION</a:t>
            </a:r>
            <a:endParaRPr/>
          </a:p>
        </p:txBody>
      </p:sp>
      <p:sp>
        <p:nvSpPr>
          <p:cNvPr id="401" name="Google Shape;401;p47"/>
          <p:cNvSpPr txBox="1"/>
          <p:nvPr>
            <p:ph idx="2" type="body"/>
          </p:nvPr>
        </p:nvSpPr>
        <p:spPr>
          <a:xfrm>
            <a:off x="462915" y="2340293"/>
            <a:ext cx="4886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6DAF2"/>
              </a:buClr>
              <a:buSzPts val="1100"/>
              <a:buNone/>
            </a:pPr>
            <a:r>
              <a:rPr lang="en" sz="1100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rPr>
              <a:t>Building a Series from a list, and reading back its values and labels.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8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Building a Series</a:t>
            </a:r>
            <a:endParaRPr sz="2100"/>
          </a:p>
        </p:txBody>
      </p:sp>
      <p:sp>
        <p:nvSpPr>
          <p:cNvPr descr="Step 1 badge" id="408" name="Google Shape;408;p48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48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125"/>
          </a:p>
        </p:txBody>
      </p:sp>
      <p:sp>
        <p:nvSpPr>
          <p:cNvPr id="410" name="Google Shape;410;p48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Create a Series</a:t>
            </a:r>
            <a:endParaRPr sz="1350"/>
          </a:p>
        </p:txBody>
      </p:sp>
      <p:sp>
        <p:nvSpPr>
          <p:cNvPr id="411" name="Google Shape;411;p48"/>
          <p:cNvSpPr txBox="1"/>
          <p:nvPr>
            <p:ph idx="4" type="body"/>
          </p:nvPr>
        </p:nvSpPr>
        <p:spPr>
          <a:xfrm>
            <a:off x="411480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Create a Series from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[10, 20, 30] (default index)</a:t>
            </a:r>
            <a:endParaRPr sz="975"/>
          </a:p>
        </p:txBody>
      </p:sp>
      <p:sp>
        <p:nvSpPr>
          <p:cNvPr id="412" name="Google Shape;412;p48"/>
          <p:cNvSpPr/>
          <p:nvPr/>
        </p:nvSpPr>
        <p:spPr>
          <a:xfrm>
            <a:off x="411480" y="1988820"/>
            <a:ext cx="4046100" cy="150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48"/>
          <p:cNvSpPr txBox="1"/>
          <p:nvPr>
            <p:ph idx="6" type="body"/>
          </p:nvPr>
        </p:nvSpPr>
        <p:spPr>
          <a:xfrm>
            <a:off x="582930" y="2160270"/>
            <a:ext cx="3703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4689"/>
              </a:buClr>
              <a:buSzPct val="100000"/>
              <a:buNone/>
            </a:pP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pandas </a:t>
            </a:r>
            <a:r>
              <a:rPr b="0" i="0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ct val="1000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ct val="1000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___([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66D9EF"/>
              </a:buClr>
              <a:buSzPct val="100000"/>
              <a:buNone/>
            </a:pPr>
            <a:r>
              <a:rPr b="0" i="1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(s)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ct val="1000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ct val="1000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hint: the Pandas class that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ct val="1000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builds a labeled 1D array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1200"/>
              </a:spcAft>
              <a:buClr>
                <a:srgbClr val="F8F8F2"/>
              </a:buClr>
              <a:buSzPct val="100000"/>
              <a:buNone/>
            </a:pPr>
            <a:r>
              <a:t/>
            </a:r>
            <a:endParaRPr b="0" i="0" sz="900">
              <a:solidFill>
                <a:srgbClr val="95907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4" name="Google Shape;414;p48"/>
          <p:cNvSpPr txBox="1"/>
          <p:nvPr>
            <p:ph idx="7" type="body"/>
          </p:nvPr>
        </p:nvSpPr>
        <p:spPr>
          <a:xfrm>
            <a:off x="411480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100000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id="415" name="Google Shape;415;p48"/>
          <p:cNvSpPr txBox="1"/>
          <p:nvPr>
            <p:ph idx="8" type="body"/>
          </p:nvPr>
        </p:nvSpPr>
        <p:spPr>
          <a:xfrm>
            <a:off x="411480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[1] → 0    10</a:t>
            </a:r>
            <a:endParaRPr sz="900"/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     1    20</a:t>
            </a:r>
            <a:endParaRPr sz="900"/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     2    30</a:t>
            </a:r>
            <a:endParaRPr sz="900"/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120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     dtype: int64</a:t>
            </a:r>
            <a:endParaRPr sz="900"/>
          </a:p>
        </p:txBody>
      </p:sp>
      <p:sp>
        <p:nvSpPr>
          <p:cNvPr descr="Step 2 badge" id="416" name="Google Shape;416;p48"/>
          <p:cNvSpPr/>
          <p:nvPr/>
        </p:nvSpPr>
        <p:spPr>
          <a:xfrm>
            <a:off x="4684014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48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125"/>
          </a:p>
        </p:txBody>
      </p:sp>
      <p:sp>
        <p:nvSpPr>
          <p:cNvPr id="418" name="Google Shape;418;p48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Custom Labels</a:t>
            </a:r>
            <a:endParaRPr sz="1350"/>
          </a:p>
        </p:txBody>
      </p:sp>
      <p:sp>
        <p:nvSpPr>
          <p:cNvPr id="419" name="Google Shape;419;p48"/>
          <p:cNvSpPr txBox="1"/>
          <p:nvPr>
            <p:ph idx="14" type="body"/>
          </p:nvPr>
        </p:nvSpPr>
        <p:spPr>
          <a:xfrm>
            <a:off x="4684014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Create the same values, but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label them ['a', 'b', 'c']</a:t>
            </a:r>
            <a:endParaRPr sz="975"/>
          </a:p>
        </p:txBody>
      </p:sp>
      <p:sp>
        <p:nvSpPr>
          <p:cNvPr id="420" name="Google Shape;420;p48"/>
          <p:cNvSpPr/>
          <p:nvPr/>
        </p:nvSpPr>
        <p:spPr>
          <a:xfrm>
            <a:off x="4684014" y="1988820"/>
            <a:ext cx="4046100" cy="150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48"/>
          <p:cNvSpPr txBox="1"/>
          <p:nvPr>
            <p:ph idx="16" type="body"/>
          </p:nvPr>
        </p:nvSpPr>
        <p:spPr>
          <a:xfrm>
            <a:off x="4855464" y="2160270"/>
            <a:ext cx="3703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Series([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 ___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'a'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'b'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'c'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1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(s)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hint: the keyword argument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that sets custom labels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120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95907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2" name="Google Shape;422;p48"/>
          <p:cNvSpPr txBox="1"/>
          <p:nvPr>
            <p:ph idx="17" type="body"/>
          </p:nvPr>
        </p:nvSpPr>
        <p:spPr>
          <a:xfrm>
            <a:off x="4684014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100000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id="423" name="Google Shape;423;p48"/>
          <p:cNvSpPr txBox="1"/>
          <p:nvPr>
            <p:ph idx="18" type="body"/>
          </p:nvPr>
        </p:nvSpPr>
        <p:spPr>
          <a:xfrm>
            <a:off x="4684014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[1] → a    10</a:t>
            </a:r>
            <a:endParaRPr sz="900"/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     b    20</a:t>
            </a:r>
            <a:endParaRPr sz="900"/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     c    30</a:t>
            </a:r>
            <a:endParaRPr sz="900"/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120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     dtype: int64</a:t>
            </a:r>
            <a:endParaRPr sz="9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9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Series Attributes</a:t>
            </a:r>
            <a:endParaRPr sz="2100"/>
          </a:p>
        </p:txBody>
      </p:sp>
      <p:sp>
        <p:nvSpPr>
          <p:cNvPr descr="Step 3 badge" id="430" name="Google Shape;430;p49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49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125"/>
          </a:p>
        </p:txBody>
      </p:sp>
      <p:sp>
        <p:nvSpPr>
          <p:cNvPr id="432" name="Google Shape;432;p49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Just the Values</a:t>
            </a:r>
            <a:endParaRPr sz="1350"/>
          </a:p>
        </p:txBody>
      </p:sp>
      <p:sp>
        <p:nvSpPr>
          <p:cNvPr id="433" name="Google Shape;433;p49"/>
          <p:cNvSpPr txBox="1"/>
          <p:nvPr>
            <p:ph idx="4" type="body"/>
          </p:nvPr>
        </p:nvSpPr>
        <p:spPr>
          <a:xfrm>
            <a:off x="411480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Get only the underlying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values of s (no labels)</a:t>
            </a:r>
            <a:endParaRPr sz="975"/>
          </a:p>
        </p:txBody>
      </p:sp>
      <p:sp>
        <p:nvSpPr>
          <p:cNvPr id="434" name="Google Shape;434;p49"/>
          <p:cNvSpPr/>
          <p:nvPr/>
        </p:nvSpPr>
        <p:spPr>
          <a:xfrm>
            <a:off x="411480" y="1988820"/>
            <a:ext cx="4046100" cy="150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49"/>
          <p:cNvSpPr txBox="1"/>
          <p:nvPr>
            <p:ph idx="6" type="body"/>
          </p:nvPr>
        </p:nvSpPr>
        <p:spPr>
          <a:xfrm>
            <a:off x="582930" y="2160270"/>
            <a:ext cx="3703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Series([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 index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'a'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'b'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'c'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1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(s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___)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hint: returns a plain NumPy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array of the data only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120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95907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6" name="Google Shape;436;p49"/>
          <p:cNvSpPr txBox="1"/>
          <p:nvPr>
            <p:ph idx="7" type="body"/>
          </p:nvPr>
        </p:nvSpPr>
        <p:spPr>
          <a:xfrm>
            <a:off x="411480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100000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id="437" name="Google Shape;437;p49"/>
          <p:cNvSpPr txBox="1"/>
          <p:nvPr>
            <p:ph idx="8" type="body"/>
          </p:nvPr>
        </p:nvSpPr>
        <p:spPr>
          <a:xfrm>
            <a:off x="411480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[1] → [10 20 30]</a:t>
            </a:r>
            <a:endParaRPr sz="900"/>
          </a:p>
        </p:txBody>
      </p:sp>
      <p:sp>
        <p:nvSpPr>
          <p:cNvPr descr="Step 4 badge" id="438" name="Google Shape;438;p49"/>
          <p:cNvSpPr/>
          <p:nvPr/>
        </p:nvSpPr>
        <p:spPr>
          <a:xfrm>
            <a:off x="4684014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49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sz="1125"/>
          </a:p>
        </p:txBody>
      </p:sp>
      <p:sp>
        <p:nvSpPr>
          <p:cNvPr id="440" name="Google Shape;440;p49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Just the Labels</a:t>
            </a:r>
            <a:endParaRPr sz="1350"/>
          </a:p>
        </p:txBody>
      </p:sp>
      <p:sp>
        <p:nvSpPr>
          <p:cNvPr id="441" name="Google Shape;441;p49"/>
          <p:cNvSpPr txBox="1"/>
          <p:nvPr>
            <p:ph idx="14" type="body"/>
          </p:nvPr>
        </p:nvSpPr>
        <p:spPr>
          <a:xfrm>
            <a:off x="4684014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Get only the labels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(not the data) of s</a:t>
            </a:r>
            <a:endParaRPr sz="975"/>
          </a:p>
        </p:txBody>
      </p:sp>
      <p:sp>
        <p:nvSpPr>
          <p:cNvPr id="442" name="Google Shape;442;p49"/>
          <p:cNvSpPr/>
          <p:nvPr/>
        </p:nvSpPr>
        <p:spPr>
          <a:xfrm>
            <a:off x="4684014" y="1988820"/>
            <a:ext cx="4046100" cy="150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49"/>
          <p:cNvSpPr txBox="1"/>
          <p:nvPr>
            <p:ph idx="16" type="body"/>
          </p:nvPr>
        </p:nvSpPr>
        <p:spPr>
          <a:xfrm>
            <a:off x="4855464" y="2160270"/>
            <a:ext cx="3703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Series([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 index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'a'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'b'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'c'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1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(s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___)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hint: the attribute that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holds the row labels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120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95907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4" name="Google Shape;444;p49"/>
          <p:cNvSpPr txBox="1"/>
          <p:nvPr>
            <p:ph idx="17" type="body"/>
          </p:nvPr>
        </p:nvSpPr>
        <p:spPr>
          <a:xfrm>
            <a:off x="4684014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100000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id="445" name="Google Shape;445;p49"/>
          <p:cNvSpPr txBox="1"/>
          <p:nvPr>
            <p:ph idx="18" type="body"/>
          </p:nvPr>
        </p:nvSpPr>
        <p:spPr>
          <a:xfrm>
            <a:off x="4684014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[1] → Index(['a', 'b', 'c'], dtype='str')</a:t>
            </a:r>
            <a:endParaRPr sz="9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0"/>
          <p:cNvSpPr txBox="1"/>
          <p:nvPr>
            <p:ph type="title"/>
          </p:nvPr>
        </p:nvSpPr>
        <p:spPr>
          <a:xfrm>
            <a:off x="462915" y="1491615"/>
            <a:ext cx="5658000" cy="6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</a:pPr>
            <a:r>
              <a:rPr b="1"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Query a Series</a:t>
            </a:r>
            <a:endParaRPr/>
          </a:p>
        </p:txBody>
      </p:sp>
      <p:sp>
        <p:nvSpPr>
          <p:cNvPr id="451" name="Google Shape;451;p50"/>
          <p:cNvSpPr txBox="1"/>
          <p:nvPr>
            <p:ph idx="1" type="body"/>
          </p:nvPr>
        </p:nvSpPr>
        <p:spPr>
          <a:xfrm>
            <a:off x="462915" y="2134553"/>
            <a:ext cx="5143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EC5F82"/>
              </a:buClr>
              <a:buSzPct val="100000"/>
              <a:buNone/>
            </a:pPr>
            <a:r>
              <a:rPr b="1" lang="en" sz="110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SECTION 3 OF 8 · SELECTING DATA</a:t>
            </a:r>
            <a:endParaRPr/>
          </a:p>
        </p:txBody>
      </p:sp>
      <p:sp>
        <p:nvSpPr>
          <p:cNvPr id="452" name="Google Shape;452;p50"/>
          <p:cNvSpPr txBox="1"/>
          <p:nvPr>
            <p:ph idx="2" type="body"/>
          </p:nvPr>
        </p:nvSpPr>
        <p:spPr>
          <a:xfrm>
            <a:off x="462915" y="2340293"/>
            <a:ext cx="4886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6DAF2"/>
              </a:buClr>
              <a:buSzPct val="100000"/>
              <a:buNone/>
            </a:pPr>
            <a:r>
              <a:rPr lang="en" sz="1100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rPr>
              <a:t>Selecting by a single label, multiple labels, a condition, or testing membership.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1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Selecting by Label</a:t>
            </a:r>
            <a:endParaRPr sz="2100"/>
          </a:p>
        </p:txBody>
      </p:sp>
      <p:sp>
        <p:nvSpPr>
          <p:cNvPr descr="Step 1 badge" id="459" name="Google Shape;459;p51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51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125"/>
          </a:p>
        </p:txBody>
      </p:sp>
      <p:sp>
        <p:nvSpPr>
          <p:cNvPr id="461" name="Google Shape;461;p51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Access by Label</a:t>
            </a:r>
            <a:endParaRPr sz="1350"/>
          </a:p>
        </p:txBody>
      </p:sp>
      <p:sp>
        <p:nvSpPr>
          <p:cNvPr id="462" name="Google Shape;462;p51"/>
          <p:cNvSpPr txBox="1"/>
          <p:nvPr>
            <p:ph idx="4" type="body"/>
          </p:nvPr>
        </p:nvSpPr>
        <p:spPr>
          <a:xfrm>
            <a:off x="411480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From s (labels a,b,c),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get the value labeled 'b'</a:t>
            </a:r>
            <a:endParaRPr sz="975"/>
          </a:p>
        </p:txBody>
      </p:sp>
      <p:sp>
        <p:nvSpPr>
          <p:cNvPr id="463" name="Google Shape;463;p51"/>
          <p:cNvSpPr/>
          <p:nvPr/>
        </p:nvSpPr>
        <p:spPr>
          <a:xfrm>
            <a:off x="411480" y="1988820"/>
            <a:ext cx="4046100" cy="150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51"/>
          <p:cNvSpPr txBox="1"/>
          <p:nvPr>
            <p:ph idx="6" type="body"/>
          </p:nvPr>
        </p:nvSpPr>
        <p:spPr>
          <a:xfrm>
            <a:off x="582930" y="2160270"/>
            <a:ext cx="3703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Series([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 index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'a'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'b'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'c'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1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(s[___])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hint: index with the label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as a string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120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95907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5" name="Google Shape;465;p51"/>
          <p:cNvSpPr txBox="1"/>
          <p:nvPr>
            <p:ph idx="7" type="body"/>
          </p:nvPr>
        </p:nvSpPr>
        <p:spPr>
          <a:xfrm>
            <a:off x="411480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100000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id="466" name="Google Shape;466;p51"/>
          <p:cNvSpPr txBox="1"/>
          <p:nvPr>
            <p:ph idx="8" type="body"/>
          </p:nvPr>
        </p:nvSpPr>
        <p:spPr>
          <a:xfrm>
            <a:off x="411480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[1] → 20</a:t>
            </a:r>
            <a:endParaRPr sz="900"/>
          </a:p>
        </p:txBody>
      </p:sp>
      <p:sp>
        <p:nvSpPr>
          <p:cNvPr descr="Step 2 badge" id="467" name="Google Shape;467;p51"/>
          <p:cNvSpPr/>
          <p:nvPr/>
        </p:nvSpPr>
        <p:spPr>
          <a:xfrm>
            <a:off x="4684014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51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125"/>
          </a:p>
        </p:txBody>
      </p:sp>
      <p:sp>
        <p:nvSpPr>
          <p:cNvPr id="469" name="Google Shape;469;p51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Multiple Labels</a:t>
            </a:r>
            <a:endParaRPr sz="1350"/>
          </a:p>
        </p:txBody>
      </p:sp>
      <p:sp>
        <p:nvSpPr>
          <p:cNvPr id="470" name="Google Shape;470;p51"/>
          <p:cNvSpPr txBox="1"/>
          <p:nvPr>
            <p:ph idx="14" type="body"/>
          </p:nvPr>
        </p:nvSpPr>
        <p:spPr>
          <a:xfrm>
            <a:off x="4684014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Select the values labeled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'a' and 'c' together</a:t>
            </a:r>
            <a:endParaRPr sz="975"/>
          </a:p>
        </p:txBody>
      </p:sp>
      <p:sp>
        <p:nvSpPr>
          <p:cNvPr id="471" name="Google Shape;471;p51"/>
          <p:cNvSpPr/>
          <p:nvPr/>
        </p:nvSpPr>
        <p:spPr>
          <a:xfrm>
            <a:off x="4684014" y="1988820"/>
            <a:ext cx="4046100" cy="150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51"/>
          <p:cNvSpPr txBox="1"/>
          <p:nvPr>
            <p:ph idx="16" type="body"/>
          </p:nvPr>
        </p:nvSpPr>
        <p:spPr>
          <a:xfrm>
            <a:off x="4855464" y="2160270"/>
            <a:ext cx="3703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Series([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 index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'a'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'b'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'c'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1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(s[___])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hint: pass several labels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at once, as a list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120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95907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3" name="Google Shape;473;p51"/>
          <p:cNvSpPr txBox="1"/>
          <p:nvPr>
            <p:ph idx="17" type="body"/>
          </p:nvPr>
        </p:nvSpPr>
        <p:spPr>
          <a:xfrm>
            <a:off x="4684014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100000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id="474" name="Google Shape;474;p51"/>
          <p:cNvSpPr txBox="1"/>
          <p:nvPr>
            <p:ph idx="18" type="body"/>
          </p:nvPr>
        </p:nvSpPr>
        <p:spPr>
          <a:xfrm>
            <a:off x="4684014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[1] → a    10</a:t>
            </a:r>
            <a:endParaRPr sz="900"/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     c    30</a:t>
            </a:r>
            <a:endParaRPr sz="900"/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120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     dtype: int64</a:t>
            </a:r>
            <a:endParaRPr sz="9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2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Filtering &amp; Membership</a:t>
            </a:r>
            <a:endParaRPr sz="2100"/>
          </a:p>
        </p:txBody>
      </p:sp>
      <p:sp>
        <p:nvSpPr>
          <p:cNvPr descr="Step 3 badge" id="481" name="Google Shape;481;p52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52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125"/>
          </a:p>
        </p:txBody>
      </p:sp>
      <p:sp>
        <p:nvSpPr>
          <p:cNvPr id="483" name="Google Shape;483;p52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Boolean Filter</a:t>
            </a:r>
            <a:endParaRPr sz="1350"/>
          </a:p>
        </p:txBody>
      </p:sp>
      <p:sp>
        <p:nvSpPr>
          <p:cNvPr id="484" name="Google Shape;484;p52"/>
          <p:cNvSpPr txBox="1"/>
          <p:nvPr>
            <p:ph idx="4" type="body"/>
          </p:nvPr>
        </p:nvSpPr>
        <p:spPr>
          <a:xfrm>
            <a:off x="411480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Select only the values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greater than 15</a:t>
            </a:r>
            <a:endParaRPr sz="975"/>
          </a:p>
        </p:txBody>
      </p:sp>
      <p:sp>
        <p:nvSpPr>
          <p:cNvPr id="485" name="Google Shape;485;p52"/>
          <p:cNvSpPr/>
          <p:nvPr/>
        </p:nvSpPr>
        <p:spPr>
          <a:xfrm>
            <a:off x="411480" y="1988820"/>
            <a:ext cx="4046100" cy="150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52"/>
          <p:cNvSpPr txBox="1"/>
          <p:nvPr>
            <p:ph idx="6" type="body"/>
          </p:nvPr>
        </p:nvSpPr>
        <p:spPr>
          <a:xfrm>
            <a:off x="582930" y="2160270"/>
            <a:ext cx="3703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Series([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 index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'a'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'b'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'c'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1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(s[s ___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hint: filters just like a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NumPy boolean mask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120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95907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7" name="Google Shape;487;p52"/>
          <p:cNvSpPr txBox="1"/>
          <p:nvPr>
            <p:ph idx="7" type="body"/>
          </p:nvPr>
        </p:nvSpPr>
        <p:spPr>
          <a:xfrm>
            <a:off x="411480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100000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id="488" name="Google Shape;488;p52"/>
          <p:cNvSpPr txBox="1"/>
          <p:nvPr>
            <p:ph idx="8" type="body"/>
          </p:nvPr>
        </p:nvSpPr>
        <p:spPr>
          <a:xfrm>
            <a:off x="411480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[1] → b    20</a:t>
            </a:r>
            <a:endParaRPr sz="900"/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     c    30</a:t>
            </a:r>
            <a:endParaRPr sz="900"/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120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     dtype: int64</a:t>
            </a:r>
            <a:endParaRPr sz="900"/>
          </a:p>
        </p:txBody>
      </p:sp>
      <p:sp>
        <p:nvSpPr>
          <p:cNvPr descr="Step 4 badge" id="489" name="Google Shape;489;p52"/>
          <p:cNvSpPr/>
          <p:nvPr/>
        </p:nvSpPr>
        <p:spPr>
          <a:xfrm>
            <a:off x="4684014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52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sz="1125"/>
          </a:p>
        </p:txBody>
      </p:sp>
      <p:sp>
        <p:nvSpPr>
          <p:cNvPr id="491" name="Google Shape;491;p52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Membership Test</a:t>
            </a:r>
            <a:endParaRPr sz="1350"/>
          </a:p>
        </p:txBody>
      </p:sp>
      <p:sp>
        <p:nvSpPr>
          <p:cNvPr id="492" name="Google Shape;492;p52"/>
          <p:cNvSpPr txBox="1"/>
          <p:nvPr>
            <p:ph idx="14" type="body"/>
          </p:nvPr>
        </p:nvSpPr>
        <p:spPr>
          <a:xfrm>
            <a:off x="4684014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Check whether the label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'a' exists in s</a:t>
            </a:r>
            <a:endParaRPr sz="975"/>
          </a:p>
        </p:txBody>
      </p:sp>
      <p:sp>
        <p:nvSpPr>
          <p:cNvPr id="493" name="Google Shape;493;p52"/>
          <p:cNvSpPr/>
          <p:nvPr/>
        </p:nvSpPr>
        <p:spPr>
          <a:xfrm>
            <a:off x="4684014" y="1988820"/>
            <a:ext cx="4046100" cy="150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52"/>
          <p:cNvSpPr txBox="1"/>
          <p:nvPr>
            <p:ph idx="16" type="body"/>
          </p:nvPr>
        </p:nvSpPr>
        <p:spPr>
          <a:xfrm>
            <a:off x="4855464" y="2160270"/>
            <a:ext cx="3703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Series([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 index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'a'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'b'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'c'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1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'a'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___ s)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hint: the same keyword you'd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use to test list membership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120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95907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5" name="Google Shape;495;p52"/>
          <p:cNvSpPr txBox="1"/>
          <p:nvPr>
            <p:ph idx="17" type="body"/>
          </p:nvPr>
        </p:nvSpPr>
        <p:spPr>
          <a:xfrm>
            <a:off x="4684014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100000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id="496" name="Google Shape;496;p52"/>
          <p:cNvSpPr txBox="1"/>
          <p:nvPr>
            <p:ph idx="18" type="body"/>
          </p:nvPr>
        </p:nvSpPr>
        <p:spPr>
          <a:xfrm>
            <a:off x="4684014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[1] → True</a:t>
            </a:r>
            <a:endParaRPr sz="9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3"/>
          <p:cNvSpPr txBox="1"/>
          <p:nvPr>
            <p:ph type="title"/>
          </p:nvPr>
        </p:nvSpPr>
        <p:spPr>
          <a:xfrm>
            <a:off x="617220" y="1988820"/>
            <a:ext cx="75438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</a:pPr>
            <a:r>
              <a:rPr b="1"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loc vs iloc</a:t>
            </a:r>
            <a:endParaRPr sz="3000"/>
          </a:p>
        </p:txBody>
      </p:sp>
      <p:sp>
        <p:nvSpPr>
          <p:cNvPr id="502" name="Google Shape;502;p53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EC5F82"/>
              </a:buClr>
              <a:buSzPts val="1050"/>
              <a:buNone/>
            </a:pPr>
            <a:r>
              <a:rPr b="1" lang="en" sz="105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SECTION 4 OF 8 · POSITION VS LABEL</a:t>
            </a:r>
            <a:endParaRPr sz="1050"/>
          </a:p>
        </p:txBody>
      </p:sp>
      <p:sp>
        <p:nvSpPr>
          <p:cNvPr id="503" name="Google Shape;503;p53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6DAF2"/>
              </a:buClr>
              <a:buSzPts val="1125"/>
              <a:buNone/>
            </a:pPr>
            <a:r>
              <a:rPr lang="en" sz="1125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rPr>
              <a:t>Two accessors for the same data - by position, and by label.</a:t>
            </a:r>
            <a:endParaRPr sz="1125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4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Position vs Label Access</a:t>
            </a:r>
            <a:endParaRPr sz="2100"/>
          </a:p>
        </p:txBody>
      </p:sp>
      <p:sp>
        <p:nvSpPr>
          <p:cNvPr descr="Step 1 badge" id="510" name="Google Shape;510;p54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54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125"/>
          </a:p>
        </p:txBody>
      </p:sp>
      <p:sp>
        <p:nvSpPr>
          <p:cNvPr id="512" name="Google Shape;512;p54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Position Access</a:t>
            </a:r>
            <a:endParaRPr sz="1350"/>
          </a:p>
        </p:txBody>
      </p:sp>
      <p:sp>
        <p:nvSpPr>
          <p:cNvPr id="513" name="Google Shape;513;p54"/>
          <p:cNvSpPr txBox="1"/>
          <p:nvPr>
            <p:ph idx="4" type="body"/>
          </p:nvPr>
        </p:nvSpPr>
        <p:spPr>
          <a:xfrm>
            <a:off x="411480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From s (labels a,b,c), get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the 1st element by position</a:t>
            </a:r>
            <a:endParaRPr sz="975"/>
          </a:p>
        </p:txBody>
      </p:sp>
      <p:sp>
        <p:nvSpPr>
          <p:cNvPr id="514" name="Google Shape;514;p54"/>
          <p:cNvSpPr/>
          <p:nvPr/>
        </p:nvSpPr>
        <p:spPr>
          <a:xfrm>
            <a:off x="411480" y="1988820"/>
            <a:ext cx="4046100" cy="150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54"/>
          <p:cNvSpPr txBox="1"/>
          <p:nvPr>
            <p:ph idx="6" type="body"/>
          </p:nvPr>
        </p:nvSpPr>
        <p:spPr>
          <a:xfrm>
            <a:off x="582930" y="2160270"/>
            <a:ext cx="3703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Series([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 index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'a'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'b'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'c'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1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(s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___[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hint: position-based accessor,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0-based like a Python list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120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95907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6" name="Google Shape;516;p54"/>
          <p:cNvSpPr txBox="1"/>
          <p:nvPr>
            <p:ph idx="7" type="body"/>
          </p:nvPr>
        </p:nvSpPr>
        <p:spPr>
          <a:xfrm>
            <a:off x="411480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100000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id="517" name="Google Shape;517;p54"/>
          <p:cNvSpPr txBox="1"/>
          <p:nvPr>
            <p:ph idx="8" type="body"/>
          </p:nvPr>
        </p:nvSpPr>
        <p:spPr>
          <a:xfrm>
            <a:off x="411480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[1] → 10</a:t>
            </a:r>
            <a:endParaRPr sz="900"/>
          </a:p>
        </p:txBody>
      </p:sp>
      <p:sp>
        <p:nvSpPr>
          <p:cNvPr descr="Step 2 badge" id="518" name="Google Shape;518;p54"/>
          <p:cNvSpPr/>
          <p:nvPr/>
        </p:nvSpPr>
        <p:spPr>
          <a:xfrm>
            <a:off x="4684014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54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125"/>
          </a:p>
        </p:txBody>
      </p:sp>
      <p:sp>
        <p:nvSpPr>
          <p:cNvPr id="520" name="Google Shape;520;p54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Label Access</a:t>
            </a:r>
            <a:endParaRPr sz="1350"/>
          </a:p>
        </p:txBody>
      </p:sp>
      <p:sp>
        <p:nvSpPr>
          <p:cNvPr id="521" name="Google Shape;521;p54"/>
          <p:cNvSpPr txBox="1"/>
          <p:nvPr>
            <p:ph idx="14" type="body"/>
          </p:nvPr>
        </p:nvSpPr>
        <p:spPr>
          <a:xfrm>
            <a:off x="4684014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From s, get the element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labeled 'b' directly</a:t>
            </a:r>
            <a:endParaRPr sz="975"/>
          </a:p>
        </p:txBody>
      </p:sp>
      <p:sp>
        <p:nvSpPr>
          <p:cNvPr id="522" name="Google Shape;522;p54"/>
          <p:cNvSpPr/>
          <p:nvPr/>
        </p:nvSpPr>
        <p:spPr>
          <a:xfrm>
            <a:off x="4684014" y="1988820"/>
            <a:ext cx="4046100" cy="150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54"/>
          <p:cNvSpPr txBox="1"/>
          <p:nvPr>
            <p:ph idx="16" type="body"/>
          </p:nvPr>
        </p:nvSpPr>
        <p:spPr>
          <a:xfrm>
            <a:off x="4855464" y="2160270"/>
            <a:ext cx="3703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Series([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 index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'a'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'b'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'c'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1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(s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___[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'b'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hint: the label-based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accessor, not position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120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95907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4" name="Google Shape;524;p54"/>
          <p:cNvSpPr txBox="1"/>
          <p:nvPr>
            <p:ph idx="17" type="body"/>
          </p:nvPr>
        </p:nvSpPr>
        <p:spPr>
          <a:xfrm>
            <a:off x="4684014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100000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id="525" name="Google Shape;525;p54"/>
          <p:cNvSpPr txBox="1"/>
          <p:nvPr>
            <p:ph idx="18" type="body"/>
          </p:nvPr>
        </p:nvSpPr>
        <p:spPr>
          <a:xfrm>
            <a:off x="4684014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[1] → 20</a:t>
            </a:r>
            <a:endParaRPr sz="9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5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Slicing Two Ways</a:t>
            </a:r>
            <a:endParaRPr sz="2100"/>
          </a:p>
        </p:txBody>
      </p:sp>
      <p:sp>
        <p:nvSpPr>
          <p:cNvPr descr="Step 3 badge" id="532" name="Google Shape;532;p55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55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125"/>
          </a:p>
        </p:txBody>
      </p:sp>
      <p:sp>
        <p:nvSpPr>
          <p:cNvPr id="534" name="Google Shape;534;p55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Position Slice</a:t>
            </a:r>
            <a:endParaRPr sz="1350"/>
          </a:p>
        </p:txBody>
      </p:sp>
      <p:sp>
        <p:nvSpPr>
          <p:cNvPr id="535" name="Google Shape;535;p55"/>
          <p:cNvSpPr txBox="1"/>
          <p:nvPr>
            <p:ph idx="4" type="body"/>
          </p:nvPr>
        </p:nvSpPr>
        <p:spPr>
          <a:xfrm>
            <a:off x="411480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Slice the first two elements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by position (stop excluded)</a:t>
            </a:r>
            <a:endParaRPr sz="975"/>
          </a:p>
        </p:txBody>
      </p:sp>
      <p:sp>
        <p:nvSpPr>
          <p:cNvPr id="536" name="Google Shape;536;p55"/>
          <p:cNvSpPr/>
          <p:nvPr/>
        </p:nvSpPr>
        <p:spPr>
          <a:xfrm>
            <a:off x="411480" y="1988820"/>
            <a:ext cx="4046100" cy="150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55"/>
          <p:cNvSpPr txBox="1"/>
          <p:nvPr>
            <p:ph idx="6" type="body"/>
          </p:nvPr>
        </p:nvSpPr>
        <p:spPr>
          <a:xfrm>
            <a:off x="582930" y="2160270"/>
            <a:ext cx="3703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Series([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 index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'a'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'b'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'c'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1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(s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iloc[___])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hint: a normal Python slice -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the stop index is excluded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120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95907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8" name="Google Shape;538;p55"/>
          <p:cNvSpPr txBox="1"/>
          <p:nvPr>
            <p:ph idx="7" type="body"/>
          </p:nvPr>
        </p:nvSpPr>
        <p:spPr>
          <a:xfrm>
            <a:off x="411480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100000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id="539" name="Google Shape;539;p55"/>
          <p:cNvSpPr txBox="1"/>
          <p:nvPr>
            <p:ph idx="8" type="body"/>
          </p:nvPr>
        </p:nvSpPr>
        <p:spPr>
          <a:xfrm>
            <a:off x="411480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[1] → a    10</a:t>
            </a:r>
            <a:endParaRPr sz="900"/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     b    20</a:t>
            </a:r>
            <a:endParaRPr sz="900"/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120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     dtype: int64</a:t>
            </a:r>
            <a:endParaRPr sz="900"/>
          </a:p>
        </p:txBody>
      </p:sp>
      <p:sp>
        <p:nvSpPr>
          <p:cNvPr descr="Step 4 badge" id="540" name="Google Shape;540;p55"/>
          <p:cNvSpPr/>
          <p:nvPr/>
        </p:nvSpPr>
        <p:spPr>
          <a:xfrm>
            <a:off x="4684014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55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sz="1125"/>
          </a:p>
        </p:txBody>
      </p:sp>
      <p:sp>
        <p:nvSpPr>
          <p:cNvPr id="542" name="Google Shape;542;p55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Label Slice</a:t>
            </a:r>
            <a:endParaRPr sz="1350"/>
          </a:p>
        </p:txBody>
      </p:sp>
      <p:sp>
        <p:nvSpPr>
          <p:cNvPr id="543" name="Google Shape;543;p55"/>
          <p:cNvSpPr txBox="1"/>
          <p:nvPr>
            <p:ph idx="14" type="body"/>
          </p:nvPr>
        </p:nvSpPr>
        <p:spPr>
          <a:xfrm>
            <a:off x="4684014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Slice from label 'a' through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label 'b' -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inclusive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of 'b'</a:t>
            </a:r>
            <a:endParaRPr sz="975"/>
          </a:p>
        </p:txBody>
      </p:sp>
      <p:sp>
        <p:nvSpPr>
          <p:cNvPr id="544" name="Google Shape;544;p55"/>
          <p:cNvSpPr/>
          <p:nvPr/>
        </p:nvSpPr>
        <p:spPr>
          <a:xfrm>
            <a:off x="4684014" y="1988820"/>
            <a:ext cx="4046100" cy="150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55"/>
          <p:cNvSpPr txBox="1"/>
          <p:nvPr>
            <p:ph idx="16" type="body"/>
          </p:nvPr>
        </p:nvSpPr>
        <p:spPr>
          <a:xfrm>
            <a:off x="4855464" y="2160270"/>
            <a:ext cx="3703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Series([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 index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'a'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'b'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'c'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1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(s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loc[___])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hint: with .loc, the end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label IS included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120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95907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6" name="Google Shape;546;p55"/>
          <p:cNvSpPr txBox="1"/>
          <p:nvPr>
            <p:ph idx="17" type="body"/>
          </p:nvPr>
        </p:nvSpPr>
        <p:spPr>
          <a:xfrm>
            <a:off x="4684014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100000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id="547" name="Google Shape;547;p55"/>
          <p:cNvSpPr txBox="1"/>
          <p:nvPr>
            <p:ph idx="18" type="body"/>
          </p:nvPr>
        </p:nvSpPr>
        <p:spPr>
          <a:xfrm>
            <a:off x="4684014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[1] → a    10</a:t>
            </a:r>
            <a:endParaRPr sz="900"/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     b    20</a:t>
            </a:r>
            <a:endParaRPr sz="900"/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120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     dtype: int64</a:t>
            </a:r>
            <a:endParaRPr sz="9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56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Ambiguous Numeric Index</a:t>
            </a:r>
            <a:endParaRPr sz="2100"/>
          </a:p>
        </p:txBody>
      </p:sp>
      <p:sp>
        <p:nvSpPr>
          <p:cNvPr descr="Step 5 badge" id="554" name="Google Shape;554;p56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56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1125"/>
          </a:p>
        </p:txBody>
      </p:sp>
      <p:sp>
        <p:nvSpPr>
          <p:cNvPr id="556" name="Google Shape;556;p56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Numeric Index Caution</a:t>
            </a:r>
            <a:endParaRPr sz="1350"/>
          </a:p>
        </p:txBody>
      </p:sp>
      <p:sp>
        <p:nvSpPr>
          <p:cNvPr id="557" name="Google Shape;557;p56"/>
          <p:cNvSpPr txBox="1"/>
          <p:nvPr>
            <p:ph idx="4" type="body"/>
          </p:nvPr>
        </p:nvSpPr>
        <p:spPr>
          <a:xfrm>
            <a:off x="411480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s2 has a numeric index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[100,101,102] - get position 0 safely</a:t>
            </a:r>
            <a:endParaRPr sz="975"/>
          </a:p>
        </p:txBody>
      </p:sp>
      <p:sp>
        <p:nvSpPr>
          <p:cNvPr id="558" name="Google Shape;558;p56"/>
          <p:cNvSpPr/>
          <p:nvPr/>
        </p:nvSpPr>
        <p:spPr>
          <a:xfrm>
            <a:off x="411480" y="1988820"/>
            <a:ext cx="4046100" cy="150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56"/>
          <p:cNvSpPr txBox="1"/>
          <p:nvPr>
            <p:ph idx="6" type="body"/>
          </p:nvPr>
        </p:nvSpPr>
        <p:spPr>
          <a:xfrm>
            <a:off x="582930" y="2160270"/>
            <a:ext cx="3703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s2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Series([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 index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1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(s2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___[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hint: with numeric labels, a plain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s2[0] would be ambiguous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120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95907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0" name="Google Shape;560;p56"/>
          <p:cNvSpPr txBox="1"/>
          <p:nvPr>
            <p:ph idx="7" type="body"/>
          </p:nvPr>
        </p:nvSpPr>
        <p:spPr>
          <a:xfrm>
            <a:off x="411480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100000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id="561" name="Google Shape;561;p56"/>
          <p:cNvSpPr txBox="1"/>
          <p:nvPr>
            <p:ph idx="8" type="body"/>
          </p:nvPr>
        </p:nvSpPr>
        <p:spPr>
          <a:xfrm>
            <a:off x="411480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[1] → 7</a:t>
            </a:r>
            <a:endParaRPr sz="9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7"/>
          <p:cNvSpPr txBox="1"/>
          <p:nvPr>
            <p:ph type="title"/>
          </p:nvPr>
        </p:nvSpPr>
        <p:spPr>
          <a:xfrm>
            <a:off x="617220" y="1988820"/>
            <a:ext cx="75438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</a:pPr>
            <a:r>
              <a:rPr b="1"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Aggregation</a:t>
            </a:r>
            <a:endParaRPr sz="3000"/>
          </a:p>
        </p:txBody>
      </p:sp>
      <p:sp>
        <p:nvSpPr>
          <p:cNvPr id="567" name="Google Shape;567;p57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EC5F82"/>
              </a:buClr>
              <a:buSzPts val="1050"/>
              <a:buNone/>
            </a:pPr>
            <a:r>
              <a:rPr b="1" lang="en" sz="105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SECTION 5 OF 8 · SUMMARY STATISTICS</a:t>
            </a:r>
            <a:endParaRPr sz="1050"/>
          </a:p>
        </p:txBody>
      </p:sp>
      <p:sp>
        <p:nvSpPr>
          <p:cNvPr id="568" name="Google Shape;568;p57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6DAF2"/>
              </a:buClr>
              <a:buSzPts val="1125"/>
              <a:buNone/>
            </a:pPr>
            <a:r>
              <a:rPr lang="en" sz="1125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rPr>
              <a:t>The same aggregate can be called as a Series method or as a NumPy function.</a:t>
            </a:r>
            <a:endParaRPr sz="1125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8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Basic Aggregates</a:t>
            </a:r>
            <a:endParaRPr sz="2100"/>
          </a:p>
        </p:txBody>
      </p:sp>
      <p:sp>
        <p:nvSpPr>
          <p:cNvPr descr="Step 1 badge" id="574" name="Google Shape;574;p58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58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125"/>
          </a:p>
        </p:txBody>
      </p:sp>
      <p:sp>
        <p:nvSpPr>
          <p:cNvPr id="576" name="Google Shape;576;p58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Sum</a:t>
            </a:r>
            <a:endParaRPr sz="1350"/>
          </a:p>
        </p:txBody>
      </p:sp>
      <p:sp>
        <p:nvSpPr>
          <p:cNvPr id="577" name="Google Shape;577;p58"/>
          <p:cNvSpPr txBox="1"/>
          <p:nvPr>
            <p:ph idx="4" type="body"/>
          </p:nvPr>
        </p:nvSpPr>
        <p:spPr>
          <a:xfrm>
            <a:off x="411480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Add up every value in s</a:t>
            </a:r>
            <a:endParaRPr sz="975"/>
          </a:p>
        </p:txBody>
      </p:sp>
      <p:sp>
        <p:nvSpPr>
          <p:cNvPr id="578" name="Google Shape;578;p58"/>
          <p:cNvSpPr/>
          <p:nvPr/>
        </p:nvSpPr>
        <p:spPr>
          <a:xfrm>
            <a:off x="411480" y="1988820"/>
            <a:ext cx="4046100" cy="150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58"/>
          <p:cNvSpPr txBox="1"/>
          <p:nvPr>
            <p:ph idx="6" type="body"/>
          </p:nvPr>
        </p:nvSpPr>
        <p:spPr>
          <a:xfrm>
            <a:off x="582930" y="2160270"/>
            <a:ext cx="3703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Series([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40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1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(s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___())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hint: the total of all values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120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95907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0" name="Google Shape;580;p58"/>
          <p:cNvSpPr txBox="1"/>
          <p:nvPr>
            <p:ph idx="7" type="body"/>
          </p:nvPr>
        </p:nvSpPr>
        <p:spPr>
          <a:xfrm>
            <a:off x="411480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100000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id="581" name="Google Shape;581;p58"/>
          <p:cNvSpPr txBox="1"/>
          <p:nvPr>
            <p:ph idx="8" type="body"/>
          </p:nvPr>
        </p:nvSpPr>
        <p:spPr>
          <a:xfrm>
            <a:off x="411480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[1] → 100</a:t>
            </a:r>
            <a:endParaRPr sz="900"/>
          </a:p>
        </p:txBody>
      </p:sp>
      <p:sp>
        <p:nvSpPr>
          <p:cNvPr descr="Step 2 badge" id="582" name="Google Shape;582;p58"/>
          <p:cNvSpPr/>
          <p:nvPr/>
        </p:nvSpPr>
        <p:spPr>
          <a:xfrm>
            <a:off x="4684014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58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125"/>
          </a:p>
        </p:txBody>
      </p:sp>
      <p:sp>
        <p:nvSpPr>
          <p:cNvPr id="584" name="Google Shape;584;p58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Count</a:t>
            </a:r>
            <a:endParaRPr sz="1350"/>
          </a:p>
        </p:txBody>
      </p:sp>
      <p:sp>
        <p:nvSpPr>
          <p:cNvPr id="585" name="Google Shape;585;p58"/>
          <p:cNvSpPr txBox="1"/>
          <p:nvPr>
            <p:ph idx="14" type="body"/>
          </p:nvPr>
        </p:nvSpPr>
        <p:spPr>
          <a:xfrm>
            <a:off x="4684014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Count how many values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are in s</a:t>
            </a:r>
            <a:endParaRPr sz="975"/>
          </a:p>
        </p:txBody>
      </p:sp>
      <p:sp>
        <p:nvSpPr>
          <p:cNvPr id="586" name="Google Shape;586;p58"/>
          <p:cNvSpPr/>
          <p:nvPr/>
        </p:nvSpPr>
        <p:spPr>
          <a:xfrm>
            <a:off x="4684014" y="1988820"/>
            <a:ext cx="4046100" cy="150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58"/>
          <p:cNvSpPr txBox="1"/>
          <p:nvPr>
            <p:ph idx="16" type="body"/>
          </p:nvPr>
        </p:nvSpPr>
        <p:spPr>
          <a:xfrm>
            <a:off x="4855464" y="2160270"/>
            <a:ext cx="3703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Series([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40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1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(s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___())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hint: how many entries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the Series holds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120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95907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8" name="Google Shape;588;p58"/>
          <p:cNvSpPr txBox="1"/>
          <p:nvPr>
            <p:ph idx="17" type="body"/>
          </p:nvPr>
        </p:nvSpPr>
        <p:spPr>
          <a:xfrm>
            <a:off x="4684014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100000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id="589" name="Google Shape;589;p58"/>
          <p:cNvSpPr txBox="1"/>
          <p:nvPr>
            <p:ph idx="18" type="body"/>
          </p:nvPr>
        </p:nvSpPr>
        <p:spPr>
          <a:xfrm>
            <a:off x="4684014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[1] → 4</a:t>
            </a:r>
            <a:endParaRPr sz="9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59"/>
          <p:cNvSpPr txBox="1"/>
          <p:nvPr>
            <p:ph type="title"/>
          </p:nvPr>
        </p:nvSpPr>
        <p:spPr>
          <a:xfrm>
            <a:off x="617220" y="1988820"/>
            <a:ext cx="75438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</a:pPr>
            <a:r>
              <a:rPr b="1"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Add vs Concat</a:t>
            </a:r>
            <a:endParaRPr sz="3000"/>
          </a:p>
        </p:txBody>
      </p:sp>
      <p:sp>
        <p:nvSpPr>
          <p:cNvPr id="595" name="Google Shape;595;p59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EC5F82"/>
              </a:buClr>
              <a:buSzPts val="1050"/>
              <a:buNone/>
            </a:pPr>
            <a:r>
              <a:rPr b="1" lang="en" sz="105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SECTION 7 OF 8 · ALIGNING VS STACKING</a:t>
            </a:r>
            <a:endParaRPr sz="1050"/>
          </a:p>
        </p:txBody>
      </p:sp>
      <p:sp>
        <p:nvSpPr>
          <p:cNvPr id="596" name="Google Shape;596;p59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6DAF2"/>
              </a:buClr>
              <a:buSzPts val="1125"/>
              <a:buNone/>
            </a:pPr>
            <a:r>
              <a:rPr lang="en" sz="1125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rPr>
              <a:t>One aligns on the index and does math; the other just stacks values together.</a:t>
            </a:r>
            <a:endParaRPr sz="1125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0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Combining Two Series</a:t>
            </a:r>
            <a:endParaRPr sz="2100"/>
          </a:p>
        </p:txBody>
      </p:sp>
      <p:sp>
        <p:nvSpPr>
          <p:cNvPr descr="Step 1 badge" id="603" name="Google Shape;603;p60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60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125"/>
          </a:p>
        </p:txBody>
      </p:sp>
      <p:sp>
        <p:nvSpPr>
          <p:cNvPr id="605" name="Google Shape;605;p60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Index Alignment</a:t>
            </a:r>
            <a:endParaRPr sz="1350"/>
          </a:p>
        </p:txBody>
      </p:sp>
      <p:sp>
        <p:nvSpPr>
          <p:cNvPr id="606" name="Google Shape;606;p60"/>
          <p:cNvSpPr txBox="1"/>
          <p:nvPr>
            <p:ph idx="4" type="body"/>
          </p:nvPr>
        </p:nvSpPr>
        <p:spPr>
          <a:xfrm>
            <a:off x="411480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Add two Series whose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indexes don't fully match</a:t>
            </a:r>
            <a:endParaRPr sz="975"/>
          </a:p>
        </p:txBody>
      </p:sp>
      <p:sp>
        <p:nvSpPr>
          <p:cNvPr id="607" name="Google Shape;607;p60"/>
          <p:cNvSpPr/>
          <p:nvPr/>
        </p:nvSpPr>
        <p:spPr>
          <a:xfrm>
            <a:off x="411480" y="1988820"/>
            <a:ext cx="4046100" cy="150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60"/>
          <p:cNvSpPr txBox="1"/>
          <p:nvPr>
            <p:ph idx="6" type="body"/>
          </p:nvPr>
        </p:nvSpPr>
        <p:spPr>
          <a:xfrm>
            <a:off x="582930" y="2160270"/>
            <a:ext cx="3703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a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Series([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 index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'x'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'y'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'z'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b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Series([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 index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'x'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'w'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1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(a ___ b)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hint: unmatched labels become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NaN, not an error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120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95907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9" name="Google Shape;609;p60"/>
          <p:cNvSpPr txBox="1"/>
          <p:nvPr>
            <p:ph idx="7" type="body"/>
          </p:nvPr>
        </p:nvSpPr>
        <p:spPr>
          <a:xfrm>
            <a:off x="411480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100000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id="610" name="Google Shape;610;p60"/>
          <p:cNvSpPr txBox="1"/>
          <p:nvPr>
            <p:ph idx="8" type="body"/>
          </p:nvPr>
        </p:nvSpPr>
        <p:spPr>
          <a:xfrm>
            <a:off x="411480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[1] → w     NaN</a:t>
            </a:r>
            <a:endParaRPr sz="900"/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     x    11.0</a:t>
            </a:r>
            <a:endParaRPr sz="900"/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     y     NaN</a:t>
            </a:r>
            <a:endParaRPr sz="900"/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     z     NaN</a:t>
            </a:r>
            <a:endParaRPr sz="900"/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120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     dtype: float64</a:t>
            </a:r>
            <a:endParaRPr sz="900"/>
          </a:p>
        </p:txBody>
      </p:sp>
      <p:sp>
        <p:nvSpPr>
          <p:cNvPr descr="Step 2 badge" id="611" name="Google Shape;611;p60"/>
          <p:cNvSpPr/>
          <p:nvPr/>
        </p:nvSpPr>
        <p:spPr>
          <a:xfrm>
            <a:off x="4684014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60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125"/>
          </a:p>
        </p:txBody>
      </p:sp>
      <p:sp>
        <p:nvSpPr>
          <p:cNvPr id="613" name="Google Shape;613;p60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Stack &amp; Keep All</a:t>
            </a:r>
            <a:endParaRPr sz="1350"/>
          </a:p>
        </p:txBody>
      </p:sp>
      <p:sp>
        <p:nvSpPr>
          <p:cNvPr id="614" name="Google Shape;614;p60"/>
          <p:cNvSpPr txBox="1"/>
          <p:nvPr>
            <p:ph idx="14" type="body"/>
          </p:nvPr>
        </p:nvSpPr>
        <p:spPr>
          <a:xfrm>
            <a:off x="4684014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Combine a and b by stacking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them, keeping every label</a:t>
            </a:r>
            <a:endParaRPr sz="975"/>
          </a:p>
        </p:txBody>
      </p:sp>
      <p:sp>
        <p:nvSpPr>
          <p:cNvPr id="615" name="Google Shape;615;p60"/>
          <p:cNvSpPr/>
          <p:nvPr/>
        </p:nvSpPr>
        <p:spPr>
          <a:xfrm>
            <a:off x="4684014" y="1988820"/>
            <a:ext cx="4046100" cy="150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60"/>
          <p:cNvSpPr txBox="1"/>
          <p:nvPr>
            <p:ph idx="16" type="body"/>
          </p:nvPr>
        </p:nvSpPr>
        <p:spPr>
          <a:xfrm>
            <a:off x="4855464" y="2160270"/>
            <a:ext cx="3703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a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Series([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 index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'x'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'y'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'z'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b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Series([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 index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'x'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'w'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1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___([a, b]))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hint: takes a list of Series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and stacks them together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120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95907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7" name="Google Shape;617;p60"/>
          <p:cNvSpPr txBox="1"/>
          <p:nvPr>
            <p:ph idx="17" type="body"/>
          </p:nvPr>
        </p:nvSpPr>
        <p:spPr>
          <a:xfrm>
            <a:off x="4684014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100000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id="618" name="Google Shape;618;p60"/>
          <p:cNvSpPr txBox="1"/>
          <p:nvPr>
            <p:ph idx="18" type="body"/>
          </p:nvPr>
        </p:nvSpPr>
        <p:spPr>
          <a:xfrm>
            <a:off x="4684014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ct val="1000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[1] → x     1</a:t>
            </a:r>
            <a:endParaRPr sz="900"/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ct val="1000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     y     2</a:t>
            </a:r>
            <a:endParaRPr sz="900"/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ct val="1000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     z     3</a:t>
            </a:r>
            <a:endParaRPr sz="900"/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ct val="1000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     x    10</a:t>
            </a:r>
            <a:endParaRPr sz="900"/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ct val="1000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     w    20</a:t>
            </a:r>
            <a:endParaRPr sz="900"/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1200"/>
              </a:spcAft>
              <a:buClr>
                <a:srgbClr val="222540"/>
              </a:buClr>
              <a:buSzPct val="1000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     dtype: int64</a:t>
            </a:r>
            <a:endParaRPr sz="9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61"/>
          <p:cNvSpPr txBox="1"/>
          <p:nvPr>
            <p:ph type="title"/>
          </p:nvPr>
        </p:nvSpPr>
        <p:spPr>
          <a:xfrm>
            <a:off x="617220" y="1988820"/>
            <a:ext cx="75438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</a:pPr>
            <a:r>
              <a:rPr b="1"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Duplicate Indexes</a:t>
            </a:r>
            <a:endParaRPr sz="3000"/>
          </a:p>
        </p:txBody>
      </p:sp>
      <p:sp>
        <p:nvSpPr>
          <p:cNvPr id="624" name="Google Shape;624;p61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EC5F82"/>
              </a:buClr>
              <a:buSzPts val="1050"/>
              <a:buNone/>
            </a:pPr>
            <a:r>
              <a:rPr b="1" lang="en" sz="105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SECTION 8 OF 8 · NOT ALWAYS UNIQUE</a:t>
            </a:r>
            <a:endParaRPr sz="1050"/>
          </a:p>
        </p:txBody>
      </p:sp>
      <p:sp>
        <p:nvSpPr>
          <p:cNvPr id="625" name="Google Shape;625;p61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6DAF2"/>
              </a:buClr>
              <a:buSzPts val="1125"/>
              <a:buNone/>
            </a:pPr>
            <a:r>
              <a:rPr lang="en" sz="1125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rPr>
              <a:t>Pandas allows repeated labels - accessing one can return several values.</a:t>
            </a:r>
            <a:endParaRPr sz="1125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62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Duplicate Labels</a:t>
            </a:r>
            <a:endParaRPr sz="2100"/>
          </a:p>
        </p:txBody>
      </p:sp>
      <p:sp>
        <p:nvSpPr>
          <p:cNvPr descr="Step 1 badge" id="632" name="Google Shape;632;p62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62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125"/>
          </a:p>
        </p:txBody>
      </p:sp>
      <p:sp>
        <p:nvSpPr>
          <p:cNvPr id="634" name="Google Shape;634;p62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Duplicate Labels</a:t>
            </a:r>
            <a:endParaRPr sz="1350"/>
          </a:p>
        </p:txBody>
      </p:sp>
      <p:sp>
        <p:nvSpPr>
          <p:cNvPr id="635" name="Google Shape;635;p62"/>
          <p:cNvSpPr txBox="1"/>
          <p:nvPr>
            <p:ph idx="4" type="body"/>
          </p:nvPr>
        </p:nvSpPr>
        <p:spPr>
          <a:xfrm>
            <a:off x="411480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Create a Series where the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label 'a' appears twice</a:t>
            </a:r>
            <a:endParaRPr sz="975"/>
          </a:p>
        </p:txBody>
      </p:sp>
      <p:sp>
        <p:nvSpPr>
          <p:cNvPr id="636" name="Google Shape;636;p62"/>
          <p:cNvSpPr/>
          <p:nvPr/>
        </p:nvSpPr>
        <p:spPr>
          <a:xfrm>
            <a:off x="411480" y="1988820"/>
            <a:ext cx="4046100" cy="150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62"/>
          <p:cNvSpPr txBox="1"/>
          <p:nvPr>
            <p:ph idx="6" type="body"/>
          </p:nvPr>
        </p:nvSpPr>
        <p:spPr>
          <a:xfrm>
            <a:off x="582930" y="2160270"/>
            <a:ext cx="3703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___([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 index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'a'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'a'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'b'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1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(s)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hint: same class used to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create any Series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120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95907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38" name="Google Shape;638;p62"/>
          <p:cNvSpPr txBox="1"/>
          <p:nvPr>
            <p:ph idx="7" type="body"/>
          </p:nvPr>
        </p:nvSpPr>
        <p:spPr>
          <a:xfrm>
            <a:off x="411480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100000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id="639" name="Google Shape;639;p62"/>
          <p:cNvSpPr txBox="1"/>
          <p:nvPr>
            <p:ph idx="8" type="body"/>
          </p:nvPr>
        </p:nvSpPr>
        <p:spPr>
          <a:xfrm>
            <a:off x="411480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[1] → a    1</a:t>
            </a:r>
            <a:endParaRPr sz="900"/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     a    2</a:t>
            </a:r>
            <a:endParaRPr sz="900"/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     b    3</a:t>
            </a:r>
            <a:endParaRPr sz="900"/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120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     dtype: int64</a:t>
            </a:r>
            <a:endParaRPr sz="900"/>
          </a:p>
        </p:txBody>
      </p:sp>
      <p:sp>
        <p:nvSpPr>
          <p:cNvPr descr="Step 2 badge" id="640" name="Google Shape;640;p62"/>
          <p:cNvSpPr/>
          <p:nvPr/>
        </p:nvSpPr>
        <p:spPr>
          <a:xfrm>
            <a:off x="4684014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62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125"/>
          </a:p>
        </p:txBody>
      </p:sp>
      <p:sp>
        <p:nvSpPr>
          <p:cNvPr id="642" name="Google Shape;642;p62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Access a Duplicate</a:t>
            </a:r>
            <a:endParaRPr sz="1350"/>
          </a:p>
        </p:txBody>
      </p:sp>
      <p:sp>
        <p:nvSpPr>
          <p:cNvPr id="643" name="Google Shape;643;p62"/>
          <p:cNvSpPr txBox="1"/>
          <p:nvPr>
            <p:ph idx="14" type="body"/>
          </p:nvPr>
        </p:nvSpPr>
        <p:spPr>
          <a:xfrm>
            <a:off x="4684014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Access the values labeled 'a' -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notice you get back more than one</a:t>
            </a:r>
            <a:endParaRPr sz="975"/>
          </a:p>
        </p:txBody>
      </p:sp>
      <p:sp>
        <p:nvSpPr>
          <p:cNvPr id="644" name="Google Shape;644;p62"/>
          <p:cNvSpPr/>
          <p:nvPr/>
        </p:nvSpPr>
        <p:spPr>
          <a:xfrm>
            <a:off x="4684014" y="1988820"/>
            <a:ext cx="4046100" cy="150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62"/>
          <p:cNvSpPr txBox="1"/>
          <p:nvPr>
            <p:ph idx="16" type="body"/>
          </p:nvPr>
        </p:nvSpPr>
        <p:spPr>
          <a:xfrm>
            <a:off x="4855464" y="2160270"/>
            <a:ext cx="3703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1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(s[___])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hint: the same single-label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access as always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120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95907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6" name="Google Shape;646;p62"/>
          <p:cNvSpPr txBox="1"/>
          <p:nvPr>
            <p:ph idx="17" type="body"/>
          </p:nvPr>
        </p:nvSpPr>
        <p:spPr>
          <a:xfrm>
            <a:off x="4684014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100000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id="647" name="Google Shape;647;p62"/>
          <p:cNvSpPr txBox="1"/>
          <p:nvPr>
            <p:ph idx="18" type="body"/>
          </p:nvPr>
        </p:nvSpPr>
        <p:spPr>
          <a:xfrm>
            <a:off x="4684014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[1] → a    1</a:t>
            </a:r>
            <a:endParaRPr sz="900"/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     a    2</a:t>
            </a:r>
            <a:endParaRPr sz="900"/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120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     dtype: int64</a:t>
            </a:r>
            <a:endParaRPr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