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embeddedFontLst>
    <p:embeddedFont>
      <p:font typeface="Roboto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Roboto-regular.fnt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oboto-italic.fntdata"/><Relationship Id="rId14" Type="http://schemas.openxmlformats.org/officeDocument/2006/relationships/slide" Target="slides/slide8.xml"/><Relationship Id="rId58" Type="http://schemas.openxmlformats.org/officeDocument/2006/relationships/font" Target="fonts/Robot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b2e560f76_1_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b2e560f76_1_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e207a3b012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e207a3b01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b2e560f76_1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fb2e560f76_1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b2e560f76_1_71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fb2e560f76_1_71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= pd.read_csv("car_sales.csv")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data.head()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loans = pd.read_csv("loans.csv")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loans[["loan_amnt", "term", "int_rate",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"grade", "issue_d", "age"]].head()</a:t>
            </a:r>
            <a:endParaRPr/>
          </a:p>
        </p:txBody>
      </p:sp>
      <p:sp>
        <p:nvSpPr>
          <p:cNvPr id="432" name="Google Shape;432;g3fb2e560f76_1_71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b2e560f76_1_72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3fb2e560f76_1_72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matplotlib.pyplot as plt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seaborn as sns</a:t>
            </a:r>
            <a:endParaRPr/>
          </a:p>
        </p:txBody>
      </p:sp>
      <p:sp>
        <p:nvSpPr>
          <p:cNvPr id="444" name="Google Shape;444;g3fb2e560f76_1_72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b2e560f76_1_125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fb2e560f76_1_125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b2e560f76_1_1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fb2e560f76_1_1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h50031110dfc43c6f_0_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h50031110dfc43c6f_0_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data.head()</a:t>
            </a:r>
            <a:endParaRPr/>
          </a:p>
        </p:txBody>
      </p:sp>
      <p:sp>
        <p:nvSpPr>
          <p:cNvPr id="466" name="Google Shape;466;h50031110dfc43c6f_0_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h50031110dfc43c6f_0_1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h50031110dfc43c6f_0_1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data.head()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= data[["Make", "Price"]].groupby("Make").sum()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/>
          </a:p>
        </p:txBody>
      </p:sp>
      <p:sp>
        <p:nvSpPr>
          <p:cNvPr id="477" name="Google Shape;477;h50031110dfc43c6f_0_1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b2e560f76_1_99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g3fb2e560f76_1_99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fig, ax = plt.subplots()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ax.bar(total.index, total["Price"])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489" name="Google Shape;489;g3fb2e560f76_1_99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b2e560f76_1_100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fb2e560f76_1_100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fig, ax = plt.subplots()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ax.bar(total.index, total["Price"],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color=["tab:blue", "tab:orange",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"tab:green", "tab:red"])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ax.set_title("Total Car Sales by Car Maker")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500" name="Google Shape;500;g3fb2e560f76_1_100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b2e560f76_1_1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fb2e560f76_1_1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h50031110dfc43c6f_0_154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h50031110dfc43c6f_0_154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data[["Make", "Colour", "Price"]].head(3)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sns.countplot(data=data, x="Make")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517" name="Google Shape;517;h50031110dfc43c6f_0_154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h50031110dfc43c6f_0_155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h50031110dfc43c6f_0_155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data[["Make", "Colour", "Price"]].head(3)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sns.barplot(data=data, x="Make", y="Price",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estimator="sum", errorbar=None)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528" name="Google Shape;528;h50031110dfc43c6f_0_155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b2e560f76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fb2e560f76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50031110dfc43c6f_0_209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h50031110dfc43c6f_0_209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/>
          </a:p>
        </p:txBody>
      </p:sp>
      <p:sp>
        <p:nvSpPr>
          <p:cNvPr id="546" name="Google Shape;546;h50031110dfc43c6f_0_209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h50031110dfc43c6f_0_210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h50031110dfc43c6f_0_210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= total["Price"] / total["Price"].sum() * 100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share.round(2).to_frame("Share (%)")</a:t>
            </a:r>
            <a:endParaRPr/>
          </a:p>
        </p:txBody>
      </p:sp>
      <p:sp>
        <p:nvSpPr>
          <p:cNvPr id="557" name="Google Shape;557;h50031110dfc43c6f_0_210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h50031110dfc43c6f_0_211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h50031110dfc43c6f_0_211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fig, ax = plt.subplots()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ax.pie(total["Price"], labels=total.index,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autopct="%.2f%%")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569" name="Google Shape;569;h50031110dfc43c6f_0_211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h50031110dfc43c6f_0_212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h50031110dfc43c6f_0_212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fig, ax = plt.subplots()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ax.pie(total["Price"], labels=total.index,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autopct="%.2f%%", shadow=True,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startangle=90,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colors=["salmon", "skyblue",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"lightgreen", "tab:orange"])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580" name="Google Shape;580;h50031110dfc43c6f_0_212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e207a3b012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e207a3b012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h50031110dfc43c6f_0_213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h50031110dfc43c6f_0_213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explodes = [0, 0, 0, 0.1]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fig, ax = plt.subplots()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ax.pie(total["Price"], labels=total.index,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explode=explodes,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hatch=["**O", "oO", "O.O", ".||."])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601" name="Google Shape;601;h50031110dfc43c6f_0_213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h50031110dfc43c6f_0_239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h50031110dfc43c6f_0_239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h50031110dfc43c6f_0_263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h50031110dfc43c6f_0_263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data[["Make", "Price"]].head()</a:t>
            </a:r>
            <a:endParaRPr/>
          </a:p>
        </p:txBody>
      </p:sp>
      <p:sp>
        <p:nvSpPr>
          <p:cNvPr id="619" name="Google Shape;619;h50031110dfc43c6f_0_263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h50031110dfc43c6f_0_3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h50031110dfc43c6f_0_3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h50031110dfc43c6f_0_289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h50031110dfc43c6f_0_289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data[["Make", "Price"]].head()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stats = data["Price"].describe()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stats[["count", "min", "50%", "max"]]</a:t>
            </a:r>
            <a:endParaRPr/>
          </a:p>
        </p:txBody>
      </p:sp>
      <p:sp>
        <p:nvSpPr>
          <p:cNvPr id="636" name="Google Shape;636;h50031110dfc43c6f_0_289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h50031110dfc43c6f_0_314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h50031110dfc43c6f_0_314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data[["Price"]].head(3)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plt.hist(data["Price"])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648" name="Google Shape;648;h50031110dfc43c6f_0_314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h50031110dfc43c6f_0_315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h50031110dfc43c6f_0_315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data[["Price"]].head(3)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plt.hist(data["Price"], bins=30)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plt.xlim(0, 40000)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plt.ylim(0, 120)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659" name="Google Shape;659;h50031110dfc43c6f_0_315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h50031110dfc43c6f_0_3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h50031110dfc43c6f_0_3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h50031110dfc43c6f_0_368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h50031110dfc43c6f_0_368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data[["Price"]].head(3)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sns.histplot(data=data, x="Price")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676" name="Google Shape;676;h50031110dfc43c6f_0_368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h50031110dfc43c6f_0_369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h50031110dfc43c6f_0_369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data[["Make", "Price"]].head(3)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sns.histplot(data=data, x="Price",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kde=True, hue="Make")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687" name="Google Shape;687;h50031110dfc43c6f_0_369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h50031110dfc43c6f_0_394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h50031110dfc43c6f_0_394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h50031110dfc43c6f_0_394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h50031110dfc43c6f_0_394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data[["Odometer (KM)", "Price"]].head()</a:t>
            </a:r>
            <a:endParaRPr/>
          </a:p>
        </p:txBody>
      </p:sp>
      <p:sp>
        <p:nvSpPr>
          <p:cNvPr id="705" name="Google Shape;705;h50031110dfc43c6f_0_394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50031110dfc43c6f_0_5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50031110dfc43c6f_0_5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h50031110dfc43c6f_0_420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h50031110dfc43c6f_0_420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df.head(3)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plt.scatter(df["Odometer (KM)"], df["Price"])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722" name="Google Shape;722;h50031110dfc43c6f_0_420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h50031110dfc43c6f_0_445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h50031110dfc43c6f_0_445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df.head(3)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make in df["Make"].dropna().unique():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 = df[df["Make"] == make]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plt.scatter(d["Odometer (KM)"], d["Price"],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label=make)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plt.legend()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733" name="Google Shape;733;h50031110dfc43c6f_0_445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2e207a3b012_1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2e207a3b012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h50031110dfc43c6f_0_5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h50031110dfc43c6f_0_5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h50031110dfc43c6f_0_495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h50031110dfc43c6f_0_495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df.head(3)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sns.scatterplot(data=df, x="Odometer (KM)",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y="Price", hue="Make")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759" name="Google Shape;759;h50031110dfc43c6f_0_495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h50031110dfc43c6f_0_522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h50031110dfc43c6f_0_522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h50031110dfc43c6f_0_522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h50031110dfc43c6f_0_522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loans[["issue_d", "term", "int_rate"]].head()</a:t>
            </a:r>
            <a:endParaRPr/>
          </a:p>
        </p:txBody>
      </p:sp>
      <p:sp>
        <p:nvSpPr>
          <p:cNvPr id="778" name="Google Shape;778;h50031110dfc43c6f_0_522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h50031110dfc43c6f_0_523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h50031110dfc43c6f_0_523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loans = pd.read_csv("loans.csv")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loans[["loan_amnt", "term", "int_rate",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"grade", "issue_d", "age"]].head()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loans["issue_d"] = pd.to_datetime(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loans["issue_d"], format="%b-%y")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monthly = loans.groupby("issue_d")["int_rate"]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monthly.head()</a:t>
            </a:r>
            <a:endParaRPr/>
          </a:p>
        </p:txBody>
      </p:sp>
      <p:sp>
        <p:nvSpPr>
          <p:cNvPr id="789" name="Google Shape;789;h50031110dfc43c6f_0_523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h50031110dfc43c6f_0_5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h50031110dfc43c6f_0_5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h50031110dfc43c6f_0_524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h50031110dfc43c6f_0_524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monthly.head(3)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plt.plot(monthly.index, monthly.values,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marker="o", color="green",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linestyle="--")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806" name="Google Shape;806;h50031110dfc43c6f_0_524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h50031110dfc43c6f_0_525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h50031110dfc43c6f_0_525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pd.DataFrame({"m36": m36.head(3),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"m60": m60.head(3)})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m36 = loans[loans["term"] == " 36 months"]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.groupby("issue_d")["int_rate"].mean()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m60 = loans[loans["term"] == " 60 months"]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.groupby("issue_d")["int_rate"].mean()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plt.plot(m36.index, m36.values, marker="o",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label="36 months")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plt.plot(m60.index, m60.values, marker="s",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label="60 months")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plt.legend()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817" name="Google Shape;817;h50031110dfc43c6f_0_525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h50031110dfc43c6f_0_5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h50031110dfc43c6f_0_5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h50031110dfc43c6f_0_526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h50031110dfc43c6f_0_526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loans[["issue_d", "term", "int_rate"]].head(3)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sns.lineplot(data=loans, x="issue_d",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y="int_rate", hue="term")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834" name="Google Shape;834;h50031110dfc43c6f_0_526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7304f799e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7304f799e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h50031110dfc43c6f_0_553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3" name="Google Shape;853;h50031110dfc43c6f_0_553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sns.set_theme(style="white")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fig, ax = plt.subplots(figsize=(8, 4))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ax.bar(total.index, total["Price"])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ax.set_title("Total Car Sales by Car Maker")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ax.set_xlabel("Car Maker")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ax.set_ylabel("Total Sales Price")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854" name="Google Shape;854;h50031110dfc43c6f_0_553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h50031110dfc43c6f_0_603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h50031110dfc43c6f_0_603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fig, ax = plt.subplots(2, 2, figsize=(10, 7))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ax[0, 0].bar(total.index, total["Price"])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ax[0, 1].pie(total["Price"], labels=total.index)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ax[1, 0].hist(data["Price"], bins=20)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ax[1, 1].scatter(df["Odometer (KM)"], df["Price"])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865" name="Google Shape;865;h50031110dfc43c6f_0_603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h50031110dfc43c6f_0_628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h50031110dfc43c6f_0_628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loans[["grade", "int_rate"]].head(3)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sns.set_theme(style="darkgrid",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palette="pastel")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sns.boxplot(data=loans, x="grade", y="int_rate",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order=sorted(loans["grade"].unique()))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/>
          </a:p>
        </p:txBody>
      </p:sp>
      <p:sp>
        <p:nvSpPr>
          <p:cNvPr id="875" name="Google Shape;875;h50031110dfc43c6f_0_628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11" name="Google Shape;11;p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37" name="Google Shape;37;p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" name="Google Shape;42;p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7"/>
          <p:cNvSpPr txBox="1"/>
          <p:nvPr>
            <p:ph idx="2"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47" name="Google Shape;47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8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" name="Google Shape;56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" name="Google Shape;64;p1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0"/>
          <p:cNvSpPr txBox="1"/>
          <p:nvPr>
            <p:ph idx="2" type="title"/>
          </p:nvPr>
        </p:nvSpPr>
        <p:spPr>
          <a:xfrm>
            <a:off x="4835400" y="12156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/>
          <p:cNvSpPr txBox="1"/>
          <p:nvPr>
            <p:ph type="title"/>
          </p:nvPr>
        </p:nvSpPr>
        <p:spPr>
          <a:xfrm>
            <a:off x="265500" y="366250"/>
            <a:ext cx="40452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1" name="Google Shape;71;p11"/>
          <p:cNvSpPr txBox="1"/>
          <p:nvPr>
            <p:ph idx="1" type="subTitle"/>
          </p:nvPr>
        </p:nvSpPr>
        <p:spPr>
          <a:xfrm>
            <a:off x="265500" y="1171399"/>
            <a:ext cx="4045200" cy="28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1"/>
          <p:cNvSpPr txBox="1"/>
          <p:nvPr>
            <p:ph idx="2" type="title"/>
          </p:nvPr>
        </p:nvSpPr>
        <p:spPr>
          <a:xfrm>
            <a:off x="4703725" y="362075"/>
            <a:ext cx="41769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sz="2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sz="2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sz="2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sz="2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sz="2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sz="2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sz="2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sz="2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b="1" sz="2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3" type="subTitle"/>
          </p:nvPr>
        </p:nvSpPr>
        <p:spPr>
          <a:xfrm>
            <a:off x="4835400" y="1185027"/>
            <a:ext cx="4045200" cy="28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">
  <p:cSld name="SECTION_TITLE_AND_DESCRIPTION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/>
          <p:nvPr/>
        </p:nvSpPr>
        <p:spPr>
          <a:xfrm>
            <a:off x="5684300" y="-175"/>
            <a:ext cx="3459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2"/>
          <p:cNvSpPr txBox="1"/>
          <p:nvPr>
            <p:ph type="title"/>
          </p:nvPr>
        </p:nvSpPr>
        <p:spPr>
          <a:xfrm>
            <a:off x="2100" y="8100"/>
            <a:ext cx="56823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78" name="Google Shape;78;p12"/>
          <p:cNvSpPr txBox="1"/>
          <p:nvPr>
            <p:ph idx="1" type="subTitle"/>
          </p:nvPr>
        </p:nvSpPr>
        <p:spPr>
          <a:xfrm>
            <a:off x="329460" y="2769000"/>
            <a:ext cx="50274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2"/>
          <p:cNvSpPr txBox="1"/>
          <p:nvPr>
            <p:ph idx="2" type="title"/>
          </p:nvPr>
        </p:nvSpPr>
        <p:spPr>
          <a:xfrm>
            <a:off x="5684300" y="-3600"/>
            <a:ext cx="34596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3" type="subTitle"/>
          </p:nvPr>
        </p:nvSpPr>
        <p:spPr>
          <a:xfrm>
            <a:off x="5883618" y="2775051"/>
            <a:ext cx="3061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9" name="Google Shape;89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5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9" name="Google Shape;99;p1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6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05" name="Google Shape;105;p16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225" y="228600"/>
            <a:ext cx="6109998" cy="1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0" name="Google Shape;110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21fe257f2_14_0)">
  <p:cSld name="Title and body (g3e21fe257f2_14_0)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8206283" y="-573328"/>
            <a:ext cx="1508700" cy="15087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-1508760" y="3154680"/>
            <a:ext cx="3703200" cy="37032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  <a:defRPr b="1" i="0" sz="3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EC5F82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0"/>
          <p:cNvSpPr txBox="1"/>
          <p:nvPr>
            <p:ph idx="2" type="body"/>
          </p:nvPr>
        </p:nvSpPr>
        <p:spPr>
          <a:xfrm>
            <a:off x="617220" y="3257550"/>
            <a:ext cx="665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D6DAF2"/>
              </a:buClr>
              <a:buSzPts val="1125"/>
              <a:buFont typeface="Arial"/>
              <a:buNone/>
              <a:defRPr b="0" i="0" sz="112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23" name="Google Shape;123;p20"/>
          <p:cNvCxnSpPr/>
          <p:nvPr/>
        </p:nvCxnSpPr>
        <p:spPr>
          <a:xfrm>
            <a:off x="617220" y="384048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20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9DA3D4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5_TWO_COLUMN_COMPARE">
  <p:cSld name="S05_TWO_COLUMN_COMPARE"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29" name="Google Shape;129;p21"/>
          <p:cNvSpPr/>
          <p:nvPr/>
        </p:nvSpPr>
        <p:spPr>
          <a:xfrm>
            <a:off x="411480" y="1062990"/>
            <a:ext cx="4046100" cy="28803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 txBox="1"/>
          <p:nvPr>
            <p:ph idx="2" type="body"/>
          </p:nvPr>
        </p:nvSpPr>
        <p:spPr>
          <a:xfrm>
            <a:off x="651510" y="12344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6B7085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idx="3" type="body"/>
          </p:nvPr>
        </p:nvSpPr>
        <p:spPr>
          <a:xfrm>
            <a:off x="651510" y="1611630"/>
            <a:ext cx="35661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5275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1"/>
          <p:cNvSpPr/>
          <p:nvPr/>
        </p:nvSpPr>
        <p:spPr>
          <a:xfrm>
            <a:off x="4663440" y="1062990"/>
            <a:ext cx="4046100" cy="28803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 txBox="1"/>
          <p:nvPr>
            <p:ph idx="4" type="body"/>
          </p:nvPr>
        </p:nvSpPr>
        <p:spPr>
          <a:xfrm>
            <a:off x="4903470" y="12344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21"/>
          <p:cNvSpPr txBox="1"/>
          <p:nvPr>
            <p:ph idx="5" type="body"/>
          </p:nvPr>
        </p:nvSpPr>
        <p:spPr>
          <a:xfrm>
            <a:off x="4903470" y="1611630"/>
            <a:ext cx="35661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5275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PLIT_PANEL">
  <p:cSld name="S06_SPLIT_PANEL"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5275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2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65"/>
              </a:spcBef>
              <a:spcAft>
                <a:spcPts val="0"/>
              </a:spcAft>
              <a:buClr>
                <a:srgbClr val="D84568"/>
              </a:buClr>
              <a:buSzPts val="825"/>
              <a:buFont typeface="Arial"/>
              <a:buNone/>
              <a:defRPr b="0" i="1" sz="8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22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44" name="Google Shape;144;p22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5275" lvl="0" marL="457200" marR="0" algn="l">
              <a:spcBef>
                <a:spcPts val="21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52" name="Google Shape;152;p23"/>
          <p:cNvSpPr txBox="1"/>
          <p:nvPr>
            <p:ph idx="2" type="body"/>
          </p:nvPr>
        </p:nvSpPr>
        <p:spPr>
          <a:xfrm>
            <a:off x="480060" y="1062990"/>
            <a:ext cx="81609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marR="0" algn="l"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EC5F82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24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D6DAF2"/>
              </a:buClr>
              <a:buSzPts val="1125"/>
              <a:buFont typeface="Arial"/>
              <a:buNone/>
              <a:defRPr b="0" i="0" sz="112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2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/>
          <p:nvPr/>
        </p:nvSpPr>
        <p:spPr>
          <a:xfrm>
            <a:off x="8206283" y="-573328"/>
            <a:ext cx="1508700" cy="15087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6"/>
          <p:cNvSpPr/>
          <p:nvPr/>
        </p:nvSpPr>
        <p:spPr>
          <a:xfrm>
            <a:off x="-1508760" y="3154680"/>
            <a:ext cx="3703200" cy="37032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6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  <a:defRPr b="1" i="0" sz="3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EC5F82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7220" y="3257550"/>
            <a:ext cx="665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D6DAF2"/>
              </a:buClr>
              <a:buSzPts val="1125"/>
              <a:buFont typeface="Arial"/>
              <a:buNone/>
              <a:defRPr b="0" i="0" sz="112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68" name="Google Shape;168;p26"/>
          <p:cNvCxnSpPr/>
          <p:nvPr/>
        </p:nvCxnSpPr>
        <p:spPr>
          <a:xfrm>
            <a:off x="617220" y="384048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26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9DA3D4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3_FOUR_CARDS">
  <p:cSld name="S03_FOUR_CARDS"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74" name="Google Shape;174;p27"/>
          <p:cNvSpPr/>
          <p:nvPr/>
        </p:nvSpPr>
        <p:spPr>
          <a:xfrm>
            <a:off x="411480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7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7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>
            <p:ph idx="2" type="body"/>
          </p:nvPr>
        </p:nvSpPr>
        <p:spPr>
          <a:xfrm>
            <a:off x="582930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8" name="Google Shape;178;p27"/>
          <p:cNvSpPr txBox="1"/>
          <p:nvPr>
            <p:ph idx="3" type="body"/>
          </p:nvPr>
        </p:nvSpPr>
        <p:spPr>
          <a:xfrm>
            <a:off x="582930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9" name="Google Shape;179;p27"/>
          <p:cNvSpPr/>
          <p:nvPr/>
        </p:nvSpPr>
        <p:spPr>
          <a:xfrm>
            <a:off x="2558034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7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7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 txBox="1"/>
          <p:nvPr>
            <p:ph idx="4" type="body"/>
          </p:nvPr>
        </p:nvSpPr>
        <p:spPr>
          <a:xfrm>
            <a:off x="2729484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27"/>
          <p:cNvSpPr txBox="1"/>
          <p:nvPr>
            <p:ph idx="5" type="body"/>
          </p:nvPr>
        </p:nvSpPr>
        <p:spPr>
          <a:xfrm>
            <a:off x="2729484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27"/>
          <p:cNvSpPr/>
          <p:nvPr/>
        </p:nvSpPr>
        <p:spPr>
          <a:xfrm>
            <a:off x="4704588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7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 txBox="1"/>
          <p:nvPr>
            <p:ph idx="6" type="body"/>
          </p:nvPr>
        </p:nvSpPr>
        <p:spPr>
          <a:xfrm>
            <a:off x="4876038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27"/>
          <p:cNvSpPr txBox="1"/>
          <p:nvPr>
            <p:ph idx="7" type="body"/>
          </p:nvPr>
        </p:nvSpPr>
        <p:spPr>
          <a:xfrm>
            <a:off x="4876038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27"/>
          <p:cNvSpPr/>
          <p:nvPr/>
        </p:nvSpPr>
        <p:spPr>
          <a:xfrm>
            <a:off x="6851142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7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7"/>
          <p:cNvSpPr txBox="1"/>
          <p:nvPr>
            <p:ph idx="8" type="body"/>
          </p:nvPr>
        </p:nvSpPr>
        <p:spPr>
          <a:xfrm>
            <a:off x="7022592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27"/>
          <p:cNvSpPr txBox="1"/>
          <p:nvPr>
            <p:ph idx="9" type="body"/>
          </p:nvPr>
        </p:nvSpPr>
        <p:spPr>
          <a:xfrm>
            <a:off x="7022592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NUMBERED_ROWS_3">
  <p:cSld name="S09_NUMBERED_ROWS_3"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7" name="Google Shape;197;p2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98" name="Google Shape;198;p28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8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8"/>
          <p:cNvSpPr txBox="1"/>
          <p:nvPr>
            <p:ph idx="2" type="body"/>
          </p:nvPr>
        </p:nvSpPr>
        <p:spPr>
          <a:xfrm>
            <a:off x="925830" y="10972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3" type="body"/>
          </p:nvPr>
        </p:nvSpPr>
        <p:spPr>
          <a:xfrm>
            <a:off x="925830" y="138531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2" name="Google Shape;202;p28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8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8"/>
          <p:cNvSpPr txBox="1"/>
          <p:nvPr>
            <p:ph idx="4" type="body"/>
          </p:nvPr>
        </p:nvSpPr>
        <p:spPr>
          <a:xfrm>
            <a:off x="925830" y="21259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5" type="body"/>
          </p:nvPr>
        </p:nvSpPr>
        <p:spPr>
          <a:xfrm>
            <a:off x="925830" y="241401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6" name="Google Shape;206;p28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8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8"/>
          <p:cNvSpPr txBox="1"/>
          <p:nvPr>
            <p:ph idx="6" type="body"/>
          </p:nvPr>
        </p:nvSpPr>
        <p:spPr>
          <a:xfrm>
            <a:off x="925830" y="31546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7" type="body"/>
          </p:nvPr>
        </p:nvSpPr>
        <p:spPr>
          <a:xfrm>
            <a:off x="925830" y="344271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5_TWO_COLUMN_COMPARE">
  <p:cSld name="S05_TWO_COLUMN_COMPARE"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14" name="Google Shape;214;p29"/>
          <p:cNvSpPr/>
          <p:nvPr/>
        </p:nvSpPr>
        <p:spPr>
          <a:xfrm>
            <a:off x="411480" y="1062990"/>
            <a:ext cx="4046100" cy="28803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9"/>
          <p:cNvSpPr txBox="1"/>
          <p:nvPr>
            <p:ph idx="2" type="body"/>
          </p:nvPr>
        </p:nvSpPr>
        <p:spPr>
          <a:xfrm>
            <a:off x="651510" y="12344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3" type="body"/>
          </p:nvPr>
        </p:nvSpPr>
        <p:spPr>
          <a:xfrm>
            <a:off x="651510" y="1611630"/>
            <a:ext cx="35661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525"/>
              </a:spcBef>
              <a:spcAft>
                <a:spcPts val="525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7" name="Google Shape;217;p29"/>
          <p:cNvSpPr/>
          <p:nvPr/>
        </p:nvSpPr>
        <p:spPr>
          <a:xfrm>
            <a:off x="4663440" y="1062990"/>
            <a:ext cx="4046100" cy="28803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"/>
          <p:cNvSpPr txBox="1"/>
          <p:nvPr>
            <p:ph idx="4" type="body"/>
          </p:nvPr>
        </p:nvSpPr>
        <p:spPr>
          <a:xfrm>
            <a:off x="4903470" y="12344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9" name="Google Shape;219;p29"/>
          <p:cNvSpPr txBox="1"/>
          <p:nvPr>
            <p:ph idx="5" type="body"/>
          </p:nvPr>
        </p:nvSpPr>
        <p:spPr>
          <a:xfrm>
            <a:off x="4903470" y="1611630"/>
            <a:ext cx="35661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525"/>
              </a:spcBef>
              <a:spcAft>
                <a:spcPts val="525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PLIT_PANEL">
  <p:cSld name="S06_SPLIT_PANEL"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0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24" name="Google Shape;224;p30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30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30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7" name="Google Shape;227;p30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65"/>
              </a:spcBef>
              <a:spcAft>
                <a:spcPts val="0"/>
              </a:spcAft>
              <a:buClr>
                <a:srgbClr val="D84568"/>
              </a:buClr>
              <a:buSzPts val="825"/>
              <a:buFont typeface="Arial"/>
              <a:buNone/>
              <a:defRPr b="0" i="1" sz="8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29" name="Google Shape;229;p30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FFFFFF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2" name="Google Shape;232;p30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1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37" name="Google Shape;237;p31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EC5F82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8" name="Google Shape;238;p31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D6DAF2"/>
              </a:buClr>
              <a:buSzPts val="1125"/>
              <a:buFont typeface="Arial"/>
              <a:buNone/>
              <a:defRPr b="0" i="0" sz="112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9" name="Google Shape;239;p3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5_CONTENT_IMAGE_RIGHT">
  <p:cSld name="S15_CONTENT_IMAGE_RIGHT"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43" name="Google Shape;243;p32"/>
          <p:cNvSpPr txBox="1"/>
          <p:nvPr>
            <p:ph idx="2" type="body"/>
          </p:nvPr>
        </p:nvSpPr>
        <p:spPr>
          <a:xfrm>
            <a:off x="411480" y="1062990"/>
            <a:ext cx="3840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8036" lvl="0" marL="457200" marR="0" algn="l"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936"/>
              <a:buFont typeface="Arial"/>
              <a:buChar char="●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060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○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73177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■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574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●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3" type="body"/>
          </p:nvPr>
        </p:nvSpPr>
        <p:spPr>
          <a:xfrm>
            <a:off x="4457700" y="1062990"/>
            <a:ext cx="4320600" cy="30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0_NUMBERED_ROWS_4">
  <p:cSld name="S10_NUMBERED_ROWS_4"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8" name="Google Shape;248;p3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250"/>
              <a:buFont typeface="Roboto"/>
              <a:buNone/>
              <a:defRPr b="1" i="0" sz="22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49" name="Google Shape;249;p33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3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3"/>
          <p:cNvSpPr txBox="1"/>
          <p:nvPr>
            <p:ph idx="2" type="body"/>
          </p:nvPr>
        </p:nvSpPr>
        <p:spPr>
          <a:xfrm>
            <a:off x="925830" y="106299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idx="3" type="body"/>
          </p:nvPr>
        </p:nvSpPr>
        <p:spPr>
          <a:xfrm>
            <a:off x="925830" y="135102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3" name="Google Shape;253;p33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3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/>
          <p:nvPr>
            <p:ph idx="4" type="body"/>
          </p:nvPr>
        </p:nvSpPr>
        <p:spPr>
          <a:xfrm>
            <a:off x="925830" y="195453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5" type="body"/>
          </p:nvPr>
        </p:nvSpPr>
        <p:spPr>
          <a:xfrm>
            <a:off x="925830" y="224256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7" name="Google Shape;257;p33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3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3"/>
          <p:cNvSpPr txBox="1"/>
          <p:nvPr>
            <p:ph idx="6" type="body"/>
          </p:nvPr>
        </p:nvSpPr>
        <p:spPr>
          <a:xfrm>
            <a:off x="925830" y="284607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0" name="Google Shape;260;p33"/>
          <p:cNvSpPr txBox="1"/>
          <p:nvPr>
            <p:ph idx="7" type="body"/>
          </p:nvPr>
        </p:nvSpPr>
        <p:spPr>
          <a:xfrm>
            <a:off x="925830" y="313410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1" name="Google Shape;261;p33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3"/>
          <p:cNvSpPr txBox="1"/>
          <p:nvPr>
            <p:ph idx="8" type="body"/>
          </p:nvPr>
        </p:nvSpPr>
        <p:spPr>
          <a:xfrm>
            <a:off x="925830" y="373761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idx="9" type="body"/>
          </p:nvPr>
        </p:nvSpPr>
        <p:spPr>
          <a:xfrm>
            <a:off x="925830" y="402564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8" name="Google Shape;268;p3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69" name="Google Shape;269;p34"/>
          <p:cNvSpPr txBox="1"/>
          <p:nvPr>
            <p:ph idx="2" type="body"/>
          </p:nvPr>
        </p:nvSpPr>
        <p:spPr>
          <a:xfrm>
            <a:off x="480060" y="1062990"/>
            <a:ext cx="81609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8036" lvl="0" marL="457200" marR="0" algn="l"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936"/>
              <a:buFont typeface="Arial"/>
              <a:buChar char="●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060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○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73177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■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574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●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0" name="Google Shape;270;p3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6_CLOSING_NAVY">
  <p:cSld name="S16_CLOSING_NAVY">
    <p:bg>
      <p:bgPr>
        <a:solidFill>
          <a:srgbClr val="2A3480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5"/>
          <p:cNvSpPr/>
          <p:nvPr/>
        </p:nvSpPr>
        <p:spPr>
          <a:xfrm>
            <a:off x="-1234440" y="3223260"/>
            <a:ext cx="3429000" cy="34290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5"/>
          <p:cNvSpPr txBox="1"/>
          <p:nvPr>
            <p:ph type="title"/>
          </p:nvPr>
        </p:nvSpPr>
        <p:spPr>
          <a:xfrm>
            <a:off x="617220" y="185166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  <a:defRPr b="1" i="0" sz="3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75" name="Google Shape;275;p35"/>
          <p:cNvSpPr txBox="1"/>
          <p:nvPr>
            <p:ph idx="1" type="body"/>
          </p:nvPr>
        </p:nvSpPr>
        <p:spPr>
          <a:xfrm>
            <a:off x="617220" y="2537460"/>
            <a:ext cx="6515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55"/>
              </a:spcBef>
              <a:spcAft>
                <a:spcPts val="0"/>
              </a:spcAft>
              <a:buClr>
                <a:srgbClr val="D6DAF2"/>
              </a:buClr>
              <a:buSzPts val="1275"/>
              <a:buFont typeface="Arial"/>
              <a:buNone/>
              <a:defRPr b="0" i="0" sz="127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76" name="Google Shape;276;p35"/>
          <p:cNvCxnSpPr/>
          <p:nvPr/>
        </p:nvCxnSpPr>
        <p:spPr>
          <a:xfrm>
            <a:off x="617220" y="322326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35"/>
          <p:cNvSpPr txBox="1"/>
          <p:nvPr>
            <p:ph idx="2" type="body"/>
          </p:nvPr>
        </p:nvSpPr>
        <p:spPr>
          <a:xfrm>
            <a:off x="617220" y="3394710"/>
            <a:ext cx="617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9DA3D4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4_THREE_CARDS_ROADMAP">
  <p:cSld name="S04_THREE_CARDS_ROADMAP"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2" name="Google Shape;282;p3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83" name="Google Shape;283;p37"/>
          <p:cNvSpPr/>
          <p:nvPr/>
        </p:nvSpPr>
        <p:spPr>
          <a:xfrm>
            <a:off x="411480" y="1062990"/>
            <a:ext cx="2640300" cy="219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7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7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7"/>
          <p:cNvSpPr txBox="1"/>
          <p:nvPr>
            <p:ph idx="2" type="body"/>
          </p:nvPr>
        </p:nvSpPr>
        <p:spPr>
          <a:xfrm>
            <a:off x="58293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7" name="Google Shape;287;p37"/>
          <p:cNvSpPr txBox="1"/>
          <p:nvPr>
            <p:ph idx="3" type="body"/>
          </p:nvPr>
        </p:nvSpPr>
        <p:spPr>
          <a:xfrm>
            <a:off x="58293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8" name="Google Shape;288;p37"/>
          <p:cNvSpPr/>
          <p:nvPr/>
        </p:nvSpPr>
        <p:spPr>
          <a:xfrm>
            <a:off x="3257550" y="1062990"/>
            <a:ext cx="2640300" cy="219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7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7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7"/>
          <p:cNvSpPr txBox="1"/>
          <p:nvPr>
            <p:ph idx="4" type="body"/>
          </p:nvPr>
        </p:nvSpPr>
        <p:spPr>
          <a:xfrm>
            <a:off x="342900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37"/>
          <p:cNvSpPr txBox="1"/>
          <p:nvPr>
            <p:ph idx="5" type="body"/>
          </p:nvPr>
        </p:nvSpPr>
        <p:spPr>
          <a:xfrm>
            <a:off x="342900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37"/>
          <p:cNvSpPr/>
          <p:nvPr/>
        </p:nvSpPr>
        <p:spPr>
          <a:xfrm>
            <a:off x="6103620" y="1062990"/>
            <a:ext cx="2640300" cy="219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7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7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7"/>
          <p:cNvSpPr txBox="1"/>
          <p:nvPr>
            <p:ph idx="6" type="body"/>
          </p:nvPr>
        </p:nvSpPr>
        <p:spPr>
          <a:xfrm>
            <a:off x="627507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7" name="Google Shape;297;p37"/>
          <p:cNvSpPr txBox="1"/>
          <p:nvPr>
            <p:ph idx="7" type="body"/>
          </p:nvPr>
        </p:nvSpPr>
        <p:spPr>
          <a:xfrm>
            <a:off x="627507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8" name="Google Shape;298;p37"/>
          <p:cNvSpPr txBox="1"/>
          <p:nvPr>
            <p:ph idx="8" type="body"/>
          </p:nvPr>
        </p:nvSpPr>
        <p:spPr>
          <a:xfrm>
            <a:off x="411480" y="3497580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9" name="Google Shape;299;p3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EXERCISE">
  <p:cSld name="S07_EXERCISE"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3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03" name="Google Shape;303;p38"/>
          <p:cNvSpPr txBox="1"/>
          <p:nvPr>
            <p:ph idx="2" type="body"/>
          </p:nvPr>
        </p:nvSpPr>
        <p:spPr>
          <a:xfrm>
            <a:off x="3497580" y="651510"/>
            <a:ext cx="150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165"/>
              </a:spcBef>
              <a:spcAft>
                <a:spcPts val="0"/>
              </a:spcAft>
              <a:buClr>
                <a:srgbClr val="6B7085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38"/>
          <p:cNvSpPr txBox="1"/>
          <p:nvPr>
            <p:ph idx="3" type="body"/>
          </p:nvPr>
        </p:nvSpPr>
        <p:spPr>
          <a:xfrm>
            <a:off x="582930" y="822960"/>
            <a:ext cx="43890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5" name="Google Shape;305;p38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6" name="Google Shape;306;p38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7" name="Google Shape;307;p38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D84568"/>
              </a:buClr>
              <a:buSzPts val="975"/>
              <a:buFont typeface="Arial"/>
              <a:buNone/>
              <a:defRPr b="1" i="0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8" name="Google Shape;308;p38"/>
          <p:cNvSpPr txBox="1"/>
          <p:nvPr>
            <p:ph idx="7" type="body"/>
          </p:nvPr>
        </p:nvSpPr>
        <p:spPr>
          <a:xfrm>
            <a:off x="5417820" y="3051810"/>
            <a:ext cx="32919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9" name="Google Shape;309;p3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8_FLOW_DIAGRAM">
  <p:cSld name="S08_FLOW_DIAGRAM"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13" name="Google Shape;313;p39"/>
          <p:cNvSpPr/>
          <p:nvPr/>
        </p:nvSpPr>
        <p:spPr>
          <a:xfrm>
            <a:off x="48006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9"/>
          <p:cNvSpPr txBox="1"/>
          <p:nvPr>
            <p:ph idx="2" type="body"/>
          </p:nvPr>
        </p:nvSpPr>
        <p:spPr>
          <a:xfrm>
            <a:off x="54864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5" name="Google Shape;315;p39"/>
          <p:cNvSpPr/>
          <p:nvPr/>
        </p:nvSpPr>
        <p:spPr>
          <a:xfrm>
            <a:off x="229743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9"/>
          <p:cNvSpPr/>
          <p:nvPr/>
        </p:nvSpPr>
        <p:spPr>
          <a:xfrm>
            <a:off x="2640330" y="120015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9"/>
          <p:cNvSpPr txBox="1"/>
          <p:nvPr>
            <p:ph idx="3" type="body"/>
          </p:nvPr>
        </p:nvSpPr>
        <p:spPr>
          <a:xfrm>
            <a:off x="270891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1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8" name="Google Shape;318;p39"/>
          <p:cNvSpPr/>
          <p:nvPr/>
        </p:nvSpPr>
        <p:spPr>
          <a:xfrm>
            <a:off x="445770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9"/>
          <p:cNvSpPr/>
          <p:nvPr/>
        </p:nvSpPr>
        <p:spPr>
          <a:xfrm>
            <a:off x="480060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9"/>
          <p:cNvSpPr txBox="1"/>
          <p:nvPr>
            <p:ph idx="4" type="body"/>
          </p:nvPr>
        </p:nvSpPr>
        <p:spPr>
          <a:xfrm>
            <a:off x="486918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1" name="Google Shape;321;p39"/>
          <p:cNvSpPr/>
          <p:nvPr/>
        </p:nvSpPr>
        <p:spPr>
          <a:xfrm>
            <a:off x="661797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9"/>
          <p:cNvSpPr/>
          <p:nvPr/>
        </p:nvSpPr>
        <p:spPr>
          <a:xfrm>
            <a:off x="6960870" y="120015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9"/>
          <p:cNvSpPr txBox="1"/>
          <p:nvPr>
            <p:ph idx="5" type="body"/>
          </p:nvPr>
        </p:nvSpPr>
        <p:spPr>
          <a:xfrm>
            <a:off x="702945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1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9"/>
          <p:cNvSpPr txBox="1"/>
          <p:nvPr>
            <p:ph idx="6" type="body"/>
          </p:nvPr>
        </p:nvSpPr>
        <p:spPr>
          <a:xfrm>
            <a:off x="480060" y="2571750"/>
            <a:ext cx="81609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5" name="Google Shape;325;p3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1_ERRORS_WITH_CODE">
  <p:cSld name="S11_ERRORS_WITH_CODE"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8" name="Google Shape;328;p4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29" name="Google Shape;329;p40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0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0"/>
          <p:cNvSpPr txBox="1"/>
          <p:nvPr>
            <p:ph idx="2" type="body"/>
          </p:nvPr>
        </p:nvSpPr>
        <p:spPr>
          <a:xfrm>
            <a:off x="857250" y="1062990"/>
            <a:ext cx="377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2" name="Google Shape;332;p40"/>
          <p:cNvSpPr txBox="1"/>
          <p:nvPr>
            <p:ph idx="3" type="body"/>
          </p:nvPr>
        </p:nvSpPr>
        <p:spPr>
          <a:xfrm>
            <a:off x="857250" y="1440180"/>
            <a:ext cx="35661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3" name="Google Shape;333;p40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0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0"/>
          <p:cNvSpPr txBox="1"/>
          <p:nvPr>
            <p:ph idx="4" type="body"/>
          </p:nvPr>
        </p:nvSpPr>
        <p:spPr>
          <a:xfrm>
            <a:off x="5452110" y="106299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6" name="Google Shape;336;p40"/>
          <p:cNvSpPr txBox="1"/>
          <p:nvPr>
            <p:ph idx="5" type="body"/>
          </p:nvPr>
        </p:nvSpPr>
        <p:spPr>
          <a:xfrm>
            <a:off x="5452110" y="1440180"/>
            <a:ext cx="3429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7" name="Google Shape;337;p40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0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0"/>
          <p:cNvSpPr txBox="1"/>
          <p:nvPr>
            <p:ph idx="6" type="body"/>
          </p:nvPr>
        </p:nvSpPr>
        <p:spPr>
          <a:xfrm>
            <a:off x="857250" y="288036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0" name="Google Shape;340;p40"/>
          <p:cNvSpPr txBox="1"/>
          <p:nvPr>
            <p:ph idx="7" type="body"/>
          </p:nvPr>
        </p:nvSpPr>
        <p:spPr>
          <a:xfrm>
            <a:off x="857250" y="318897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1" name="Google Shape;341;p4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2_QUIZ_MCQ">
  <p:cSld name="S12_QUIZ_MCQ"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1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45" name="Google Shape;345;p41"/>
          <p:cNvSpPr txBox="1"/>
          <p:nvPr>
            <p:ph idx="2" type="body"/>
          </p:nvPr>
        </p:nvSpPr>
        <p:spPr>
          <a:xfrm>
            <a:off x="411480" y="1062990"/>
            <a:ext cx="4320600" cy="26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6" name="Google Shape;346;p41"/>
          <p:cNvSpPr/>
          <p:nvPr/>
        </p:nvSpPr>
        <p:spPr>
          <a:xfrm>
            <a:off x="5006340" y="116586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1"/>
          <p:cNvSpPr txBox="1"/>
          <p:nvPr>
            <p:ph idx="3" type="body"/>
          </p:nvPr>
        </p:nvSpPr>
        <p:spPr>
          <a:xfrm>
            <a:off x="5177790" y="11658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8" name="Google Shape;348;p41"/>
          <p:cNvSpPr/>
          <p:nvPr/>
        </p:nvSpPr>
        <p:spPr>
          <a:xfrm>
            <a:off x="5006340" y="16802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1"/>
          <p:cNvSpPr txBox="1"/>
          <p:nvPr>
            <p:ph idx="4" type="body"/>
          </p:nvPr>
        </p:nvSpPr>
        <p:spPr>
          <a:xfrm>
            <a:off x="5177790" y="16802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0" name="Google Shape;350;p41"/>
          <p:cNvSpPr/>
          <p:nvPr/>
        </p:nvSpPr>
        <p:spPr>
          <a:xfrm>
            <a:off x="5006340" y="2194560"/>
            <a:ext cx="3703200" cy="411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1"/>
          <p:cNvSpPr txBox="1"/>
          <p:nvPr>
            <p:ph idx="5" type="body"/>
          </p:nvPr>
        </p:nvSpPr>
        <p:spPr>
          <a:xfrm>
            <a:off x="5177790" y="21945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2" name="Google Shape;352;p41"/>
          <p:cNvSpPr/>
          <p:nvPr/>
        </p:nvSpPr>
        <p:spPr>
          <a:xfrm>
            <a:off x="5006340" y="27089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1"/>
          <p:cNvSpPr txBox="1"/>
          <p:nvPr>
            <p:ph idx="6" type="body"/>
          </p:nvPr>
        </p:nvSpPr>
        <p:spPr>
          <a:xfrm>
            <a:off x="5177790" y="27089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4" name="Google Shape;354;p4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3_FIVE_CARDS">
  <p:cSld name="S13_FIVE_CARDS"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7" name="Google Shape;357;p4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58" name="Google Shape;358;p42"/>
          <p:cNvSpPr/>
          <p:nvPr/>
        </p:nvSpPr>
        <p:spPr>
          <a:xfrm>
            <a:off x="411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2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2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2"/>
          <p:cNvSpPr txBox="1"/>
          <p:nvPr>
            <p:ph idx="2" type="body"/>
          </p:nvPr>
        </p:nvSpPr>
        <p:spPr>
          <a:xfrm>
            <a:off x="562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2" name="Google Shape;362;p42"/>
          <p:cNvSpPr txBox="1"/>
          <p:nvPr>
            <p:ph idx="3" type="body"/>
          </p:nvPr>
        </p:nvSpPr>
        <p:spPr>
          <a:xfrm>
            <a:off x="5623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3" name="Google Shape;363;p42"/>
          <p:cNvSpPr/>
          <p:nvPr/>
        </p:nvSpPr>
        <p:spPr>
          <a:xfrm>
            <a:off x="2125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2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2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2"/>
          <p:cNvSpPr txBox="1"/>
          <p:nvPr>
            <p:ph idx="4" type="body"/>
          </p:nvPr>
        </p:nvSpPr>
        <p:spPr>
          <a:xfrm>
            <a:off x="2276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7" name="Google Shape;367;p42"/>
          <p:cNvSpPr txBox="1"/>
          <p:nvPr>
            <p:ph idx="5" type="body"/>
          </p:nvPr>
        </p:nvSpPr>
        <p:spPr>
          <a:xfrm>
            <a:off x="22768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8" name="Google Shape;368;p42"/>
          <p:cNvSpPr/>
          <p:nvPr/>
        </p:nvSpPr>
        <p:spPr>
          <a:xfrm>
            <a:off x="3840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2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2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2"/>
          <p:cNvSpPr txBox="1"/>
          <p:nvPr>
            <p:ph idx="6" type="body"/>
          </p:nvPr>
        </p:nvSpPr>
        <p:spPr>
          <a:xfrm>
            <a:off x="3991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2" name="Google Shape;372;p42"/>
          <p:cNvSpPr txBox="1"/>
          <p:nvPr>
            <p:ph idx="7" type="body"/>
          </p:nvPr>
        </p:nvSpPr>
        <p:spPr>
          <a:xfrm>
            <a:off x="39913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3" name="Google Shape;373;p42"/>
          <p:cNvSpPr/>
          <p:nvPr/>
        </p:nvSpPr>
        <p:spPr>
          <a:xfrm>
            <a:off x="5554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2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2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2"/>
          <p:cNvSpPr txBox="1"/>
          <p:nvPr>
            <p:ph idx="8" type="body"/>
          </p:nvPr>
        </p:nvSpPr>
        <p:spPr>
          <a:xfrm>
            <a:off x="5705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7" name="Google Shape;377;p42"/>
          <p:cNvSpPr txBox="1"/>
          <p:nvPr>
            <p:ph idx="9" type="body"/>
          </p:nvPr>
        </p:nvSpPr>
        <p:spPr>
          <a:xfrm>
            <a:off x="57058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8" name="Google Shape;378;p42"/>
          <p:cNvSpPr/>
          <p:nvPr/>
        </p:nvSpPr>
        <p:spPr>
          <a:xfrm>
            <a:off x="7269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2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2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2"/>
          <p:cNvSpPr txBox="1"/>
          <p:nvPr>
            <p:ph idx="13" type="body"/>
          </p:nvPr>
        </p:nvSpPr>
        <p:spPr>
          <a:xfrm>
            <a:off x="7420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2" name="Google Shape;382;p42"/>
          <p:cNvSpPr txBox="1"/>
          <p:nvPr>
            <p:ph idx="14" type="body"/>
          </p:nvPr>
        </p:nvSpPr>
        <p:spPr>
          <a:xfrm>
            <a:off x="74203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3" name="Google Shape;383;p4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TWO_EXERCISES">
  <p:cSld name="S17_TWO_EXERCISES"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87" name="Google Shape;387;p43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25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6892" lvl="0" marL="457200" marR="0" algn="l"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761"/>
              <a:buFont typeface="Arial"/>
              <a:buChar char="●"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9462" lvl="1" marL="9144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644"/>
              <a:buFont typeface="Arial"/>
              <a:buChar char="○"/>
              <a:defRPr b="0" i="0" sz="8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2033" lvl="2" marL="13716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527"/>
              <a:buFont typeface="Arial"/>
              <a:buChar char="■"/>
              <a:defRPr b="0" i="0" sz="6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450"/>
              </a:spcBef>
              <a:spcAft>
                <a:spcPts val="45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0" name="Google Shape;390;p43"/>
          <p:cNvSpPr txBox="1"/>
          <p:nvPr>
            <p:ph idx="5" type="body"/>
          </p:nvPr>
        </p:nvSpPr>
        <p:spPr>
          <a:xfrm>
            <a:off x="2811780" y="1988820"/>
            <a:ext cx="150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165"/>
              </a:spcBef>
              <a:spcAft>
                <a:spcPts val="0"/>
              </a:spcAft>
              <a:buClr>
                <a:srgbClr val="6B7085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1" name="Google Shape;391;p43"/>
          <p:cNvSpPr txBox="1"/>
          <p:nvPr>
            <p:ph idx="6" type="body"/>
          </p:nvPr>
        </p:nvSpPr>
        <p:spPr>
          <a:xfrm>
            <a:off x="582930" y="2160270"/>
            <a:ext cx="3703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2" name="Google Shape;392;p43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D84568"/>
              </a:buClr>
              <a:buSzPts val="975"/>
              <a:buFont typeface="Arial"/>
              <a:buNone/>
              <a:defRPr b="1" i="0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3" name="Google Shape;393;p43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4" name="Google Shape;394;p43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25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5" name="Google Shape;395;p43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6" name="Google Shape;396;p43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6892" lvl="0" marL="457200" marR="0" algn="l"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761"/>
              <a:buFont typeface="Arial"/>
              <a:buChar char="●"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9462" lvl="1" marL="9144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644"/>
              <a:buFont typeface="Arial"/>
              <a:buChar char="○"/>
              <a:defRPr b="0" i="0" sz="8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2033" lvl="2" marL="13716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527"/>
              <a:buFont typeface="Arial"/>
              <a:buChar char="■"/>
              <a:defRPr b="0" i="0" sz="6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450"/>
              </a:spcBef>
              <a:spcAft>
                <a:spcPts val="45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7" name="Google Shape;397;p43"/>
          <p:cNvSpPr txBox="1"/>
          <p:nvPr>
            <p:ph idx="15" type="body"/>
          </p:nvPr>
        </p:nvSpPr>
        <p:spPr>
          <a:xfrm>
            <a:off x="7084314" y="1988820"/>
            <a:ext cx="150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165"/>
              </a:spcBef>
              <a:spcAft>
                <a:spcPts val="0"/>
              </a:spcAft>
              <a:buClr>
                <a:srgbClr val="6B7085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8" name="Google Shape;398;p43"/>
          <p:cNvSpPr txBox="1"/>
          <p:nvPr>
            <p:ph idx="16" type="body"/>
          </p:nvPr>
        </p:nvSpPr>
        <p:spPr>
          <a:xfrm>
            <a:off x="4855464" y="2160270"/>
            <a:ext cx="3703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9" name="Google Shape;399;p43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D84568"/>
              </a:buClr>
              <a:buSzPts val="975"/>
              <a:buFont typeface="Arial"/>
              <a:buNone/>
              <a:defRPr b="1" i="0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0" name="Google Shape;400;p43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1" name="Google Shape;401;p4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8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Relationship Id="rId4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Relationship Id="rId4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Relationship Id="rId4" Type="http://schemas.openxmlformats.org/officeDocument/2006/relationships/image" Target="../media/image4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Relationship Id="rId4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Relationship Id="rId4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Relationship Id="rId4" Type="http://schemas.openxmlformats.org/officeDocument/2006/relationships/image" Target="../media/image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6.png"/><Relationship Id="rId4" Type="http://schemas.openxmlformats.org/officeDocument/2006/relationships/image" Target="../media/image51.png"/><Relationship Id="rId5" Type="http://schemas.openxmlformats.org/officeDocument/2006/relationships/image" Target="../media/image5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Relationship Id="rId4" Type="http://schemas.openxmlformats.org/officeDocument/2006/relationships/image" Target="../media/image4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7.png"/><Relationship Id="rId4" Type="http://schemas.openxmlformats.org/officeDocument/2006/relationships/image" Target="../media/image5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0.png"/><Relationship Id="rId4" Type="http://schemas.openxmlformats.org/officeDocument/2006/relationships/image" Target="../media/image5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9.png"/><Relationship Id="rId4" Type="http://schemas.openxmlformats.org/officeDocument/2006/relationships/image" Target="../media/image5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3.png"/><Relationship Id="rId4" Type="http://schemas.openxmlformats.org/officeDocument/2006/relationships/image" Target="../media/image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</a:pPr>
            <a:r>
              <a:rPr b="1" lang="en" sz="31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Visualization</a:t>
            </a:r>
            <a:endParaRPr sz="315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</a:pPr>
            <a:r>
              <a:rPr b="1" lang="en" sz="31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with Matplotlib &amp; Seaborn</a:t>
            </a:r>
            <a:endParaRPr sz="3150"/>
          </a:p>
        </p:txBody>
      </p:sp>
      <p:sp>
        <p:nvSpPr>
          <p:cNvPr id="407" name="Google Shape;407;p44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9DA3D4"/>
              </a:buClr>
              <a:buSzPts val="975"/>
              <a:buNone/>
            </a:pPr>
            <a:r>
              <a:rPr lang="en" sz="975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rPr>
              <a:t>Prepared by: SO Vengleab   ·   July 2026</a:t>
            </a:r>
            <a:endParaRPr sz="97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45"/>
          <p:cNvGrpSpPr/>
          <p:nvPr/>
        </p:nvGrpSpPr>
        <p:grpSpPr>
          <a:xfrm>
            <a:off x="381000" y="1524000"/>
            <a:ext cx="4191000" cy="3048000"/>
            <a:chOff x="381000" y="1524000"/>
            <a:chExt cx="4191000" cy="3048000"/>
          </a:xfrm>
        </p:grpSpPr>
        <p:sp>
          <p:nvSpPr>
            <p:cNvPr id="413" name="Google Shape;413;p45"/>
            <p:cNvSpPr/>
            <p:nvPr/>
          </p:nvSpPr>
          <p:spPr>
            <a:xfrm>
              <a:off x="381000" y="1524000"/>
              <a:ext cx="4191000" cy="3048000"/>
            </a:xfrm>
            <a:prstGeom prst="roundRect">
              <a:avLst>
                <a:gd fmla="val 4687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5"/>
            <p:cNvSpPr txBox="1"/>
            <p:nvPr/>
          </p:nvSpPr>
          <p:spPr>
            <a:xfrm>
              <a:off x="571500" y="1714500"/>
              <a:ext cx="3810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Python provides a rich ecosystem of libraries designed to transform raw data into </a:t>
              </a:r>
              <a:r>
                <a:rPr b="1" lang="en" sz="1600">
                  <a:solidFill>
                    <a:srgbClr val="2A3990"/>
                  </a:solidFill>
                  <a:latin typeface="Roboto"/>
                  <a:ea typeface="Roboto"/>
                  <a:cs typeface="Roboto"/>
                  <a:sym typeface="Roboto"/>
                </a:rPr>
                <a:t>meaningful insights</a:t>
              </a:r>
              <a:r>
                <a:rPr b="0" lang="en" sz="16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0" sz="16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These tools allow for:</a:t>
              </a:r>
              <a:endParaRPr b="0" sz="16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Roboto"/>
                <a:buChar char="●"/>
              </a:pPr>
              <a:r>
                <a:rPr b="0" lang="en" sz="16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Informative &amp; customized plots</a:t>
              </a:r>
              <a:endParaRPr b="0" sz="16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Roboto"/>
                <a:buChar char="●"/>
              </a:pPr>
              <a:r>
                <a:rPr b="0" lang="en" sz="16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Professional-grade aesthetics</a:t>
              </a:r>
              <a:endParaRPr b="0" sz="16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Roboto"/>
                <a:buChar char="●"/>
              </a:pPr>
              <a:r>
                <a:rPr b="0" lang="en" sz="16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Simple and effective data storytelling</a:t>
              </a:r>
              <a:endParaRPr b="0" sz="16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5" name="Google Shape;415;p45"/>
          <p:cNvGrpSpPr/>
          <p:nvPr/>
        </p:nvGrpSpPr>
        <p:grpSpPr>
          <a:xfrm>
            <a:off x="4953000" y="1524000"/>
            <a:ext cx="3810000" cy="3048075"/>
            <a:chOff x="4953000" y="1524000"/>
            <a:chExt cx="3810000" cy="3048075"/>
          </a:xfrm>
        </p:grpSpPr>
        <p:sp>
          <p:nvSpPr>
            <p:cNvPr id="416" name="Google Shape;416;p45"/>
            <p:cNvSpPr/>
            <p:nvPr/>
          </p:nvSpPr>
          <p:spPr>
            <a:xfrm>
              <a:off x="4953000" y="1524000"/>
              <a:ext cx="3810000" cy="1381200"/>
            </a:xfrm>
            <a:prstGeom prst="roundRect">
              <a:avLst>
                <a:gd fmla="val 6896" name="adj"/>
              </a:avLst>
            </a:prstGeom>
            <a:solidFill>
              <a:srgbClr val="FFFFFF"/>
            </a:solidFill>
            <a:ln cap="flat" cmpd="sng" w="19050">
              <a:solidFill>
                <a:srgbClr val="F06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5"/>
            <p:cNvSpPr txBox="1"/>
            <p:nvPr/>
          </p:nvSpPr>
          <p:spPr>
            <a:xfrm>
              <a:off x="5143500" y="1666875"/>
              <a:ext cx="3429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Matplotlib</a:t>
              </a:r>
              <a:endParaRPr b="1" sz="2200">
                <a:solidFill>
                  <a:srgbClr val="D2336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The foundational library for static, animated, and interactive visualizations in Python.</a:t>
              </a:r>
              <a:endPara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8" name="Google Shape;418;p45"/>
            <p:cNvSpPr/>
            <p:nvPr/>
          </p:nvSpPr>
          <p:spPr>
            <a:xfrm>
              <a:off x="4953000" y="3190875"/>
              <a:ext cx="3810000" cy="1381200"/>
            </a:xfrm>
            <a:prstGeom prst="roundRect">
              <a:avLst>
                <a:gd fmla="val 6896" name="adj"/>
              </a:avLst>
            </a:prstGeom>
            <a:solidFill>
              <a:srgbClr val="FFFFFF"/>
            </a:solidFill>
            <a:ln cap="flat" cmpd="sng" w="19050">
              <a:solidFill>
                <a:srgbClr val="2A39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5"/>
            <p:cNvSpPr txBox="1"/>
            <p:nvPr/>
          </p:nvSpPr>
          <p:spPr>
            <a:xfrm>
              <a:off x="5143500" y="3333750"/>
              <a:ext cx="3429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2A3990"/>
                  </a:solidFill>
                  <a:latin typeface="Roboto"/>
                  <a:ea typeface="Roboto"/>
                  <a:cs typeface="Roboto"/>
                  <a:sym typeface="Roboto"/>
                </a:rPr>
                <a:t>Seaborn</a:t>
              </a:r>
              <a:endParaRPr b="1" sz="22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Built on top of Matplotlib, it provides a high-level interface for drawing attractive statistical graphics.</a:t>
              </a:r>
              <a:endPara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20" name="Google Shape;420;p4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for Data Visualization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6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6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Data</a:t>
            </a:r>
            <a:endParaRPr/>
          </a:p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617220" y="3257550"/>
            <a:ext cx="6652200" cy="411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2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6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9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Our Two Datasets</a:t>
            </a:r>
            <a:endParaRPr sz="2100"/>
          </a:p>
        </p:txBody>
      </p:sp>
      <p:sp>
        <p:nvSpPr>
          <p:cNvPr id="435" name="Google Shape;435;p47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USED IN EVERY EXAMPLE TODAY</a:t>
            </a:r>
            <a:endParaRPr sz="900"/>
          </a:p>
        </p:txBody>
      </p:sp>
      <p:sp>
        <p:nvSpPr>
          <p:cNvPr id="436" name="Google Shape;436;p47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Load once, plot all lecture</a:t>
            </a:r>
            <a:endParaRPr sz="1350"/>
          </a:p>
        </p:txBody>
      </p:sp>
      <p:pic>
        <p:nvPicPr>
          <p:cNvPr descr="car_head.png" id="437" name="Google Shape;43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959930"/>
            <a:ext cx="4090796" cy="1526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an_head.png" id="438" name="Google Shape;43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3000845"/>
            <a:ext cx="4090798" cy="13878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head.png" id="439" name="Google Shape;439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480" y="1371600"/>
            <a:ext cx="2523274" cy="605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an_head.png" id="440" name="Google Shape;440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2297430"/>
            <a:ext cx="2918393" cy="76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8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00 · FOUNDATIONS</a:t>
            </a:r>
            <a:endParaRPr sz="900"/>
          </a:p>
        </p:txBody>
      </p:sp>
      <p:sp>
        <p:nvSpPr>
          <p:cNvPr id="447" name="Google Shape;447;p4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Setup</a:t>
            </a:r>
            <a:endParaRPr sz="2100"/>
          </a:p>
        </p:txBody>
      </p:sp>
      <p:sp>
        <p:nvSpPr>
          <p:cNvPr id="448" name="Google Shape;448;p48"/>
          <p:cNvSpPr txBox="1"/>
          <p:nvPr>
            <p:ph idx="2" type="body"/>
          </p:nvPr>
        </p:nvSpPr>
        <p:spPr>
          <a:xfrm>
            <a:off x="480060" y="1062990"/>
            <a:ext cx="81609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Char char="•"/>
            </a:pPr>
            <a:r>
              <a:rPr lang="en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pandas</a:t>
            </a:r>
            <a:r>
              <a:rPr lang="en" sz="12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loads and reshapes the data — every plot starts from a DataFrame.</a:t>
            </a:r>
            <a:endParaRPr sz="1200"/>
          </a:p>
          <a:p>
            <a:pPr indent="-257175" lvl="0" marL="257175" rtl="0" algn="l">
              <a:spcBef>
                <a:spcPts val="840"/>
              </a:spcBef>
              <a:spcAft>
                <a:spcPts val="0"/>
              </a:spcAft>
              <a:buClr>
                <a:srgbClr val="D84568"/>
              </a:buClr>
              <a:buSzPts val="1200"/>
              <a:buChar char="•"/>
            </a:pPr>
            <a:r>
              <a:rPr lang="en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matplotlib.pyplot</a:t>
            </a:r>
            <a:r>
              <a:rPr lang="en" sz="12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(alias </a:t>
            </a:r>
            <a:r>
              <a:rPr lang="en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plt</a:t>
            </a:r>
            <a:r>
              <a:rPr lang="en" sz="12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 is the drawing engine; </a:t>
            </a:r>
            <a:r>
              <a:rPr lang="en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fig, ax = plt.subplots()</a:t>
            </a:r>
            <a:r>
              <a:rPr lang="en" sz="12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gives you a figure and its axes.</a:t>
            </a:r>
            <a:endParaRPr sz="1200"/>
          </a:p>
          <a:p>
            <a:pPr indent="-257175" lvl="0" marL="257175" rtl="0" algn="l">
              <a:spcBef>
                <a:spcPts val="840"/>
              </a:spcBef>
              <a:spcAft>
                <a:spcPts val="0"/>
              </a:spcAft>
              <a:buClr>
                <a:srgbClr val="D84568"/>
              </a:buClr>
              <a:buSzPts val="1200"/>
              <a:buChar char="•"/>
            </a:pPr>
            <a:r>
              <a:rPr lang="en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seaborn</a:t>
            </a:r>
            <a:r>
              <a:rPr lang="en" sz="12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(alias </a:t>
            </a:r>
            <a:r>
              <a:rPr lang="en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sns</a:t>
            </a:r>
            <a:r>
              <a:rPr lang="en" sz="12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 sits on top of Matplotlib — every Seaborn chart is still a Matplotlib figure, so </a:t>
            </a:r>
            <a:r>
              <a:rPr lang="en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plt.show()</a:t>
            </a:r>
            <a:r>
              <a:rPr lang="en" sz="12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displays both.</a:t>
            </a:r>
            <a:endParaRPr sz="1200"/>
          </a:p>
        </p:txBody>
      </p:sp>
      <p:pic>
        <p:nvPicPr>
          <p:cNvPr descr="setup.png" id="449" name="Google Shape;44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" y="2846070"/>
            <a:ext cx="2651350" cy="895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Bar Chart</a:t>
            </a:r>
            <a:endParaRPr sz="3000"/>
          </a:p>
        </p:txBody>
      </p:sp>
      <p:sp>
        <p:nvSpPr>
          <p:cNvPr id="455" name="Google Shape;455;p49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SECTION 01</a:t>
            </a:r>
            <a:endParaRPr sz="1050"/>
          </a:p>
        </p:txBody>
      </p:sp>
      <p:sp>
        <p:nvSpPr>
          <p:cNvPr id="456" name="Google Shape;456;p49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Compare a numeric total across categories — total sales price per car maker.</a:t>
            </a:r>
            <a:endParaRPr sz="112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0"/>
          <p:cNvSpPr txBox="1"/>
          <p:nvPr>
            <p:ph idx="2"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Chart with Matplotlib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1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Why a Bar Chart?</a:t>
            </a:r>
            <a:endParaRPr sz="2100"/>
          </a:p>
        </p:txBody>
      </p:sp>
      <p:sp>
        <p:nvSpPr>
          <p:cNvPr id="469" name="Google Shape;469;p51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BAR CHART · THE QUESTION</a:t>
            </a:r>
            <a:endParaRPr sz="900"/>
          </a:p>
        </p:txBody>
      </p:sp>
      <p:sp>
        <p:nvSpPr>
          <p:cNvPr id="470" name="Google Shape;470;p51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One row = one car sold</a:t>
            </a:r>
            <a:endParaRPr sz="1350"/>
          </a:p>
        </p:txBody>
      </p:sp>
      <p:sp>
        <p:nvSpPr>
          <p:cNvPr id="471" name="Google Shape;471;p51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Reading the raw transactions,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overall performance of each manufacturer is invisible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How many cars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did each manufacturer sell, and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how much revenue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did each generate?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Which manufacturer sold the most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overall?</a:t>
            </a:r>
            <a:endParaRPr sz="1050"/>
          </a:p>
        </p:txBody>
      </p:sp>
      <p:pic>
        <p:nvPicPr>
          <p:cNvPr descr="Jupyter card: card_q_car (slide 9, panel 1)" id="472" name="Google Shape;47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1666192"/>
            <a:ext cx="4022217" cy="1735679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51"/>
          <p:cNvSpPr/>
          <p:nvPr/>
        </p:nvSpPr>
        <p:spPr>
          <a:xfrm>
            <a:off x="411480" y="40462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Group the rows by manufacturer, total the prices, and a bar chart answers all three at a glance.</a:t>
            </a:r>
            <a:endParaRPr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2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Prepare the Data</a:t>
            </a:r>
            <a:endParaRPr sz="2100"/>
          </a:p>
        </p:txBody>
      </p:sp>
      <p:sp>
        <p:nvSpPr>
          <p:cNvPr id="480" name="Google Shape;480;p52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BAR CHART · MATPLOTLIB</a:t>
            </a:r>
            <a:endParaRPr sz="900"/>
          </a:p>
        </p:txBody>
      </p:sp>
      <p:sp>
        <p:nvSpPr>
          <p:cNvPr id="481" name="Google Shape;481;p52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Original → expected format</a:t>
            </a:r>
            <a:endParaRPr sz="1350"/>
          </a:p>
        </p:txBody>
      </p:sp>
      <p:sp>
        <p:nvSpPr>
          <p:cNvPr id="482" name="Google Shape;482;p52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Matplotlib wants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one number per bar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groupby("Make").sum()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turns 1,000 rows into 4.</a:t>
            </a:r>
            <a:endParaRPr sz="1050"/>
          </a:p>
        </p:txBody>
      </p:sp>
      <p:pic>
        <p:nvPicPr>
          <p:cNvPr descr="Jupyter card: card_bar_prep (slide 10, panel 1)" id="483" name="Google Shape;48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1596147"/>
            <a:ext cx="4022217" cy="18757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q_car (slide 10, left 1)" id="484" name="Google Shape;484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316146"/>
            <a:ext cx="3840480" cy="1657256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52"/>
          <p:cNvSpPr/>
          <p:nvPr/>
        </p:nvSpPr>
        <p:spPr>
          <a:xfrm>
            <a:off x="411480" y="44653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Remember this groupby — in a few slides Seaborn does it for you automatically.</a:t>
            </a:r>
            <a:endParaRPr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3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Bar · Basic Plot</a:t>
            </a:r>
            <a:endParaRPr sz="2100"/>
          </a:p>
        </p:txBody>
      </p:sp>
      <p:sp>
        <p:nvSpPr>
          <p:cNvPr id="492" name="Google Shape;492;p53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BAR CHART · MATPLOTLIB</a:t>
            </a:r>
            <a:endParaRPr sz="900"/>
          </a:p>
        </p:txBody>
      </p:sp>
      <p:sp>
        <p:nvSpPr>
          <p:cNvPr id="493" name="Google Shape;493;p53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Plotting the aggregated table</a:t>
            </a:r>
            <a:endParaRPr sz="1350"/>
          </a:p>
        </p:txBody>
      </p:sp>
      <p:sp>
        <p:nvSpPr>
          <p:cNvPr id="494" name="Google Shape;494;p53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50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ax.bar(x, height)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categories on x, totals as bar heights.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1050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total.index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holds the maker names,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total["Price"]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sums.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1050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plt.show()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renders the figure.</a:t>
            </a:r>
            <a:endParaRPr sz="1050"/>
          </a:p>
        </p:txBody>
      </p:sp>
      <p:pic>
        <p:nvPicPr>
          <p:cNvPr descr="Jupyter card: card_bar_mpl (slide 11, panel 1)" id="495" name="Google Shape;4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814973"/>
            <a:ext cx="4022217" cy="3438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total (slide 11, left 1)" id="496" name="Google Shape;496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33" y="2571756"/>
            <a:ext cx="3840480" cy="1657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4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Bar · Colors &amp; Title</a:t>
            </a:r>
            <a:endParaRPr sz="2100"/>
          </a:p>
        </p:txBody>
      </p:sp>
      <p:sp>
        <p:nvSpPr>
          <p:cNvPr id="503" name="Google Shape;503;p54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BAR CHART · MATPLOTLIB</a:t>
            </a:r>
            <a:endParaRPr sz="900"/>
          </a:p>
        </p:txBody>
      </p:sp>
      <p:sp>
        <p:nvSpPr>
          <p:cNvPr id="504" name="Google Shape;504;p54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Styling is manual</a:t>
            </a:r>
            <a:endParaRPr sz="1350"/>
          </a:p>
        </p:txBody>
      </p:sp>
      <p:sp>
        <p:nvSpPr>
          <p:cNvPr id="505" name="Google Shape;505;p54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50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color=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takes one color per bar — you list them yourself.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1050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ax.set_title()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adds the headline.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Every styling choice in Matplotlib is an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explicit argument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Jupyter card: card_bar_mpl_fmt (slide 12, panel 1)" id="506" name="Google Shape;50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584656"/>
            <a:ext cx="4022217" cy="38987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total (slide 12, left 1)" id="507" name="Google Shape;50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830114"/>
            <a:ext cx="3840480" cy="1657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5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5"/>
          <p:cNvSpPr txBox="1"/>
          <p:nvPr>
            <p:ph idx="2"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Chart with Seaborn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6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Seaborn countplot</a:t>
            </a:r>
            <a:endParaRPr sz="2100"/>
          </a:p>
        </p:txBody>
      </p:sp>
      <p:sp>
        <p:nvSpPr>
          <p:cNvPr id="520" name="Google Shape;520;p56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BAR CHART · SEABORN</a:t>
            </a:r>
            <a:endParaRPr sz="900"/>
          </a:p>
        </p:txBody>
      </p:sp>
      <p:sp>
        <p:nvSpPr>
          <p:cNvPr id="521" name="Google Shape;521;p56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No data prep at all</a:t>
            </a:r>
            <a:endParaRPr sz="1350"/>
          </a:p>
        </p:txBody>
      </p:sp>
      <p:sp>
        <p:nvSpPr>
          <p:cNvPr id="522" name="Google Shape;522;p56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sns.countplot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takes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raw DataFrame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no groupby.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It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counts rows per category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itself and labels the axes.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input on the left is the untouched raw table, not a summary.</a:t>
            </a:r>
            <a:endParaRPr sz="1050"/>
          </a:p>
        </p:txBody>
      </p:sp>
      <p:pic>
        <p:nvPicPr>
          <p:cNvPr descr="Jupyter card: card_sns_count (slide 13, panel 1)" id="523" name="Google Shape;52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955061"/>
            <a:ext cx="4022217" cy="3157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car3 (slide 13, left 1)" id="524" name="Google Shape;524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3085816"/>
            <a:ext cx="3840480" cy="1303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7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Seaborn barplot</a:t>
            </a:r>
            <a:endParaRPr sz="2100"/>
          </a:p>
        </p:txBody>
      </p:sp>
      <p:sp>
        <p:nvSpPr>
          <p:cNvPr id="531" name="Google Shape;531;p57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BAR CHART · SEABORN</a:t>
            </a:r>
            <a:endParaRPr sz="900"/>
          </a:p>
        </p:txBody>
      </p:sp>
      <p:sp>
        <p:nvSpPr>
          <p:cNvPr id="532" name="Google Shape;532;p57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Aggregation built in</a:t>
            </a:r>
            <a:endParaRPr sz="1350"/>
          </a:p>
        </p:txBody>
      </p:sp>
      <p:sp>
        <p:nvSpPr>
          <p:cNvPr id="533" name="Google Shape;533;p57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estimator="sum"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tells Seaborn to total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Price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per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Make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the groupby from earlier, done internally.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errorbar=None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hides the uncertainty whiskers.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Same chart as Matplotlib's, from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raw rows on the left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Jupyter card: card_sns_bar (slide 14, panel 1)" id="534" name="Google Shape;53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804288"/>
            <a:ext cx="4022217" cy="3459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car3 (slide 14, left 1)" id="535" name="Google Shape;535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3006950"/>
            <a:ext cx="3840480" cy="1303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8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Pie Chart</a:t>
            </a:r>
            <a:endParaRPr sz="3000"/>
          </a:p>
        </p:txBody>
      </p:sp>
      <p:sp>
        <p:nvSpPr>
          <p:cNvPr id="541" name="Google Shape;541;p58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SECTION 02</a:t>
            </a:r>
            <a:endParaRPr sz="1050"/>
          </a:p>
        </p:txBody>
      </p:sp>
      <p:sp>
        <p:nvSpPr>
          <p:cNvPr id="542" name="Google Shape;542;p58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Share of a whole — each maker's slice of total sales. (Matplotlib only: Seaborn has no pie chart.)</a:t>
            </a:r>
            <a:endParaRPr sz="112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9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Why a Pie Chart?</a:t>
            </a:r>
            <a:endParaRPr sz="2100"/>
          </a:p>
        </p:txBody>
      </p:sp>
      <p:sp>
        <p:nvSpPr>
          <p:cNvPr id="549" name="Google Shape;549;p59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PIE CHART · THE QUESTION</a:t>
            </a:r>
            <a:endParaRPr sz="900"/>
          </a:p>
        </p:txBody>
      </p:sp>
      <p:sp>
        <p:nvSpPr>
          <p:cNvPr id="550" name="Google Shape;550;p59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 four maker totals</a:t>
            </a:r>
            <a:endParaRPr sz="1350"/>
          </a:p>
        </p:txBody>
      </p:sp>
      <p:sp>
        <p:nvSpPr>
          <p:cNvPr id="551" name="Google Shape;551;p59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 bar chart compares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sizes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but not each maker's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share of the whole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What percentage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total revenue does each manufacturer hold?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Does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one manufacturer dominate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or is the market evenly split?</a:t>
            </a:r>
            <a:endParaRPr sz="1050"/>
          </a:p>
        </p:txBody>
      </p:sp>
      <p:pic>
        <p:nvPicPr>
          <p:cNvPr descr="Jupyter card: card_d_total (slide 16, panel 1)" id="552" name="Google Shape;55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1666192"/>
            <a:ext cx="4022217" cy="1735679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9"/>
          <p:cNvSpPr/>
          <p:nvPr/>
        </p:nvSpPr>
        <p:spPr>
          <a:xfrm>
            <a:off x="411480" y="40462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When the parts must add up to 100%, a pie chart shows the split better than bars.</a:t>
            </a:r>
            <a:endParaRPr sz="1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0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Prepare the Data</a:t>
            </a:r>
            <a:endParaRPr sz="2100"/>
          </a:p>
        </p:txBody>
      </p:sp>
      <p:sp>
        <p:nvSpPr>
          <p:cNvPr id="560" name="Google Shape;560;p60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PIE CHART · MATPLOTLIB</a:t>
            </a:r>
            <a:endParaRPr sz="900"/>
          </a:p>
        </p:txBody>
      </p:sp>
      <p:sp>
        <p:nvSpPr>
          <p:cNvPr id="561" name="Google Shape;561;p60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Original → expected format</a:t>
            </a:r>
            <a:endParaRPr sz="1350"/>
          </a:p>
        </p:txBody>
      </p:sp>
      <p:sp>
        <p:nvSpPr>
          <p:cNvPr id="562" name="Google Shape;562;p60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 pie needs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one value per slice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total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has it.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Each total ÷ grand total =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share of 100%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These are the numbers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autopct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will print.</a:t>
            </a:r>
            <a:endParaRPr sz="1050"/>
          </a:p>
        </p:txBody>
      </p:sp>
      <p:pic>
        <p:nvPicPr>
          <p:cNvPr descr="Jupyter card: card_pie_prep (slide 17, panel 1)" id="563" name="Google Shape;56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1596147"/>
            <a:ext cx="4022217" cy="18757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total (slide 17, left 1)" id="564" name="Google Shape;564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429303"/>
            <a:ext cx="3840480" cy="1657256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60"/>
          <p:cNvSpPr/>
          <p:nvPr/>
        </p:nvSpPr>
        <p:spPr>
          <a:xfrm>
            <a:off x="411480" y="44653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Toyota at 38.20% — watch for that exact number on the next slide.</a:t>
            </a:r>
            <a:endParaRPr sz="1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1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Pie · Basic Plot</a:t>
            </a:r>
            <a:endParaRPr sz="2100"/>
          </a:p>
        </p:txBody>
      </p:sp>
      <p:sp>
        <p:nvSpPr>
          <p:cNvPr id="572" name="Google Shape;572;p61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PIE CHART · MATPLOTLIB</a:t>
            </a:r>
            <a:endParaRPr sz="900"/>
          </a:p>
        </p:txBody>
      </p:sp>
      <p:sp>
        <p:nvSpPr>
          <p:cNvPr id="573" name="Google Shape;573;p61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Same aggregated table</a:t>
            </a:r>
            <a:endParaRPr sz="1350"/>
          </a:p>
        </p:txBody>
      </p:sp>
      <p:sp>
        <p:nvSpPr>
          <p:cNvPr id="574" name="Google Shape;574;p61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ax.pie(values, labels=...)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one slice per row of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total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 the left.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autopct="%.2f%%"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prints the percentage on each slice.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Seaborn has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 pie chart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pies stay a Matplotlib job.</a:t>
            </a:r>
            <a:endParaRPr sz="1050"/>
          </a:p>
        </p:txBody>
      </p:sp>
      <p:pic>
        <p:nvPicPr>
          <p:cNvPr descr="Jupyter card: card_pie_basic (slide 18, panel 1)" id="575" name="Google Shape;57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503927"/>
            <a:ext cx="4022217" cy="40602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total (slide 18, left 1)" id="576" name="Google Shape;576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908981"/>
            <a:ext cx="3840480" cy="1657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2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Pie · Styling</a:t>
            </a:r>
            <a:endParaRPr sz="2100"/>
          </a:p>
        </p:txBody>
      </p:sp>
      <p:sp>
        <p:nvSpPr>
          <p:cNvPr id="583" name="Google Shape;583;p62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PIE CHART · MATPLOTLIB</a:t>
            </a:r>
            <a:endParaRPr sz="900"/>
          </a:p>
        </p:txBody>
      </p:sp>
      <p:sp>
        <p:nvSpPr>
          <p:cNvPr id="584" name="Google Shape;584;p62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Styling arguments</a:t>
            </a:r>
            <a:endParaRPr sz="1350"/>
          </a:p>
        </p:txBody>
      </p:sp>
      <p:sp>
        <p:nvSpPr>
          <p:cNvPr id="585" name="Google Shape;585;p62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colors=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sets one color per slice, in data order.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shadow=True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adds depth under the pie.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startangle=90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rotates where the first slice begins.</a:t>
            </a:r>
            <a:endParaRPr sz="1050"/>
          </a:p>
        </p:txBody>
      </p:sp>
      <p:pic>
        <p:nvPicPr>
          <p:cNvPr descr="Jupyter card: card_pie_style (slide 19, panel 1)" id="586" name="Google Shape;58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303292"/>
            <a:ext cx="4022217" cy="4461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total (slide 19, left 1)" id="587" name="Google Shape;58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751248"/>
            <a:ext cx="3840480" cy="1657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3"/>
          <p:cNvSpPr txBox="1"/>
          <p:nvPr>
            <p:ph type="title"/>
          </p:nvPr>
        </p:nvSpPr>
        <p:spPr>
          <a:xfrm>
            <a:off x="265500" y="366250"/>
            <a:ext cx="40452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 Labeling </a:t>
            </a:r>
            <a:endParaRPr/>
          </a:p>
        </p:txBody>
      </p:sp>
      <p:sp>
        <p:nvSpPr>
          <p:cNvPr id="593" name="Google Shape;593;p63"/>
          <p:cNvSpPr txBox="1"/>
          <p:nvPr>
            <p:ph idx="1" type="subTitle"/>
          </p:nvPr>
        </p:nvSpPr>
        <p:spPr>
          <a:xfrm>
            <a:off x="265500" y="1171399"/>
            <a:ext cx="4045200" cy="28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4" name="Google Shape;59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847" y="1007400"/>
            <a:ext cx="3802226" cy="362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63"/>
          <p:cNvSpPr txBox="1"/>
          <p:nvPr>
            <p:ph idx="2" type="title"/>
          </p:nvPr>
        </p:nvSpPr>
        <p:spPr>
          <a:xfrm>
            <a:off x="4703725" y="362075"/>
            <a:ext cx="41769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Coloring Slices</a:t>
            </a:r>
            <a:endParaRPr/>
          </a:p>
        </p:txBody>
      </p:sp>
      <p:sp>
        <p:nvSpPr>
          <p:cNvPr id="596" name="Google Shape;596;p63"/>
          <p:cNvSpPr txBox="1"/>
          <p:nvPr>
            <p:ph idx="3" type="subTitle"/>
          </p:nvPr>
        </p:nvSpPr>
        <p:spPr>
          <a:xfrm>
            <a:off x="4835400" y="1185027"/>
            <a:ext cx="4045200" cy="28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7" name="Google Shape;597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9580" y="1831358"/>
            <a:ext cx="3802226" cy="2596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4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Pie · Explode &amp; Hatch</a:t>
            </a:r>
            <a:endParaRPr sz="2100"/>
          </a:p>
        </p:txBody>
      </p:sp>
      <p:sp>
        <p:nvSpPr>
          <p:cNvPr id="604" name="Google Shape;604;p64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PIE CHART · MATPLOTLIB</a:t>
            </a:r>
            <a:endParaRPr sz="900"/>
          </a:p>
        </p:txBody>
      </p:sp>
      <p:sp>
        <p:nvSpPr>
          <p:cNvPr id="605" name="Google Shape;605;p64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Highlighting one slice</a:t>
            </a:r>
            <a:endParaRPr sz="1350"/>
          </a:p>
        </p:txBody>
      </p:sp>
      <p:sp>
        <p:nvSpPr>
          <p:cNvPr id="606" name="Google Shape;606;p64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explode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offsets slices — here only Toyota (0.1) pops out.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hatch=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fills each slice with a texture pattern, useful for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black-and-white printing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Jupyter card: card_pie_explode (slide 20, panel 1)" id="607" name="Google Shape;60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363839"/>
            <a:ext cx="4022217" cy="4340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total (slide 20, left 1)" id="608" name="Google Shape;608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713528"/>
            <a:ext cx="3840480" cy="1657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5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Histogram</a:t>
            </a:r>
            <a:endParaRPr sz="3000"/>
          </a:p>
        </p:txBody>
      </p:sp>
      <p:sp>
        <p:nvSpPr>
          <p:cNvPr id="614" name="Google Shape;614;p65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SECTION 03</a:t>
            </a:r>
            <a:endParaRPr sz="1050"/>
          </a:p>
        </p:txBody>
      </p:sp>
      <p:sp>
        <p:nvSpPr>
          <p:cNvPr id="615" name="Google Shape;615;p65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The shape of one numeric column — how car prices are distributed.</a:t>
            </a:r>
            <a:endParaRPr sz="1125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6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Why a Histogram?</a:t>
            </a:r>
            <a:endParaRPr sz="2100"/>
          </a:p>
        </p:txBody>
      </p:sp>
      <p:sp>
        <p:nvSpPr>
          <p:cNvPr id="622" name="Google Shape;622;p66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HISTOGRAM · THE QUESTION</a:t>
            </a:r>
            <a:endParaRPr sz="900"/>
          </a:p>
        </p:txBody>
      </p:sp>
      <p:sp>
        <p:nvSpPr>
          <p:cNvPr id="623" name="Google Shape;623;p66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One column: 1,000 prices</a:t>
            </a:r>
            <a:endParaRPr sz="1350"/>
          </a:p>
        </p:txBody>
      </p:sp>
      <p:sp>
        <p:nvSpPr>
          <p:cNvPr id="624" name="Google Shape;624;p66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 total or an average hides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how the individual prices are spread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What is a typical price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and are most cars clustered around it?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Are there a few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unusually expensive cars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pulling the average up?</a:t>
            </a:r>
            <a:endParaRPr sz="1050"/>
          </a:p>
        </p:txBody>
      </p:sp>
      <p:pic>
        <p:nvPicPr>
          <p:cNvPr descr="Jupyter card: card_q_price (slide 22, panel 1)" id="625" name="Google Shape;62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1666192"/>
            <a:ext cx="4022217" cy="173567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66"/>
          <p:cNvSpPr/>
          <p:nvPr/>
        </p:nvSpPr>
        <p:spPr>
          <a:xfrm>
            <a:off x="411480" y="40462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Bucket the prices into ranges and count each bucket — that count per range is a histogram.</a:t>
            </a:r>
            <a:endParaRPr sz="10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67"/>
          <p:cNvSpPr txBox="1"/>
          <p:nvPr>
            <p:ph idx="2"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Histogram with Matplotlib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8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Prepare the Data</a:t>
            </a:r>
            <a:endParaRPr sz="2100"/>
          </a:p>
        </p:txBody>
      </p:sp>
      <p:sp>
        <p:nvSpPr>
          <p:cNvPr id="639" name="Google Shape;639;p68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HISTOGRAM · MATPLOTLIB</a:t>
            </a:r>
            <a:endParaRPr sz="900"/>
          </a:p>
        </p:txBody>
      </p:sp>
      <p:sp>
        <p:nvSpPr>
          <p:cNvPr id="640" name="Google Shape;640;p68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Check the column first</a:t>
            </a:r>
            <a:endParaRPr sz="1350"/>
          </a:p>
        </p:txBody>
      </p:sp>
      <p:sp>
        <p:nvSpPr>
          <p:cNvPr id="641" name="Google Shape;641;p68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One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raw numeric column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no groupby needed.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950 prices, not 1,000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50 are missing.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Min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2,796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median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14,297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max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52,458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Jupyter card: card_hist_prep (slide 23, panel 1)" id="642" name="Google Shape;64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1688748"/>
            <a:ext cx="4022217" cy="1690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q_price (slide 23, left 1)" id="643" name="Google Shape;643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429303"/>
            <a:ext cx="3840480" cy="1657256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68"/>
          <p:cNvSpPr/>
          <p:nvPr/>
        </p:nvSpPr>
        <p:spPr>
          <a:xfrm>
            <a:off x="411480" y="44653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Both libraries skip the missing prices — but you should know they're there.</a:t>
            </a:r>
            <a:endParaRPr sz="10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9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Histogram · Basic Plot</a:t>
            </a:r>
            <a:endParaRPr sz="2100"/>
          </a:p>
        </p:txBody>
      </p:sp>
      <p:sp>
        <p:nvSpPr>
          <p:cNvPr id="651" name="Google Shape;651;p69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HISTOGRAM · MATPLOTLIB</a:t>
            </a:r>
            <a:endParaRPr sz="900"/>
          </a:p>
        </p:txBody>
      </p:sp>
      <p:sp>
        <p:nvSpPr>
          <p:cNvPr id="652" name="Google Shape;652;p69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One raw column in</a:t>
            </a:r>
            <a:endParaRPr sz="1350"/>
          </a:p>
        </p:txBody>
      </p:sp>
      <p:sp>
        <p:nvSpPr>
          <p:cNvPr id="653" name="Google Shape;653;p69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plt.hist(column)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buckets values int</a:t>
            </a:r>
            <a:r>
              <a:rPr lang="en"/>
              <a:t>o bins	</a:t>
            </a:r>
            <a:endParaRPr/>
          </a:p>
          <a:p>
            <a:pPr indent="-150876" lvl="0" marL="205740" marR="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819"/>
              <a:buChar char="●"/>
            </a:pPr>
            <a:r>
              <a:rPr lang="en"/>
              <a:t>10 bins by default and counts each bucket.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No prep needed — the input on the left is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raw Price column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right tail shows a few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expensive outlier cars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Jupyter card: card_hist_mpl (slide 24, panel 1)" id="654" name="Google Shape;65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968121"/>
            <a:ext cx="4022217" cy="3131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price (slide 24, left 1)" id="655" name="Google Shape;655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3006950"/>
            <a:ext cx="3840480" cy="1303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0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Bins &amp; Axis Ranges</a:t>
            </a:r>
            <a:endParaRPr sz="2100"/>
          </a:p>
        </p:txBody>
      </p:sp>
      <p:sp>
        <p:nvSpPr>
          <p:cNvPr id="662" name="Google Shape;662;p70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HISTOGRAM · MATPLOTLIB</a:t>
            </a:r>
            <a:endParaRPr sz="900"/>
          </a:p>
        </p:txBody>
      </p:sp>
      <p:sp>
        <p:nvSpPr>
          <p:cNvPr id="663" name="Google Shape;663;p70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Controlling the view</a:t>
            </a:r>
            <a:endParaRPr sz="1350"/>
          </a:p>
        </p:txBody>
      </p:sp>
      <p:sp>
        <p:nvSpPr>
          <p:cNvPr id="664" name="Google Shape;664;p70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bins=30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more bins, finer detail.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plt.xlim / plt.ylim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clip the axes to the region you care about.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Zooming to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0–40,000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drops the outlier tail from view.</a:t>
            </a:r>
            <a:endParaRPr sz="1050"/>
          </a:p>
        </p:txBody>
      </p:sp>
      <p:pic>
        <p:nvPicPr>
          <p:cNvPr descr="Jupyter card: card_hist_bins (slide 25, panel 1)" id="665" name="Google Shape;66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860086"/>
            <a:ext cx="4022217" cy="3347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price (slide 25, left 1)" id="666" name="Google Shape;666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3006950"/>
            <a:ext cx="3840480" cy="1303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1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71"/>
          <p:cNvSpPr txBox="1"/>
          <p:nvPr>
            <p:ph idx="2"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Histogram with Seaborn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2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Histogram · Seaborn</a:t>
            </a:r>
            <a:endParaRPr sz="2100"/>
          </a:p>
        </p:txBody>
      </p:sp>
      <p:sp>
        <p:nvSpPr>
          <p:cNvPr id="679" name="Google Shape;679;p72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HISTOGRAM · SEABORN</a:t>
            </a:r>
            <a:endParaRPr sz="900"/>
          </a:p>
        </p:txBody>
      </p:sp>
      <p:sp>
        <p:nvSpPr>
          <p:cNvPr id="680" name="Google Shape;680;p72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Same idea, nicer defaults</a:t>
            </a:r>
            <a:endParaRPr sz="1350"/>
          </a:p>
        </p:txBody>
      </p:sp>
      <p:sp>
        <p:nvSpPr>
          <p:cNvPr id="681" name="Google Shape;681;p72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sns.histplot(data=..., x=...)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DataFrame plus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column name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not an extracted array.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Sensible bin count, labeled axes, styled bars —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for free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Jupyter card: card_sns_hist (slide 26, panel 1)" id="682" name="Google Shape;682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955061"/>
            <a:ext cx="4022217" cy="3157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price (slide 26, left 1)" id="683" name="Google Shape;683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890364"/>
            <a:ext cx="3840480" cy="1303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3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KDE + Groups</a:t>
            </a:r>
            <a:endParaRPr sz="2100"/>
          </a:p>
        </p:txBody>
      </p:sp>
      <p:sp>
        <p:nvSpPr>
          <p:cNvPr id="690" name="Google Shape;690;p73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HISTOGRAM · SEABORN</a:t>
            </a:r>
            <a:endParaRPr sz="900"/>
          </a:p>
        </p:txBody>
      </p:sp>
      <p:sp>
        <p:nvSpPr>
          <p:cNvPr id="691" name="Google Shape;691;p73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Where Seaborn pulls ahead</a:t>
            </a:r>
            <a:endParaRPr sz="1350"/>
          </a:p>
        </p:txBody>
      </p:sp>
      <p:sp>
        <p:nvSpPr>
          <p:cNvPr id="692" name="Google Shape;692;p73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kde=True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overlays a smooth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density curve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 the bars.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hue="Make"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splits the histogram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per maker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note the input now carries the Make column.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Doing this in Matplotlib means loops and manual legends.</a:t>
            </a:r>
            <a:endParaRPr sz="1050"/>
          </a:p>
        </p:txBody>
      </p:sp>
      <p:pic>
        <p:nvPicPr>
          <p:cNvPr descr="Jupyter card: card_sns_hist_kde (slide 27, panel 1)" id="693" name="Google Shape;69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866022"/>
            <a:ext cx="4022217" cy="3336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makeprice (slide 27, left 1)" id="694" name="Google Shape;694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3085816"/>
            <a:ext cx="3840480" cy="1303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4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Scatter Plot</a:t>
            </a:r>
            <a:endParaRPr sz="3000"/>
          </a:p>
        </p:txBody>
      </p:sp>
      <p:sp>
        <p:nvSpPr>
          <p:cNvPr id="700" name="Google Shape;700;p74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SECTION 04</a:t>
            </a:r>
            <a:endParaRPr sz="1050"/>
          </a:p>
        </p:txBody>
      </p:sp>
      <p:sp>
        <p:nvSpPr>
          <p:cNvPr id="701" name="Google Shape;701;p74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Relationship between two numerics — does mileage push the price down?</a:t>
            </a:r>
            <a:endParaRPr sz="1125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5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Why a Scatter Plot?</a:t>
            </a:r>
            <a:endParaRPr sz="2100"/>
          </a:p>
        </p:txBody>
      </p:sp>
      <p:sp>
        <p:nvSpPr>
          <p:cNvPr id="708" name="Google Shape;708;p75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SCATTER · THE QUESTION</a:t>
            </a:r>
            <a:endParaRPr sz="900"/>
          </a:p>
        </p:txBody>
      </p:sp>
      <p:sp>
        <p:nvSpPr>
          <p:cNvPr id="709" name="Google Shape;709;p75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Two numbers per car</a:t>
            </a:r>
            <a:endParaRPr sz="1350"/>
          </a:p>
        </p:txBody>
      </p:sp>
      <p:sp>
        <p:nvSpPr>
          <p:cNvPr id="710" name="Google Shape;710;p75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Buyers assume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high mileage means a cheaper car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does the data agree?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Does price fall as the odometer rises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and how strong is the link?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Do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different manufacturers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follow the same pattern?</a:t>
            </a:r>
            <a:endParaRPr sz="1050"/>
          </a:p>
        </p:txBody>
      </p:sp>
      <p:pic>
        <p:nvPicPr>
          <p:cNvPr descr="Jupyter card: card_q_scat (slide 29, panel 1)" id="711" name="Google Shape;71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1666192"/>
            <a:ext cx="4022217" cy="1735679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75"/>
          <p:cNvSpPr/>
          <p:nvPr/>
        </p:nvSpPr>
        <p:spPr>
          <a:xfrm>
            <a:off x="411480" y="40462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Plot one dot per car with mileage on x and price on y — the shape of the cloud is the answer.</a:t>
            </a:r>
            <a:endParaRPr sz="10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76"/>
          <p:cNvSpPr txBox="1"/>
          <p:nvPr>
            <p:ph idx="2"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Scatterplot with Matplotlib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7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Scatter · Basic Plot</a:t>
            </a:r>
            <a:endParaRPr sz="2100"/>
          </a:p>
        </p:txBody>
      </p:sp>
      <p:sp>
        <p:nvSpPr>
          <p:cNvPr id="725" name="Google Shape;725;p77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SCATTER · MATPLOTLIB</a:t>
            </a:r>
            <a:endParaRPr sz="900"/>
          </a:p>
        </p:txBody>
      </p:sp>
      <p:sp>
        <p:nvSpPr>
          <p:cNvPr id="726" name="Google Shape;726;p77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x column vs y column</a:t>
            </a:r>
            <a:endParaRPr sz="1350"/>
          </a:p>
        </p:txBody>
      </p:sp>
      <p:sp>
        <p:nvSpPr>
          <p:cNvPr id="727" name="Google Shape;727;p77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plt.scatter(x, y)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one dot per row of the table on the left.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Clear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downward trend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more kilometers, lower price.</a:t>
            </a:r>
            <a:endParaRPr sz="1050"/>
          </a:p>
        </p:txBody>
      </p:sp>
      <p:pic>
        <p:nvPicPr>
          <p:cNvPr descr="Jupyter card: card_scat_mpl (slide 31, panel 1)" id="728" name="Google Shape;728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1013234"/>
            <a:ext cx="4022217" cy="3041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scat (slide 31, left 1)" id="729" name="Google Shape;729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890364"/>
            <a:ext cx="3840480" cy="1303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78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Color by Category</a:t>
            </a:r>
            <a:endParaRPr sz="2100"/>
          </a:p>
        </p:txBody>
      </p:sp>
      <p:sp>
        <p:nvSpPr>
          <p:cNvPr id="736" name="Google Shape;736;p78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SCATTER · MATPLOTLIB</a:t>
            </a:r>
            <a:endParaRPr sz="900"/>
          </a:p>
        </p:txBody>
      </p:sp>
      <p:sp>
        <p:nvSpPr>
          <p:cNvPr id="737" name="Google Shape;737;p78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 manual way</a:t>
            </a:r>
            <a:endParaRPr sz="1350"/>
          </a:p>
        </p:txBody>
      </p:sp>
      <p:sp>
        <p:nvSpPr>
          <p:cNvPr id="738" name="Google Shape;738;p78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Matplotlib has no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hue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concept like </a:t>
            </a:r>
            <a:r>
              <a:rPr lang="en"/>
              <a:t>Seaborn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you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loop over categories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call scatter once per maker.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label=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plt.legend()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assembles the legend by hand.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Remember this loop: Seaborn deletes it next slide.</a:t>
            </a:r>
            <a:endParaRPr sz="1050"/>
          </a:p>
        </p:txBody>
      </p:sp>
      <p:pic>
        <p:nvPicPr>
          <p:cNvPr descr="Jupyter card: card_scat_loop (slide 32, panel 1)" id="739" name="Google Shape;739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733056"/>
            <a:ext cx="4022217" cy="360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scat (slide 32, left 1)" id="740" name="Google Shape;740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3006950"/>
            <a:ext cx="3840480" cy="1303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9"/>
          <p:cNvSpPr txBox="1"/>
          <p:nvPr>
            <p:ph type="title"/>
          </p:nvPr>
        </p:nvSpPr>
        <p:spPr>
          <a:xfrm>
            <a:off x="265500" y="366250"/>
            <a:ext cx="40452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 Dataset for smaller size</a:t>
            </a:r>
            <a:endParaRPr/>
          </a:p>
        </p:txBody>
      </p:sp>
      <p:sp>
        <p:nvSpPr>
          <p:cNvPr id="746" name="Google Shape;746;p79"/>
          <p:cNvSpPr txBox="1"/>
          <p:nvPr>
            <p:ph idx="1" type="subTitle"/>
          </p:nvPr>
        </p:nvSpPr>
        <p:spPr>
          <a:xfrm>
            <a:off x="265500" y="1171399"/>
            <a:ext cx="4045200" cy="28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7" name="Google Shape;74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675" y="1326850"/>
            <a:ext cx="3669676" cy="362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79"/>
          <p:cNvPicPr preferRelativeResize="0"/>
          <p:nvPr/>
        </p:nvPicPr>
        <p:blipFill rotWithShape="1">
          <a:blip r:embed="rId4">
            <a:alphaModFix/>
          </a:blip>
          <a:srcRect b="0" l="0" r="0" t="11269"/>
          <a:stretch/>
        </p:blipFill>
        <p:spPr>
          <a:xfrm>
            <a:off x="5438225" y="2837475"/>
            <a:ext cx="3059825" cy="21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2900" y="56175"/>
            <a:ext cx="2800202" cy="22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8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80"/>
          <p:cNvSpPr txBox="1"/>
          <p:nvPr>
            <p:ph idx="2"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Scatterplot with Seaborn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81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Scatter · Seaborn</a:t>
            </a:r>
            <a:endParaRPr sz="2100"/>
          </a:p>
        </p:txBody>
      </p:sp>
      <p:sp>
        <p:nvSpPr>
          <p:cNvPr id="762" name="Google Shape;762;p81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SCATTER · SEABORN</a:t>
            </a:r>
            <a:endParaRPr sz="900"/>
          </a:p>
        </p:txBody>
      </p:sp>
      <p:sp>
        <p:nvSpPr>
          <p:cNvPr id="763" name="Google Shape;763;p81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hue replaces the loop</a:t>
            </a:r>
            <a:endParaRPr sz="1350"/>
          </a:p>
        </p:txBody>
      </p:sp>
      <p:sp>
        <p:nvSpPr>
          <p:cNvPr id="764" name="Google Shape;764;p81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hue="Make"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colors the points per maker —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one line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instead of a for-loop.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Legend, palette, axis labels: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automatic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Same input table, a third of the code.</a:t>
            </a:r>
            <a:endParaRPr sz="1050"/>
          </a:p>
        </p:txBody>
      </p:sp>
      <p:pic>
        <p:nvPicPr>
          <p:cNvPr descr="Jupyter card: card_sns_scatter (slide 33, panel 1)" id="765" name="Google Shape;76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928943"/>
            <a:ext cx="4022217" cy="321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scat (slide 33, left 1)" id="766" name="Google Shape;766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685004"/>
            <a:ext cx="3840480" cy="1303587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81"/>
          <p:cNvSpPr/>
          <p:nvPr/>
        </p:nvSpPr>
        <p:spPr>
          <a:xfrm>
            <a:off x="411480" y="44653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hue also works on histplot, lineplot, boxplot… learn it once, use it everywhere.</a:t>
            </a:r>
            <a:endParaRPr sz="105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82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Line Chart</a:t>
            </a:r>
            <a:endParaRPr sz="3000"/>
          </a:p>
        </p:txBody>
      </p:sp>
      <p:sp>
        <p:nvSpPr>
          <p:cNvPr id="773" name="Google Shape;773;p82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SECTION 05</a:t>
            </a:r>
            <a:endParaRPr sz="1050"/>
          </a:p>
        </p:txBody>
      </p:sp>
      <p:sp>
        <p:nvSpPr>
          <p:cNvPr id="774" name="Google Shape;774;p82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A value over time — how loan interest rates moved through 2018.</a:t>
            </a:r>
            <a:endParaRPr sz="1125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83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Why a Line Chart?</a:t>
            </a:r>
            <a:endParaRPr sz="2100"/>
          </a:p>
        </p:txBody>
      </p:sp>
      <p:sp>
        <p:nvSpPr>
          <p:cNvPr id="781" name="Google Shape;781;p83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LINE CHART · THE QUESTION</a:t>
            </a:r>
            <a:endParaRPr sz="900"/>
          </a:p>
        </p:txBody>
      </p:sp>
      <p:sp>
        <p:nvSpPr>
          <p:cNvPr id="782" name="Google Shape;782;p83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49,523 loans, one per row</a:t>
            </a:r>
            <a:endParaRPr sz="1350"/>
          </a:p>
        </p:txBody>
      </p:sp>
      <p:sp>
        <p:nvSpPr>
          <p:cNvPr id="783" name="Google Shape;783;p83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rows arrive in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 particular order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so any trend over the year is hidden.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Did interest rates rise or fall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through 2018?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Do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36-month and 60-month loans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move together?</a:t>
            </a:r>
            <a:endParaRPr sz="1050"/>
          </a:p>
        </p:txBody>
      </p:sp>
      <p:pic>
        <p:nvPicPr>
          <p:cNvPr descr="Jupyter card: card_q_loans (slide 35, panel 1)" id="784" name="Google Shape;784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1666192"/>
            <a:ext cx="4022217" cy="1735679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83"/>
          <p:cNvSpPr/>
          <p:nvPr/>
        </p:nvSpPr>
        <p:spPr>
          <a:xfrm>
            <a:off x="411480" y="40462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Average the rate per month, then connect the months in order — that is a line chart.</a:t>
            </a:r>
            <a:endParaRPr sz="105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4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Prepare the Data</a:t>
            </a:r>
            <a:endParaRPr sz="2100"/>
          </a:p>
        </p:txBody>
      </p:sp>
      <p:sp>
        <p:nvSpPr>
          <p:cNvPr id="792" name="Google Shape;792;p84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LINE CHART · MATPLOTLIB</a:t>
            </a:r>
            <a:endParaRPr sz="900"/>
          </a:p>
        </p:txBody>
      </p:sp>
      <p:sp>
        <p:nvSpPr>
          <p:cNvPr id="793" name="Google Shape;793;p84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Original → expected format</a:t>
            </a:r>
            <a:endParaRPr sz="1350"/>
          </a:p>
        </p:txBody>
      </p:sp>
      <p:sp>
        <p:nvSpPr>
          <p:cNvPr id="794" name="Google Shape;794;p84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pd.to_datetime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turns "Aug-18" into real dates.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groupby("issue_d").mean()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one rate per month.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49,523 rows in,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12 rows out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Jupyter card: card_line_prep (slide 36, panel 1)" id="795" name="Google Shape;795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1293412"/>
            <a:ext cx="4022217" cy="2481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loan_head (slide 36, left 1)" id="796" name="Google Shape;796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559025"/>
            <a:ext cx="3840480" cy="1883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85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85"/>
          <p:cNvSpPr txBox="1"/>
          <p:nvPr>
            <p:ph idx="2"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Chart with Matplotlib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86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Line · Basic Plot</a:t>
            </a:r>
            <a:endParaRPr sz="2100"/>
          </a:p>
        </p:txBody>
      </p:sp>
      <p:sp>
        <p:nvSpPr>
          <p:cNvPr id="809" name="Google Shape;809;p86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LINE CHART · MATPLOTLIB</a:t>
            </a:r>
            <a:endParaRPr sz="900"/>
          </a:p>
        </p:txBody>
      </p:sp>
      <p:sp>
        <p:nvSpPr>
          <p:cNvPr id="810" name="Google Shape;810;p86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Markers, color, line style</a:t>
            </a:r>
            <a:endParaRPr sz="1350"/>
          </a:p>
        </p:txBody>
      </p:sp>
      <p:sp>
        <p:nvSpPr>
          <p:cNvPr id="811" name="Google Shape;811;p86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plt.plot(x, y)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connects the monthly points on the left in order.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marker="o"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dots each data point; </a:t>
            </a:r>
            <a:endParaRPr sz="105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linestyle="--"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dashes the line, other linestyle</a:t>
            </a:r>
            <a:r>
              <a:rPr lang="en"/>
              <a:t>(</a:t>
            </a:r>
            <a:r>
              <a:rPr lang="en">
                <a:solidFill>
                  <a:srgbClr val="D84568"/>
                </a:solidFill>
              </a:rPr>
              <a:t>"-*", "-o"</a:t>
            </a:r>
            <a:r>
              <a:rPr lang="en"/>
              <a:t>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; </a:t>
            </a:r>
            <a:endParaRPr sz="105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color=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names any color.</a:t>
            </a:r>
            <a:endParaRPr sz="1050"/>
          </a:p>
        </p:txBody>
      </p:sp>
      <p:pic>
        <p:nvPicPr>
          <p:cNvPr descr="Jupyter card: card_line_mpl (slide 37, panel 1)" id="812" name="Google Shape;81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831593"/>
            <a:ext cx="4022217" cy="340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monthly (slide 37, left 1)" id="813" name="Google Shape;813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801946"/>
            <a:ext cx="3840480" cy="1480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87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Line · Multiple Series</a:t>
            </a:r>
            <a:endParaRPr sz="2100"/>
          </a:p>
        </p:txBody>
      </p:sp>
      <p:sp>
        <p:nvSpPr>
          <p:cNvPr id="820" name="Google Shape;820;p87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LINE CHART · MATPLOTLIB</a:t>
            </a:r>
            <a:endParaRPr sz="900"/>
          </a:p>
        </p:txBody>
      </p:sp>
      <p:sp>
        <p:nvSpPr>
          <p:cNvPr id="821" name="Google Shape;821;p87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One plot call per line</a:t>
            </a:r>
            <a:endParaRPr sz="1350"/>
          </a:p>
        </p:txBody>
      </p:sp>
      <p:sp>
        <p:nvSpPr>
          <p:cNvPr id="822" name="Google Shape;822;p87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Filter, aggregate, and plot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each term separately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36 vs 60-month loans.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plt.legend()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collects the labels.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Two prepared Series on the left →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two lines on the right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Jupyter card: card_line_multi (slide 38, panel 1)" id="823" name="Google Shape;823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318725"/>
            <a:ext cx="4022217" cy="4430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terms (slide 38, left 1)" id="824" name="Google Shape;824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851652"/>
            <a:ext cx="3840480" cy="1614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8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88"/>
          <p:cNvSpPr txBox="1"/>
          <p:nvPr>
            <p:ph idx="2"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Chart with Seaborn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89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Line · Seaborn</a:t>
            </a:r>
            <a:endParaRPr sz="2100"/>
          </a:p>
        </p:txBody>
      </p:sp>
      <p:sp>
        <p:nvSpPr>
          <p:cNvPr id="837" name="Google Shape;837;p89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LINE CHART · SEABORN</a:t>
            </a:r>
            <a:endParaRPr sz="900"/>
          </a:p>
        </p:txBody>
      </p:sp>
      <p:sp>
        <p:nvSpPr>
          <p:cNvPr id="838" name="Google Shape;838;p89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Raw 49,523 rows straight in</a:t>
            </a:r>
            <a:endParaRPr sz="1350"/>
          </a:p>
        </p:txBody>
      </p:sp>
      <p:sp>
        <p:nvSpPr>
          <p:cNvPr id="839" name="Google Shape;839;p89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No to_datetime groupby pipeline —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sns.lineplot aggregates per month itself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hue="term"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draws both loan terms with a legend.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shaded band is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95% confidence interval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free statistics.</a:t>
            </a:r>
            <a:endParaRPr sz="1050"/>
          </a:p>
        </p:txBody>
      </p:sp>
      <p:pic>
        <p:nvPicPr>
          <p:cNvPr descr="Jupyter card: card_sns_line (slide 39, panel 1)" id="840" name="Google Shape;840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866022"/>
            <a:ext cx="4022217" cy="3336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loansline (slide 39, left 1)" id="841" name="Google Shape;841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763872"/>
            <a:ext cx="3840480" cy="1303587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89"/>
          <p:cNvSpPr/>
          <p:nvPr/>
        </p:nvSpPr>
        <p:spPr>
          <a:xfrm>
            <a:off x="411480" y="44653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band needs the raw rows to compute spread — pre-aggregated data can't produce it.</a:t>
            </a:r>
            <a:endParaRPr sz="10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90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Chart Formatting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90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90"/>
          <p:cNvSpPr txBox="1"/>
          <p:nvPr>
            <p:ph idx="2" type="body"/>
          </p:nvPr>
        </p:nvSpPr>
        <p:spPr>
          <a:xfrm>
            <a:off x="617220" y="3257550"/>
            <a:ext cx="6652200" cy="411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2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90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9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91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Formatting Any Chart</a:t>
            </a:r>
            <a:endParaRPr sz="2100"/>
          </a:p>
        </p:txBody>
      </p:sp>
      <p:sp>
        <p:nvSpPr>
          <p:cNvPr id="857" name="Google Shape;857;p91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WORKS FOR BOTH LIBRARIES</a:t>
            </a:r>
            <a:endParaRPr sz="900"/>
          </a:p>
        </p:txBody>
      </p:sp>
      <p:sp>
        <p:nvSpPr>
          <p:cNvPr id="858" name="Google Shape;858;p91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Title, labels, size</a:t>
            </a:r>
            <a:endParaRPr sz="1350"/>
          </a:p>
        </p:txBody>
      </p:sp>
      <p:sp>
        <p:nvSpPr>
          <p:cNvPr id="859" name="Google Shape;859;p91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figsize=(8, 4)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sets width × height in inches.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set_title / set_xlabel / set_ylabel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no chart ships without them.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Seaborn charts are Matplotlib axes, so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the same calls work on both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Jupyter card: card_fmt (slide 53, panel 1)" id="860" name="Google Shape;860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880268"/>
            <a:ext cx="4022217" cy="330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total (slide 53, left 1)" id="861" name="Google Shape;861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2830114"/>
            <a:ext cx="3840480" cy="1657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92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Subplots Dashboard</a:t>
            </a:r>
            <a:endParaRPr sz="2100"/>
          </a:p>
        </p:txBody>
      </p:sp>
      <p:sp>
        <p:nvSpPr>
          <p:cNvPr id="868" name="Google Shape;868;p92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WORKS FOR BOTH LIBRARIES</a:t>
            </a:r>
            <a:endParaRPr sz="900"/>
          </a:p>
        </p:txBody>
      </p:sp>
      <p:sp>
        <p:nvSpPr>
          <p:cNvPr id="869" name="Google Shape;869;p92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One figure, four axes</a:t>
            </a:r>
            <a:endParaRPr sz="1350"/>
          </a:p>
        </p:txBody>
      </p:sp>
      <p:sp>
        <p:nvSpPr>
          <p:cNvPr id="870" name="Google Shape;870;p92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plt.subplots(2, 2)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returns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grid of axes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; index with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ax[row, col]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Each cell takes any chart from today — a one-figure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dashboard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Jupyter card: card_subplots (slide 54, panel 1)" id="871" name="Google Shape;871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752051"/>
            <a:ext cx="4022217" cy="3563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93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Themes &amp; Palettes</a:t>
            </a:r>
            <a:endParaRPr sz="2100"/>
          </a:p>
        </p:txBody>
      </p:sp>
      <p:sp>
        <p:nvSpPr>
          <p:cNvPr id="878" name="Google Shape;878;p93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SEABORN EXTRAS</a:t>
            </a:r>
            <a:endParaRPr sz="900"/>
          </a:p>
        </p:txBody>
      </p:sp>
      <p:sp>
        <p:nvSpPr>
          <p:cNvPr id="879" name="Google Shape;879;p93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Restyle every chart at once</a:t>
            </a:r>
            <a:endParaRPr sz="1350"/>
          </a:p>
        </p:txBody>
      </p:sp>
      <p:sp>
        <p:nvSpPr>
          <p:cNvPr id="880" name="Google Shape;880;p93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sns.set_theme()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changes the look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globally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every later figure inherits it, Matplotlib ones included.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style=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controls the background grid;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palette=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color cycle.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Same data and same boxplot code — only the theme line changed.</a:t>
            </a:r>
            <a:endParaRPr sz="1050"/>
          </a:p>
        </p:txBody>
      </p:sp>
      <p:pic>
        <p:nvPicPr>
          <p:cNvPr descr="Jupyter card: card_sns_theme (slide 52, panel 1)" id="881" name="Google Shape;881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5177" y="654701"/>
            <a:ext cx="4022217" cy="37586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yter card: card_d_grade (slide 52, left 1)" id="882" name="Google Shape;882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" y="3164683"/>
            <a:ext cx="3840480" cy="1303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