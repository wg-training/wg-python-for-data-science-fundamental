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5143500" cx="9144000"/>
  <p:notesSz cx="6858000" cy="9144000"/>
  <p:embeddedFontLst>
    <p:embeddedFont>
      <p:font typeface="Robot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62">
          <p15:clr>
            <a:srgbClr val="747775"/>
          </p15:clr>
        </p15:guide>
        <p15:guide id="2" pos="2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62" orient="horz"/>
        <p:guide pos="25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Roboto-bold.fntdata"/><Relationship Id="rId14" Type="http://schemas.openxmlformats.org/officeDocument/2006/relationships/slide" Target="slides/slide9.xml"/><Relationship Id="rId36" Type="http://schemas.openxmlformats.org/officeDocument/2006/relationships/font" Target="fonts/Roboto-regular.fntdata"/><Relationship Id="rId17" Type="http://schemas.openxmlformats.org/officeDocument/2006/relationships/slide" Target="slides/slide12.xml"/><Relationship Id="rId39" Type="http://schemas.openxmlformats.org/officeDocument/2006/relationships/font" Target="fonts/Roboto-boldItalic.fntdata"/><Relationship Id="rId16" Type="http://schemas.openxmlformats.org/officeDocument/2006/relationships/slide" Target="slides/slide11.xml"/><Relationship Id="rId38" Type="http://schemas.openxmlformats.org/officeDocument/2006/relationships/font" Target="fonts/Roboto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6f147c24ea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6f147c24ea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192f414a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e192f414a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192f414a7_1_1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192f414a7_1_1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6f147c24e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6f147c24e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 = [1, 2, 3, 4, 5]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numbers[0]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fruits[1]   # 'banana'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6f147c24ea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26f147c24ea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 = [1, 2, 3, 4, 5]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numbers[0]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fruits[1]   # 'banana'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mixed_list[3]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raises IndexError: list index out of range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192f414a7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e192f414a7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fruits.append('mango')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'banana',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fruits.insert(1, 'kiwi')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'kiwi', 'banana',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fruits.remove('banana')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'kiwi',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fruits.pop(0)   # 'apple'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800344a18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f800344a18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fruits.sort()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['kiwi', 'mango',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fruits.reverse()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['orange', 'mango', 'kiwi']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fruits.index('mango')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fruits.count('kiwi')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len(fruits)   # 3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192f414a7_1_15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e192f414a7_1_15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6f147c24ea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6f147c24ea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dictionaries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6f147c24ea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6f147c24e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dictionaries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person["name"]   # 'John'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person["age"]   # 25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person["dob"]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raises KeyError: 'dob'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800344a18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f800344a18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person.keys()   # dict_keys(['name', 'age', 'gender'])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person.values()   # dict_values(['John', 25, 'Male'])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person.items()   # dict_items([('name', 'John'), ('age', 25), ('gender', 'Male')])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</a:rPr>
              <a:t>person.get('age')   # 25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800344a18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800344a18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person.update({'age': 26})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26,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person.pop('gender')   # 'Male'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len(person)   # 2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person.clear()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192f414a7_1_1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e192f414a7_1_1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6f147c24ea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6f147c24ea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tuples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coordinates = (10, 20)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person_info = ('John', 25, 'Male')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coordinates[0]   # 10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person_info[2]   # 'Male'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192f414a7_1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e192f414a7_1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192f414a7_1_1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e192f414a7_1_1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192f414a7_1_10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e192f414a7_1_10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00344a18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f800344a18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{'apple', 'banana', 'orange'}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citrus = {'orange', 'lemon'}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fruits.add('mango')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'banana', 'orange', 'mango'}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fruits.remove('banana')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'orange', 'mango'}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fruits.discard('kiwi')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'orange', 'mango'}  # no error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fruits.pop()   # # removes &amp; returns a random element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800344a18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800344a18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fruits.union(citrus)   # {'apple', 'orange', 'mango', 'lemon'}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fruits.intersection(citrus)   # {'orange'}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fruits.difference(citrus)   # {'apple', 'mango'}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len(fruits)   #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800344a18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f800344a18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813067c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f813067c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800344a18_0_38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g3f800344a18_0_38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 = ['bread', 'milk', 'eggs']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groceries.append('butter')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groceries.insert(1, 'cheese')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groceries.remove('bread')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groceries.sort()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len(groceries)   # 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 final: ['butter', 'cheese', 'eggs', 'milk']</a:t>
            </a:r>
            <a:endParaRPr/>
          </a:p>
        </p:txBody>
      </p:sp>
      <p:sp>
        <p:nvSpPr>
          <p:cNvPr id="341" name="Google Shape;341;g3f800344a18_0_38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800344a18_0_39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g3f800344a18_0_3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 = {'title': 'Dune', 'author': 'Frank Herbert', 'year': 1965}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book['author']            # 'Frank Herbert'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book['genre'] = 'Sci-Fi'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book.update({'year': 2021})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book.keys()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book.values()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book.pop('genre')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 final: {'title': 'Dune', 'author': 'Frank Herbert', 'year': 2021}</a:t>
            </a:r>
            <a:endParaRPr/>
          </a:p>
        </p:txBody>
      </p:sp>
      <p:sp>
        <p:nvSpPr>
          <p:cNvPr id="350" name="Google Shape;350;g3f800344a18_0_3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800344a18_0_40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g3f800344a18_0_40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 = ('Inception', 'Titanic', 'Inception', 'Avatar')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movies[1]                 # 'Titanic'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movies.count('Inception') #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movies.index('Avatar')    #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len(movies)                # 4</a:t>
            </a:r>
            <a:endParaRPr/>
          </a:p>
        </p:txBody>
      </p:sp>
      <p:sp>
        <p:nvSpPr>
          <p:cNvPr id="359" name="Google Shape;359;g3f800344a18_0_40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800344a18_0_41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g3f800344a18_0_4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 = {'apple', 'banana', 'mango'}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friend_fruits = {'banana', 'kiwi', 'grape'}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your_fruits.add('orange')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your_fruits.union(friend_fruits)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your_fruits.intersection(friend_fruits)   # {'banana'}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your_fruits.difference(friend_fruits)     # {'apple', 'mango', 'orange'}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len(your_fruits)                           # 4</a:t>
            </a:r>
            <a:endParaRPr/>
          </a:p>
        </p:txBody>
      </p:sp>
      <p:sp>
        <p:nvSpPr>
          <p:cNvPr id="368" name="Google Shape;368;g3f800344a18_0_4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9811ec174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f9811ec17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9811ec174_0_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f9811ec174_0_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9811ec174_0_2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g3f9811ec174_0_2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f9811ec174_0_3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g3f9811ec174_0_3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f9811ec174_0_5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f9811ec174_0_5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idx="1" type="body"/>
          </p:nvPr>
        </p:nvSpPr>
        <p:spPr>
          <a:xfrm>
            <a:off x="4512564" y="10972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34" name="Google Shape;134;p22"/>
          <p:cNvSpPr txBox="1"/>
          <p:nvPr>
            <p:ph idx="3" type="body"/>
          </p:nvPr>
        </p:nvSpPr>
        <p:spPr>
          <a:xfrm>
            <a:off x="877824" y="111099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5" name="Google Shape;135;p22"/>
          <p:cNvSpPr txBox="1"/>
          <p:nvPr>
            <p:ph idx="4" type="body"/>
          </p:nvPr>
        </p:nvSpPr>
        <p:spPr>
          <a:xfrm>
            <a:off x="240030" y="10972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2"/>
          <p:cNvSpPr txBox="1"/>
          <p:nvPr>
            <p:ph idx="5" type="body"/>
          </p:nvPr>
        </p:nvSpPr>
        <p:spPr>
          <a:xfrm>
            <a:off x="411480" y="161163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7" name="Google Shape;137;p22"/>
          <p:cNvSpPr txBox="1"/>
          <p:nvPr>
            <p:ph idx="6" type="body"/>
          </p:nvPr>
        </p:nvSpPr>
        <p:spPr>
          <a:xfrm>
            <a:off x="2811780" y="2338578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2"/>
          <p:cNvSpPr txBox="1"/>
          <p:nvPr>
            <p:ph idx="7" type="body"/>
          </p:nvPr>
        </p:nvSpPr>
        <p:spPr>
          <a:xfrm>
            <a:off x="630936" y="2462022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9" name="Google Shape;139;p22"/>
          <p:cNvSpPr/>
          <p:nvPr/>
        </p:nvSpPr>
        <p:spPr>
          <a:xfrm>
            <a:off x="411480" y="3678555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2"/>
          <p:cNvSpPr txBox="1"/>
          <p:nvPr>
            <p:ph idx="8" type="body"/>
          </p:nvPr>
        </p:nvSpPr>
        <p:spPr>
          <a:xfrm>
            <a:off x="411480" y="408051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9" type="body"/>
          </p:nvPr>
        </p:nvSpPr>
        <p:spPr>
          <a:xfrm>
            <a:off x="5150358" y="111099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2"/>
          <p:cNvSpPr txBox="1"/>
          <p:nvPr>
            <p:ph idx="13" type="body"/>
          </p:nvPr>
        </p:nvSpPr>
        <p:spPr>
          <a:xfrm>
            <a:off x="4684014" y="161163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3" name="Google Shape;143;p22"/>
          <p:cNvSpPr txBox="1"/>
          <p:nvPr>
            <p:ph idx="14" type="body"/>
          </p:nvPr>
        </p:nvSpPr>
        <p:spPr>
          <a:xfrm>
            <a:off x="7084314" y="2338578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4" name="Google Shape;144;p22"/>
          <p:cNvSpPr txBox="1"/>
          <p:nvPr>
            <p:ph idx="15" type="body"/>
          </p:nvPr>
        </p:nvSpPr>
        <p:spPr>
          <a:xfrm>
            <a:off x="4903470" y="2462022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5" name="Google Shape;145;p22"/>
          <p:cNvSpPr/>
          <p:nvPr/>
        </p:nvSpPr>
        <p:spPr>
          <a:xfrm>
            <a:off x="4684014" y="3678555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 txBox="1"/>
          <p:nvPr>
            <p:ph idx="16" type="body"/>
          </p:nvPr>
        </p:nvSpPr>
        <p:spPr>
          <a:xfrm>
            <a:off x="4684014" y="408051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Collections Data Types</a:t>
            </a:r>
            <a:endParaRPr/>
          </a:p>
        </p:txBody>
      </p:sp>
      <p:sp>
        <p:nvSpPr>
          <p:cNvPr id="153" name="Google Shape;153;p23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Lecturer: SO Vengleab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Date: July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Collections?</a:t>
            </a:r>
            <a:endParaRPr/>
          </a:p>
        </p:txBody>
      </p:sp>
      <p:sp>
        <p:nvSpPr>
          <p:cNvPr id="159" name="Google Shape;159;p24"/>
          <p:cNvSpPr/>
          <p:nvPr/>
        </p:nvSpPr>
        <p:spPr>
          <a:xfrm>
            <a:off x="514414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List</a:t>
            </a:r>
            <a:endParaRPr sz="1050"/>
          </a:p>
        </p:txBody>
      </p:sp>
      <p:sp>
        <p:nvSpPr>
          <p:cNvPr id="160" name="Google Shape;160;p24"/>
          <p:cNvSpPr/>
          <p:nvPr/>
        </p:nvSpPr>
        <p:spPr>
          <a:xfrm>
            <a:off x="514414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[ ]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Ordered, mutable sequence of items. Allows duplicates.</a:t>
            </a:r>
            <a:endParaRPr sz="1050"/>
          </a:p>
        </p:txBody>
      </p:sp>
      <p:sp>
        <p:nvSpPr>
          <p:cNvPr id="161" name="Google Shape;161;p24"/>
          <p:cNvSpPr/>
          <p:nvPr/>
        </p:nvSpPr>
        <p:spPr>
          <a:xfrm>
            <a:off x="2594671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Tuple</a:t>
            </a:r>
            <a:endParaRPr sz="1050"/>
          </a:p>
        </p:txBody>
      </p:sp>
      <p:sp>
        <p:nvSpPr>
          <p:cNvPr id="162" name="Google Shape;162;p24"/>
          <p:cNvSpPr/>
          <p:nvPr/>
        </p:nvSpPr>
        <p:spPr>
          <a:xfrm>
            <a:off x="2594671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( )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Ordered, immutable sequence. Faster &amp; hashable.</a:t>
            </a:r>
            <a:endParaRPr sz="1050"/>
          </a:p>
        </p:txBody>
      </p:sp>
      <p:sp>
        <p:nvSpPr>
          <p:cNvPr id="163" name="Google Shape;163;p24"/>
          <p:cNvSpPr/>
          <p:nvPr/>
        </p:nvSpPr>
        <p:spPr>
          <a:xfrm>
            <a:off x="4674929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Dictionary</a:t>
            </a:r>
            <a:endParaRPr sz="1050"/>
          </a:p>
        </p:txBody>
      </p:sp>
      <p:sp>
        <p:nvSpPr>
          <p:cNvPr id="164" name="Google Shape;164;p24"/>
          <p:cNvSpPr/>
          <p:nvPr/>
        </p:nvSpPr>
        <p:spPr>
          <a:xfrm>
            <a:off x="4674929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{ : }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Key-value pairs, unordered (3.7+ ordered), mutable.</a:t>
            </a:r>
            <a:endParaRPr sz="1050"/>
          </a:p>
        </p:txBody>
      </p:sp>
      <p:sp>
        <p:nvSpPr>
          <p:cNvPr id="165" name="Google Shape;165;p24"/>
          <p:cNvSpPr/>
          <p:nvPr/>
        </p:nvSpPr>
        <p:spPr>
          <a:xfrm>
            <a:off x="6755187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Set</a:t>
            </a:r>
            <a:endParaRPr sz="1050"/>
          </a:p>
        </p:txBody>
      </p:sp>
      <p:sp>
        <p:nvSpPr>
          <p:cNvPr id="166" name="Google Shape;166;p24"/>
          <p:cNvSpPr/>
          <p:nvPr/>
        </p:nvSpPr>
        <p:spPr>
          <a:xfrm>
            <a:off x="6755187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{ }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Unordered, unique elements. Fast membership testing.</a:t>
            </a:r>
            <a:endParaRPr sz="1050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25">
                <a:solidFill>
                  <a:schemeClr val="accent2"/>
                </a:solidFill>
              </a:rPr>
              <a:t>Collections</a:t>
            </a:r>
            <a:r>
              <a:rPr lang="en" sz="2025"/>
              <a:t> store groups of </a:t>
            </a:r>
            <a:r>
              <a:rPr b="1" lang="en" sz="2025">
                <a:solidFill>
                  <a:schemeClr val="accent4"/>
                </a:solidFill>
              </a:rPr>
              <a:t>multiple values or objects</a:t>
            </a:r>
            <a:r>
              <a:rPr lang="en" sz="2025"/>
              <a:t>, where as </a:t>
            </a:r>
            <a:r>
              <a:rPr b="1" lang="en" sz="2025">
                <a:solidFill>
                  <a:schemeClr val="accent2"/>
                </a:solidFill>
              </a:rPr>
              <a:t>primitive types</a:t>
            </a:r>
            <a:r>
              <a:rPr lang="en" sz="2025"/>
              <a:t> store </a:t>
            </a:r>
            <a:r>
              <a:rPr b="1" lang="en" sz="2025">
                <a:solidFill>
                  <a:schemeClr val="accent2"/>
                </a:solidFill>
              </a:rPr>
              <a:t>a single, basic value</a:t>
            </a:r>
            <a:endParaRPr b="1" sz="27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</a:t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440750" y="1063000"/>
            <a:ext cx="4047000" cy="14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09551" lvl="0" marL="171453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Ordered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items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Different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data types</a:t>
            </a:r>
            <a:r>
              <a:rPr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within same list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Mutable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(can be modified).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Indexed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access</a:t>
            </a:r>
            <a:endParaRPr sz="1800"/>
          </a:p>
        </p:txBody>
      </p:sp>
      <p:pic>
        <p:nvPicPr>
          <p:cNvPr id="179" name="Google Shape;179;p26"/>
          <p:cNvPicPr preferRelativeResize="0"/>
          <p:nvPr/>
        </p:nvPicPr>
        <p:blipFill rotWithShape="1">
          <a:blip r:embed="rId3">
            <a:alphaModFix/>
          </a:blip>
          <a:srcRect b="65596" l="0" r="0" t="0"/>
          <a:stretch/>
        </p:blipFill>
        <p:spPr>
          <a:xfrm>
            <a:off x="551775" y="2762248"/>
            <a:ext cx="8148650" cy="1677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index</a:t>
            </a:r>
            <a:endParaRPr/>
          </a:p>
        </p:txBody>
      </p:sp>
      <p:sp>
        <p:nvSpPr>
          <p:cNvPr id="185" name="Google Shape;185;p27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7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index out of range</a:t>
            </a:r>
            <a:endParaRPr/>
          </a:p>
        </p:txBody>
      </p:sp>
      <p:sp>
        <p:nvSpPr>
          <p:cNvPr id="187" name="Google Shape;187;p27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8" name="Google Shape;18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1039" y="1737997"/>
            <a:ext cx="4393936" cy="110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100" y="1378500"/>
            <a:ext cx="4228011" cy="253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List</a:t>
            </a:r>
            <a:r>
              <a:rPr lang="en"/>
              <a:t> Methods</a:t>
            </a:r>
            <a:endParaRPr/>
          </a:p>
        </p:txBody>
      </p:sp>
      <p:sp>
        <p:nvSpPr>
          <p:cNvPr id="195" name="Google Shape;195;p28"/>
          <p:cNvSpPr/>
          <p:nvPr/>
        </p:nvSpPr>
        <p:spPr>
          <a:xfrm>
            <a:off x="397564" y="17172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.append(x)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Add x to end</a:t>
            </a:r>
            <a:endParaRPr sz="1050"/>
          </a:p>
        </p:txBody>
      </p:sp>
      <p:sp>
        <p:nvSpPr>
          <p:cNvPr id="196" name="Google Shape;196;p28"/>
          <p:cNvSpPr/>
          <p:nvPr/>
        </p:nvSpPr>
        <p:spPr>
          <a:xfrm>
            <a:off x="2469249" y="17172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.insert(i,x)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Insert x at index i</a:t>
            </a:r>
            <a:endParaRPr sz="1050"/>
          </a:p>
        </p:txBody>
      </p:sp>
      <p:sp>
        <p:nvSpPr>
          <p:cNvPr id="197" name="Google Shape;197;p28"/>
          <p:cNvSpPr/>
          <p:nvPr/>
        </p:nvSpPr>
        <p:spPr>
          <a:xfrm>
            <a:off x="397584" y="30539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.remove(x)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first x</a:t>
            </a:r>
            <a:endParaRPr sz="1050"/>
          </a:p>
        </p:txBody>
      </p:sp>
      <p:sp>
        <p:nvSpPr>
          <p:cNvPr id="198" name="Google Shape;198;p28"/>
          <p:cNvSpPr/>
          <p:nvPr/>
        </p:nvSpPr>
        <p:spPr>
          <a:xfrm>
            <a:off x="2469269" y="30539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.pop(i)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&amp; return item at i</a:t>
            </a:r>
            <a:endParaRPr sz="1050"/>
          </a:p>
        </p:txBody>
      </p:sp>
      <p:sp>
        <p:nvSpPr>
          <p:cNvPr id="199" name="Google Shape;199;p28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8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1" name="Google Shape;20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4650" y="563650"/>
            <a:ext cx="4223901" cy="404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9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</a:t>
            </a:r>
            <a:r>
              <a:rPr lang="en"/>
              <a:t> </a:t>
            </a:r>
            <a:r>
              <a:rPr lang="en">
                <a:solidFill>
                  <a:schemeClr val="accent4"/>
                </a:solidFill>
              </a:rPr>
              <a:t>List</a:t>
            </a:r>
            <a:r>
              <a:rPr lang="en"/>
              <a:t> Methods</a:t>
            </a:r>
            <a:endParaRPr/>
          </a:p>
        </p:txBody>
      </p:sp>
      <p:sp>
        <p:nvSpPr>
          <p:cNvPr id="207" name="Google Shape;207;p29"/>
          <p:cNvSpPr/>
          <p:nvPr/>
        </p:nvSpPr>
        <p:spPr>
          <a:xfrm>
            <a:off x="348489" y="111570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.sort()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Sort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in-place</a:t>
            </a:r>
            <a:endParaRPr b="1" sz="1050">
              <a:solidFill>
                <a:schemeClr val="accent2"/>
              </a:solidFill>
            </a:endParaRPr>
          </a:p>
        </p:txBody>
      </p:sp>
      <p:sp>
        <p:nvSpPr>
          <p:cNvPr id="208" name="Google Shape;208;p29"/>
          <p:cNvSpPr/>
          <p:nvPr/>
        </p:nvSpPr>
        <p:spPr>
          <a:xfrm>
            <a:off x="2420174" y="111570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.reverse()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Reverse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in-place</a:t>
            </a:r>
            <a:endParaRPr b="1" sz="1050">
              <a:solidFill>
                <a:schemeClr val="accent2"/>
              </a:solidFill>
            </a:endParaRPr>
          </a:p>
        </p:txBody>
      </p:sp>
      <p:sp>
        <p:nvSpPr>
          <p:cNvPr id="209" name="Google Shape;209;p29"/>
          <p:cNvSpPr/>
          <p:nvPr/>
        </p:nvSpPr>
        <p:spPr>
          <a:xfrm>
            <a:off x="386059" y="239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of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</a:t>
            </a:r>
            <a:r>
              <a:rPr b="0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x</a:t>
            </a:r>
            <a:endParaRPr sz="1050">
              <a:solidFill>
                <a:schemeClr val="accent2"/>
              </a:solidFill>
            </a:endParaRPr>
          </a:p>
        </p:txBody>
      </p:sp>
      <p:sp>
        <p:nvSpPr>
          <p:cNvPr id="210" name="Google Shape;210;p29"/>
          <p:cNvSpPr/>
          <p:nvPr/>
        </p:nvSpPr>
        <p:spPr>
          <a:xfrm>
            <a:off x="2457744" y="239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occurrences</a:t>
            </a: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of x</a:t>
            </a:r>
            <a:endParaRPr sz="1050"/>
          </a:p>
        </p:txBody>
      </p:sp>
      <p:sp>
        <p:nvSpPr>
          <p:cNvPr id="211" name="Google Shape;211;p29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9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3" name="Google Shape;21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94026" y="173950"/>
            <a:ext cx="3576525" cy="465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sp>
        <p:nvSpPr>
          <p:cNvPr id="224" name="Google Shape;224;p31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09551" lvl="0" marL="17145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lang="en">
                <a:solidFill>
                  <a:srgbClr val="D84568"/>
                </a:solidFill>
              </a:rPr>
              <a:t>Key-value</a:t>
            </a:r>
            <a:r>
              <a:rPr lang="en">
                <a:solidFill>
                  <a:srgbClr val="222540"/>
                </a:solidFill>
              </a:rPr>
              <a:t> pairs used to store data.</a:t>
            </a:r>
            <a:endParaRPr>
              <a:solidFill>
                <a:srgbClr val="000000"/>
              </a:solidFill>
            </a:endParaRPr>
          </a:p>
          <a:p>
            <a:pPr indent="-209551" lvl="0" marL="171453" rtl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lang="en">
                <a:solidFill>
                  <a:srgbClr val="D84568"/>
                </a:solidFill>
              </a:rPr>
              <a:t>Mutable</a:t>
            </a:r>
            <a:r>
              <a:rPr lang="en">
                <a:solidFill>
                  <a:srgbClr val="222540"/>
                </a:solidFill>
              </a:rPr>
              <a:t> and unordered.</a:t>
            </a:r>
            <a:endParaRPr/>
          </a:p>
        </p:txBody>
      </p:sp>
      <p:pic>
        <p:nvPicPr>
          <p:cNvPr id="225" name="Google Shape;225;p31"/>
          <p:cNvPicPr preferRelativeResize="0"/>
          <p:nvPr/>
        </p:nvPicPr>
        <p:blipFill rotWithShape="1">
          <a:blip r:embed="rId3">
            <a:alphaModFix/>
          </a:blip>
          <a:srcRect b="0" l="1555" r="0" t="0"/>
          <a:stretch/>
        </p:blipFill>
        <p:spPr>
          <a:xfrm>
            <a:off x="4711437" y="1765050"/>
            <a:ext cx="4293126" cy="11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31"/>
          <p:cNvSpPr txBox="1"/>
          <p:nvPr/>
        </p:nvSpPr>
        <p:spPr>
          <a:xfrm>
            <a:off x="32725" y="4455100"/>
            <a:ext cx="448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https://www.w3schools.com/python/python_dictionaries_methods.asp</a:t>
            </a:r>
            <a:endParaRPr/>
          </a:p>
        </p:txBody>
      </p:sp>
      <p:sp>
        <p:nvSpPr>
          <p:cNvPr id="227" name="Google Shape;227;p31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</a:t>
            </a:r>
            <a:r>
              <a:rPr lang="en">
                <a:solidFill>
                  <a:schemeClr val="accent4"/>
                </a:solidFill>
              </a:rPr>
              <a:t>key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233" name="Google Shape;233;p3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</a:t>
            </a:r>
            <a:r>
              <a:rPr lang="en">
                <a:solidFill>
                  <a:srgbClr val="FFFF00"/>
                </a:solidFill>
              </a:rPr>
              <a:t>wrong key</a:t>
            </a:r>
            <a:endParaRPr>
              <a:solidFill>
                <a:srgbClr val="FFFF00"/>
              </a:solidFill>
            </a:endParaRPr>
          </a:p>
        </p:txBody>
      </p:sp>
      <p:sp>
        <p:nvSpPr>
          <p:cNvPr id="235" name="Google Shape;235;p32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50" y="1572600"/>
            <a:ext cx="4310701" cy="2483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73688" y="2461849"/>
            <a:ext cx="4368624" cy="110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3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Dict</a:t>
            </a:r>
            <a:r>
              <a:rPr lang="en"/>
              <a:t> methods for read data</a:t>
            </a:r>
            <a:endParaRPr/>
          </a:p>
        </p:txBody>
      </p:sp>
      <p:sp>
        <p:nvSpPr>
          <p:cNvPr id="243" name="Google Shape;243;p33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3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3"/>
          <p:cNvSpPr/>
          <p:nvPr/>
        </p:nvSpPr>
        <p:spPr>
          <a:xfrm>
            <a:off x="342628" y="1512799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.keys()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a view object of all keys</a:t>
            </a:r>
            <a:endParaRPr sz="1038"/>
          </a:p>
        </p:txBody>
      </p:sp>
      <p:sp>
        <p:nvSpPr>
          <p:cNvPr id="246" name="Google Shape;246;p33"/>
          <p:cNvSpPr/>
          <p:nvPr/>
        </p:nvSpPr>
        <p:spPr>
          <a:xfrm>
            <a:off x="2391033" y="1512799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.values()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a view object of all values</a:t>
            </a:r>
            <a:endParaRPr sz="1038"/>
          </a:p>
        </p:txBody>
      </p:sp>
      <p:sp>
        <p:nvSpPr>
          <p:cNvPr id="247" name="Google Shape;247;p33"/>
          <p:cNvSpPr/>
          <p:nvPr/>
        </p:nvSpPr>
        <p:spPr>
          <a:xfrm>
            <a:off x="2431800" y="2750142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.items()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view of key-value pairs</a:t>
            </a:r>
            <a:endParaRPr sz="1038"/>
          </a:p>
        </p:txBody>
      </p:sp>
      <p:sp>
        <p:nvSpPr>
          <p:cNvPr id="248" name="Google Shape;248;p33"/>
          <p:cNvSpPr/>
          <p:nvPr/>
        </p:nvSpPr>
        <p:spPr>
          <a:xfrm>
            <a:off x="342623" y="2750142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.get(key)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value of key (safe access)</a:t>
            </a:r>
            <a:endParaRPr sz="1038"/>
          </a:p>
        </p:txBody>
      </p:sp>
      <p:pic>
        <p:nvPicPr>
          <p:cNvPr id="249" name="Google Shape;249;p33"/>
          <p:cNvPicPr preferRelativeResize="0"/>
          <p:nvPr/>
        </p:nvPicPr>
        <p:blipFill rotWithShape="1">
          <a:blip r:embed="rId3">
            <a:alphaModFix/>
          </a:blip>
          <a:srcRect b="0" l="8551" r="0" t="0"/>
          <a:stretch/>
        </p:blipFill>
        <p:spPr>
          <a:xfrm>
            <a:off x="4733750" y="1367025"/>
            <a:ext cx="4321724" cy="271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4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Dict</a:t>
            </a:r>
            <a:r>
              <a:rPr lang="en"/>
              <a:t> method for change data</a:t>
            </a:r>
            <a:endParaRPr/>
          </a:p>
        </p:txBody>
      </p:sp>
      <p:sp>
        <p:nvSpPr>
          <p:cNvPr id="255" name="Google Shape;255;p34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4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4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4"/>
          <p:cNvSpPr/>
          <p:nvPr/>
        </p:nvSpPr>
        <p:spPr>
          <a:xfrm>
            <a:off x="265489" y="133652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.update(obj)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Merge keys from another dict</a:t>
            </a:r>
            <a:endParaRPr sz="1050"/>
          </a:p>
        </p:txBody>
      </p:sp>
      <p:sp>
        <p:nvSpPr>
          <p:cNvPr id="259" name="Google Shape;259;p34"/>
          <p:cNvSpPr/>
          <p:nvPr/>
        </p:nvSpPr>
        <p:spPr>
          <a:xfrm>
            <a:off x="2337174" y="133652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.pop(key)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Removes and returns item at key</a:t>
            </a:r>
            <a:endParaRPr sz="1050"/>
          </a:p>
        </p:txBody>
      </p:sp>
      <p:sp>
        <p:nvSpPr>
          <p:cNvPr id="260" name="Google Shape;260;p34"/>
          <p:cNvSpPr/>
          <p:nvPr/>
        </p:nvSpPr>
        <p:spPr>
          <a:xfrm>
            <a:off x="265509" y="262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.clear()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Removes all elements from dict</a:t>
            </a:r>
            <a:endParaRPr sz="1050"/>
          </a:p>
        </p:txBody>
      </p:sp>
      <p:pic>
        <p:nvPicPr>
          <p:cNvPr id="261" name="Google Shape;26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3307" y="1269575"/>
            <a:ext cx="4469379" cy="277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</a:t>
            </a:r>
            <a:endParaRPr/>
          </a:p>
        </p:txBody>
      </p:sp>
      <p:sp>
        <p:nvSpPr>
          <p:cNvPr id="272" name="Google Shape;272;p36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>
                <a:solidFill>
                  <a:srgbClr val="D84568"/>
                </a:solidFill>
              </a:rPr>
              <a:t>Similar</a:t>
            </a:r>
            <a:r>
              <a:rPr lang="en" sz="1800">
                <a:solidFill>
                  <a:srgbClr val="222540"/>
                </a:solidFill>
              </a:rPr>
              <a:t> to lists but immutable (cannot be modified).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rgbClr val="222540"/>
                </a:solidFill>
              </a:rPr>
              <a:t>Typically used to store </a:t>
            </a:r>
            <a:r>
              <a:rPr b="1" lang="en" sz="1800">
                <a:solidFill>
                  <a:srgbClr val="D84568"/>
                </a:solidFill>
              </a:rPr>
              <a:t>related</a:t>
            </a:r>
            <a:r>
              <a:rPr lang="en" sz="1800">
                <a:solidFill>
                  <a:srgbClr val="222540"/>
                </a:solidFill>
              </a:rPr>
              <a:t> pieces of information together.</a:t>
            </a:r>
            <a:endParaRPr sz="1800"/>
          </a:p>
        </p:txBody>
      </p:sp>
      <p:pic>
        <p:nvPicPr>
          <p:cNvPr id="273" name="Google Shape;273;p36"/>
          <p:cNvPicPr preferRelativeResize="0"/>
          <p:nvPr/>
        </p:nvPicPr>
        <p:blipFill rotWithShape="1">
          <a:blip r:embed="rId3">
            <a:alphaModFix/>
          </a:blip>
          <a:srcRect b="0" l="0" r="0" t="15319"/>
          <a:stretch/>
        </p:blipFill>
        <p:spPr>
          <a:xfrm>
            <a:off x="4835400" y="1110612"/>
            <a:ext cx="3907270" cy="306617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6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7"/>
          <p:cNvSpPr txBox="1"/>
          <p:nvPr/>
        </p:nvSpPr>
        <p:spPr>
          <a:xfrm>
            <a:off x="311468" y="180975"/>
            <a:ext cx="85212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2A399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7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Tuple</a:t>
            </a:r>
            <a:r>
              <a:rPr lang="en"/>
              <a:t> Methods</a:t>
            </a:r>
            <a:endParaRPr/>
          </a:p>
        </p:txBody>
      </p:sp>
      <p:sp>
        <p:nvSpPr>
          <p:cNvPr id="281" name="Google Shape;281;p37"/>
          <p:cNvSpPr/>
          <p:nvPr/>
        </p:nvSpPr>
        <p:spPr>
          <a:xfrm>
            <a:off x="514364" y="1062990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the number of times a specified value occurs in a tuple</a:t>
            </a:r>
            <a:endParaRPr sz="1050"/>
          </a:p>
        </p:txBody>
      </p:sp>
      <p:sp>
        <p:nvSpPr>
          <p:cNvPr id="282" name="Google Shape;282;p37"/>
          <p:cNvSpPr/>
          <p:nvPr/>
        </p:nvSpPr>
        <p:spPr>
          <a:xfrm>
            <a:off x="514386" y="2341115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Searches the tuple for a specified value and returns the position of where it was found</a:t>
            </a:r>
            <a:endParaRPr sz="1050"/>
          </a:p>
        </p:txBody>
      </p:sp>
      <p:sp>
        <p:nvSpPr>
          <p:cNvPr id="283" name="Google Shape;283;p37"/>
          <p:cNvSpPr/>
          <p:nvPr/>
        </p:nvSpPr>
        <p:spPr>
          <a:xfrm>
            <a:off x="514383" y="3619240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len(tuple)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the number of items in the tuple</a:t>
            </a:r>
            <a:endParaRPr sz="1050"/>
          </a:p>
        </p:txBody>
      </p:sp>
      <p:sp>
        <p:nvSpPr>
          <p:cNvPr id="284" name="Google Shape;284;p37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7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]</a:t>
            </a:r>
            <a:endParaRPr/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5400" y="640900"/>
            <a:ext cx="4186650" cy="3556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8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9"/>
          <p:cNvSpPr/>
          <p:nvPr/>
        </p:nvSpPr>
        <p:spPr>
          <a:xfrm>
            <a:off x="7170420" y="3903345"/>
            <a:ext cx="988800" cy="987600"/>
          </a:xfrm>
          <a:prstGeom prst="rect">
            <a:avLst/>
          </a:prstGeom>
          <a:solidFill>
            <a:srgbClr val="D233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9"/>
          <p:cNvSpPr/>
          <p:nvPr/>
        </p:nvSpPr>
        <p:spPr>
          <a:xfrm>
            <a:off x="0" y="4891088"/>
            <a:ext cx="9144000" cy="252300"/>
          </a:xfrm>
          <a:prstGeom prst="rect">
            <a:avLst/>
          </a:prstGeom>
          <a:solidFill>
            <a:srgbClr val="2A399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9"/>
          <p:cNvSpPr txBox="1"/>
          <p:nvPr/>
        </p:nvSpPr>
        <p:spPr>
          <a:xfrm>
            <a:off x="311468" y="892492"/>
            <a:ext cx="85212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Unordered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collection </a:t>
            </a:r>
            <a:endParaRPr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U</a:t>
            </a: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nique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items.</a:t>
            </a:r>
            <a:endParaRPr b="0"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900"/>
              </a:spcBef>
              <a:spcAft>
                <a:spcPts val="90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Mutable </a:t>
            </a:r>
            <a:r>
              <a:rPr lang="en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items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, but </a:t>
            </a: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elements must be </a:t>
            </a:r>
            <a:r>
              <a:rPr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immutable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hashable 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b="0"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9"/>
          <p:cNvSpPr txBox="1"/>
          <p:nvPr/>
        </p:nvSpPr>
        <p:spPr>
          <a:xfrm>
            <a:off x="0" y="4381500"/>
            <a:ext cx="5591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https://www.w3schools.com/python/python_sets.asp</a:t>
            </a:r>
            <a:endParaRPr sz="12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</p:txBody>
      </p:sp>
      <p:sp>
        <p:nvSpPr>
          <p:cNvPr id="306" name="Google Shape;306;p40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40"/>
          <p:cNvSpPr/>
          <p:nvPr/>
        </p:nvSpPr>
        <p:spPr>
          <a:xfrm>
            <a:off x="363378" y="1676975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.add(x)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Add element x to the set</a:t>
            </a:r>
            <a:endParaRPr sz="1018"/>
          </a:p>
        </p:txBody>
      </p:sp>
      <p:sp>
        <p:nvSpPr>
          <p:cNvPr id="308" name="Google Shape;308;p40"/>
          <p:cNvSpPr/>
          <p:nvPr/>
        </p:nvSpPr>
        <p:spPr>
          <a:xfrm>
            <a:off x="2371124" y="1676975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.remove(x)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x; raises error if not present</a:t>
            </a:r>
            <a:endParaRPr sz="1018"/>
          </a:p>
        </p:txBody>
      </p:sp>
      <p:sp>
        <p:nvSpPr>
          <p:cNvPr id="309" name="Google Shape;309;p40"/>
          <p:cNvSpPr/>
          <p:nvPr/>
        </p:nvSpPr>
        <p:spPr>
          <a:xfrm>
            <a:off x="363375" y="2860851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.discard(x)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x if present; no error if missing</a:t>
            </a:r>
            <a:endParaRPr sz="1018"/>
          </a:p>
        </p:txBody>
      </p:sp>
      <p:sp>
        <p:nvSpPr>
          <p:cNvPr id="310" name="Google Shape;310;p40"/>
          <p:cNvSpPr/>
          <p:nvPr/>
        </p:nvSpPr>
        <p:spPr>
          <a:xfrm>
            <a:off x="2371121" y="2860851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and return a random element</a:t>
            </a:r>
            <a:endParaRPr sz="1018"/>
          </a:p>
        </p:txBody>
      </p:sp>
      <p:pic>
        <p:nvPicPr>
          <p:cNvPr id="311" name="Google Shape;31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7025" y="191924"/>
            <a:ext cx="4218226" cy="215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5399" y="2492299"/>
            <a:ext cx="3683822" cy="248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1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1"/>
          <p:cNvSpPr/>
          <p:nvPr/>
        </p:nvSpPr>
        <p:spPr>
          <a:xfrm>
            <a:off x="360086" y="241985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.union(s)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union of sets as a new set</a:t>
            </a:r>
            <a:endParaRPr sz="1050"/>
          </a:p>
        </p:txBody>
      </p:sp>
      <p:sp>
        <p:nvSpPr>
          <p:cNvPr id="319" name="Google Shape;319;p41"/>
          <p:cNvSpPr/>
          <p:nvPr/>
        </p:nvSpPr>
        <p:spPr>
          <a:xfrm>
            <a:off x="2431746" y="1146392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.intersection(s)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intersection as a new set</a:t>
            </a:r>
            <a:endParaRPr sz="1050"/>
          </a:p>
        </p:txBody>
      </p:sp>
      <p:sp>
        <p:nvSpPr>
          <p:cNvPr id="320" name="Google Shape;320;p41"/>
          <p:cNvSpPr/>
          <p:nvPr/>
        </p:nvSpPr>
        <p:spPr>
          <a:xfrm>
            <a:off x="360081" y="1146392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.difference(s)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elements in this set but not in s</a:t>
            </a:r>
            <a:endParaRPr sz="1050"/>
          </a:p>
        </p:txBody>
      </p:sp>
      <p:sp>
        <p:nvSpPr>
          <p:cNvPr id="321" name="Google Shape;321;p41"/>
          <p:cNvSpPr txBox="1"/>
          <p:nvPr/>
        </p:nvSpPr>
        <p:spPr>
          <a:xfrm>
            <a:off x="8303909" y="4780225"/>
            <a:ext cx="48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18</a:t>
            </a:r>
            <a:endParaRPr sz="1050"/>
          </a:p>
        </p:txBody>
      </p:sp>
      <p:pic>
        <p:nvPicPr>
          <p:cNvPr id="322" name="Google Shape;322;p41"/>
          <p:cNvPicPr preferRelativeResize="0"/>
          <p:nvPr/>
        </p:nvPicPr>
        <p:blipFill rotWithShape="1">
          <a:blip r:embed="rId3">
            <a:alphaModFix/>
          </a:blip>
          <a:srcRect b="18706" l="0" r="0" t="0"/>
          <a:stretch/>
        </p:blipFill>
        <p:spPr>
          <a:xfrm>
            <a:off x="4784475" y="838800"/>
            <a:ext cx="4045201" cy="281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</p:txBody>
      </p:sp>
      <p:sp>
        <p:nvSpPr>
          <p:cNvPr id="328" name="Google Shape;328;p4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0" name="Google Shape;33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4275" y="1016250"/>
            <a:ext cx="4101625" cy="32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2"/>
          <p:cNvSpPr/>
          <p:nvPr/>
        </p:nvSpPr>
        <p:spPr>
          <a:xfrm>
            <a:off x="911729" y="1412803"/>
            <a:ext cx="2582400" cy="14445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46575" lIns="155350" spcFirstLastPara="1" rIns="129450" wrap="square" tIns="129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7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.clear()</a:t>
            </a:r>
            <a:endParaRPr sz="1427"/>
          </a:p>
          <a:p>
            <a:pPr indent="0" lvl="0" marL="0" marR="0" rtl="0" algn="l">
              <a:spcBef>
                <a:spcPts val="408"/>
              </a:spcBef>
              <a:spcAft>
                <a:spcPts val="0"/>
              </a:spcAft>
              <a:buNone/>
            </a:pPr>
            <a:r>
              <a:rPr b="0" i="0" lang="en" sz="1172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all elements from the set</a:t>
            </a:r>
            <a:endParaRPr sz="1427"/>
          </a:p>
        </p:txBody>
      </p:sp>
      <p:sp>
        <p:nvSpPr>
          <p:cNvPr id="332" name="Google Shape;332;p42"/>
          <p:cNvSpPr/>
          <p:nvPr/>
        </p:nvSpPr>
        <p:spPr>
          <a:xfrm>
            <a:off x="911729" y="3118424"/>
            <a:ext cx="2582400" cy="14445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46575" lIns="155350" spcFirstLastPara="1" rIns="129450" wrap="square" tIns="129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7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len(set)</a:t>
            </a:r>
            <a:endParaRPr sz="1427"/>
          </a:p>
          <a:p>
            <a:pPr indent="0" lvl="0" marL="0" marR="0" rtl="0" algn="l">
              <a:spcBef>
                <a:spcPts val="408"/>
              </a:spcBef>
              <a:spcAft>
                <a:spcPts val="0"/>
              </a:spcAft>
              <a:buNone/>
            </a:pPr>
            <a:r>
              <a:rPr b="0" i="0" lang="en" sz="1172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the number of elements</a:t>
            </a:r>
            <a:endParaRPr sz="1427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Foundation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4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List Practice</a:t>
            </a:r>
            <a:endParaRPr sz="1100"/>
          </a:p>
        </p:txBody>
      </p:sp>
      <p:sp>
        <p:nvSpPr>
          <p:cNvPr id="344" name="Google Shape;344;p44"/>
          <p:cNvSpPr txBox="1"/>
          <p:nvPr/>
        </p:nvSpPr>
        <p:spPr>
          <a:xfrm>
            <a:off x="514364" y="931040"/>
            <a:ext cx="34290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Create: 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 list of 3 elements</a:t>
            </a:r>
            <a:r>
              <a:rPr b="1"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00"/>
              <a:t>bread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, milk, edge</a:t>
            </a:r>
            <a:endParaRPr sz="1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Append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'butter'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the end of the list.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Insert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'cheese'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at index 1.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Remove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'bread'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the list.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Sort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list alphabetically.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34950" lvl="1" marL="685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he list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34950" lvl="1" marL="685800" marR="0" rtl="0" algn="l">
              <a:lnSpc>
                <a:spcPct val="115000"/>
              </a:lnSpc>
              <a:spcBef>
                <a:spcPts val="500"/>
              </a:spcBef>
              <a:spcAft>
                <a:spcPts val="500"/>
              </a:spcAft>
              <a:buClr>
                <a:srgbClr val="D84568"/>
              </a:buClr>
              <a:buSzPts val="1100"/>
              <a:buFont typeface="Arial"/>
              <a:buChar char="○"/>
            </a:pP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length of the list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list_start.png" id="345" name="Google Shape;345;p44"/>
          <p:cNvPicPr preferRelativeResize="0"/>
          <p:nvPr/>
        </p:nvPicPr>
        <p:blipFill rotWithShape="1">
          <a:blip r:embed="rId3">
            <a:alphaModFix/>
          </a:blip>
          <a:srcRect b="0" l="4798" r="0" t="0"/>
          <a:stretch/>
        </p:blipFill>
        <p:spPr>
          <a:xfrm>
            <a:off x="4451075" y="1413175"/>
            <a:ext cx="4178600" cy="5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44"/>
          <p:cNvSpPr txBox="1"/>
          <p:nvPr/>
        </p:nvSpPr>
        <p:spPr>
          <a:xfrm>
            <a:off x="579789" y="3586030"/>
            <a:ext cx="7544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[1]: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['butter', 'cheese', 'eggs', 'milk'] 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[2]: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(length 4)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5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Dictionary Practice</a:t>
            </a:r>
            <a:endParaRPr sz="1100"/>
          </a:p>
        </p:txBody>
      </p:sp>
      <p:sp>
        <p:nvSpPr>
          <p:cNvPr id="353" name="Google Shape;353;p45"/>
          <p:cNvSpPr txBox="1"/>
          <p:nvPr/>
        </p:nvSpPr>
        <p:spPr>
          <a:xfrm>
            <a:off x="557700" y="709825"/>
            <a:ext cx="3429000" cy="23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Create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dictionary of {'title': 'Dune', 'author': 'Frank Herbert', 'year': 1965}</a:t>
            </a:r>
            <a:endParaRPr b="1" sz="11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Access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author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book['author']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Add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new key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'genre'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the value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'Sci-Fi'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Update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year to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2021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.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the dict.</a:t>
            </a:r>
            <a:endParaRPr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.keys()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.values()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Remove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year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key.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.keys()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.values()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practice_dict_start.png" id="354" name="Google Shape;35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658152"/>
            <a:ext cx="4389121" cy="318436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45"/>
          <p:cNvSpPr txBox="1"/>
          <p:nvPr/>
        </p:nvSpPr>
        <p:spPr>
          <a:xfrm>
            <a:off x="514375" y="3395720"/>
            <a:ext cx="7544100" cy="13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  {'title': 'Dune', 'author': 'Frank Herbert', 'year': 2021, 'genre': 'Sci-Fi'}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[2]  dict_keys(['title', 'author', 'year', 'genre'])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[3]  dict_values(['Dune', 'Frank Herbert', 2021, 'Sci-Fi'])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[4]  {'title': 'Dune', 'author': 'Frank Herbert', 'year': 2021}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6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Tuple Practice</a:t>
            </a:r>
            <a:endParaRPr sz="1100"/>
          </a:p>
        </p:txBody>
      </p:sp>
      <p:sp>
        <p:nvSpPr>
          <p:cNvPr id="362" name="Google Shape;362;p46"/>
          <p:cNvSpPr txBox="1"/>
          <p:nvPr/>
        </p:nvSpPr>
        <p:spPr>
          <a:xfrm>
            <a:off x="514364" y="815465"/>
            <a:ext cx="3429000" cy="1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Access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second movie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movies[1]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Count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how many times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'Inception'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appears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index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'Avatar'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length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tuple_start.png" id="363" name="Google Shape;363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635752"/>
            <a:ext cx="4389121" cy="363237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46"/>
          <p:cNvSpPr txBox="1"/>
          <p:nvPr/>
        </p:nvSpPr>
        <p:spPr>
          <a:xfrm>
            <a:off x="514375" y="2706144"/>
            <a:ext cx="75441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 2  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# count of in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ception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 3   # Index of avatar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[3]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4  #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Length of movies</a:t>
            </a:r>
            <a:endParaRPr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7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Set Practice</a:t>
            </a:r>
            <a:endParaRPr sz="1100"/>
          </a:p>
        </p:txBody>
      </p:sp>
      <p:sp>
        <p:nvSpPr>
          <p:cNvPr id="371" name="Google Shape;371;p47"/>
          <p:cNvSpPr txBox="1"/>
          <p:nvPr/>
        </p:nvSpPr>
        <p:spPr>
          <a:xfrm>
            <a:off x="579389" y="974390"/>
            <a:ext cx="3429000" cy="14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Add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'orange'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union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friend_fruits, and print 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it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intersection (fruits you both like).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difference (fruits only you like).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length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set_start.png" id="372" name="Google Shape;37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482090"/>
            <a:ext cx="4389120" cy="67056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47"/>
          <p:cNvSpPr txBox="1"/>
          <p:nvPr/>
        </p:nvSpPr>
        <p:spPr>
          <a:xfrm>
            <a:off x="514375" y="3022898"/>
            <a:ext cx="7544100" cy="13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 {'orange', 'banana', 'grape', 'kiwi', 'mango', 'apple'} # union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{'banana'} #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intersect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[3]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{'apple','mango','orange'} # different 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[4] 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4 #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Length of your_fruits</a:t>
            </a:r>
            <a:endParaRPr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8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</a:t>
            </a:r>
            <a:r>
              <a:rPr lang="en"/>
              <a:t>Basic Collection Methods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9"/>
          <p:cNvSpPr/>
          <p:nvPr/>
        </p:nvSpPr>
        <p:spPr>
          <a:xfrm>
            <a:off x="411480" y="87485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49"/>
          <p:cNvSpPr/>
          <p:nvPr/>
        </p:nvSpPr>
        <p:spPr>
          <a:xfrm>
            <a:off x="4684014" y="87485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49"/>
          <p:cNvSpPr/>
          <p:nvPr/>
        </p:nvSpPr>
        <p:spPr>
          <a:xfrm>
            <a:off x="432194" y="1990686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49"/>
          <p:cNvSpPr/>
          <p:nvPr/>
        </p:nvSpPr>
        <p:spPr>
          <a:xfrm>
            <a:off x="4704728" y="1990686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Grocery List Basics  &amp;  Reversing &amp; Sorting</a:t>
            </a:r>
            <a:endParaRPr/>
          </a:p>
        </p:txBody>
      </p:sp>
      <p:sp>
        <p:nvSpPr>
          <p:cNvPr id="388" name="Google Shape;388;p49"/>
          <p:cNvSpPr txBox="1"/>
          <p:nvPr>
            <p:ph idx="4" type="body"/>
          </p:nvPr>
        </p:nvSpPr>
        <p:spPr>
          <a:xfrm>
            <a:off x="260744" y="908543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389" name="Google Shape;389;p49"/>
          <p:cNvSpPr txBox="1"/>
          <p:nvPr>
            <p:ph idx="3" type="body"/>
          </p:nvPr>
        </p:nvSpPr>
        <p:spPr>
          <a:xfrm>
            <a:off x="898538" y="92225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Grocery List Basics</a:t>
            </a:r>
            <a:endParaRPr/>
          </a:p>
        </p:txBody>
      </p:sp>
      <p:sp>
        <p:nvSpPr>
          <p:cNvPr id="390" name="Google Shape;390;p49"/>
          <p:cNvSpPr txBox="1"/>
          <p:nvPr>
            <p:ph idx="5" type="body"/>
          </p:nvPr>
        </p:nvSpPr>
        <p:spPr>
          <a:xfrm>
            <a:off x="432194" y="142289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Append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'butter'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insert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'cheese'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at index 1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list and its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len()</a:t>
            </a:r>
            <a:endParaRPr/>
          </a:p>
        </p:txBody>
      </p:sp>
      <p:sp>
        <p:nvSpPr>
          <p:cNvPr id="391" name="Google Shape;391;p49"/>
          <p:cNvSpPr txBox="1"/>
          <p:nvPr>
            <p:ph idx="7" type="body"/>
          </p:nvPr>
        </p:nvSpPr>
        <p:spPr>
          <a:xfrm>
            <a:off x="651650" y="227328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groceries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'bread'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'milk'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'eggs'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append, insert at 1, print + len()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" name="Google Shape;392;p49"/>
          <p:cNvSpPr txBox="1"/>
          <p:nvPr>
            <p:ph idx="8" type="body"/>
          </p:nvPr>
        </p:nvSpPr>
        <p:spPr>
          <a:xfrm>
            <a:off x="432194" y="389177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['bread', 'cheese', 'milk', 'eggs', 'butter']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393" name="Google Shape;393;p49"/>
          <p:cNvSpPr txBox="1"/>
          <p:nvPr>
            <p:ph idx="1" type="body"/>
          </p:nvPr>
        </p:nvSpPr>
        <p:spPr>
          <a:xfrm>
            <a:off x="4533278" y="908543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394" name="Google Shape;394;p49"/>
          <p:cNvSpPr txBox="1"/>
          <p:nvPr>
            <p:ph idx="9" type="body"/>
          </p:nvPr>
        </p:nvSpPr>
        <p:spPr>
          <a:xfrm>
            <a:off x="5171072" y="92225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Reversing &amp; Sorting</a:t>
            </a:r>
            <a:endParaRPr/>
          </a:p>
        </p:txBody>
      </p:sp>
      <p:sp>
        <p:nvSpPr>
          <p:cNvPr id="395" name="Google Shape;395;p49"/>
          <p:cNvSpPr txBox="1"/>
          <p:nvPr>
            <p:ph idx="13" type="body"/>
          </p:nvPr>
        </p:nvSpPr>
        <p:spPr>
          <a:xfrm>
            <a:off x="4704728" y="142289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.sort()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ascending, then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.reverse()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final list</a:t>
            </a:r>
            <a:endParaRPr/>
          </a:p>
        </p:txBody>
      </p:sp>
      <p:sp>
        <p:nvSpPr>
          <p:cNvPr id="396" name="Google Shape;396;p49"/>
          <p:cNvSpPr txBox="1"/>
          <p:nvPr>
            <p:ph idx="15" type="body"/>
          </p:nvPr>
        </p:nvSpPr>
        <p:spPr>
          <a:xfrm>
            <a:off x="4924184" y="227328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scores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60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83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sort ascending, reverse, print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" name="Google Shape;397;p49"/>
          <p:cNvSpPr txBox="1"/>
          <p:nvPr>
            <p:ph idx="16" type="body"/>
          </p:nvPr>
        </p:nvSpPr>
        <p:spPr>
          <a:xfrm>
            <a:off x="4704728" y="389177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SzPts val="900"/>
              <a:buFont typeface="Roboto"/>
              <a:buAutoNum type="arabicPeriod"/>
            </a:pPr>
            <a:r>
              <a:rPr lang="en"/>
              <a:t>[60, 72, 83, 88, 95]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[95, 88, 83, 72, 60]</a:t>
            </a:r>
            <a:endParaRPr/>
          </a:p>
        </p:txBody>
      </p:sp>
      <p:sp>
        <p:nvSpPr>
          <p:cNvPr id="398" name="Google Shape;398;p49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49"/>
          <p:cNvSpPr txBox="1"/>
          <p:nvPr>
            <p:ph idx="6" type="body"/>
          </p:nvPr>
        </p:nvSpPr>
        <p:spPr>
          <a:xfrm>
            <a:off x="2832494" y="214984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49"/>
          <p:cNvSpPr txBox="1"/>
          <p:nvPr>
            <p:ph idx="14" type="body"/>
          </p:nvPr>
        </p:nvSpPr>
        <p:spPr>
          <a:xfrm>
            <a:off x="7105028" y="214984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0"/>
          <p:cNvSpPr/>
          <p:nvPr/>
        </p:nvSpPr>
        <p:spPr>
          <a:xfrm>
            <a:off x="421065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50"/>
          <p:cNvSpPr/>
          <p:nvPr/>
        </p:nvSpPr>
        <p:spPr>
          <a:xfrm>
            <a:off x="4693599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50"/>
          <p:cNvSpPr/>
          <p:nvPr/>
        </p:nvSpPr>
        <p:spPr>
          <a:xfrm>
            <a:off x="388113" y="1921534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50"/>
          <p:cNvSpPr/>
          <p:nvPr/>
        </p:nvSpPr>
        <p:spPr>
          <a:xfrm>
            <a:off x="4660647" y="1921534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5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Movie Tracker  &amp;  Coordinate Unpacking</a:t>
            </a:r>
            <a:endParaRPr/>
          </a:p>
        </p:txBody>
      </p:sp>
      <p:sp>
        <p:nvSpPr>
          <p:cNvPr id="410" name="Google Shape;410;p50"/>
          <p:cNvSpPr txBox="1"/>
          <p:nvPr>
            <p:ph idx="4" type="body"/>
          </p:nvPr>
        </p:nvSpPr>
        <p:spPr>
          <a:xfrm>
            <a:off x="239905" y="9155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411" name="Google Shape;411;p50"/>
          <p:cNvSpPr txBox="1"/>
          <p:nvPr>
            <p:ph idx="3" type="body"/>
          </p:nvPr>
        </p:nvSpPr>
        <p:spPr>
          <a:xfrm>
            <a:off x="848261" y="880572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Movie Tracker</a:t>
            </a:r>
            <a:endParaRPr/>
          </a:p>
        </p:txBody>
      </p:sp>
      <p:sp>
        <p:nvSpPr>
          <p:cNvPr id="412" name="Google Shape;412;p50"/>
          <p:cNvSpPr txBox="1"/>
          <p:nvPr>
            <p:ph idx="5" type="body"/>
          </p:nvPr>
        </p:nvSpPr>
        <p:spPr>
          <a:xfrm>
            <a:off x="411480" y="137273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.count('Inception')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.index('Avatar')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both results</a:t>
            </a:r>
            <a:endParaRPr/>
          </a:p>
        </p:txBody>
      </p:sp>
      <p:sp>
        <p:nvSpPr>
          <p:cNvPr id="413" name="Google Shape;413;p50"/>
          <p:cNvSpPr txBox="1"/>
          <p:nvPr>
            <p:ph idx="7" type="body"/>
          </p:nvPr>
        </p:nvSpPr>
        <p:spPr>
          <a:xfrm>
            <a:off x="630936" y="222312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movies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'Inception'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'Avatar'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'Inception'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'Titanic'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count + index, print both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" name="Google Shape;414;p50"/>
          <p:cNvSpPr txBox="1"/>
          <p:nvPr>
            <p:ph idx="8" type="body"/>
          </p:nvPr>
        </p:nvSpPr>
        <p:spPr>
          <a:xfrm>
            <a:off x="411480" y="384161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= 2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= 1</a:t>
            </a:r>
            <a:endParaRPr/>
          </a:p>
        </p:txBody>
      </p:sp>
      <p:sp>
        <p:nvSpPr>
          <p:cNvPr id="415" name="Google Shape;415;p50"/>
          <p:cNvSpPr txBox="1"/>
          <p:nvPr>
            <p:ph idx="1" type="body"/>
          </p:nvPr>
        </p:nvSpPr>
        <p:spPr>
          <a:xfrm>
            <a:off x="4512439" y="9155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416" name="Google Shape;416;p50"/>
          <p:cNvSpPr txBox="1"/>
          <p:nvPr>
            <p:ph idx="9" type="body"/>
          </p:nvPr>
        </p:nvSpPr>
        <p:spPr>
          <a:xfrm>
            <a:off x="5150233" y="87986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Coordinate Unpacking</a:t>
            </a:r>
            <a:endParaRPr/>
          </a:p>
        </p:txBody>
      </p:sp>
      <p:sp>
        <p:nvSpPr>
          <p:cNvPr id="417" name="Google Shape;417;p50"/>
          <p:cNvSpPr txBox="1"/>
          <p:nvPr>
            <p:ph idx="13" type="body"/>
          </p:nvPr>
        </p:nvSpPr>
        <p:spPr>
          <a:xfrm>
            <a:off x="4684014" y="137273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/>
              <a:t>Calculate </a:t>
            </a:r>
            <a:r>
              <a:rPr lang="en">
                <a:solidFill>
                  <a:srgbClr val="D84568"/>
                </a:solidFill>
              </a:rPr>
              <a:t>sum_xz =</a:t>
            </a:r>
            <a:r>
              <a:rPr lang="en"/>
              <a:t> 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/>
              <a:t>+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index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/>
          </a:p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sum_xz</a:t>
            </a:r>
            <a:endParaRPr/>
          </a:p>
        </p:txBody>
      </p:sp>
      <p:sp>
        <p:nvSpPr>
          <p:cNvPr id="418" name="Google Shape;418;p50"/>
          <p:cNvSpPr txBox="1"/>
          <p:nvPr>
            <p:ph idx="15" type="body"/>
          </p:nvPr>
        </p:nvSpPr>
        <p:spPr>
          <a:xfrm>
            <a:off x="4903470" y="222312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point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sum_xz = point[0] + point[2]; print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" name="Google Shape;419;p50"/>
          <p:cNvSpPr txBox="1"/>
          <p:nvPr>
            <p:ph idx="16" type="body"/>
          </p:nvPr>
        </p:nvSpPr>
        <p:spPr>
          <a:xfrm>
            <a:off x="4684014" y="384161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/>
              <a:t>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sum_xz = 60</a:t>
            </a:r>
            <a:endParaRPr/>
          </a:p>
        </p:txBody>
      </p:sp>
      <p:sp>
        <p:nvSpPr>
          <p:cNvPr id="420" name="Google Shape;420;p50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50"/>
          <p:cNvSpPr txBox="1"/>
          <p:nvPr>
            <p:ph idx="6" type="body"/>
          </p:nvPr>
        </p:nvSpPr>
        <p:spPr>
          <a:xfrm>
            <a:off x="2811780" y="209968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50"/>
          <p:cNvSpPr txBox="1"/>
          <p:nvPr>
            <p:ph idx="14" type="body"/>
          </p:nvPr>
        </p:nvSpPr>
        <p:spPr>
          <a:xfrm>
            <a:off x="7084314" y="209968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/>
          <p:nvPr/>
        </p:nvSpPr>
        <p:spPr>
          <a:xfrm>
            <a:off x="411480" y="92428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51"/>
          <p:cNvSpPr/>
          <p:nvPr/>
        </p:nvSpPr>
        <p:spPr>
          <a:xfrm>
            <a:off x="4684014" y="92428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51"/>
          <p:cNvSpPr/>
          <p:nvPr/>
        </p:nvSpPr>
        <p:spPr>
          <a:xfrm>
            <a:off x="411480" y="2047618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51"/>
          <p:cNvSpPr/>
          <p:nvPr/>
        </p:nvSpPr>
        <p:spPr>
          <a:xfrm>
            <a:off x="4684014" y="2047618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Student Profile  &amp;  Updating Prices</a:t>
            </a:r>
            <a:endParaRPr/>
          </a:p>
        </p:txBody>
      </p:sp>
      <p:sp>
        <p:nvSpPr>
          <p:cNvPr id="432" name="Google Shape;432;p51"/>
          <p:cNvSpPr txBox="1"/>
          <p:nvPr>
            <p:ph idx="4" type="body"/>
          </p:nvPr>
        </p:nvSpPr>
        <p:spPr>
          <a:xfrm>
            <a:off x="240030" y="948999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433" name="Google Shape;433;p51"/>
          <p:cNvSpPr txBox="1"/>
          <p:nvPr>
            <p:ph idx="3" type="body"/>
          </p:nvPr>
        </p:nvSpPr>
        <p:spPr>
          <a:xfrm>
            <a:off x="877824" y="962715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Student Profile</a:t>
            </a:r>
            <a:endParaRPr/>
          </a:p>
        </p:txBody>
      </p:sp>
      <p:sp>
        <p:nvSpPr>
          <p:cNvPr id="434" name="Google Shape;434;p51"/>
          <p:cNvSpPr txBox="1"/>
          <p:nvPr>
            <p:ph idx="5" type="body"/>
          </p:nvPr>
        </p:nvSpPr>
        <p:spPr>
          <a:xfrm>
            <a:off x="411480" y="1463349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['name']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add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'gpa'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= 3.8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.get('scholarship', 'No')</a:t>
            </a:r>
            <a:endParaRPr/>
          </a:p>
        </p:txBody>
      </p:sp>
      <p:sp>
        <p:nvSpPr>
          <p:cNvPr id="435" name="Google Shape;435;p51"/>
          <p:cNvSpPr txBox="1"/>
          <p:nvPr>
            <p:ph idx="7" type="body"/>
          </p:nvPr>
        </p:nvSpPr>
        <p:spPr>
          <a:xfrm>
            <a:off x="630936" y="2313741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student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'name'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'Alice'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'age'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'major'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'CS'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print name, add gpa, .get scholarship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" name="Google Shape;436;p51"/>
          <p:cNvSpPr txBox="1"/>
          <p:nvPr>
            <p:ph idx="8" type="body"/>
          </p:nvPr>
        </p:nvSpPr>
        <p:spPr>
          <a:xfrm>
            <a:off x="411480" y="3932229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Alice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scholarship  -&gt;  No</a:t>
            </a:r>
            <a:endParaRPr/>
          </a:p>
        </p:txBody>
      </p:sp>
      <p:sp>
        <p:nvSpPr>
          <p:cNvPr id="437" name="Google Shape;437;p51"/>
          <p:cNvSpPr txBox="1"/>
          <p:nvPr>
            <p:ph idx="1" type="body"/>
          </p:nvPr>
        </p:nvSpPr>
        <p:spPr>
          <a:xfrm>
            <a:off x="4512564" y="948999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/>
          </a:p>
        </p:txBody>
      </p:sp>
      <p:sp>
        <p:nvSpPr>
          <p:cNvPr id="438" name="Google Shape;438;p51"/>
          <p:cNvSpPr txBox="1"/>
          <p:nvPr>
            <p:ph idx="9" type="body"/>
          </p:nvPr>
        </p:nvSpPr>
        <p:spPr>
          <a:xfrm>
            <a:off x="5150358" y="962715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Updating Prices</a:t>
            </a:r>
            <a:endParaRPr/>
          </a:p>
        </p:txBody>
      </p:sp>
      <p:sp>
        <p:nvSpPr>
          <p:cNvPr id="439" name="Google Shape;439;p51"/>
          <p:cNvSpPr txBox="1"/>
          <p:nvPr>
            <p:ph idx="13" type="body"/>
          </p:nvPr>
        </p:nvSpPr>
        <p:spPr>
          <a:xfrm>
            <a:off x="4684014" y="1463349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.update()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apple→1.5;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.pop('banana')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.keys()</a:t>
            </a:r>
            <a:endParaRPr/>
          </a:p>
        </p:txBody>
      </p:sp>
      <p:sp>
        <p:nvSpPr>
          <p:cNvPr id="440" name="Google Shape;440;p51"/>
          <p:cNvSpPr txBox="1"/>
          <p:nvPr>
            <p:ph idx="15" type="body"/>
          </p:nvPr>
        </p:nvSpPr>
        <p:spPr>
          <a:xfrm>
            <a:off x="4903470" y="2313741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prices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'apple'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1.2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'banana'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'orange'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update, pop, print keys()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" name="Google Shape;441;p51"/>
          <p:cNvSpPr txBox="1"/>
          <p:nvPr>
            <p:ph idx="16" type="body"/>
          </p:nvPr>
        </p:nvSpPr>
        <p:spPr>
          <a:xfrm>
            <a:off x="4684014" y="3932229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dict_keys(['apple', 'orange'])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apple is now 1.5</a:t>
            </a:r>
            <a:endParaRPr/>
          </a:p>
        </p:txBody>
      </p:sp>
      <p:sp>
        <p:nvSpPr>
          <p:cNvPr id="442" name="Google Shape;442;p51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51"/>
          <p:cNvSpPr txBox="1"/>
          <p:nvPr>
            <p:ph idx="6" type="body"/>
          </p:nvPr>
        </p:nvSpPr>
        <p:spPr>
          <a:xfrm>
            <a:off x="2811780" y="2190297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51"/>
          <p:cNvSpPr txBox="1"/>
          <p:nvPr>
            <p:ph idx="14" type="body"/>
          </p:nvPr>
        </p:nvSpPr>
        <p:spPr>
          <a:xfrm>
            <a:off x="7084314" y="2190297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52"/>
          <p:cNvSpPr/>
          <p:nvPr/>
        </p:nvSpPr>
        <p:spPr>
          <a:xfrm>
            <a:off x="391005" y="1995675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52"/>
          <p:cNvSpPr/>
          <p:nvPr/>
        </p:nvSpPr>
        <p:spPr>
          <a:xfrm>
            <a:off x="4663539" y="1995675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52"/>
          <p:cNvSpPr/>
          <p:nvPr/>
        </p:nvSpPr>
        <p:spPr>
          <a:xfrm>
            <a:off x="391005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52"/>
          <p:cNvSpPr/>
          <p:nvPr/>
        </p:nvSpPr>
        <p:spPr>
          <a:xfrm>
            <a:off x="4663539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Favorite Colors  &amp;  Club Membership</a:t>
            </a:r>
            <a:endParaRPr/>
          </a:p>
        </p:txBody>
      </p:sp>
      <p:sp>
        <p:nvSpPr>
          <p:cNvPr id="454" name="Google Shape;454;p52"/>
          <p:cNvSpPr txBox="1"/>
          <p:nvPr>
            <p:ph idx="4" type="body"/>
          </p:nvPr>
        </p:nvSpPr>
        <p:spPr>
          <a:xfrm>
            <a:off x="240030" y="874858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455" name="Google Shape;455;p52"/>
          <p:cNvSpPr txBox="1"/>
          <p:nvPr>
            <p:ph idx="3" type="body"/>
          </p:nvPr>
        </p:nvSpPr>
        <p:spPr>
          <a:xfrm>
            <a:off x="877824" y="88857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Favorite Colors</a:t>
            </a:r>
            <a:endParaRPr/>
          </a:p>
        </p:txBody>
      </p:sp>
      <p:sp>
        <p:nvSpPr>
          <p:cNvPr id="456" name="Google Shape;456;p52"/>
          <p:cNvSpPr txBox="1"/>
          <p:nvPr>
            <p:ph idx="5" type="body"/>
          </p:nvPr>
        </p:nvSpPr>
        <p:spPr>
          <a:xfrm>
            <a:off x="411480" y="138920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.add('</a:t>
            </a:r>
            <a:r>
              <a:rPr lang="en">
                <a:solidFill>
                  <a:srgbClr val="D84568"/>
                </a:solidFill>
              </a:rPr>
              <a:t>red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.discard('blue')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set and its count</a:t>
            </a:r>
            <a:endParaRPr/>
          </a:p>
        </p:txBody>
      </p:sp>
      <p:sp>
        <p:nvSpPr>
          <p:cNvPr id="457" name="Google Shape;457;p52"/>
          <p:cNvSpPr txBox="1"/>
          <p:nvPr>
            <p:ph idx="7" type="body"/>
          </p:nvPr>
        </p:nvSpPr>
        <p:spPr>
          <a:xfrm>
            <a:off x="630936" y="2239600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colors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'red'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'blue'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'green'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add, discard, print set + count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52"/>
          <p:cNvSpPr txBox="1"/>
          <p:nvPr>
            <p:ph idx="8" type="body"/>
          </p:nvPr>
        </p:nvSpPr>
        <p:spPr>
          <a:xfrm>
            <a:off x="411480" y="3858088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{ 'green', 'red</a:t>
            </a:r>
            <a:r>
              <a:rPr lang="en"/>
              <a:t>'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}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Count: </a:t>
            </a:r>
            <a:r>
              <a:rPr lang="en"/>
              <a:t>2</a:t>
            </a:r>
            <a:endParaRPr/>
          </a:p>
        </p:txBody>
      </p:sp>
      <p:sp>
        <p:nvSpPr>
          <p:cNvPr id="459" name="Google Shape;459;p52"/>
          <p:cNvSpPr txBox="1"/>
          <p:nvPr>
            <p:ph idx="1" type="body"/>
          </p:nvPr>
        </p:nvSpPr>
        <p:spPr>
          <a:xfrm>
            <a:off x="4512564" y="874858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/>
          </a:p>
        </p:txBody>
      </p:sp>
      <p:sp>
        <p:nvSpPr>
          <p:cNvPr id="460" name="Google Shape;460;p52"/>
          <p:cNvSpPr txBox="1"/>
          <p:nvPr>
            <p:ph idx="9" type="body"/>
          </p:nvPr>
        </p:nvSpPr>
        <p:spPr>
          <a:xfrm>
            <a:off x="5150358" y="88857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Club Membership</a:t>
            </a:r>
            <a:endParaRPr/>
          </a:p>
        </p:txBody>
      </p:sp>
      <p:sp>
        <p:nvSpPr>
          <p:cNvPr id="461" name="Google Shape;461;p52"/>
          <p:cNvSpPr txBox="1"/>
          <p:nvPr>
            <p:ph idx="13" type="body"/>
          </p:nvPr>
        </p:nvSpPr>
        <p:spPr>
          <a:xfrm>
            <a:off x="4684014" y="138920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Intersection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students in both clubs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Union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all unique students</a:t>
            </a:r>
            <a:endParaRPr/>
          </a:p>
        </p:txBody>
      </p:sp>
      <p:sp>
        <p:nvSpPr>
          <p:cNvPr id="462" name="Google Shape;462;p52"/>
          <p:cNvSpPr txBox="1"/>
          <p:nvPr>
            <p:ph idx="15" type="body"/>
          </p:nvPr>
        </p:nvSpPr>
        <p:spPr>
          <a:xfrm>
            <a:off x="4903470" y="2239600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art_club  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'Alice'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'Bob'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'Charlie'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drama_club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'Bob'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'David'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'Charlie'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intersection, union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" name="Google Shape;463;p52"/>
          <p:cNvSpPr txBox="1"/>
          <p:nvPr>
            <p:ph idx="16" type="body"/>
          </p:nvPr>
        </p:nvSpPr>
        <p:spPr>
          <a:xfrm>
            <a:off x="4684014" y="3858088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900"/>
              <a:buAutoNum type="arabicPeriod"/>
            </a:pPr>
            <a:r>
              <a:rPr lang="en"/>
              <a:t>intersect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= {'Bob', 'Charlie'}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900"/>
              <a:buAutoNum type="arabicPeriod"/>
            </a:pPr>
            <a:r>
              <a:rPr lang="en"/>
              <a:t>union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= {'Alice', 'Bob', 'Charlie', 'David'}</a:t>
            </a:r>
            <a:endParaRPr/>
          </a:p>
        </p:txBody>
      </p:sp>
      <p:sp>
        <p:nvSpPr>
          <p:cNvPr id="464" name="Google Shape;464;p52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52"/>
          <p:cNvSpPr txBox="1"/>
          <p:nvPr>
            <p:ph idx="6" type="body"/>
          </p:nvPr>
        </p:nvSpPr>
        <p:spPr>
          <a:xfrm>
            <a:off x="2811780" y="2116156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52"/>
          <p:cNvSpPr txBox="1"/>
          <p:nvPr>
            <p:ph idx="14" type="body"/>
          </p:nvPr>
        </p:nvSpPr>
        <p:spPr>
          <a:xfrm>
            <a:off x="7084314" y="2116156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