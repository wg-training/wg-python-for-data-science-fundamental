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2">
          <p15:clr>
            <a:srgbClr val="747775"/>
          </p15:clr>
        </p15:guide>
        <p15:guide id="2" pos="2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2" orient="horz"/>
        <p:guide pos="25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f147c24e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f147c24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92f414a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92f414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192f414a7_1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192f414a7_1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f147c24e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f147c24e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numbers = [1, 2, 3, 4, 5]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= ['apple', 'banana', 'orange']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mixed_list = [1, 'apple', True]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numbers[0]   # 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fruits[1]   # 'banana'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6f147c24e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6f147c24e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numbers = [1, 2, 3, 4, 5]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= ['apple', 'banana', 'orange']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mixed_list = [1, 'apple', True]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numbers[0]   # 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fruits[1]   # 'banana'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mixed_list = [1, 'apple', True]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mixed_list[3]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# raises IndexError: list index out of range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192f414a7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192f414a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= ['apple', 'banana', 'orange']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fruits.append('mango')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['apple', 'banana', 'orange', 'mango']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fruits.insert(1, 'kiwi')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['apple', 'kiwi', 'banana', 'orange', 'mango']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fruits.remove('banana')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['apple', 'kiwi', 'orange', 'mango']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fruits.pop(0)   # 'apple'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00344a1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800344a1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fruits.sort()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['kiwi', 'mango', 'orange']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fruits.reverse()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['orange', 'mango', 'kiwi']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fruits.index('mango')   # 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fruits.count('kiwi')   # 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len(fruits)   # 3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192f414a7_1_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192f414a7_1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f147c24e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6f147c24e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# Example of dictionaries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= {'name': 'John', 'age': 25, 'gender': 'Male'}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  # {'name': 'John', 'age': 25, 'gender': 'Male'}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f147c24e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f147c24e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# Example of dictionaries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= {'name': 'John', 'age': 25, 'gender': 'Male'}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  # {'name': 'John', 'age': 25, 'gender': 'Male'}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person["name"]   # 'John'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person["age"]   # 25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= {'name': 'John', 'age': 25, 'gender': 'Male'}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person["dob"]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# raises KeyError: 'dob'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800344a1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800344a1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= {'name': 'John', 'age': 25, 'gender': 'Male'}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person.keys()   # dict_keys(['name', 'age', 'gender'])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person.values()   # dict_values(['John', 25, 'Male'])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person.items()   # dict_items([('name', 'John'), ('age', 25), ('gender', 'Male')])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person.get('age')   # 25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00344a1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00344a1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person.update({'age': 26})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  # {'name': 'John', 'age': 26, 'gender': 'Male'}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person.pop('gender')   # 'Male'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len(person)   #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person.clear()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   # {}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192f414a7_1_1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192f414a7_1_1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f147c24e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6f147c24e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# Example of tuples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coordinates = (10, 20)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person_info = ('John', 25, 'Male')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coordinates[0]   # 10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person_info[2]   # 'Male'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192f414a7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192f414a7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192f414a7_1_1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192f414a7_1_1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192f414a7_1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192f414a7_1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800344a1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800344a1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= {'apple', 'banana', 'orange'}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citrus = {'orange', 'lemon'}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fruits.add('mango')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{'apple', 'banana', 'orange', 'mango'}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fruits.remove('banana')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{'apple', 'orange', 'mango'}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fruits.discard('kiwi')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   # {'apple', 'orange', 'mango'}  # no error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fruits.pop()   # # removes &amp; returns a random element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00344a1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00344a1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fruits.union(citrus)   # {'apple', 'orange', 'mango', 'lemon'}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fruits.intersection(citrus)   # {'orange'}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fruits.difference(citrus)   # {'apple', 'mango'}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len(fruits)   #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00344a1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800344a1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813067c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813067c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800344a18_0_38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g3f800344a18_0_3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groceries = ['bread', 'milk', 'eggs']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groceries.append('butter')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groceries.insert(1, 'cheese')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groceries.remove('bread')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groceries.sort()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len(groceries)   #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final: ['butter', 'cheese', 'eggs', 'milk']</a:t>
            </a:r>
            <a:endParaRPr/>
          </a:p>
        </p:txBody>
      </p:sp>
      <p:sp>
        <p:nvSpPr>
          <p:cNvPr id="323" name="Google Shape;323;g3f800344a18_0_3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800344a18_0_39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f800344a18_0_3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 = {'title': 'Dune', 'author': 'Frank Herbert', 'year': 1965}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book['author']            # 'Frank Herbert'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book['genre'] = 'Sci-Fi'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book.update({'year': 2021})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book.keys()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book.values()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book.pop('genre')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final: {'title': 'Dune', 'author': 'Frank Herbert', 'year': 2021}</a:t>
            </a:r>
            <a:endParaRPr/>
          </a:p>
        </p:txBody>
      </p:sp>
      <p:sp>
        <p:nvSpPr>
          <p:cNvPr id="333" name="Google Shape;333;g3f800344a18_0_3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800344a18_0_40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3f800344a18_0_4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movies = ('Inception', 'Titanic', 'Inception', 'Avatar')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movies[1]                 # 'Titanic'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movies.count('Inception') #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movies.index('Avatar')    #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len(movies)                # 4</a:t>
            </a:r>
            <a:endParaRPr/>
          </a:p>
        </p:txBody>
      </p:sp>
      <p:sp>
        <p:nvSpPr>
          <p:cNvPr id="343" name="Google Shape;343;g3f800344a18_0_4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800344a18_0_41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g3f800344a18_0_4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your_fruits = {'apple', 'banana', 'mango'}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friend_fruits = {'banana', 'kiwi', 'grape'}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your_fruits.add('orange')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your_fruits.union(friend_fruits)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your_fruits.intersection(friend_fruits)   # {'banana'}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your_fruits.difference(friend_fruits)     # {'apple', 'mango', 'orange'}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len(your_fruits)                           # 4</a:t>
            </a:r>
            <a:endParaRPr/>
          </a:p>
        </p:txBody>
      </p:sp>
      <p:sp>
        <p:nvSpPr>
          <p:cNvPr id="353" name="Google Shape;353;g3f800344a18_0_4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1256349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4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1" name="Google Shape;101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1" name="Google Shape;111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d70bf31d_14_0)">
  <p:cSld name="Generated (g3dfd70bf31d_14_0)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28_0)">
  <p:cSld name="Title and body (g3dfd70bf31d_28_0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35_0)">
  <p:cSld name="Title and body (g3dfd70bf31d_35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Collections Data Types</a:t>
            </a:r>
            <a:endParaRPr/>
          </a:p>
        </p:txBody>
      </p:sp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Lecturer: SO Vengleab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July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Collections?</a:t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514414" y="1775830"/>
            <a:ext cx="1874400" cy="377100"/>
          </a:xfrm>
          <a:prstGeom prst="roundRect">
            <a:avLst>
              <a:gd fmla="val 18000" name="adj"/>
            </a:avLst>
          </a:prstGeom>
          <a:solidFill>
            <a:srgbClr val="2A3480"/>
          </a:solidFill>
          <a:ln>
            <a:noFill/>
          </a:ln>
        </p:spPr>
        <p:txBody>
          <a:bodyPr anchorCtr="0" anchor="ctr" bIns="34275" lIns="38100" spcFirstLastPara="1" rIns="381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endParaRPr sz="1050"/>
          </a:p>
        </p:txBody>
      </p:sp>
      <p:sp>
        <p:nvSpPr>
          <p:cNvPr id="142" name="Google Shape;142;p23"/>
          <p:cNvSpPr/>
          <p:nvPr/>
        </p:nvSpPr>
        <p:spPr>
          <a:xfrm>
            <a:off x="514414" y="2194168"/>
            <a:ext cx="1874400" cy="1783200"/>
          </a:xfrm>
          <a:prstGeom prst="roundRect">
            <a:avLst>
              <a:gd fmla="val 6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95250" spcFirstLastPara="1" rIns="95250" wrap="square" tIns="133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5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[ ]</a:t>
            </a:r>
            <a:endParaRPr sz="1050"/>
          </a:p>
          <a:p>
            <a:pPr indent="0" lvl="0" marL="0" marR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Ordered, mutable sequence of items. Allows duplicates.</a:t>
            </a:r>
            <a:endParaRPr sz="1050"/>
          </a:p>
        </p:txBody>
      </p:sp>
      <p:sp>
        <p:nvSpPr>
          <p:cNvPr id="143" name="Google Shape;143;p23"/>
          <p:cNvSpPr/>
          <p:nvPr/>
        </p:nvSpPr>
        <p:spPr>
          <a:xfrm>
            <a:off x="2594671" y="1775830"/>
            <a:ext cx="1874400" cy="377100"/>
          </a:xfrm>
          <a:prstGeom prst="roundRect">
            <a:avLst>
              <a:gd fmla="val 18000" name="adj"/>
            </a:avLst>
          </a:prstGeom>
          <a:solidFill>
            <a:srgbClr val="2A3480"/>
          </a:solidFill>
          <a:ln>
            <a:noFill/>
          </a:ln>
        </p:spPr>
        <p:txBody>
          <a:bodyPr anchorCtr="0" anchor="ctr" bIns="34275" lIns="38100" spcFirstLastPara="1" rIns="381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Tuple</a:t>
            </a:r>
            <a:endParaRPr sz="1050"/>
          </a:p>
        </p:txBody>
      </p:sp>
      <p:sp>
        <p:nvSpPr>
          <p:cNvPr id="144" name="Google Shape;144;p23"/>
          <p:cNvSpPr/>
          <p:nvPr/>
        </p:nvSpPr>
        <p:spPr>
          <a:xfrm>
            <a:off x="2594671" y="2194168"/>
            <a:ext cx="1874400" cy="1783200"/>
          </a:xfrm>
          <a:prstGeom prst="roundRect">
            <a:avLst>
              <a:gd fmla="val 6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95250" spcFirstLastPara="1" rIns="95250" wrap="square" tIns="133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5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( )</a:t>
            </a:r>
            <a:endParaRPr sz="1050"/>
          </a:p>
          <a:p>
            <a:pPr indent="0" lvl="0" marL="0" marR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Ordered, immutable sequence. Faster &amp; hashable.</a:t>
            </a:r>
            <a:endParaRPr sz="1050"/>
          </a:p>
        </p:txBody>
      </p:sp>
      <p:sp>
        <p:nvSpPr>
          <p:cNvPr id="145" name="Google Shape;145;p23"/>
          <p:cNvSpPr/>
          <p:nvPr/>
        </p:nvSpPr>
        <p:spPr>
          <a:xfrm>
            <a:off x="4674929" y="1775830"/>
            <a:ext cx="1874400" cy="377100"/>
          </a:xfrm>
          <a:prstGeom prst="roundRect">
            <a:avLst>
              <a:gd fmla="val 18000" name="adj"/>
            </a:avLst>
          </a:prstGeom>
          <a:solidFill>
            <a:srgbClr val="2A3480"/>
          </a:solidFill>
          <a:ln>
            <a:noFill/>
          </a:ln>
        </p:spPr>
        <p:txBody>
          <a:bodyPr anchorCtr="0" anchor="ctr" bIns="34275" lIns="38100" spcFirstLastPara="1" rIns="381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Dictionary</a:t>
            </a:r>
            <a:endParaRPr sz="1050"/>
          </a:p>
        </p:txBody>
      </p:sp>
      <p:sp>
        <p:nvSpPr>
          <p:cNvPr id="146" name="Google Shape;146;p23"/>
          <p:cNvSpPr/>
          <p:nvPr/>
        </p:nvSpPr>
        <p:spPr>
          <a:xfrm>
            <a:off x="4674929" y="2194168"/>
            <a:ext cx="1874400" cy="1783200"/>
          </a:xfrm>
          <a:prstGeom prst="roundRect">
            <a:avLst>
              <a:gd fmla="val 6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95250" spcFirstLastPara="1" rIns="95250" wrap="square" tIns="133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5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{ : }</a:t>
            </a:r>
            <a:endParaRPr sz="1050"/>
          </a:p>
          <a:p>
            <a:pPr indent="0" lvl="0" marL="0" marR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Key-value pairs, unordered (3.7+ ordered), mutable.</a:t>
            </a:r>
            <a:endParaRPr sz="1050"/>
          </a:p>
        </p:txBody>
      </p:sp>
      <p:sp>
        <p:nvSpPr>
          <p:cNvPr id="147" name="Google Shape;147;p23"/>
          <p:cNvSpPr/>
          <p:nvPr/>
        </p:nvSpPr>
        <p:spPr>
          <a:xfrm>
            <a:off x="6755187" y="1775830"/>
            <a:ext cx="1874400" cy="377100"/>
          </a:xfrm>
          <a:prstGeom prst="roundRect">
            <a:avLst>
              <a:gd fmla="val 18000" name="adj"/>
            </a:avLst>
          </a:prstGeom>
          <a:solidFill>
            <a:srgbClr val="2A3480"/>
          </a:solidFill>
          <a:ln>
            <a:noFill/>
          </a:ln>
        </p:spPr>
        <p:txBody>
          <a:bodyPr anchorCtr="0" anchor="ctr" bIns="34275" lIns="38100" spcFirstLastPara="1" rIns="381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endParaRPr sz="1050"/>
          </a:p>
        </p:txBody>
      </p:sp>
      <p:sp>
        <p:nvSpPr>
          <p:cNvPr id="148" name="Google Shape;148;p23"/>
          <p:cNvSpPr/>
          <p:nvPr/>
        </p:nvSpPr>
        <p:spPr>
          <a:xfrm>
            <a:off x="6755187" y="2194168"/>
            <a:ext cx="1874400" cy="1783200"/>
          </a:xfrm>
          <a:prstGeom prst="roundRect">
            <a:avLst>
              <a:gd fmla="val 6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95250" spcFirstLastPara="1" rIns="95250" wrap="square" tIns="133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5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{ }</a:t>
            </a:r>
            <a:endParaRPr sz="1050"/>
          </a:p>
          <a:p>
            <a:pPr indent="0" lvl="0" marL="0" marR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i="0"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Unordered, unique elements. Fast membership testing.</a:t>
            </a:r>
            <a:endParaRPr sz="1050"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25">
                <a:solidFill>
                  <a:srgbClr val="D84568"/>
                </a:solidFill>
              </a:rPr>
              <a:t>All collections store multiple items in a single variable</a:t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endParaRPr/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5575" y="954825"/>
            <a:ext cx="4047151" cy="2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440750" y="1063000"/>
            <a:ext cx="40470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1" lvl="0" marL="171453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800"/>
              <a:buFont typeface="Arial"/>
              <a:buChar char="●"/>
            </a:pPr>
            <a:r>
              <a:rPr b="1" i="0" lang="en" sz="18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Ordered</a:t>
            </a:r>
            <a:r>
              <a:rPr b="0" i="0" lang="en" sz="1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items</a:t>
            </a:r>
            <a:endParaRPr sz="1800"/>
          </a:p>
          <a:p>
            <a:pPr indent="-209551" lvl="0" marL="171453" marR="0" rtl="0" algn="l">
              <a:spcBef>
                <a:spcPts val="750"/>
              </a:spcBef>
              <a:spcAft>
                <a:spcPts val="0"/>
              </a:spcAft>
              <a:buClr>
                <a:srgbClr val="D84568"/>
              </a:buClr>
              <a:buSzPts val="1800"/>
              <a:buFont typeface="Arial"/>
              <a:buChar char="●"/>
            </a:pPr>
            <a:r>
              <a:rPr b="1" i="0" lang="en" sz="18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Different</a:t>
            </a:r>
            <a:r>
              <a:rPr b="0" i="0" lang="en" sz="1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data types</a:t>
            </a:r>
            <a:r>
              <a:rPr lang="en" sz="1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within same list</a:t>
            </a:r>
            <a:endParaRPr sz="1800"/>
          </a:p>
          <a:p>
            <a:pPr indent="-209551" lvl="0" marL="171453" marR="0" rtl="0" algn="l">
              <a:spcBef>
                <a:spcPts val="750"/>
              </a:spcBef>
              <a:spcAft>
                <a:spcPts val="0"/>
              </a:spcAft>
              <a:buClr>
                <a:srgbClr val="D84568"/>
              </a:buClr>
              <a:buSzPts val="1800"/>
              <a:buFont typeface="Arial"/>
              <a:buChar char="●"/>
            </a:pPr>
            <a:r>
              <a:rPr b="1" i="0" lang="en" sz="18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Mutable</a:t>
            </a:r>
            <a:r>
              <a:rPr b="0" i="0" lang="en" sz="1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(can be modified).</a:t>
            </a:r>
            <a:endParaRPr sz="1800"/>
          </a:p>
          <a:p>
            <a:pPr indent="-209551" lvl="0" marL="171453" marR="0" rtl="0" algn="l">
              <a:spcBef>
                <a:spcPts val="750"/>
              </a:spcBef>
              <a:spcAft>
                <a:spcPts val="0"/>
              </a:spcAft>
              <a:buClr>
                <a:srgbClr val="D84568"/>
              </a:buClr>
              <a:buSzPts val="1800"/>
              <a:buFont typeface="Arial"/>
              <a:buChar char="●"/>
            </a:pPr>
            <a:r>
              <a:rPr b="1" i="0" lang="en" sz="18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Indexed</a:t>
            </a:r>
            <a:r>
              <a:rPr b="0" i="0" lang="en" sz="18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access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by index</a:t>
            </a:r>
            <a:endParaRPr/>
          </a:p>
        </p:txBody>
      </p:sp>
      <p:sp>
        <p:nvSpPr>
          <p:cNvPr id="167" name="Google Shape;167;p26"/>
          <p:cNvSpPr txBox="1"/>
          <p:nvPr>
            <p:ph idx="1" type="subTitle"/>
          </p:nvPr>
        </p:nvSpPr>
        <p:spPr>
          <a:xfrm>
            <a:off x="265500" y="1256349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index out of range</a:t>
            </a:r>
            <a:endParaRPr/>
          </a:p>
        </p:txBody>
      </p:sp>
      <p:sp>
        <p:nvSpPr>
          <p:cNvPr id="169" name="Google Shape;169;p26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50" y="1484950"/>
            <a:ext cx="4047151" cy="2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1039" y="1737997"/>
            <a:ext cx="4393936" cy="11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4"/>
                </a:solidFill>
              </a:rPr>
              <a:t>List</a:t>
            </a:r>
            <a:r>
              <a:rPr lang="en"/>
              <a:t> Methods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397564" y="1717290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.append(x)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x to end</a:t>
            </a:r>
            <a:endParaRPr sz="1050"/>
          </a:p>
        </p:txBody>
      </p:sp>
      <p:sp>
        <p:nvSpPr>
          <p:cNvPr id="178" name="Google Shape;178;p27"/>
          <p:cNvSpPr/>
          <p:nvPr/>
        </p:nvSpPr>
        <p:spPr>
          <a:xfrm>
            <a:off x="2469249" y="1717290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.insert(i,x)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Insert x at index i</a:t>
            </a:r>
            <a:endParaRPr sz="1050"/>
          </a:p>
        </p:txBody>
      </p:sp>
      <p:sp>
        <p:nvSpPr>
          <p:cNvPr id="179" name="Google Shape;179;p27"/>
          <p:cNvSpPr/>
          <p:nvPr/>
        </p:nvSpPr>
        <p:spPr>
          <a:xfrm>
            <a:off x="397584" y="3053990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.remove(x)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 first x</a:t>
            </a:r>
            <a:endParaRPr sz="1050"/>
          </a:p>
        </p:txBody>
      </p:sp>
      <p:sp>
        <p:nvSpPr>
          <p:cNvPr id="180" name="Google Shape;180;p27"/>
          <p:cNvSpPr/>
          <p:nvPr/>
        </p:nvSpPr>
        <p:spPr>
          <a:xfrm>
            <a:off x="2469269" y="3053990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.pop(i)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 &amp; return item at i</a:t>
            </a:r>
            <a:endParaRPr sz="1050"/>
          </a:p>
        </p:txBody>
      </p:sp>
      <p:sp>
        <p:nvSpPr>
          <p:cNvPr id="181" name="Google Shape;181;p27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650" y="563650"/>
            <a:ext cx="4223901" cy="40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</a:t>
            </a:r>
            <a:r>
              <a:rPr lang="en"/>
              <a:t> </a:t>
            </a:r>
            <a:r>
              <a:rPr lang="en">
                <a:solidFill>
                  <a:schemeClr val="accent4"/>
                </a:solidFill>
              </a:rPr>
              <a:t>List</a:t>
            </a:r>
            <a:r>
              <a:rPr lang="en"/>
              <a:t> Methods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348489" y="1115704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.sort()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</a:t>
            </a:r>
            <a:r>
              <a:rPr b="1" i="0" lang="en" sz="863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in-place</a:t>
            </a:r>
            <a:endParaRPr b="1" sz="1050">
              <a:solidFill>
                <a:schemeClr val="accent2"/>
              </a:solidFill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2420174" y="1115704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.reverse()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Reverse </a:t>
            </a:r>
            <a:r>
              <a:rPr b="1" i="0" lang="en" sz="863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in-place</a:t>
            </a:r>
            <a:endParaRPr b="1" sz="1050">
              <a:solidFill>
                <a:schemeClr val="accent2"/>
              </a:solidFill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386059" y="2398779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.index(x)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Index of </a:t>
            </a:r>
            <a:r>
              <a:rPr b="1" i="0" lang="en" sz="863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b="0" i="0" lang="en" sz="863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x</a:t>
            </a:r>
            <a:endParaRPr sz="1050">
              <a:solidFill>
                <a:schemeClr val="accent2"/>
              </a:solidFill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2457744" y="2398779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.count(x)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</a:t>
            </a:r>
            <a:r>
              <a:rPr b="1" i="0" lang="en" sz="863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occurrences</a:t>
            </a: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x</a:t>
            </a:r>
            <a:endParaRPr sz="1050"/>
          </a:p>
        </p:txBody>
      </p:sp>
      <p:sp>
        <p:nvSpPr>
          <p:cNvPr id="193" name="Google Shape;193;p28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026" y="173950"/>
            <a:ext cx="3576525" cy="465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265500" y="1256349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9551" lvl="0" marL="17145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D84568"/>
                </a:solidFill>
              </a:rPr>
              <a:t>Key-value</a:t>
            </a:r>
            <a:r>
              <a:rPr lang="en">
                <a:solidFill>
                  <a:srgbClr val="222540"/>
                </a:solidFill>
              </a:rPr>
              <a:t> pairs used to store data.</a:t>
            </a:r>
            <a:endParaRPr>
              <a:solidFill>
                <a:srgbClr val="000000"/>
              </a:solidFill>
            </a:endParaRPr>
          </a:p>
          <a:p>
            <a:pPr indent="-209551" lvl="0" marL="171453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D84568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D84568"/>
                </a:solidFill>
              </a:rPr>
              <a:t>Mutable</a:t>
            </a:r>
            <a:r>
              <a:rPr lang="en">
                <a:solidFill>
                  <a:srgbClr val="222540"/>
                </a:solidFill>
              </a:rPr>
              <a:t> and unordered.</a:t>
            </a:r>
            <a:endParaRPr/>
          </a:p>
        </p:txBody>
      </p:sp>
      <p:pic>
        <p:nvPicPr>
          <p:cNvPr id="207" name="Google Shape;207;p30"/>
          <p:cNvPicPr preferRelativeResize="0"/>
          <p:nvPr/>
        </p:nvPicPr>
        <p:blipFill rotWithShape="1">
          <a:blip r:embed="rId3">
            <a:alphaModFix/>
          </a:blip>
          <a:srcRect b="0" l="1555" r="0" t="0"/>
          <a:stretch/>
        </p:blipFill>
        <p:spPr>
          <a:xfrm>
            <a:off x="4711437" y="1765050"/>
            <a:ext cx="4293126" cy="11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 txBox="1"/>
          <p:nvPr/>
        </p:nvSpPr>
        <p:spPr>
          <a:xfrm>
            <a:off x="32725" y="4455100"/>
            <a:ext cx="44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https://www.w3schools.com/python/python_dictionaries_methods.asp</a:t>
            </a:r>
            <a:endParaRPr/>
          </a:p>
        </p:txBody>
      </p:sp>
      <p:sp>
        <p:nvSpPr>
          <p:cNvPr id="209" name="Google Shape;209;p30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by </a:t>
            </a:r>
            <a:r>
              <a:rPr lang="en">
                <a:solidFill>
                  <a:schemeClr val="accent4"/>
                </a:solidFill>
              </a:rPr>
              <a:t>key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265500" y="1256349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1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by </a:t>
            </a:r>
            <a:r>
              <a:rPr lang="en">
                <a:solidFill>
                  <a:srgbClr val="FFFF00"/>
                </a:solidFill>
              </a:rPr>
              <a:t>wrong key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17" name="Google Shape;217;p31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50" y="1572600"/>
            <a:ext cx="4310701" cy="2483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688" y="2461849"/>
            <a:ext cx="4368624" cy="11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4"/>
                </a:solidFill>
              </a:rPr>
              <a:t>Dict</a:t>
            </a:r>
            <a:r>
              <a:rPr lang="en"/>
              <a:t> methods for read data</a:t>
            </a:r>
            <a:endParaRPr/>
          </a:p>
        </p:txBody>
      </p:sp>
      <p:sp>
        <p:nvSpPr>
          <p:cNvPr id="225" name="Google Shape;225;p32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2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2"/>
          <p:cNvSpPr/>
          <p:nvPr/>
        </p:nvSpPr>
        <p:spPr>
          <a:xfrm>
            <a:off x="342628" y="1512799"/>
            <a:ext cx="1878900" cy="1050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3900" lIns="113025" spcFirstLastPara="1" rIns="94175" wrap="square" tIns="94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5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.keys()</a:t>
            </a:r>
            <a:endParaRPr sz="1038"/>
          </a:p>
          <a:p>
            <a:pPr indent="0" lvl="0" marL="0" marR="0" rtl="0" algn="l">
              <a:spcBef>
                <a:spcPts val="297"/>
              </a:spcBef>
              <a:spcAft>
                <a:spcPts val="0"/>
              </a:spcAft>
              <a:buNone/>
            </a:pPr>
            <a:r>
              <a:rPr b="0" i="0" lang="en" sz="85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Returns a view object of all keys</a:t>
            </a:r>
            <a:endParaRPr sz="1038"/>
          </a:p>
        </p:txBody>
      </p:sp>
      <p:sp>
        <p:nvSpPr>
          <p:cNvPr id="228" name="Google Shape;228;p32"/>
          <p:cNvSpPr/>
          <p:nvPr/>
        </p:nvSpPr>
        <p:spPr>
          <a:xfrm>
            <a:off x="2391033" y="1512799"/>
            <a:ext cx="1878900" cy="1050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3900" lIns="113025" spcFirstLastPara="1" rIns="94175" wrap="square" tIns="94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5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.values()</a:t>
            </a:r>
            <a:endParaRPr sz="1038"/>
          </a:p>
          <a:p>
            <a:pPr indent="0" lvl="0" marL="0" marR="0" rtl="0" algn="l">
              <a:spcBef>
                <a:spcPts val="297"/>
              </a:spcBef>
              <a:spcAft>
                <a:spcPts val="0"/>
              </a:spcAft>
              <a:buNone/>
            </a:pPr>
            <a:r>
              <a:rPr b="0" i="0" lang="en" sz="85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Returns a view object of all values</a:t>
            </a:r>
            <a:endParaRPr sz="1038"/>
          </a:p>
        </p:txBody>
      </p:sp>
      <p:sp>
        <p:nvSpPr>
          <p:cNvPr id="229" name="Google Shape;229;p32"/>
          <p:cNvSpPr/>
          <p:nvPr/>
        </p:nvSpPr>
        <p:spPr>
          <a:xfrm>
            <a:off x="2431800" y="2750142"/>
            <a:ext cx="1878900" cy="1050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3900" lIns="113025" spcFirstLastPara="1" rIns="94175" wrap="square" tIns="94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5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.items()</a:t>
            </a:r>
            <a:endParaRPr sz="1038"/>
          </a:p>
          <a:p>
            <a:pPr indent="0" lvl="0" marL="0" marR="0" rtl="0" algn="l">
              <a:spcBef>
                <a:spcPts val="297"/>
              </a:spcBef>
              <a:spcAft>
                <a:spcPts val="0"/>
              </a:spcAft>
              <a:buNone/>
            </a:pPr>
            <a:r>
              <a:rPr b="0" i="0" lang="en" sz="85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Returns view of key-value pairs</a:t>
            </a:r>
            <a:endParaRPr sz="1038"/>
          </a:p>
        </p:txBody>
      </p:sp>
      <p:sp>
        <p:nvSpPr>
          <p:cNvPr id="230" name="Google Shape;230;p32"/>
          <p:cNvSpPr/>
          <p:nvPr/>
        </p:nvSpPr>
        <p:spPr>
          <a:xfrm>
            <a:off x="342623" y="2750142"/>
            <a:ext cx="1878900" cy="1050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3900" lIns="113025" spcFirstLastPara="1" rIns="94175" wrap="square" tIns="94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75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.get(key)</a:t>
            </a:r>
            <a:endParaRPr sz="1038"/>
          </a:p>
          <a:p>
            <a:pPr indent="0" lvl="0" marL="0" marR="0" rtl="0" algn="l">
              <a:spcBef>
                <a:spcPts val="297"/>
              </a:spcBef>
              <a:spcAft>
                <a:spcPts val="0"/>
              </a:spcAft>
              <a:buNone/>
            </a:pPr>
            <a:r>
              <a:rPr b="0" i="0" lang="en" sz="85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Returns value of key (safe access)</a:t>
            </a:r>
            <a:endParaRPr sz="1038"/>
          </a:p>
        </p:txBody>
      </p:sp>
      <p:pic>
        <p:nvPicPr>
          <p:cNvPr id="231" name="Google Shape;23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927" y="1367025"/>
            <a:ext cx="4303551" cy="247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4"/>
                </a:solidFill>
              </a:rPr>
              <a:t>Dict</a:t>
            </a:r>
            <a:r>
              <a:rPr lang="en"/>
              <a:t> method for change data</a:t>
            </a:r>
            <a:endParaRPr/>
          </a:p>
        </p:txBody>
      </p:sp>
      <p:sp>
        <p:nvSpPr>
          <p:cNvPr id="237" name="Google Shape;237;p33"/>
          <p:cNvSpPr txBox="1"/>
          <p:nvPr>
            <p:ph idx="1" type="subTitle"/>
          </p:nvPr>
        </p:nvSpPr>
        <p:spPr>
          <a:xfrm>
            <a:off x="265500" y="1256349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3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3"/>
          <p:cNvSpPr/>
          <p:nvPr/>
        </p:nvSpPr>
        <p:spPr>
          <a:xfrm>
            <a:off x="265489" y="1336529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.update(obj)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keys from another dict</a:t>
            </a:r>
            <a:endParaRPr sz="1050"/>
          </a:p>
        </p:txBody>
      </p:sp>
      <p:sp>
        <p:nvSpPr>
          <p:cNvPr id="241" name="Google Shape;241;p33"/>
          <p:cNvSpPr/>
          <p:nvPr/>
        </p:nvSpPr>
        <p:spPr>
          <a:xfrm>
            <a:off x="2337174" y="1336529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.pop(key)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Removes and returns item at key</a:t>
            </a:r>
            <a:endParaRPr sz="1050"/>
          </a:p>
        </p:txBody>
      </p:sp>
      <p:sp>
        <p:nvSpPr>
          <p:cNvPr id="242" name="Google Shape;242;p33"/>
          <p:cNvSpPr/>
          <p:nvPr/>
        </p:nvSpPr>
        <p:spPr>
          <a:xfrm>
            <a:off x="265509" y="2628779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.clear()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Removes all elements from dict</a:t>
            </a:r>
            <a:endParaRPr sz="1050"/>
          </a:p>
        </p:txBody>
      </p:sp>
      <p:pic>
        <p:nvPicPr>
          <p:cNvPr id="243" name="Google Shape;2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3307" y="1269575"/>
            <a:ext cx="4469379" cy="27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</a:t>
            </a:r>
            <a:endParaRPr/>
          </a:p>
        </p:txBody>
      </p:sp>
      <p:sp>
        <p:nvSpPr>
          <p:cNvPr id="254" name="Google Shape;254;p35"/>
          <p:cNvSpPr txBox="1"/>
          <p:nvPr>
            <p:ph idx="1" type="subTitle"/>
          </p:nvPr>
        </p:nvSpPr>
        <p:spPr>
          <a:xfrm>
            <a:off x="265500" y="1256349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rgbClr val="D84568"/>
                </a:solidFill>
              </a:rPr>
              <a:t>Similar</a:t>
            </a:r>
            <a:r>
              <a:rPr lang="en" sz="1800">
                <a:solidFill>
                  <a:srgbClr val="222540"/>
                </a:solidFill>
              </a:rPr>
              <a:t> to lists but immutable (cannot be modified).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222540"/>
                </a:solidFill>
              </a:rPr>
              <a:t>Typically used to store </a:t>
            </a:r>
            <a:r>
              <a:rPr b="1" lang="en" sz="1800">
                <a:solidFill>
                  <a:srgbClr val="D84568"/>
                </a:solidFill>
              </a:rPr>
              <a:t>related</a:t>
            </a:r>
            <a:r>
              <a:rPr lang="en" sz="1800">
                <a:solidFill>
                  <a:srgbClr val="222540"/>
                </a:solidFill>
              </a:rPr>
              <a:t> pieces of information together.</a:t>
            </a:r>
            <a:endParaRPr sz="1800"/>
          </a:p>
        </p:txBody>
      </p:sp>
      <p:pic>
        <p:nvPicPr>
          <p:cNvPr id="255" name="Google Shape;255;p35"/>
          <p:cNvPicPr preferRelativeResize="0"/>
          <p:nvPr/>
        </p:nvPicPr>
        <p:blipFill rotWithShape="1">
          <a:blip r:embed="rId3">
            <a:alphaModFix/>
          </a:blip>
          <a:srcRect b="0" l="0" r="0" t="15319"/>
          <a:stretch/>
        </p:blipFill>
        <p:spPr>
          <a:xfrm>
            <a:off x="4835400" y="1110612"/>
            <a:ext cx="3907270" cy="30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5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/>
        </p:nvSpPr>
        <p:spPr>
          <a:xfrm>
            <a:off x="311468" y="180975"/>
            <a:ext cx="8521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6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4"/>
                </a:solidFill>
              </a:rPr>
              <a:t>Tuple</a:t>
            </a:r>
            <a:r>
              <a:rPr lang="en"/>
              <a:t> Methods</a:t>
            </a:r>
            <a:endParaRPr/>
          </a:p>
        </p:txBody>
      </p:sp>
      <p:sp>
        <p:nvSpPr>
          <p:cNvPr id="263" name="Google Shape;263;p36"/>
          <p:cNvSpPr/>
          <p:nvPr/>
        </p:nvSpPr>
        <p:spPr>
          <a:xfrm>
            <a:off x="514364" y="1062990"/>
            <a:ext cx="25908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.count(x)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Returns the number of times a specified value occurs in a tuple</a:t>
            </a:r>
            <a:endParaRPr sz="1050"/>
          </a:p>
        </p:txBody>
      </p:sp>
      <p:sp>
        <p:nvSpPr>
          <p:cNvPr id="264" name="Google Shape;264;p36"/>
          <p:cNvSpPr/>
          <p:nvPr/>
        </p:nvSpPr>
        <p:spPr>
          <a:xfrm>
            <a:off x="514386" y="2341115"/>
            <a:ext cx="25908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.index(x)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Searches the tuple for a specified value and returns the position of where it was found</a:t>
            </a:r>
            <a:endParaRPr sz="1050"/>
          </a:p>
        </p:txBody>
      </p:sp>
      <p:sp>
        <p:nvSpPr>
          <p:cNvPr id="265" name="Google Shape;265;p36"/>
          <p:cNvSpPr/>
          <p:nvPr/>
        </p:nvSpPr>
        <p:spPr>
          <a:xfrm>
            <a:off x="514383" y="3619240"/>
            <a:ext cx="25908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len(tuple)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Returns the number of items in the tuple</a:t>
            </a:r>
            <a:endParaRPr sz="1050"/>
          </a:p>
        </p:txBody>
      </p:sp>
      <p:sp>
        <p:nvSpPr>
          <p:cNvPr id="266" name="Google Shape;266;p36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6"/>
          <p:cNvSpPr txBox="1"/>
          <p:nvPr>
            <p:ph idx="3" type="subTitle"/>
          </p:nvPr>
        </p:nvSpPr>
        <p:spPr>
          <a:xfrm>
            <a:off x="4835400" y="1269574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]</a:t>
            </a:r>
            <a:endParaRPr/>
          </a:p>
        </p:txBody>
      </p:sp>
      <p:pic>
        <p:nvPicPr>
          <p:cNvPr id="268" name="Google Shape;2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400" y="640900"/>
            <a:ext cx="4186650" cy="355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/>
          <p:nvPr/>
        </p:nvSpPr>
        <p:spPr>
          <a:xfrm>
            <a:off x="7170420" y="3903345"/>
            <a:ext cx="988800" cy="987600"/>
          </a:xfrm>
          <a:prstGeom prst="rect">
            <a:avLst/>
          </a:prstGeom>
          <a:solidFill>
            <a:srgbClr val="D233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8"/>
          <p:cNvSpPr/>
          <p:nvPr/>
        </p:nvSpPr>
        <p:spPr>
          <a:xfrm>
            <a:off x="0" y="4891088"/>
            <a:ext cx="9144000" cy="252300"/>
          </a:xfrm>
          <a:prstGeom prst="rect">
            <a:avLst/>
          </a:prstGeom>
          <a:solidFill>
            <a:srgbClr val="2A39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8"/>
          <p:cNvSpPr txBox="1"/>
          <p:nvPr/>
        </p:nvSpPr>
        <p:spPr>
          <a:xfrm>
            <a:off x="311468" y="892492"/>
            <a:ext cx="8521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</a:pPr>
            <a:r>
              <a:rPr b="0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Unordered</a:t>
            </a:r>
            <a:r>
              <a:rPr b="0"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collection 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nique</a:t>
            </a:r>
            <a:r>
              <a:rPr b="0"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items.</a:t>
            </a:r>
            <a:endParaRPr b="0"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900"/>
              </a:spcBef>
              <a:spcAft>
                <a:spcPts val="900"/>
              </a:spcAft>
              <a:buClr>
                <a:srgbClr val="434343"/>
              </a:buClr>
              <a:buSzPts val="1800"/>
              <a:buFont typeface="Roboto"/>
              <a:buChar char="●"/>
            </a:pPr>
            <a:r>
              <a:rPr b="0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Mutable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items</a:t>
            </a:r>
            <a:r>
              <a:rPr b="0"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, but </a:t>
            </a:r>
            <a:r>
              <a:rPr b="0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elements must be </a:t>
            </a:r>
            <a:r>
              <a:rPr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immutable</a:t>
            </a:r>
            <a:r>
              <a:rPr b="0"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hashable </a:t>
            </a:r>
            <a:r>
              <a:rPr b="0"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b="0"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38"/>
          <p:cNvSpPr txBox="1"/>
          <p:nvPr/>
        </p:nvSpPr>
        <p:spPr>
          <a:xfrm>
            <a:off x="0" y="4381500"/>
            <a:ext cx="559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https://www.w3schools.com/python/python_sets.asp</a:t>
            </a:r>
            <a:endParaRPr sz="12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8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4"/>
                </a:solidFill>
              </a:rPr>
              <a:t>Set</a:t>
            </a:r>
            <a:r>
              <a:rPr lang="en"/>
              <a:t> Methods</a:t>
            </a:r>
            <a:endParaRPr/>
          </a:p>
        </p:txBody>
      </p:sp>
      <p:sp>
        <p:nvSpPr>
          <p:cNvPr id="288" name="Google Shape;288;p39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9"/>
          <p:cNvSpPr/>
          <p:nvPr/>
        </p:nvSpPr>
        <p:spPr>
          <a:xfrm>
            <a:off x="363378" y="1676975"/>
            <a:ext cx="1841700" cy="10302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3225" lIns="110775" spcFirstLastPara="1" rIns="92325" wrap="square" tIns="92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4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.add(x)</a:t>
            </a:r>
            <a:endParaRPr sz="1018"/>
          </a:p>
          <a:p>
            <a:pPr indent="0" lvl="0" marL="0" marR="0" rtl="0" algn="l">
              <a:spcBef>
                <a:spcPts val="291"/>
              </a:spcBef>
              <a:spcAft>
                <a:spcPts val="0"/>
              </a:spcAft>
              <a:buNone/>
            </a:pPr>
            <a:r>
              <a:rPr b="0" i="0" lang="en" sz="836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element x to the set</a:t>
            </a:r>
            <a:endParaRPr sz="1018"/>
          </a:p>
        </p:txBody>
      </p:sp>
      <p:sp>
        <p:nvSpPr>
          <p:cNvPr id="290" name="Google Shape;290;p39"/>
          <p:cNvSpPr/>
          <p:nvPr/>
        </p:nvSpPr>
        <p:spPr>
          <a:xfrm>
            <a:off x="2371124" y="1676975"/>
            <a:ext cx="1841700" cy="10302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3225" lIns="110775" spcFirstLastPara="1" rIns="92325" wrap="square" tIns="92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4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.remove(x)</a:t>
            </a:r>
            <a:endParaRPr sz="1018"/>
          </a:p>
          <a:p>
            <a:pPr indent="0" lvl="0" marL="0" marR="0" rtl="0" algn="l">
              <a:spcBef>
                <a:spcPts val="291"/>
              </a:spcBef>
              <a:spcAft>
                <a:spcPts val="0"/>
              </a:spcAft>
              <a:buNone/>
            </a:pPr>
            <a:r>
              <a:rPr b="0" i="0" lang="en" sz="836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 x; raises error if not present</a:t>
            </a:r>
            <a:endParaRPr sz="1018"/>
          </a:p>
        </p:txBody>
      </p:sp>
      <p:sp>
        <p:nvSpPr>
          <p:cNvPr id="291" name="Google Shape;291;p39"/>
          <p:cNvSpPr/>
          <p:nvPr/>
        </p:nvSpPr>
        <p:spPr>
          <a:xfrm>
            <a:off x="363375" y="2860851"/>
            <a:ext cx="1841700" cy="10302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3225" lIns="110775" spcFirstLastPara="1" rIns="92325" wrap="square" tIns="92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4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.discard(x)</a:t>
            </a:r>
            <a:endParaRPr sz="1018"/>
          </a:p>
          <a:p>
            <a:pPr indent="0" lvl="0" marL="0" marR="0" rtl="0" algn="l">
              <a:spcBef>
                <a:spcPts val="291"/>
              </a:spcBef>
              <a:spcAft>
                <a:spcPts val="0"/>
              </a:spcAft>
              <a:buNone/>
            </a:pPr>
            <a:r>
              <a:rPr b="0" i="0" lang="en" sz="836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 x if present; no error if missing</a:t>
            </a:r>
            <a:endParaRPr sz="1018"/>
          </a:p>
        </p:txBody>
      </p:sp>
      <p:sp>
        <p:nvSpPr>
          <p:cNvPr id="292" name="Google Shape;292;p39"/>
          <p:cNvSpPr/>
          <p:nvPr/>
        </p:nvSpPr>
        <p:spPr>
          <a:xfrm>
            <a:off x="2371121" y="2860851"/>
            <a:ext cx="1841700" cy="10302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3225" lIns="110775" spcFirstLastPara="1" rIns="92325" wrap="square" tIns="923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4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.pop()</a:t>
            </a:r>
            <a:endParaRPr sz="1018"/>
          </a:p>
          <a:p>
            <a:pPr indent="0" lvl="0" marL="0" marR="0" rtl="0" algn="l">
              <a:spcBef>
                <a:spcPts val="291"/>
              </a:spcBef>
              <a:spcAft>
                <a:spcPts val="0"/>
              </a:spcAft>
              <a:buNone/>
            </a:pPr>
            <a:r>
              <a:rPr b="0" i="0" lang="en" sz="836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 and return a random element</a:t>
            </a:r>
            <a:endParaRPr sz="1018"/>
          </a:p>
        </p:txBody>
      </p:sp>
      <p:pic>
        <p:nvPicPr>
          <p:cNvPr id="293" name="Google Shape;2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025" y="191924"/>
            <a:ext cx="4218226" cy="21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399" y="2492299"/>
            <a:ext cx="3683822" cy="248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4"/>
                </a:solidFill>
              </a:rPr>
              <a:t>Set</a:t>
            </a:r>
            <a:r>
              <a:rPr lang="en"/>
              <a:t> Methods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0"/>
          <p:cNvSpPr/>
          <p:nvPr/>
        </p:nvSpPr>
        <p:spPr>
          <a:xfrm>
            <a:off x="360086" y="2419854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.union(s)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 union of sets as a new set</a:t>
            </a:r>
            <a:endParaRPr sz="1050"/>
          </a:p>
        </p:txBody>
      </p:sp>
      <p:sp>
        <p:nvSpPr>
          <p:cNvPr id="301" name="Google Shape;301;p40"/>
          <p:cNvSpPr/>
          <p:nvPr/>
        </p:nvSpPr>
        <p:spPr>
          <a:xfrm>
            <a:off x="2431746" y="1146392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.intersection(s)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 intersection as a new set</a:t>
            </a:r>
            <a:endParaRPr sz="1050"/>
          </a:p>
        </p:txBody>
      </p:sp>
      <p:sp>
        <p:nvSpPr>
          <p:cNvPr id="302" name="Google Shape;302;p40"/>
          <p:cNvSpPr/>
          <p:nvPr/>
        </p:nvSpPr>
        <p:spPr>
          <a:xfrm>
            <a:off x="360081" y="1146392"/>
            <a:ext cx="1900200" cy="10629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34275" lIns="114300" spcFirstLastPara="1" rIns="9525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.difference(s)</a:t>
            </a:r>
            <a:endParaRPr sz="105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 elements in this set but not in s</a:t>
            </a:r>
            <a:endParaRPr sz="1050"/>
          </a:p>
        </p:txBody>
      </p:sp>
      <p:sp>
        <p:nvSpPr>
          <p:cNvPr id="303" name="Google Shape;303;p40"/>
          <p:cNvSpPr txBox="1"/>
          <p:nvPr/>
        </p:nvSpPr>
        <p:spPr>
          <a:xfrm>
            <a:off x="8303909" y="4780225"/>
            <a:ext cx="48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sz="1050"/>
          </a:p>
        </p:txBody>
      </p:sp>
      <p:pic>
        <p:nvPicPr>
          <p:cNvPr id="304" name="Google Shape;304;p40"/>
          <p:cNvPicPr preferRelativeResize="0"/>
          <p:nvPr/>
        </p:nvPicPr>
        <p:blipFill rotWithShape="1">
          <a:blip r:embed="rId3">
            <a:alphaModFix/>
          </a:blip>
          <a:srcRect b="18706" l="0" r="0" t="0"/>
          <a:stretch/>
        </p:blipFill>
        <p:spPr>
          <a:xfrm>
            <a:off x="4784475" y="838800"/>
            <a:ext cx="4045201" cy="28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title"/>
          </p:nvPr>
        </p:nvSpPr>
        <p:spPr>
          <a:xfrm>
            <a:off x="265500" y="364139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4"/>
                </a:solidFill>
              </a:rPr>
              <a:t>Set</a:t>
            </a:r>
            <a:r>
              <a:rPr lang="en"/>
              <a:t> Methods</a:t>
            </a:r>
            <a:endParaRPr/>
          </a:p>
        </p:txBody>
      </p:sp>
      <p:sp>
        <p:nvSpPr>
          <p:cNvPr id="310" name="Google Shape;310;p41"/>
          <p:cNvSpPr txBox="1"/>
          <p:nvPr>
            <p:ph idx="1" type="subTitle"/>
          </p:nvPr>
        </p:nvSpPr>
        <p:spPr>
          <a:xfrm>
            <a:off x="265500" y="1256349"/>
            <a:ext cx="4045200" cy="27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 txBox="1"/>
          <p:nvPr>
            <p:ph idx="2" type="title"/>
          </p:nvPr>
        </p:nvSpPr>
        <p:spPr>
          <a:xfrm>
            <a:off x="4835400" y="358950"/>
            <a:ext cx="4045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275" y="1016250"/>
            <a:ext cx="4101625" cy="32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1"/>
          <p:cNvSpPr/>
          <p:nvPr/>
        </p:nvSpPr>
        <p:spPr>
          <a:xfrm>
            <a:off x="911729" y="1412803"/>
            <a:ext cx="2582400" cy="14445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6575" lIns="155350" spcFirstLastPara="1" rIns="129450" wrap="square" tIns="129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7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.clear()</a:t>
            </a:r>
            <a:endParaRPr sz="1427"/>
          </a:p>
          <a:p>
            <a:pPr indent="0" lvl="0" marL="0" marR="0" rtl="0" algn="l"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en" sz="1172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Remove all elements from the set</a:t>
            </a:r>
            <a:endParaRPr sz="1427"/>
          </a:p>
        </p:txBody>
      </p:sp>
      <p:sp>
        <p:nvSpPr>
          <p:cNvPr id="314" name="Google Shape;314;p41"/>
          <p:cNvSpPr/>
          <p:nvPr/>
        </p:nvSpPr>
        <p:spPr>
          <a:xfrm>
            <a:off x="911729" y="3118424"/>
            <a:ext cx="2582400" cy="1444500"/>
          </a:xfrm>
          <a:prstGeom prst="roundRect">
            <a:avLst>
              <a:gd fmla="val 8000" name="adj"/>
            </a:avLst>
          </a:prstGeom>
          <a:solidFill>
            <a:srgbClr val="F4F4F7"/>
          </a:solidFill>
          <a:ln>
            <a:noFill/>
          </a:ln>
        </p:spPr>
        <p:txBody>
          <a:bodyPr anchorCtr="0" anchor="ctr" bIns="46575" lIns="155350" spcFirstLastPara="1" rIns="129450" wrap="square" tIns="129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78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len(set)</a:t>
            </a:r>
            <a:endParaRPr sz="1427"/>
          </a:p>
          <a:p>
            <a:pPr indent="0" lvl="0" marL="0" marR="0" rtl="0" algn="l">
              <a:spcBef>
                <a:spcPts val="408"/>
              </a:spcBef>
              <a:spcAft>
                <a:spcPts val="0"/>
              </a:spcAft>
              <a:buNone/>
            </a:pPr>
            <a:r>
              <a:rPr b="0" i="0" lang="en" sz="1172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Return the number of elements</a:t>
            </a:r>
            <a:endParaRPr sz="1427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/>
        </p:nvSpPr>
        <p:spPr>
          <a:xfrm>
            <a:off x="514364" y="219456"/>
            <a:ext cx="8115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List Practice</a:t>
            </a:r>
            <a:endParaRPr sz="1100"/>
          </a:p>
        </p:txBody>
      </p:sp>
      <p:sp>
        <p:nvSpPr>
          <p:cNvPr id="326" name="Google Shape;326;p43"/>
          <p:cNvSpPr txBox="1"/>
          <p:nvPr/>
        </p:nvSpPr>
        <p:spPr>
          <a:xfrm>
            <a:off x="514364" y="603504"/>
            <a:ext cx="342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Starting from the code on the right, write the steps to:</a:t>
            </a:r>
            <a:endParaRPr sz="1100"/>
          </a:p>
        </p:txBody>
      </p:sp>
      <p:sp>
        <p:nvSpPr>
          <p:cNvPr id="327" name="Google Shape;327;p43"/>
          <p:cNvSpPr txBox="1"/>
          <p:nvPr/>
        </p:nvSpPr>
        <p:spPr>
          <a:xfrm>
            <a:off x="514364" y="1234440"/>
            <a:ext cx="3429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Append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'butter'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the end of the list.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Insert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'cheese'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at index 1.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Remove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'bread'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from the list.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Sort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list alphabetically.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1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3495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he list</a:t>
            </a:r>
            <a:endParaRPr b="0" i="0" sz="11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3495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○"/>
            </a:pP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length of the list using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len()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</p:txBody>
      </p:sp>
      <p:pic>
        <p:nvPicPr>
          <p:cNvPr descr="practice_list_start.png" id="328" name="Google Shape;32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7782" y="1557659"/>
            <a:ext cx="4389121" cy="519422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3"/>
          <p:cNvSpPr txBox="1"/>
          <p:nvPr/>
        </p:nvSpPr>
        <p:spPr>
          <a:xfrm>
            <a:off x="579789" y="3586030"/>
            <a:ext cx="7544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result:  </a:t>
            </a:r>
            <a:endParaRPr b="1" i="0" sz="1000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[1]: 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['butter', 'cheese', 'eggs', 'milk'] </a:t>
            </a:r>
            <a:endParaRPr b="0" i="0"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[2]: 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(length 4)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/>
        </p:nvSpPr>
        <p:spPr>
          <a:xfrm>
            <a:off x="514364" y="219456"/>
            <a:ext cx="8115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Dictionary Practice</a:t>
            </a:r>
            <a:endParaRPr sz="1100"/>
          </a:p>
        </p:txBody>
      </p:sp>
      <p:sp>
        <p:nvSpPr>
          <p:cNvPr id="336" name="Google Shape;336;p44"/>
          <p:cNvSpPr txBox="1"/>
          <p:nvPr/>
        </p:nvSpPr>
        <p:spPr>
          <a:xfrm>
            <a:off x="514364" y="603504"/>
            <a:ext cx="342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Starting from the code on the right, write the steps to:</a:t>
            </a:r>
            <a:endParaRPr sz="1100"/>
          </a:p>
        </p:txBody>
      </p:sp>
      <p:sp>
        <p:nvSpPr>
          <p:cNvPr id="337" name="Google Shape;337;p44"/>
          <p:cNvSpPr txBox="1"/>
          <p:nvPr/>
        </p:nvSpPr>
        <p:spPr>
          <a:xfrm>
            <a:off x="514364" y="1234440"/>
            <a:ext cx="3429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Access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author using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book['author']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Add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 new key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'genre'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 value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'Sci-Fi'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Update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year to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2021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.</a:t>
            </a:r>
            <a:endParaRPr b="0" i="0" sz="11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78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●"/>
            </a:pP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the dict.</a:t>
            </a:r>
            <a:endParaRPr sz="11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.keys()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.values()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Remove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</a:t>
            </a:r>
            <a:r>
              <a:rPr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year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key.</a:t>
            </a:r>
            <a:endParaRPr b="0" i="0" sz="11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78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●"/>
            </a:pPr>
            <a:r>
              <a:rPr b="1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.keys()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.values()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actice_dict_start.png" id="338" name="Google Shape;33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7782" y="1658152"/>
            <a:ext cx="4389121" cy="31843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4"/>
          <p:cNvSpPr txBox="1"/>
          <p:nvPr/>
        </p:nvSpPr>
        <p:spPr>
          <a:xfrm>
            <a:off x="514375" y="3297570"/>
            <a:ext cx="7544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result:  </a:t>
            </a:r>
            <a:endParaRPr b="1" i="0" sz="1000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[1]  {'title': 'Dune', 'author': 'Frank Herbert', 'year': 2021, 'genre': 'Sci-Fi'}</a:t>
            </a:r>
            <a:endParaRPr b="0" i="0"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	[2]  dict_keys(['title', 'author', 'year', 'genre'])</a:t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	[3]  dict_values(['Dune', 'Frank Herbert', 2021, 'Sci-Fi'])</a:t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	[4]  {'title': 'Dune', 'author': 'Frank Herbert', 'year': 2021}</a:t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 txBox="1"/>
          <p:nvPr/>
        </p:nvSpPr>
        <p:spPr>
          <a:xfrm>
            <a:off x="514364" y="219456"/>
            <a:ext cx="8115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Tuple Practice</a:t>
            </a:r>
            <a:endParaRPr sz="1100"/>
          </a:p>
        </p:txBody>
      </p:sp>
      <p:sp>
        <p:nvSpPr>
          <p:cNvPr id="346" name="Google Shape;346;p45"/>
          <p:cNvSpPr txBox="1"/>
          <p:nvPr/>
        </p:nvSpPr>
        <p:spPr>
          <a:xfrm>
            <a:off x="514364" y="603504"/>
            <a:ext cx="342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Starting from the code on the right, write the steps to:</a:t>
            </a:r>
            <a:endParaRPr sz="1100"/>
          </a:p>
        </p:txBody>
      </p:sp>
      <p:sp>
        <p:nvSpPr>
          <p:cNvPr id="347" name="Google Shape;347;p45"/>
          <p:cNvSpPr txBox="1"/>
          <p:nvPr/>
        </p:nvSpPr>
        <p:spPr>
          <a:xfrm>
            <a:off x="514364" y="1234440"/>
            <a:ext cx="3429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Access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second movie using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movies[1]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Count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how many times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'Inception'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appears using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.count()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Find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index of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'Avatar'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using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.index()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length using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len()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</p:txBody>
      </p:sp>
      <p:pic>
        <p:nvPicPr>
          <p:cNvPr descr="practice_tuple_start.png" id="348" name="Google Shape;34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7782" y="1635752"/>
            <a:ext cx="4389121" cy="363237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5"/>
          <p:cNvSpPr txBox="1"/>
          <p:nvPr/>
        </p:nvSpPr>
        <p:spPr>
          <a:xfrm>
            <a:off x="514375" y="2706144"/>
            <a:ext cx="75441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result:  </a:t>
            </a:r>
            <a:endParaRPr b="0" i="0"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[1]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  2   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# count of in</a:t>
            </a: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ception</a:t>
            </a:r>
            <a:endParaRPr b="0" i="0"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[2]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  3   # Index of avatar</a:t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[3]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4  #</a:t>
            </a: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 Length of movies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/>
        </p:nvSpPr>
        <p:spPr>
          <a:xfrm>
            <a:off x="514364" y="219456"/>
            <a:ext cx="8115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Set Practice</a:t>
            </a:r>
            <a:endParaRPr sz="1100"/>
          </a:p>
        </p:txBody>
      </p:sp>
      <p:sp>
        <p:nvSpPr>
          <p:cNvPr id="356" name="Google Shape;356;p46"/>
          <p:cNvSpPr txBox="1"/>
          <p:nvPr/>
        </p:nvSpPr>
        <p:spPr>
          <a:xfrm>
            <a:off x="514364" y="603504"/>
            <a:ext cx="342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rPr>
              <a:t>Starting from the code on the right, write the steps to:</a:t>
            </a:r>
            <a:endParaRPr sz="1100"/>
          </a:p>
        </p:txBody>
      </p:sp>
      <p:sp>
        <p:nvSpPr>
          <p:cNvPr id="357" name="Google Shape;357;p46"/>
          <p:cNvSpPr txBox="1"/>
          <p:nvPr/>
        </p:nvSpPr>
        <p:spPr>
          <a:xfrm>
            <a:off x="514364" y="1234440"/>
            <a:ext cx="34290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Add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'orange'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your_fruits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Find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union of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your_fruits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friend_fruits, and print </a:t>
            </a:r>
            <a:r>
              <a:rPr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Find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intersection (fruits you both like).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Find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difference (fruits only you like).</a:t>
            </a:r>
            <a:endParaRPr sz="1100"/>
          </a:p>
          <a:p>
            <a:pPr indent="-17145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Font typeface="Arial"/>
              <a:buChar char="●"/>
            </a:pPr>
            <a:r>
              <a:rPr b="1" i="0"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Print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length of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your_fruits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using </a:t>
            </a:r>
            <a:r>
              <a:rPr b="0" i="0" lang="en" sz="1000">
                <a:solidFill>
                  <a:srgbClr val="D84568"/>
                </a:solidFill>
                <a:latin typeface="Verdana"/>
                <a:ea typeface="Verdana"/>
                <a:cs typeface="Verdana"/>
                <a:sym typeface="Verdana"/>
              </a:rPr>
              <a:t>len()</a:t>
            </a:r>
            <a:r>
              <a:rPr b="0" i="0"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/>
          </a:p>
        </p:txBody>
      </p:sp>
      <p:pic>
        <p:nvPicPr>
          <p:cNvPr descr="practice_set_start.png" id="358" name="Google Shape;35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7782" y="1482090"/>
            <a:ext cx="4389120" cy="67056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6"/>
          <p:cNvSpPr txBox="1"/>
          <p:nvPr/>
        </p:nvSpPr>
        <p:spPr>
          <a:xfrm>
            <a:off x="514375" y="3022898"/>
            <a:ext cx="75441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result:  </a:t>
            </a:r>
            <a:endParaRPr b="1" i="0" sz="1000">
              <a:solidFill>
                <a:srgbClr val="D845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[1] {'orange', 'banana', 'grape', 'kiwi', 'mango', 'apple'} # union</a:t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[2] 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{'banana'} # </a:t>
            </a: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intersect</a:t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[3] 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{'apple','mango','orange'} # different </a:t>
            </a:r>
            <a:endParaRPr sz="1000">
              <a:solidFill>
                <a:srgbClr val="6B708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[4]  </a:t>
            </a:r>
            <a:r>
              <a:rPr b="0" i="0"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4 # </a:t>
            </a:r>
            <a:r>
              <a:rPr lang="en" sz="1000">
                <a:solidFill>
                  <a:srgbClr val="6B7085"/>
                </a:solidFill>
                <a:latin typeface="Verdana"/>
                <a:ea typeface="Verdana"/>
                <a:cs typeface="Verdana"/>
                <a:sym typeface="Verdana"/>
              </a:rPr>
              <a:t>Length of your_fruits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