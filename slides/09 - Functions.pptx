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2">
          <p15:clr>
            <a:srgbClr val="747775"/>
          </p15:clr>
        </p15:guide>
        <p15:guide id="2" pos="2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2" orient="horz"/>
        <p:guide pos="25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e3b1bb3c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ce3b1bb3c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e3b1bb3c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e3b1bb3c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e3b1bb3c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e3b1bb3c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967b4d3b_2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6967b4d3b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19afcda42_1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19afcda42_1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3118ae400_0_97:notes"/>
          <p:cNvSpPr/>
          <p:nvPr>
            <p:ph idx="2" type="sldImg"/>
          </p:nvPr>
        </p:nvSpPr>
        <p:spPr>
          <a:xfrm>
            <a:off x="68580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3118ae400_0_9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3118ae400_0_9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763dd463dc11afd9_10_15:notes"/>
          <p:cNvSpPr/>
          <p:nvPr>
            <p:ph idx="2" type="sldImg"/>
          </p:nvPr>
        </p:nvSpPr>
        <p:spPr>
          <a:xfrm>
            <a:off x="68580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h763dd463dc11afd9_10_1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763dd463dc11afd9_10_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763dd463dc11afd9_10_47:notes"/>
          <p:cNvSpPr/>
          <p:nvPr>
            <p:ph idx="2" type="sldImg"/>
          </p:nvPr>
        </p:nvSpPr>
        <p:spPr>
          <a:xfrm>
            <a:off x="68580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h763dd463dc11afd9_10_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763dd463dc11afd9_10_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6967b4d3b_2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6967b4d3b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19afcda42_1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19afcda42_1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967b4d3b_2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6967b4d3b_2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multiply(a, 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print(a *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= multiply(4,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print(result)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prints: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prints: None</a:t>
            </a:r>
            <a:endParaRPr/>
          </a:p>
        </p:txBody>
      </p:sp>
      <p:sp>
        <p:nvSpPr>
          <p:cNvPr id="290" name="Google Shape;290;g3f6967b4d3b_2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6967b4d3b_2_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6967b4d3b_2_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multiply(a, 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print(a * 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= multiply(4, 5) + 10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TypeError: unsupported operand type(s) for +: 'NoneType' and 'int'</a:t>
            </a:r>
            <a:endParaRPr/>
          </a:p>
        </p:txBody>
      </p:sp>
      <p:sp>
        <p:nvSpPr>
          <p:cNvPr id="302" name="Google Shape;302;g3f6967b4d3b_2_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6967b4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6967b4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ce3b1bb3c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ce3b1bb3c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cfb310f50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cfb310f50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cfb310f50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cfb310f50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6f4717913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6f4717913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6f4717913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6f4717913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f4717913_0_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f6f4717913_0_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greet_user(name):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print(f"Hello, {name}! Welcome to Python.")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greet_user("Amy")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greet_user("Liam")</a:t>
            </a:r>
            <a:endParaRPr/>
          </a:p>
        </p:txBody>
      </p:sp>
      <p:sp>
        <p:nvSpPr>
          <p:cNvPr id="369" name="Google Shape;369;g3f6f4717913_0_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6f4717913_0_1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6f4717913_0_1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calculate_rectangle_area(width, height):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width * height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= calculate_rectangle_area(4,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print(area * 2)  # 40</a:t>
            </a:r>
            <a:endParaRPr/>
          </a:p>
        </p:txBody>
      </p:sp>
      <p:sp>
        <p:nvSpPr>
          <p:cNvPr id="382" name="Google Shape;382;g3f6f4717913_0_1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6f4717913_0_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f6f4717913_0_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add_tax(price):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price * 1.1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= add_tax(100) + 5  # 115.0</a:t>
            </a:r>
            <a:endParaRPr/>
          </a:p>
        </p:txBody>
      </p:sp>
      <p:sp>
        <p:nvSpPr>
          <p:cNvPr id="395" name="Google Shape;395;g3f6f4717913_0_3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6f4717913_0_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f6f4717913_0_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is_even(number):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number % 2 ==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print(is_even(7))   #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print(is_even(12))  # True</a:t>
            </a:r>
            <a:endParaRPr/>
          </a:p>
        </p:txBody>
      </p:sp>
      <p:sp>
        <p:nvSpPr>
          <p:cNvPr id="408" name="Google Shape;408;g3f6f4717913_0_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6f4717913_0_5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6f4717913_0_5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6f4717913_0_6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f6f4717913_0_6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format_full_name(first_name, last_name, middle_name=""):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middle_name: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return f"{first_name} {middle_name} {last_name}"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f"{first_name} {last_name}"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print(format_full_name("Ana", "Lee"))       # Ana Lee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print(format_full_name("Ana", "Lee", "J"))  # Ana J Lee</a:t>
            </a:r>
            <a:endParaRPr/>
          </a:p>
        </p:txBody>
      </p:sp>
      <p:sp>
        <p:nvSpPr>
          <p:cNvPr id="428" name="Google Shape;428;g3f6f4717913_0_6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6f4717913_0_7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f6f4717913_0_7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square = lambda x: x **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print(square(5))  #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print(square(9))  # 81</a:t>
            </a:r>
            <a:endParaRPr/>
          </a:p>
        </p:txBody>
      </p:sp>
      <p:sp>
        <p:nvSpPr>
          <p:cNvPr id="441" name="Google Shape;441;g3f6f4717913_0_7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6f4717913_0_8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f6f4717913_0_8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[1, 2, 3, 4, 5, 6, 7, 8, 9, 10]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evens = list(filter(lambda n: n % 2 == 0, numbers))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print(evens)  # [2, 4, 6, 8, 10]</a:t>
            </a:r>
            <a:endParaRPr/>
          </a:p>
        </p:txBody>
      </p:sp>
      <p:sp>
        <p:nvSpPr>
          <p:cNvPr id="454" name="Google Shape;454;g3f6f4717913_0_8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6f4717913_0_9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f6f4717913_0_9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apply_discount(price, discount_percent=10):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price * (1 - discount_percent / 100)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print(apply_discount(100))      # 90.0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print(apply_discount(100, 20))  # 80.0</a:t>
            </a:r>
            <a:endParaRPr/>
          </a:p>
        </p:txBody>
      </p:sp>
      <p:sp>
        <p:nvSpPr>
          <p:cNvPr id="467" name="Google Shape;467;g3f6f4717913_0_9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6f4717913_0_6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f6f4717913_0_6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6f4717913_0_67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f6f4717913_0_67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{"name": "Alice", "score": 88},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{"name": "Bob", "score": 95},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{"name": "Charlie", "score": 78}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ranked = sorted(students, key=lambda s: s["score"], reverse=True)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print(ranked)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[{'name': 'Bob', 'score': 95}, {'name': 'Alice', 'score': 88}, {'name': 'Charlie', 'score': 78}]</a:t>
            </a:r>
            <a:endParaRPr/>
          </a:p>
        </p:txBody>
      </p:sp>
      <p:sp>
        <p:nvSpPr>
          <p:cNvPr id="487" name="Google Shape;487;g3f6f4717913_0_67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6f4717913_0_69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f6f4717913_0_69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clean_text(text):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text.strip().lower()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count_words(text):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len(text.split())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process_document(raw_text):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count_words(clean_text(raw_text))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print(process_document("  Hello WORLD  "))  # 2</a:t>
            </a:r>
            <a:endParaRPr/>
          </a:p>
        </p:txBody>
      </p:sp>
      <p:sp>
        <p:nvSpPr>
          <p:cNvPr id="500" name="Google Shape;500;g3f6f4717913_0_69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cbe0eb5879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cbe0eb587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b="1" sz="23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229375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1" name="Google Shape;10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1" name="Google Shape;111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d70bf31d_14_0)">
  <p:cSld name="Generated (g3dfd70bf31d_14_0)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28_0)">
  <p:cSld name="Title and body (g3dfd70bf31d_28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35_0)">
  <p:cSld name="Title and body (g3dfd70bf31d_35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9afcda42_8_0)">
  <p:cSld name="Title and body (g3e19afcda42_8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9afcda42_29_0)">
  <p:cSld name="Title and body (g3e19afcda42_29_0)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2" type="body"/>
          </p:nvPr>
        </p:nvSpPr>
        <p:spPr>
          <a:xfrm>
            <a:off x="411480" y="106299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3" type="body"/>
          </p:nvPr>
        </p:nvSpPr>
        <p:spPr>
          <a:xfrm>
            <a:off x="411480" y="1371600"/>
            <a:ext cx="39093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800"/>
              <a:buFont typeface="Arial"/>
              <a:buNone/>
              <a:defRPr b="0" i="1" sz="8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46" name="Google Shape;146;p24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24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60" name="Google Shape;160;p26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ode.tutsplus.com/introduction-to-python--CRS-200307c" TargetMode="External"/><Relationship Id="rId4" Type="http://schemas.openxmlformats.org/officeDocument/2006/relationships/hyperlink" Target="https://code.tutsplus.com/data-handling-with-python--CRS-200572c" TargetMode="External"/><Relationship Id="rId5" Type="http://schemas.openxmlformats.org/officeDocument/2006/relationships/hyperlink" Target="https://gto76.github.io/python-cheatshe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Functions?</a:t>
            </a:r>
            <a:endParaRPr/>
          </a:p>
        </p:txBody>
      </p:sp>
      <p:sp>
        <p:nvSpPr>
          <p:cNvPr id="178" name="Google Shape;178;p28"/>
          <p:cNvSpPr/>
          <p:nvPr/>
        </p:nvSpPr>
        <p:spPr>
          <a:xfrm>
            <a:off x="397580" y="782295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44"/>
              <a:buFont typeface="Roboto"/>
              <a:buNone/>
            </a:pPr>
            <a:r>
              <a:rPr b="0" i="0" lang="en" sz="1244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Reusable blocks of code designed to perform a specific, isolated task.</a:t>
            </a:r>
            <a:endParaRPr b="0" i="0" sz="12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7"/>
              <a:buFont typeface="Roboto"/>
              <a:buNone/>
            </a:pPr>
            <a:r>
              <a:rPr b="0" i="1" lang="en" sz="1167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“Like a recipe abstracts cooking steps, a function abstracts code logic.”</a:t>
            </a:r>
            <a:endParaRPr b="0" i="0" sz="12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97580" y="1772895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33"/>
              <a:buFont typeface="Roboto"/>
              <a:buNone/>
            </a:pPr>
            <a:r>
              <a:rPr b="1" i="0" lang="en" sz="93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WHY USE THEM?</a:t>
            </a:r>
            <a:endParaRPr b="0" i="0" sz="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597766" y="2153895"/>
            <a:ext cx="2537400" cy="2362200"/>
          </a:xfrm>
          <a:prstGeom prst="roundRect">
            <a:avLst>
              <a:gd fmla="val 258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769216" y="2344395"/>
            <a:ext cx="342900" cy="381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769216" y="2344395"/>
            <a:ext cx="34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7"/>
              <a:buFont typeface="Roboto"/>
              <a:buNone/>
            </a:pPr>
            <a:r>
              <a:rPr b="1" i="0" lang="en" sz="11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769216" y="2877795"/>
            <a:ext cx="219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83"/>
              <a:buFont typeface="Roboto"/>
              <a:buNone/>
            </a:pPr>
            <a:r>
              <a:rPr b="1" lang="en" sz="128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Modularity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769216" y="3258795"/>
            <a:ext cx="21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2"/>
              <a:buFont typeface="Roboto"/>
              <a:buNone/>
            </a:pPr>
            <a:r>
              <a:rPr b="0" i="0" lang="en" sz="972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Execute tasks multiple times without duplicating instructions.</a:t>
            </a:r>
            <a:endParaRPr b="0" i="0" sz="9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3340966" y="2153895"/>
            <a:ext cx="2537400" cy="2362200"/>
          </a:xfrm>
          <a:prstGeom prst="roundRect">
            <a:avLst>
              <a:gd fmla="val 2581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3512416" y="2344395"/>
            <a:ext cx="342900" cy="381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3512416" y="2344395"/>
            <a:ext cx="34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7"/>
              <a:buFont typeface="Roboto"/>
              <a:buNone/>
            </a:pPr>
            <a:r>
              <a:rPr b="1" i="0" lang="en" sz="11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3512416" y="2877795"/>
            <a:ext cx="219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83"/>
              <a:buFont typeface="Roboto"/>
              <a:buNone/>
            </a:pPr>
            <a:r>
              <a:rPr b="1" i="0" lang="en" sz="128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Readability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3512416" y="3258795"/>
            <a:ext cx="21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2"/>
              <a:buFont typeface="Roboto"/>
              <a:buNone/>
            </a:pPr>
            <a:r>
              <a:rPr b="0" i="0" lang="en" sz="972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Break complex logic into smaller, understandable chunks.</a:t>
            </a:r>
            <a:endParaRPr b="0" i="0" sz="9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6084166" y="2153895"/>
            <a:ext cx="2537400" cy="2362200"/>
          </a:xfrm>
          <a:prstGeom prst="roundRect">
            <a:avLst>
              <a:gd fmla="val 2581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6255616" y="2344395"/>
            <a:ext cx="342900" cy="3810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6255616" y="2344395"/>
            <a:ext cx="34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7"/>
              <a:buFont typeface="Roboto"/>
              <a:buNone/>
            </a:pPr>
            <a:r>
              <a:rPr b="1" i="0" lang="en" sz="11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6255616" y="2877795"/>
            <a:ext cx="219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83"/>
              <a:buFont typeface="Roboto"/>
              <a:buNone/>
            </a:pPr>
            <a:r>
              <a:rPr b="1" i="0" lang="en" sz="128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Maintenance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6255616" y="3258795"/>
            <a:ext cx="21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2"/>
              <a:buFont typeface="Roboto"/>
              <a:buNone/>
            </a:pPr>
            <a:r>
              <a:rPr b="0" i="0" lang="en" sz="972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Update logic in one place to affect all occurrences.</a:t>
            </a:r>
            <a:endParaRPr b="0" i="0" sz="9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Anatomy of a Function</a:t>
            </a:r>
            <a:endParaRPr b="1" sz="32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0" name="Google Shape;200;p29"/>
          <p:cNvGrpSpPr/>
          <p:nvPr/>
        </p:nvGrpSpPr>
        <p:grpSpPr>
          <a:xfrm>
            <a:off x="381000" y="1143000"/>
            <a:ext cx="8382000" cy="3429000"/>
            <a:chOff x="381000" y="1143000"/>
            <a:chExt cx="8382000" cy="3429000"/>
          </a:xfrm>
        </p:grpSpPr>
        <p:sp>
          <p:nvSpPr>
            <p:cNvPr id="201" name="Google Shape;201;p29"/>
            <p:cNvSpPr/>
            <p:nvPr/>
          </p:nvSpPr>
          <p:spPr>
            <a:xfrm>
              <a:off x="381000" y="1143000"/>
              <a:ext cx="8382000" cy="3429000"/>
            </a:xfrm>
            <a:prstGeom prst="roundRect">
              <a:avLst>
                <a:gd fmla="val 41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2" name="Google Shape;202;p29"/>
            <p:cNvPicPr preferRelativeResize="0"/>
            <p:nvPr/>
          </p:nvPicPr>
          <p:blipFill rotWithShape="1">
            <a:blip r:embed="rId3">
              <a:alphaModFix/>
            </a:blip>
            <a:srcRect b="2267" l="1836" r="0" t="0"/>
            <a:stretch/>
          </p:blipFill>
          <p:spPr>
            <a:xfrm>
              <a:off x="397575" y="1523550"/>
              <a:ext cx="4470300" cy="2398500"/>
            </a:xfrm>
            <a:prstGeom prst="roundRect">
              <a:avLst>
                <a:gd fmla="val 3333" name="adj"/>
              </a:avLst>
            </a:prstGeom>
            <a:noFill/>
            <a:ln>
              <a:noFill/>
            </a:ln>
          </p:spPr>
        </p:pic>
        <p:sp>
          <p:nvSpPr>
            <p:cNvPr id="203" name="Google Shape;203;p29"/>
            <p:cNvSpPr txBox="1"/>
            <p:nvPr/>
          </p:nvSpPr>
          <p:spPr>
            <a:xfrm>
              <a:off x="4976325" y="1333500"/>
              <a:ext cx="3596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65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Understanding the Syntax</a:t>
              </a:r>
              <a:endParaRPr b="1" sz="166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959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34343"/>
                </a:buClr>
                <a:buSzPts val="1203"/>
                <a:buFont typeface="Roboto"/>
                <a:buChar char="●"/>
              </a:pPr>
              <a:r>
                <a:rPr b="1" lang="en" sz="1203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1. def keyword:</a:t>
              </a:r>
              <a:r>
                <a:rPr lang="en" sz="120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Marks the start of a function header.</a:t>
              </a:r>
              <a:endParaRPr sz="120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959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203"/>
                <a:buFont typeface="Roboto"/>
                <a:buChar char="●"/>
              </a:pPr>
              <a:r>
                <a:rPr b="1" lang="en" sz="1203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2. Function Name:</a:t>
              </a:r>
              <a:r>
                <a:rPr lang="en" sz="120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A unique identifier to call the function.</a:t>
              </a:r>
              <a:endParaRPr sz="120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959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203"/>
                <a:buFont typeface="Roboto"/>
                <a:buChar char="●"/>
              </a:pPr>
              <a:r>
                <a:rPr b="1" lang="en" sz="1203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3. Arguments(Parameters):</a:t>
              </a:r>
              <a:r>
                <a:rPr lang="en" sz="120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Inputs passed into the function inside ().</a:t>
              </a:r>
              <a:endParaRPr sz="120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959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203"/>
                <a:buFont typeface="Roboto"/>
                <a:buChar char="●"/>
              </a:pPr>
              <a:r>
                <a:rPr b="1" lang="en" sz="1203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4. Colon (:):</a:t>
              </a:r>
              <a:r>
                <a:rPr lang="en" sz="120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Signal the end of the function header.</a:t>
              </a:r>
              <a:endParaRPr sz="120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959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203"/>
                <a:buFont typeface="Roboto"/>
                <a:buChar char="●"/>
              </a:pPr>
              <a:r>
                <a:rPr b="1" lang="en" sz="1203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5. Function Code:</a:t>
              </a:r>
              <a:r>
                <a:rPr lang="en" sz="120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The block of logic that performs the task.</a:t>
              </a:r>
              <a:endParaRPr sz="120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959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34343"/>
                </a:buClr>
                <a:buSzPts val="1203"/>
                <a:buFont typeface="Roboto"/>
                <a:buChar char="●"/>
              </a:pPr>
              <a:r>
                <a:rPr b="1" lang="en" sz="1203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6. Return Statement:</a:t>
              </a:r>
              <a:r>
                <a:rPr lang="en" sz="120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Exits the function and passes back a value.</a:t>
              </a:r>
              <a:endParaRPr sz="120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and Call a Function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09" name="Google Shape;209;p30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35612"/>
              <a:buNone/>
            </a:pPr>
            <a:r>
              <a:rPr lang="en" sz="2780"/>
              <a:t>Define a Function with </a:t>
            </a:r>
            <a:r>
              <a:rPr lang="en" sz="2780">
                <a:solidFill>
                  <a:schemeClr val="accent4"/>
                </a:solidFill>
              </a:rPr>
              <a:t>def</a:t>
            </a:r>
            <a:endParaRPr sz="2780">
              <a:solidFill>
                <a:schemeClr val="accent4"/>
              </a:solidFill>
            </a:endParaRPr>
          </a:p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265500" y="1229375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89"/>
              <a:buFont typeface="Roboto"/>
              <a:buNone/>
            </a:pPr>
            <a:r>
              <a:rPr b="1" lang="en" sz="1600">
                <a:solidFill>
                  <a:srgbClr val="D84568"/>
                </a:solidFill>
              </a:rPr>
              <a:t>1. </a:t>
            </a:r>
            <a:r>
              <a:rPr lang="en" sz="1600">
                <a:solidFill>
                  <a:srgbClr val="222540"/>
                </a:solidFill>
              </a:rPr>
              <a:t>Write </a:t>
            </a:r>
            <a:r>
              <a:rPr b="1" lang="en" sz="1600">
                <a:solidFill>
                  <a:srgbClr val="D84568"/>
                </a:solidFill>
              </a:rPr>
              <a:t>def</a:t>
            </a:r>
            <a:r>
              <a:rPr lang="en" sz="1600">
                <a:solidFill>
                  <a:srgbClr val="222540"/>
                </a:solidFill>
              </a:rPr>
              <a:t> and name your function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89"/>
              </a:spcBef>
              <a:spcAft>
                <a:spcPts val="0"/>
              </a:spcAft>
              <a:buClr>
                <a:srgbClr val="D84568"/>
              </a:buClr>
              <a:buSzPts val="1089"/>
              <a:buFont typeface="Roboto"/>
              <a:buNone/>
            </a:pPr>
            <a:r>
              <a:rPr b="1" lang="en" sz="1600">
                <a:solidFill>
                  <a:srgbClr val="D84568"/>
                </a:solidFill>
              </a:rPr>
              <a:t>2. </a:t>
            </a:r>
            <a:r>
              <a:rPr lang="en" sz="1600">
                <a:solidFill>
                  <a:srgbClr val="222540"/>
                </a:solidFill>
              </a:rPr>
              <a:t>Indent 4 or 2 spaces (must stay consistent), then write the body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89"/>
              </a:spcBef>
              <a:spcAft>
                <a:spcPts val="0"/>
              </a:spcAft>
              <a:buClr>
                <a:srgbClr val="D84568"/>
              </a:buClr>
              <a:buSzPts val="1089"/>
              <a:buFont typeface="Roboto"/>
              <a:buNone/>
            </a:pPr>
            <a:r>
              <a:rPr b="1" lang="en" sz="1600">
                <a:solidFill>
                  <a:srgbClr val="D84568"/>
                </a:solidFill>
              </a:rPr>
              <a:t>3. </a:t>
            </a:r>
            <a:r>
              <a:rPr lang="en" sz="1600">
                <a:solidFill>
                  <a:srgbClr val="222540"/>
                </a:solidFill>
              </a:rPr>
              <a:t>Use </a:t>
            </a:r>
            <a:r>
              <a:rPr b="1" lang="en" sz="1600">
                <a:solidFill>
                  <a:srgbClr val="D84568"/>
                </a:solidFill>
              </a:rPr>
              <a:t>return</a:t>
            </a:r>
            <a:r>
              <a:rPr lang="en" sz="1600">
                <a:solidFill>
                  <a:srgbClr val="222540"/>
                </a:solidFill>
              </a:rPr>
              <a:t> to send back a value </a:t>
            </a:r>
            <a:r>
              <a:rPr lang="en">
                <a:solidFill>
                  <a:srgbClr val="222540"/>
                </a:solidFill>
              </a:rPr>
              <a:t>(Optional)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./imgs/code_hl/def_add.png" id="216" name="Google Shape;2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6657" y="1984150"/>
            <a:ext cx="3771899" cy="11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1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/>
          <p:nvPr/>
        </p:nvSpPr>
        <p:spPr>
          <a:xfrm>
            <a:off x="411480" y="219456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33"/>
              <a:buFont typeface="Roboto"/>
              <a:buNone/>
            </a:pPr>
            <a:r>
              <a:rPr b="1" i="0" lang="en" sz="93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USING FUNCTIONS</a:t>
            </a:r>
            <a:endParaRPr b="0" i="0" sz="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411480" y="425196"/>
            <a:ext cx="4251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022"/>
              <a:buFont typeface="Roboto"/>
              <a:buNone/>
            </a:pPr>
            <a:r>
              <a:rPr b="1" i="0" lang="en" sz="2022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Calling a Function</a:t>
            </a:r>
            <a:endParaRPr b="0" i="0" sz="20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411480" y="12687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33"/>
              <a:buFont typeface="Roboto"/>
              <a:buNone/>
            </a:pPr>
            <a:r>
              <a:rPr b="1" i="0" lang="en" sz="93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DEFINE</a:t>
            </a:r>
            <a:endParaRPr b="0" i="0" sz="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def_add.png"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08760"/>
            <a:ext cx="2971525" cy="92583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/>
          <p:nvPr/>
        </p:nvSpPr>
        <p:spPr>
          <a:xfrm>
            <a:off x="411480" y="2674620"/>
            <a:ext cx="3840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89"/>
              <a:buFont typeface="Roboto"/>
              <a:buNone/>
            </a:pPr>
            <a:r>
              <a:rPr b="0" i="0" lang="en" sz="1089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the function name + parentheses with arguments to run it.</a:t>
            </a:r>
            <a:endParaRPr b="0" i="0" sz="10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411480" y="3840480"/>
            <a:ext cx="3840600" cy="4254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2"/>
          <p:cNvSpPr/>
          <p:nvPr/>
        </p:nvSpPr>
        <p:spPr>
          <a:xfrm>
            <a:off x="534924" y="399135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2"/>
          <p:cNvSpPr/>
          <p:nvPr/>
        </p:nvSpPr>
        <p:spPr>
          <a:xfrm>
            <a:off x="740664" y="3840480"/>
            <a:ext cx="3415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94"/>
              <a:buFont typeface="Roboto"/>
              <a:buNone/>
            </a:pPr>
            <a:r>
              <a:rPr b="1" i="0" lang="en" sz="894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94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values you pass in (5, 3) are matched to (a, b) in order.</a:t>
            </a:r>
            <a:endParaRPr b="0" i="0" sz="8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mgs/code_hl/call_add.png" id="233" name="Google Shape;23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9857" y="1259113"/>
            <a:ext cx="3456434" cy="142513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78"/>
              <a:buFont typeface="Roboto"/>
              <a:buNone/>
            </a:pPr>
            <a:r>
              <a:rPr b="0" i="0" lang="en" sz="778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7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/>
        </p:nvSpPr>
        <p:spPr>
          <a:xfrm>
            <a:off x="411480" y="3840480"/>
            <a:ext cx="3840600" cy="4254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534924" y="399135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740664" y="3840480"/>
            <a:ext cx="3415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94"/>
              <a:buFont typeface="Roboto"/>
              <a:buNone/>
            </a:pPr>
            <a:r>
              <a:rPr b="1" i="0" lang="en" sz="894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94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values you pass in (5, 3) are matched to (a, b) in order.</a:t>
            </a:r>
            <a:endParaRPr b="0" i="0" sz="8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78"/>
              <a:buFont typeface="Roboto"/>
              <a:buNone/>
            </a:pPr>
            <a:r>
              <a:rPr b="0" i="0" lang="en" sz="778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7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513" y="277850"/>
            <a:ext cx="3979620" cy="130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125" y="3560573"/>
            <a:ext cx="4273324" cy="124002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>
            <p:ph type="title"/>
          </p:nvPr>
        </p:nvSpPr>
        <p:spPr>
          <a:xfrm>
            <a:off x="411575" y="277850"/>
            <a:ext cx="3909300" cy="29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Argument</a:t>
            </a:r>
            <a:endParaRPr/>
          </a:p>
        </p:txBody>
      </p:sp>
      <p:sp>
        <p:nvSpPr>
          <p:cNvPr id="248" name="Google Shape;248;p33"/>
          <p:cNvSpPr txBox="1"/>
          <p:nvPr>
            <p:ph idx="2" type="body"/>
          </p:nvPr>
        </p:nvSpPr>
        <p:spPr>
          <a:xfrm>
            <a:off x="411480" y="869333"/>
            <a:ext cx="39093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rPr lang="en"/>
              <a:t>Argument can be p</a:t>
            </a:r>
            <a:r>
              <a:rPr lang="en"/>
              <a:t>assed by named argument</a:t>
            </a:r>
            <a:endParaRPr/>
          </a:p>
        </p:txBody>
      </p:sp>
      <p:sp>
        <p:nvSpPr>
          <p:cNvPr id="249" name="Google Shape;249;p33"/>
          <p:cNvSpPr txBox="1"/>
          <p:nvPr>
            <p:ph idx="3" type="body"/>
          </p:nvPr>
        </p:nvSpPr>
        <p:spPr>
          <a:xfrm>
            <a:off x="411480" y="1177943"/>
            <a:ext cx="39093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9400" lvl="0" marL="457200" rtl="0" algn="l">
              <a:spcBef>
                <a:spcPts val="200"/>
              </a:spcBef>
              <a:spcAft>
                <a:spcPts val="0"/>
              </a:spcAft>
              <a:buSzPts val="800"/>
              <a:buChar char="●"/>
            </a:pPr>
            <a:r>
              <a:rPr lang="en"/>
              <a:t>Use </a:t>
            </a:r>
            <a:r>
              <a:rPr lang="en">
                <a:solidFill>
                  <a:srgbClr val="D23369"/>
                </a:solidFill>
              </a:rPr>
              <a:t>name=value</a:t>
            </a:r>
            <a:r>
              <a:rPr lang="en"/>
              <a:t> inside the parentheses when calling a function.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>
                <a:solidFill>
                  <a:srgbClr val="D23369"/>
                </a:solidFill>
              </a:rPr>
              <a:t>Order no longer</a:t>
            </a:r>
            <a:r>
              <a:rPr lang="en"/>
              <a:t> </a:t>
            </a:r>
            <a:r>
              <a:rPr lang="en">
                <a:solidFill>
                  <a:srgbClr val="D23369"/>
                </a:solidFill>
              </a:rPr>
              <a:t>matters</a:t>
            </a:r>
            <a:r>
              <a:rPr lang="en"/>
              <a:t>: (width=10, length=20) assigns width first, even though length is defined first.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/>
              <a:t>Prevents mix-ups: You don't have to memorize the exact parameter order.</a:t>
            </a:r>
            <a:endParaRPr/>
          </a:p>
        </p:txBody>
      </p:sp>
      <p:sp>
        <p:nvSpPr>
          <p:cNvPr id="250" name="Google Shape;250;p33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3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8625" y="1789850"/>
            <a:ext cx="4055384" cy="14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/>
          <p:nvPr/>
        </p:nvSpPr>
        <p:spPr>
          <a:xfrm>
            <a:off x="411480" y="3840480"/>
            <a:ext cx="3840600" cy="4254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4"/>
          <p:cNvSpPr/>
          <p:nvPr/>
        </p:nvSpPr>
        <p:spPr>
          <a:xfrm>
            <a:off x="534924" y="399135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4"/>
          <p:cNvSpPr/>
          <p:nvPr/>
        </p:nvSpPr>
        <p:spPr>
          <a:xfrm>
            <a:off x="740664" y="3840480"/>
            <a:ext cx="3415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94"/>
              <a:buFont typeface="Roboto"/>
              <a:buNone/>
            </a:pPr>
            <a:r>
              <a:rPr b="1" i="0" lang="en" sz="894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" sz="894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Caution: Required parameters must come first! Writing def calculate_area(length=10, width): will cause a SyntaxError.</a:t>
            </a:r>
            <a:endParaRPr b="0" i="0" sz="8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411575" y="277850"/>
            <a:ext cx="3909300" cy="298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Parameter Values</a:t>
            </a:r>
            <a:endParaRPr/>
          </a:p>
        </p:txBody>
      </p:sp>
      <p:sp>
        <p:nvSpPr>
          <p:cNvPr id="263" name="Google Shape;263;p34"/>
          <p:cNvSpPr txBox="1"/>
          <p:nvPr>
            <p:ph idx="2" type="body"/>
          </p:nvPr>
        </p:nvSpPr>
        <p:spPr>
          <a:xfrm>
            <a:off x="411480" y="869333"/>
            <a:ext cx="39093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rPr lang="en"/>
              <a:t>Give parameters a fallback value when no argument is passed</a:t>
            </a:r>
            <a:endParaRPr/>
          </a:p>
        </p:txBody>
      </p:sp>
      <p:sp>
        <p:nvSpPr>
          <p:cNvPr id="264" name="Google Shape;264;p34"/>
          <p:cNvSpPr txBox="1"/>
          <p:nvPr>
            <p:ph idx="3" type="body"/>
          </p:nvPr>
        </p:nvSpPr>
        <p:spPr>
          <a:xfrm>
            <a:off x="411480" y="1177943"/>
            <a:ext cx="39093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9400" lvl="0" marL="457200" rtl="0" algn="l">
              <a:spcBef>
                <a:spcPts val="200"/>
              </a:spcBef>
              <a:spcAft>
                <a:spcPts val="0"/>
              </a:spcAft>
              <a:buSzPts val="800"/>
              <a:buChar char="●"/>
            </a:pPr>
            <a:r>
              <a:rPr lang="en">
                <a:solidFill>
                  <a:srgbClr val="D23369"/>
                </a:solidFill>
              </a:rPr>
              <a:t>parameter=value</a:t>
            </a:r>
            <a:r>
              <a:rPr lang="en"/>
              <a:t> in </a:t>
            </a:r>
            <a:r>
              <a:rPr b="1" lang="en"/>
              <a:t>def</a:t>
            </a:r>
            <a:r>
              <a:rPr lang="en"/>
              <a:t> (e.g., width=5).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"/>
              <a:t>Optional to pass</a:t>
            </a:r>
            <a:r>
              <a:rPr lang="en"/>
              <a:t>: Uses the default automatically if left out.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"/>
              <a:t>Easy to override</a:t>
            </a:r>
            <a:r>
              <a:rPr lang="en"/>
              <a:t>: Pass a new value to replace the default.</a:t>
            </a: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"/>
              <a:t>Put at the end</a:t>
            </a:r>
            <a:r>
              <a:rPr lang="en"/>
              <a:t>: Default parameters must come after required ones.</a:t>
            </a:r>
            <a:endParaRPr/>
          </a:p>
        </p:txBody>
      </p:sp>
      <p:sp>
        <p:nvSpPr>
          <p:cNvPr id="265" name="Google Shape;265;p34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7550" y="395375"/>
            <a:ext cx="4070200" cy="136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550" y="2195725"/>
            <a:ext cx="4224049" cy="2536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with and without </a:t>
            </a:r>
            <a:r>
              <a:rPr b="1" lang="en">
                <a:solidFill>
                  <a:srgbClr val="FFFF00"/>
                </a:solidFill>
              </a:rPr>
              <a:t>return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273" name="Google Shape;273;p3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Functions Can Return Values</a:t>
            </a:r>
            <a:endParaRPr/>
          </a:p>
        </p:txBody>
      </p:sp>
      <p:sp>
        <p:nvSpPr>
          <p:cNvPr id="279" name="Google Shape;279;p36"/>
          <p:cNvSpPr/>
          <p:nvPr/>
        </p:nvSpPr>
        <p:spPr>
          <a:xfrm>
            <a:off x="482773" y="892075"/>
            <a:ext cx="3977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44"/>
              <a:buFont typeface="Roboto"/>
              <a:buNone/>
            </a:pPr>
            <a:r>
              <a:rPr b="1" i="0" lang="en" sz="1244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b="0" i="0" lang="en" sz="1244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sends a result back to the caller.</a:t>
            </a:r>
            <a:endParaRPr b="0" i="0" sz="12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return_values.png" id="280" name="Google Shape;2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773" y="1387375"/>
            <a:ext cx="3887959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6"/>
          <p:cNvSpPr/>
          <p:nvPr/>
        </p:nvSpPr>
        <p:spPr>
          <a:xfrm>
            <a:off x="482773" y="3901975"/>
            <a:ext cx="3977700" cy="4725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"/>
          <p:cNvSpPr/>
          <p:nvPr/>
        </p:nvSpPr>
        <p:spPr>
          <a:xfrm>
            <a:off x="606217" y="4069615"/>
            <a:ext cx="123300" cy="1371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6"/>
          <p:cNvSpPr/>
          <p:nvPr/>
        </p:nvSpPr>
        <p:spPr>
          <a:xfrm>
            <a:off x="811957" y="3901975"/>
            <a:ext cx="35523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94"/>
              <a:buFont typeface="Roboto"/>
              <a:buNone/>
            </a:pPr>
            <a:r>
              <a:rPr b="1" i="0" lang="en" sz="894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94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function without return gives back None by default.</a:t>
            </a:r>
            <a:endParaRPr b="0" i="0" sz="8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4871893" y="892075"/>
            <a:ext cx="37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33"/>
              <a:buFont typeface="Roboto"/>
              <a:buNone/>
            </a:pPr>
            <a:r>
              <a:rPr b="1" i="0" lang="en" sz="933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EXAMPLE OUTPUT</a:t>
            </a:r>
            <a:endParaRPr b="0" i="0" sz="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4871893" y="1196875"/>
            <a:ext cx="3771900" cy="1066800"/>
          </a:xfrm>
          <a:prstGeom prst="roundRect">
            <a:avLst>
              <a:gd fmla="val 5714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5077633" y="1349275"/>
            <a:ext cx="336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44"/>
              <a:buFont typeface="Roboto"/>
              <a:buNone/>
            </a:pPr>
            <a:r>
              <a:rPr b="1" i="0" lang="en" sz="1244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multiply(4, 5)</a:t>
            </a:r>
            <a:endParaRPr b="0" i="0" sz="12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711"/>
              <a:buFont typeface="Roboto"/>
              <a:buNone/>
            </a:pPr>
            <a:r>
              <a:rPr b="1" i="0" lang="en" sz="1711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→ 20</a:t>
            </a:r>
            <a:endParaRPr b="0" i="0" sz="12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lang="en"/>
              <a:t>Function with No Return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08610" y="462915"/>
            <a:ext cx="29319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 VS RETURN</a:t>
            </a:r>
            <a:endParaRPr/>
          </a:p>
        </p:txBody>
      </p:sp>
      <p:sp>
        <p:nvSpPr>
          <p:cNvPr id="294" name="Google Shape;294;p37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it matters</a:t>
            </a:r>
            <a:endParaRPr/>
          </a:p>
        </p:txBody>
      </p:sp>
      <p:sp>
        <p:nvSpPr>
          <p:cNvPr id="295" name="Google Shape;295;p37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displays a value on screen — for humans, not the program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sends the value back so it can be stored, passed along, or computed with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Here,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multiply()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only prints — the caller's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result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ends up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None</a:t>
            </a:r>
            <a:endParaRPr/>
          </a:p>
        </p:txBody>
      </p:sp>
      <p:sp>
        <p:nvSpPr>
          <p:cNvPr id="296" name="Google Shape;296;p37"/>
          <p:cNvSpPr txBox="1"/>
          <p:nvPr>
            <p:ph idx="4" type="body"/>
          </p:nvPr>
        </p:nvSpPr>
        <p:spPr>
          <a:xfrm>
            <a:off x="308610" y="3394710"/>
            <a:ext cx="29319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i="1" lang="en" sz="8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Highlighted: the print() inside the function, and result used outside</a:t>
            </a:r>
            <a:endParaRPr/>
          </a:p>
        </p:txBody>
      </p:sp>
      <p:pic>
        <p:nvPicPr>
          <p:cNvPr descr="Code screenshot: print_vs_return" id="297" name="Google Shape;2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4155" y="822960"/>
            <a:ext cx="3604259" cy="37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7"/>
          <p:cNvSpPr/>
          <p:nvPr/>
        </p:nvSpPr>
        <p:spPr>
          <a:xfrm>
            <a:off x="411480" y="4046220"/>
            <a:ext cx="39093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Caution:  </a:t>
            </a: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20 appears on screen, but result is still None — multiply() never returned anything.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lang="en"/>
              <a:t>Common mistakes</a:t>
            </a:r>
            <a:endParaRPr/>
          </a:p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goes wrong</a:t>
            </a:r>
            <a:endParaRPr/>
          </a:p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multiply()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only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it never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returns</a:t>
            </a:r>
            <a:endParaRPr/>
          </a:p>
          <a:p>
            <a:pPr indent="-152400" lvl="0" marL="20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lang="en"/>
              <a:t>Without return, python will return </a:t>
            </a:r>
            <a:r>
              <a:rPr lang="en">
                <a:solidFill>
                  <a:srgbClr val="D84568"/>
                </a:solidFill>
              </a:rPr>
              <a:t>None</a:t>
            </a:r>
            <a:r>
              <a:rPr lang="en"/>
              <a:t> implicitly</a:t>
            </a:r>
            <a:endParaRPr/>
          </a:p>
          <a:p>
            <a:pPr indent="-152400" lvl="0" marL="20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lang="en"/>
              <a:t>So</a:t>
            </a:r>
            <a:r>
              <a:rPr lang="en">
                <a:solidFill>
                  <a:srgbClr val="D84568"/>
                </a:solidFill>
              </a:rPr>
              <a:t>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 = multiply(4, 5) + 10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tries to add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None + 10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Python raises a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TypeError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because None isn't a number</a:t>
            </a:r>
            <a:endParaRPr/>
          </a:p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308610" y="3394710"/>
            <a:ext cx="29319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i="1" lang="en" sz="8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Highlighted: the line that fails</a:t>
            </a:r>
            <a:endParaRPr/>
          </a:p>
        </p:txBody>
      </p:sp>
      <p:pic>
        <p:nvPicPr>
          <p:cNvPr descr="Code screenshot: none_typeerror" id="308" name="Google Shape;30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437044"/>
            <a:ext cx="4090797" cy="2543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/>
          <p:nvPr/>
        </p:nvSpPr>
        <p:spPr>
          <a:xfrm>
            <a:off x="411480" y="4046220"/>
            <a:ext cx="39093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Caution:  </a:t>
            </a: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you plan to use a function's result later, it must return it — not just print it.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Function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Function</a:t>
            </a:r>
            <a:endParaRPr/>
          </a:p>
        </p:txBody>
      </p:sp>
      <p:sp>
        <p:nvSpPr>
          <p:cNvPr id="320" name="Google Shape;320;p40"/>
          <p:cNvSpPr/>
          <p:nvPr/>
        </p:nvSpPr>
        <p:spPr>
          <a:xfrm>
            <a:off x="411475" y="926200"/>
            <a:ext cx="40089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Functions that don’t need to be named, defined without the standard def keyword.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411392" y="2244950"/>
            <a:ext cx="3909300" cy="2331600"/>
          </a:xfrm>
          <a:prstGeom prst="roundRect">
            <a:avLst>
              <a:gd fmla="val 2353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0"/>
          <p:cNvSpPr/>
          <p:nvPr/>
        </p:nvSpPr>
        <p:spPr>
          <a:xfrm>
            <a:off x="617132" y="2450690"/>
            <a:ext cx="377100" cy="3771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0"/>
          <p:cNvSpPr/>
          <p:nvPr/>
        </p:nvSpPr>
        <p:spPr>
          <a:xfrm>
            <a:off x="617132" y="245069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617133" y="2999330"/>
            <a:ext cx="349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Roboto"/>
              <a:buNone/>
            </a:pPr>
            <a:r>
              <a:rPr b="1" i="0" lang="en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Anonymous Identity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617133" y="3445100"/>
            <a:ext cx="3497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 name is required — the function exists just long enough to be used, often passed directly as an argument.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4594772" y="2244950"/>
            <a:ext cx="3909300" cy="2331600"/>
          </a:xfrm>
          <a:prstGeom prst="roundRect">
            <a:avLst>
              <a:gd fmla="val 2353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0"/>
          <p:cNvSpPr/>
          <p:nvPr/>
        </p:nvSpPr>
        <p:spPr>
          <a:xfrm>
            <a:off x="4800513" y="2450690"/>
            <a:ext cx="377100" cy="3771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4800513" y="245069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4800513" y="2999330"/>
            <a:ext cx="349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Roboto"/>
              <a:buNone/>
            </a:pPr>
            <a:r>
              <a:rPr b="1" i="0" lang="en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Efficient One-Liners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4800513" y="3445100"/>
            <a:ext cx="3497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Ideal for small operations where a full def block would be overkill for a simple, single-expression task.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150" y="892075"/>
            <a:ext cx="2805525" cy="11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event number </a:t>
            </a:r>
            <a:r>
              <a:rPr lang="en"/>
              <a:t>using Function</a:t>
            </a:r>
            <a:endParaRPr/>
          </a:p>
        </p:txBody>
      </p:sp>
      <p:sp>
        <p:nvSpPr>
          <p:cNvPr id="337" name="Google Shape;337;p41"/>
          <p:cNvSpPr txBox="1"/>
          <p:nvPr>
            <p:ph idx="1" type="subTitle"/>
          </p:nvPr>
        </p:nvSpPr>
        <p:spPr>
          <a:xfrm>
            <a:off x="265500" y="1229375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1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48" y="2218250"/>
            <a:ext cx="3982499" cy="18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5401" y="1938250"/>
            <a:ext cx="4172300" cy="86158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1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event number</a:t>
            </a:r>
            <a:r>
              <a:rPr lang="en"/>
              <a:t> using Lambda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265500" y="445193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by field using Function</a:t>
            </a:r>
            <a:endParaRPr/>
          </a:p>
        </p:txBody>
      </p:sp>
      <p:sp>
        <p:nvSpPr>
          <p:cNvPr id="347" name="Google Shape;347;p42"/>
          <p:cNvSpPr txBox="1"/>
          <p:nvPr>
            <p:ph idx="1" type="subTitle"/>
          </p:nvPr>
        </p:nvSpPr>
        <p:spPr>
          <a:xfrm>
            <a:off x="265500" y="1229375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2"/>
          <p:cNvSpPr txBox="1"/>
          <p:nvPr>
            <p:ph idx="2" type="title"/>
          </p:nvPr>
        </p:nvSpPr>
        <p:spPr>
          <a:xfrm>
            <a:off x="4835400" y="438389"/>
            <a:ext cx="40452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by field using Lambda</a:t>
            </a:r>
            <a:endParaRPr/>
          </a:p>
        </p:txBody>
      </p:sp>
      <p:sp>
        <p:nvSpPr>
          <p:cNvPr id="349" name="Google Shape;349;p42"/>
          <p:cNvSpPr txBox="1"/>
          <p:nvPr>
            <p:ph idx="3" type="subTitle"/>
          </p:nvPr>
        </p:nvSpPr>
        <p:spPr>
          <a:xfrm>
            <a:off x="4835400" y="1236636"/>
            <a:ext cx="4045200" cy="28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62" y="1730275"/>
            <a:ext cx="3882224" cy="23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1074" y="2380268"/>
            <a:ext cx="4189525" cy="10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57" name="Google Shape;357;p4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Level 1: Beginner</a:t>
            </a:r>
            <a:endParaRPr/>
          </a:p>
        </p:txBody>
      </p:sp>
      <p:sp>
        <p:nvSpPr>
          <p:cNvPr id="364" name="Google Shape;364;p4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100"/>
              <a:buNone/>
            </a:pPr>
            <a:r>
              <a:rPr b="1" lang="en" sz="11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DEFINITIONS · INVOCATION · PRINT VS RETURN</a:t>
            </a:r>
            <a:endParaRPr/>
          </a:p>
        </p:txBody>
      </p:sp>
      <p:sp>
        <p:nvSpPr>
          <p:cNvPr id="365" name="Google Shape;365;p4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Understanding function headers, basic parameters, and how return values work vs printing.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1: Simple Greeting</a:t>
            </a:r>
            <a:endParaRPr/>
          </a:p>
        </p:txBody>
      </p:sp>
      <p:sp>
        <p:nvSpPr>
          <p:cNvPr id="372" name="Google Shape;372;p45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greet.py</a:t>
            </a:r>
            <a:endParaRPr/>
          </a:p>
        </p:txBody>
      </p:sp>
      <p:sp>
        <p:nvSpPr>
          <p:cNvPr id="373" name="Google Shape;373;p45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5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greet_user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(name):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call it twice with different names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45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376" name="Google Shape;376;p45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practice function syntax and parameter passing.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Write `greet_user(name)` that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/>
          </a:p>
          <a:p>
            <a:pPr indent="-158750" lvl="1" marL="4826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700"/>
              <a:buChar char="○"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"Hello, &lt;name&gt;! Welcome to Python."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Call the function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twice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different names.</a:t>
            </a:r>
            <a:endParaRPr/>
          </a:p>
        </p:txBody>
      </p:sp>
      <p:sp>
        <p:nvSpPr>
          <p:cNvPr id="377" name="Google Shape;377;p45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378" name="Google Shape;378;p45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greet_user("Amy")  →  output: "Hello, Amy! Welcome to Python."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greet_user("Liam")  →  output: "Hello, Liam! Welcome to Python."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2: Area Calculator</a:t>
            </a:r>
            <a:endParaRPr/>
          </a:p>
        </p:txBody>
      </p:sp>
      <p:sp>
        <p:nvSpPr>
          <p:cNvPr id="385" name="Google Shape;385;p46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area.py</a:t>
            </a:r>
            <a:endParaRPr/>
          </a:p>
        </p:txBody>
      </p:sp>
      <p:sp>
        <p:nvSpPr>
          <p:cNvPr id="386" name="Google Shape;386;p46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6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calculate_rectangle_area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(width, height):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area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calculate_rectangle_area(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(area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46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389" name="Google Shape;389;p46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Write `calculate_rectangle_area(width, height)` that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returns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area.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Assign the result to `area`, then print `area * 2`.</a:t>
            </a:r>
            <a:endParaRPr/>
          </a:p>
        </p:txBody>
      </p:sp>
      <p:sp>
        <p:nvSpPr>
          <p:cNvPr id="390" name="Google Shape;390;p46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391" name="Google Shape;391;p46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width=4, height=5  →  output: 40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width=3, height=6  →  output: 36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3: Fix the NoneType Bug</a:t>
            </a:r>
            <a:endParaRPr/>
          </a:p>
        </p:txBody>
      </p:sp>
      <p:sp>
        <p:nvSpPr>
          <p:cNvPr id="398" name="Google Shape;398;p47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tax.py</a:t>
            </a:r>
            <a:endParaRPr/>
          </a:p>
        </p:txBody>
      </p:sp>
      <p:sp>
        <p:nvSpPr>
          <p:cNvPr id="399" name="Google Shape;399;p47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7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add_tax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(price):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(price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total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add_tax(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Currently fails!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47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402" name="Google Shape;402;p47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recognize and fix a `TypeError` caused by a missing `return`.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`add_tax()` currently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instead of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returning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value.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Fix the function so `total` calculates correctly.</a:t>
            </a:r>
            <a:endParaRPr/>
          </a:p>
        </p:txBody>
      </p:sp>
      <p:sp>
        <p:nvSpPr>
          <p:cNvPr id="403" name="Google Shape;403;p47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404" name="Google Shape;404;p47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add_tax(100) + 5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115.0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add_tax(50) + 5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60.0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4: Even/Odd Checker</a:t>
            </a:r>
            <a:endParaRPr/>
          </a:p>
        </p:txBody>
      </p:sp>
      <p:sp>
        <p:nvSpPr>
          <p:cNvPr id="411" name="Google Shape;411;p48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even_odd.py</a:t>
            </a:r>
            <a:endParaRPr/>
          </a:p>
        </p:txBody>
      </p:sp>
      <p:sp>
        <p:nvSpPr>
          <p:cNvPr id="412" name="Google Shape;412;p48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8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is_even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(number):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(is_even(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(is_even(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48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415" name="Google Shape;415;p48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use control flow inside a function.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Write `is_even(number)` that returns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if even,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if odd.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Test it with `7` and `12`.</a:t>
            </a:r>
            <a:endParaRPr/>
          </a:p>
        </p:txBody>
      </p:sp>
      <p:sp>
        <p:nvSpPr>
          <p:cNvPr id="416" name="Google Shape;416;p48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417" name="Google Shape;417;p48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is_even(7)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False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is_even(12)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True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Level 2: Intermediate</a:t>
            </a:r>
            <a:endParaRPr/>
          </a:p>
        </p:txBody>
      </p:sp>
      <p:sp>
        <p:nvSpPr>
          <p:cNvPr id="423" name="Google Shape;423;p49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100"/>
              <a:buNone/>
            </a:pPr>
            <a:r>
              <a:rPr b="1" lang="en" sz="11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MULTI-PARAMETER FUNCTIONS · LAMBDAS</a:t>
            </a:r>
            <a:endParaRPr/>
          </a:p>
        </p:txBody>
      </p:sp>
      <p:sp>
        <p:nvSpPr>
          <p:cNvPr id="424" name="Google Shape;424;p49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Handling multiple inputs, using default values, and writing basic inline anonymous functions.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5: Format Full Names</a:t>
            </a:r>
            <a:endParaRPr/>
          </a:p>
        </p:txBody>
      </p:sp>
      <p:sp>
        <p:nvSpPr>
          <p:cNvPr id="431" name="Google Shape;431;p50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full_name.py</a:t>
            </a:r>
            <a:endParaRPr/>
          </a:p>
        </p:txBody>
      </p:sp>
      <p:sp>
        <p:nvSpPr>
          <p:cNvPr id="432" name="Google Shape;432;p50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0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format_full_name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(first_name, last_name, middle_name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/>
              <a:t>name</a:t>
            </a:r>
            <a:r>
              <a:rPr lang="en"/>
              <a:t> </a:t>
            </a:r>
            <a:r>
              <a:rPr lang="en">
                <a:solidFill>
                  <a:srgbClr val="FF4689"/>
                </a:solidFill>
              </a:rPr>
              <a:t>=</a:t>
            </a:r>
            <a:r>
              <a:rPr lang="en"/>
              <a:t> </a:t>
            </a:r>
            <a:r>
              <a:rPr lang="en">
                <a:solidFill>
                  <a:srgbClr val="A6E22E"/>
                </a:solidFill>
              </a:rPr>
              <a:t>format_full_nam</a:t>
            </a:r>
            <a:r>
              <a:rPr lang="en">
                <a:solidFill>
                  <a:srgbClr val="A6E22E"/>
                </a:solidFill>
              </a:rPr>
              <a:t>e</a:t>
            </a:r>
            <a:r>
              <a:rPr lang="en">
                <a:solidFill>
                  <a:srgbClr val="66D9EF"/>
                </a:solidFill>
              </a:rPr>
              <a:t>(</a:t>
            </a:r>
            <a:r>
              <a:rPr lang="en">
                <a:solidFill>
                  <a:srgbClr val="E6DB74"/>
                </a:solidFill>
              </a:rPr>
              <a:t>"Ana"</a:t>
            </a:r>
            <a:r>
              <a:rPr lang="en">
                <a:solidFill>
                  <a:schemeClr val="lt1"/>
                </a:solidFill>
              </a:rPr>
              <a:t>,</a:t>
            </a:r>
            <a:r>
              <a:rPr lang="en">
                <a:solidFill>
                  <a:srgbClr val="E6DB74"/>
                </a:solidFill>
              </a:rPr>
              <a:t>"Lee"</a:t>
            </a:r>
            <a:r>
              <a:rPr lang="en">
                <a:solidFill>
                  <a:srgbClr val="66D9EF"/>
                </a:solidFill>
              </a:rPr>
              <a:t>)</a:t>
            </a:r>
            <a:endParaRPr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>
                <a:solidFill>
                  <a:srgbClr val="66D9EF"/>
                </a:solidFill>
              </a:rPr>
              <a:t>print(</a:t>
            </a:r>
            <a:r>
              <a:rPr lang="en"/>
              <a:t>name</a:t>
            </a:r>
            <a:r>
              <a:rPr lang="en">
                <a:solidFill>
                  <a:srgbClr val="66D9EF"/>
                </a:solidFill>
              </a:rPr>
              <a:t>)</a:t>
            </a:r>
            <a:endParaRPr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/>
              <a:t>name </a:t>
            </a:r>
            <a:r>
              <a:rPr lang="en">
                <a:solidFill>
                  <a:srgbClr val="FF4689"/>
                </a:solidFill>
              </a:rPr>
              <a:t>=</a:t>
            </a:r>
            <a:r>
              <a:rPr lang="en"/>
              <a:t> </a:t>
            </a:r>
            <a:r>
              <a:rPr lang="en">
                <a:solidFill>
                  <a:srgbClr val="A6E22E"/>
                </a:solidFill>
              </a:rPr>
              <a:t>format_full_name</a:t>
            </a:r>
            <a:r>
              <a:rPr lang="en">
                <a:solidFill>
                  <a:srgbClr val="66D9EF"/>
                </a:solidFill>
              </a:rPr>
              <a:t>(</a:t>
            </a:r>
            <a:r>
              <a:rPr lang="en">
                <a:solidFill>
                  <a:srgbClr val="E6DB74"/>
                </a:solidFill>
              </a:rPr>
              <a:t>"Ana"</a:t>
            </a:r>
            <a:r>
              <a:rPr lang="en">
                <a:solidFill>
                  <a:schemeClr val="lt1"/>
                </a:solidFill>
              </a:rPr>
              <a:t>,</a:t>
            </a:r>
            <a:r>
              <a:rPr lang="en">
                <a:solidFill>
                  <a:srgbClr val="E6DB74"/>
                </a:solidFill>
              </a:rPr>
              <a:t>"Lee"</a:t>
            </a:r>
            <a:r>
              <a:rPr lang="en">
                <a:solidFill>
                  <a:schemeClr val="lt1"/>
                </a:solidFill>
              </a:rPr>
              <a:t>,</a:t>
            </a:r>
            <a:r>
              <a:rPr lang="en">
                <a:solidFill>
                  <a:srgbClr val="E6DB74"/>
                </a:solidFill>
              </a:rPr>
              <a:t>"J"</a:t>
            </a:r>
            <a:r>
              <a:rPr lang="en">
                <a:solidFill>
                  <a:srgbClr val="66D9EF"/>
                </a:solidFill>
              </a:rPr>
              <a:t>)</a:t>
            </a:r>
            <a:endParaRPr>
              <a:solidFill>
                <a:srgbClr val="66D9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</a:pPr>
            <a:r>
              <a:rPr lang="en">
                <a:solidFill>
                  <a:srgbClr val="66D9EF"/>
                </a:solidFill>
              </a:rPr>
              <a:t>print(</a:t>
            </a:r>
            <a:r>
              <a:rPr lang="en"/>
              <a:t>name</a:t>
            </a:r>
            <a:r>
              <a:rPr lang="en">
                <a:solidFill>
                  <a:srgbClr val="66D9EF"/>
                </a:solidFill>
              </a:rPr>
              <a:t>)</a:t>
            </a:r>
            <a:endParaRPr>
              <a:solidFill>
                <a:srgbClr val="66D9EF"/>
              </a:solidFill>
            </a:endParaRPr>
          </a:p>
        </p:txBody>
      </p:sp>
      <p:sp>
        <p:nvSpPr>
          <p:cNvPr id="434" name="Google Shape;434;p50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435" name="Google Shape;435;p50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handle multiple positional arguments and a default value cleanly.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 a clean full-name string from `first_name`, `last_name`, and an optional `middle_name`.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Test it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with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without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middle name.</a:t>
            </a:r>
            <a:endParaRPr/>
          </a:p>
        </p:txBody>
      </p:sp>
      <p:sp>
        <p:nvSpPr>
          <p:cNvPr id="436" name="Google Shape;436;p50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437" name="Google Shape;437;p50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format_full_name("Ana","Lee")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"Ana Lee"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format_full_name("Ana","Lee","J")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"Ana J Lee"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6: Def to Lambda</a:t>
            </a:r>
            <a:endParaRPr/>
          </a:p>
        </p:txBody>
      </p:sp>
      <p:sp>
        <p:nvSpPr>
          <p:cNvPr id="444" name="Google Shape;444;p51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square.py</a:t>
            </a:r>
            <a:endParaRPr/>
          </a:p>
        </p:txBody>
      </p:sp>
      <p:sp>
        <p:nvSpPr>
          <p:cNvPr id="445" name="Google Shape;445;p51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1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square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(x):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>
              <a:solidFill>
                <a:srgbClr val="AE8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>
              <a:solidFill>
                <a:srgbClr val="AE81FF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i="1" lang="en">
                <a:solidFill>
                  <a:srgbClr val="66D9EF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A6E22E"/>
                </a:solidFill>
              </a:rPr>
              <a:t>square</a:t>
            </a:r>
            <a:r>
              <a:rPr lang="en"/>
              <a:t>(5))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Font typeface="Arial"/>
              <a:buNone/>
            </a:pPr>
            <a:r>
              <a:rPr i="1" lang="en">
                <a:solidFill>
                  <a:srgbClr val="66D9EF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A6E22E"/>
                </a:solidFill>
              </a:rPr>
              <a:t>square</a:t>
            </a:r>
            <a:r>
              <a:rPr lang="en"/>
              <a:t>(9))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AE81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51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448" name="Google Shape;448;p51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convert a standard `def` function into a concise `lambda`.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Rewrite `square(x)` above as a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single-line lambda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assigned to a variable named `square`.</a:t>
            </a:r>
            <a:endParaRPr/>
          </a:p>
        </p:txBody>
      </p:sp>
      <p:sp>
        <p:nvSpPr>
          <p:cNvPr id="449" name="Google Shape;449;p51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450" name="Google Shape;450;p51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square(5)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25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square(9)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81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7: Filter Even Numbers</a:t>
            </a:r>
            <a:endParaRPr/>
          </a:p>
        </p:txBody>
      </p:sp>
      <p:sp>
        <p:nvSpPr>
          <p:cNvPr id="457" name="Google Shape;457;p52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evens.py</a:t>
            </a:r>
            <a:endParaRPr/>
          </a:p>
        </p:txBody>
      </p:sp>
      <p:sp>
        <p:nvSpPr>
          <p:cNvPr id="458" name="Google Shape;458;p52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2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numbers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52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461" name="Google Shape;461;p52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use lambdas for quick, inline evaluation.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Given the list above, use a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lambda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inside `filter()` (or a list comprehension) to keep only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even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numbers.</a:t>
            </a:r>
            <a:endParaRPr/>
          </a:p>
        </p:txBody>
      </p:sp>
      <p:sp>
        <p:nvSpPr>
          <p:cNvPr id="462" name="Google Shape;462;p52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463" name="Google Shape;463;p52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numbers = [1..10]  →  return: [2, 4, 6, 8, 10]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8: Discount Calculator</a:t>
            </a:r>
            <a:endParaRPr/>
          </a:p>
        </p:txBody>
      </p:sp>
      <p:sp>
        <p:nvSpPr>
          <p:cNvPr id="470" name="Google Shape;470;p53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00"/>
              <a:buNone/>
            </a:pPr>
            <a:r>
              <a:rPr lang="en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discount.py</a:t>
            </a:r>
            <a:endParaRPr/>
          </a:p>
        </p:txBody>
      </p:sp>
      <p:sp>
        <p:nvSpPr>
          <p:cNvPr id="471" name="Google Shape;471;p53"/>
          <p:cNvSpPr/>
          <p:nvPr/>
        </p:nvSpPr>
        <p:spPr>
          <a:xfrm>
            <a:off x="411480" y="651510"/>
            <a:ext cx="4731900" cy="2537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53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apply_discount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(price, discount_percent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ass</a:t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>
              <a:solidFill>
                <a:srgbClr val="66D9EF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Font typeface="Arial"/>
              <a:buNone/>
            </a:pPr>
            <a:r>
              <a:rPr i="1" lang="en">
                <a:solidFill>
                  <a:srgbClr val="66D9EF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A6E22E"/>
                </a:solidFill>
              </a:rPr>
              <a:t>apply_discount</a:t>
            </a:r>
            <a:r>
              <a:rPr lang="en"/>
              <a:t>(100))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Font typeface="Arial"/>
              <a:buNone/>
            </a:pPr>
            <a:r>
              <a:rPr i="1" lang="en">
                <a:solidFill>
                  <a:srgbClr val="66D9EF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A6E22E"/>
                </a:solidFill>
              </a:rPr>
              <a:t>apply_discount</a:t>
            </a:r>
            <a:r>
              <a:rPr lang="en"/>
              <a:t>(100, 20))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>
              <a:solidFill>
                <a:srgbClr val="66D9EF"/>
              </a:solidFill>
            </a:endParaRPr>
          </a:p>
        </p:txBody>
      </p:sp>
      <p:sp>
        <p:nvSpPr>
          <p:cNvPr id="473" name="Google Shape;473;p53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/>
          </a:p>
        </p:txBody>
      </p:sp>
      <p:sp>
        <p:nvSpPr>
          <p:cNvPr id="474" name="Google Shape;474;p53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master optional parameters and default return behavior.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 the discounted price from `price` and `discount_percent` (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default 10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Call it with just `price`, then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discount with `20`.</a:t>
            </a:r>
            <a:endParaRPr/>
          </a:p>
        </p:txBody>
      </p:sp>
      <p:sp>
        <p:nvSpPr>
          <p:cNvPr id="475" name="Google Shape;475;p53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476" name="Google Shape;476;p53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apply_discount(100)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90.0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apply_discount(100, 20)  →  </a:t>
            </a:r>
            <a:r>
              <a:rPr lang="en"/>
              <a:t>Output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80.0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Level 3: Advanced</a:t>
            </a:r>
            <a:endParaRPr sz="3000"/>
          </a:p>
        </p:txBody>
      </p:sp>
      <p:sp>
        <p:nvSpPr>
          <p:cNvPr id="482" name="Google Shape;482;p5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SORTING · COMPOSITION · LOGIC ABSTRACTION</a:t>
            </a:r>
            <a:endParaRPr sz="1050"/>
          </a:p>
        </p:txBody>
      </p:sp>
      <p:sp>
        <p:nvSpPr>
          <p:cNvPr id="483" name="Google Shape;483;p5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Sorting complex data structures using key functions, chaining functions, and logic abstraction.</a:t>
            </a:r>
            <a:endParaRPr sz="1125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9: Sort Students by Score</a:t>
            </a:r>
            <a:endParaRPr sz="2100"/>
          </a:p>
        </p:txBody>
      </p:sp>
      <p:sp>
        <p:nvSpPr>
          <p:cNvPr id="490" name="Google Shape;490;p55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25"/>
              <a:buNone/>
            </a:pPr>
            <a:r>
              <a:rPr lang="en" sz="825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students.py</a:t>
            </a:r>
            <a:endParaRPr sz="825"/>
          </a:p>
        </p:txBody>
      </p:sp>
      <p:sp>
        <p:nvSpPr>
          <p:cNvPr id="491" name="Google Shape;491;p55"/>
          <p:cNvSpPr/>
          <p:nvPr/>
        </p:nvSpPr>
        <p:spPr>
          <a:xfrm>
            <a:off x="411480" y="651510"/>
            <a:ext cx="4731900" cy="25374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5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students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"score"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"score"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"Charlie"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"score"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55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494" name="Google Shape;494;p55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use lambdas as key functions for sorting complex data.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`students` in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descending order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by `"score"` using `sorted()` and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lambda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key.</a:t>
            </a:r>
            <a:endParaRPr sz="1050"/>
          </a:p>
        </p:txBody>
      </p:sp>
      <p:sp>
        <p:nvSpPr>
          <p:cNvPr id="495" name="Google Shape;495;p55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496" name="Google Shape;496;p55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sorted by score, descending  →  return: [Bob 95, Alice 88, Charlie 78]</a:t>
            </a:r>
            <a:endParaRPr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Exercise 1</a:t>
            </a:r>
            <a:r>
              <a:rPr lang="en"/>
              <a:t>0</a:t>
            </a: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: Function Pipeline</a:t>
            </a:r>
            <a:endParaRPr sz="2100"/>
          </a:p>
        </p:txBody>
      </p:sp>
      <p:sp>
        <p:nvSpPr>
          <p:cNvPr id="503" name="Google Shape;503;p56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rgbClr val="6B7085"/>
              </a:buClr>
              <a:buSzPts val="825"/>
              <a:buNone/>
            </a:pPr>
            <a:r>
              <a:rPr lang="en" sz="825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pipeline.py</a:t>
            </a:r>
            <a:endParaRPr sz="825"/>
          </a:p>
        </p:txBody>
      </p:sp>
      <p:sp>
        <p:nvSpPr>
          <p:cNvPr id="504" name="Google Shape;504;p56"/>
          <p:cNvSpPr/>
          <p:nvPr/>
        </p:nvSpPr>
        <p:spPr>
          <a:xfrm>
            <a:off x="411480" y="651510"/>
            <a:ext cx="4731900" cy="25374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6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clean_text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(text):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count_words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(text):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process_document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(raw_text):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your code here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6" name="Google Shape;506;p56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507" name="Google Shape;507;p56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combine functions where one's return value feeds the next.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`clean_text(text)` → strips whitespace, lowercases.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`count_words(text)` → returns word count.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`process_document(raw_text)` → calls `clean_text`, then `count_words`.</a:t>
            </a:r>
            <a:endParaRPr sz="1050"/>
          </a:p>
        </p:txBody>
      </p:sp>
      <p:sp>
        <p:nvSpPr>
          <p:cNvPr id="508" name="Google Shape;508;p56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509" name="Google Shape;509;p56"/>
          <p:cNvSpPr txBox="1"/>
          <p:nvPr>
            <p:ph idx="7" type="body"/>
          </p:nvPr>
        </p:nvSpPr>
        <p:spPr>
          <a:xfrm>
            <a:off x="5417820" y="30518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process_document("  Hello WORLD  ")  →  return: 2</a:t>
            </a:r>
            <a:endParaRPr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Learning resource</a:t>
            </a:r>
            <a:endParaRPr/>
          </a:p>
        </p:txBody>
      </p:sp>
      <p:sp>
        <p:nvSpPr>
          <p:cNvPr id="515" name="Google Shape;515;p5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https://code.tutsplus.com/introduction-to-python--CRS-200307c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https://code.tutsplus.com/data-handling-with-python--CRS-200572c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https://gto76.github.io/python-cheatsheet/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