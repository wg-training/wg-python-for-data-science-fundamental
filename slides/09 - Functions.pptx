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y="5143500" cx="9144000"/>
  <p:notesSz cx="6858000" cy="9144000"/>
  <p:embeddedFontLst>
    <p:embeddedFont>
      <p:font typeface="Roboto"/>
      <p:regular r:id="rId37"/>
      <p:bold r:id="rId38"/>
      <p:italic r:id="rId39"/>
      <p:boldItalic r:id="rId4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62">
          <p15:clr>
            <a:srgbClr val="747775"/>
          </p15:clr>
        </p15:guide>
        <p15:guide id="2" pos="25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62" orient="horz"/>
        <p:guide pos="25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Roboto-boldItalic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font" Target="fonts/Roboto-regular.fntdata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font" Target="fonts/Roboto-italic.fntdata"/><Relationship Id="rId16" Type="http://schemas.openxmlformats.org/officeDocument/2006/relationships/slide" Target="slides/slide11.xml"/><Relationship Id="rId38" Type="http://schemas.openxmlformats.org/officeDocument/2006/relationships/font" Target="fonts/Roboto-bold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2ce3b1bb3ca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2ce3b1bb3ca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2ce3b1bb3ca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2ce3b1bb3ca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2ce3b1bb3ca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2ce3b1bb3ca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f6967b4d3b_2_2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f6967b4d3b_2_2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e19afcda42_1_11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3e19afcda42_1_1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f3118ae400_0_97:notes"/>
          <p:cNvSpPr/>
          <p:nvPr>
            <p:ph idx="2" type="sldImg"/>
          </p:nvPr>
        </p:nvSpPr>
        <p:spPr>
          <a:xfrm>
            <a:off x="685803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" name="Google Shape;221;g3f3118ae400_0_97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g3f3118ae400_0_97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2ce3b1bb3ca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2ce3b1bb3ca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f6967b4d3b_2_2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3f6967b4d3b_2_2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e19afcda42_1_11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3e19afcda42_1_11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f6967b4d3b_2_0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g3f6967b4d3b_2_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 multiply(a, b):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print(a * b)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 = multiply(4, 5)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print(result)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prints: 20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prints: None</a:t>
            </a:r>
            <a:endParaRPr/>
          </a:p>
        </p:txBody>
      </p:sp>
      <p:sp>
        <p:nvSpPr>
          <p:cNvPr id="268" name="Google Shape;268;g3f6967b4d3b_2_0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f6967b4d3b_2_11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9" name="Google Shape;279;g3f6967b4d3b_2_11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 multiply(a, b):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print(a * b)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total = multiply(4, 5) + 10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TypeError: unsupported operand type(s) for +: 'NoneType' and 'int'</a:t>
            </a:r>
            <a:endParaRPr/>
          </a:p>
        </p:txBody>
      </p:sp>
      <p:sp>
        <p:nvSpPr>
          <p:cNvPr id="280" name="Google Shape;280;g3f6967b4d3b_2_11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f6967b4d3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f6967b4d3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ce3b1bb3ca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2ce3b1bb3ca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2cfb310f500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2cfb310f500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2cfb310f500_1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2cfb310f500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f6f4717913_0_3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f6f4717913_0_3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f6f4717913_0_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g3f6f4717913_0_0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f6f4717913_0_6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6" name="Google Shape;346;g3f6f4717913_0_6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 greet_user(name):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print(f"Hello, {name}! Welcome to Python.")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greet_user("Amy")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greet_user("Liam")</a:t>
            </a:r>
            <a:endParaRPr/>
          </a:p>
        </p:txBody>
      </p:sp>
      <p:sp>
        <p:nvSpPr>
          <p:cNvPr id="347" name="Google Shape;347;g3f6f4717913_0_6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f6f4717913_0_18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9" name="Google Shape;359;g3f6f4717913_0_18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 calculate_rectangle_area(width, height):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return width * height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area = calculate_rectangle_area(4, 5)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print(area * 2)  # 40</a:t>
            </a:r>
            <a:endParaRPr/>
          </a:p>
        </p:txBody>
      </p:sp>
      <p:sp>
        <p:nvSpPr>
          <p:cNvPr id="360" name="Google Shape;360;g3f6f4717913_0_18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f6f4717913_0_30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g3f6f4717913_0_3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 add_tax(price):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return price * 1.1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total = add_tax(100) + 5  # 115.0</a:t>
            </a:r>
            <a:endParaRPr/>
          </a:p>
        </p:txBody>
      </p:sp>
      <p:sp>
        <p:nvSpPr>
          <p:cNvPr id="373" name="Google Shape;373;g3f6f4717913_0_30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f6f4717913_0_42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5" name="Google Shape;385;g3f6f4717913_0_42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 is_even(number):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return number % 2 == 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print(is_even(7))   # False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print(is_even(12))  # True</a:t>
            </a:r>
            <a:endParaRPr/>
          </a:p>
        </p:txBody>
      </p:sp>
      <p:sp>
        <p:nvSpPr>
          <p:cNvPr id="386" name="Google Shape;386;g3f6f4717913_0_42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f6f4717913_0_54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g3f6f4717913_0_54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3f6f4717913_0_60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5" name="Google Shape;405;g3f6f4717913_0_6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 format_full_name(first_name, last_name, middle_name=""):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if middle_name: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return f"{first_name} {middle_name} {last_name}"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return f"{first_name} {last_name}"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print(format_full_name("Ana", "Lee"))       # Ana Lee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print(format_full_name("Ana", "Lee", "J"))  # Ana J Lee</a:t>
            </a:r>
            <a:endParaRPr/>
          </a:p>
        </p:txBody>
      </p:sp>
      <p:sp>
        <p:nvSpPr>
          <p:cNvPr id="406" name="Google Shape;406;g3f6f4717913_0_60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3f6f4717913_0_72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8" name="Google Shape;418;g3f6f4717913_0_72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square = lambda x: x ** 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print(square(5))  # 25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print(square(9))  # 81</a:t>
            </a:r>
            <a:endParaRPr/>
          </a:p>
        </p:txBody>
      </p:sp>
      <p:sp>
        <p:nvSpPr>
          <p:cNvPr id="419" name="Google Shape;419;g3f6f4717913_0_72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3f6f4717913_0_84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1" name="Google Shape;431;g3f6f4717913_0_84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numbers = [1, 2, 3, 4, 5, 6, 7, 8, 9, 10]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evens = list(filter(lambda n: n % 2 == 0, numbers))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print(evens)  # [2, 4, 6, 8, 10]</a:t>
            </a:r>
            <a:endParaRPr/>
          </a:p>
        </p:txBody>
      </p:sp>
      <p:sp>
        <p:nvSpPr>
          <p:cNvPr id="432" name="Google Shape;432;g3f6f4717913_0_84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3f6f4717913_0_96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4" name="Google Shape;444;g3f6f4717913_0_96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 apply_discount(price, discount_percent=10):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return price * (1 - discount_percent / 100)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print(apply_discount(100))      # 90.0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print(apply_discount(100, 20))  # 80.0</a:t>
            </a:r>
            <a:endParaRPr/>
          </a:p>
        </p:txBody>
      </p:sp>
      <p:sp>
        <p:nvSpPr>
          <p:cNvPr id="445" name="Google Shape;445;g3f6f4717913_0_96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g3f6f4717913_0_669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7" name="Google Shape;457;g3f6f4717913_0_669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3f6f4717913_0_67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4" name="Google Shape;464;g3f6f4717913_0_675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students = [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{"name": "Alice", "score": 88},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{"name": "Bob", "score": 95},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{"name": "Charlie", "score": 78}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ranked = sorted(students, key=lambda s: s["score"], reverse=True)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print(ranked)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[{'name': 'Bob', 'score': 95}, {'name': 'Alice', 'score': 88}, {'name': 'Charlie', 'score': 78}]</a:t>
            </a:r>
            <a:endParaRPr/>
          </a:p>
        </p:txBody>
      </p:sp>
      <p:sp>
        <p:nvSpPr>
          <p:cNvPr id="465" name="Google Shape;465;g3f6f4717913_0_67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3f6f4717913_0_687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7" name="Google Shape;477;g3f6f4717913_0_687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= [("Alice", 25, 90), ("Bob", 20, 95), ("Charlie", 25, 85)]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ranked = sorted(data, key=lambda t: (t[1], -t[2]))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print(ranked)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[('Bob', 20, 95), ('Alice', 25, 90), ('Charlie', 25, 85)]</a:t>
            </a:r>
            <a:endParaRPr/>
          </a:p>
        </p:txBody>
      </p:sp>
      <p:sp>
        <p:nvSpPr>
          <p:cNvPr id="478" name="Google Shape;478;g3f6f4717913_0_687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f6f4717913_0_699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0" name="Google Shape;490;g3f6f4717913_0_699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 clean_text(text):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return text.strip().lower()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 count_words(text):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return len(text.split())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 process_document(raw_text):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return count_words(clean_text(raw_text))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print(process_document("  Hello WORLD  "))  # 2</a:t>
            </a:r>
            <a:endParaRPr/>
          </a:p>
        </p:txBody>
      </p:sp>
      <p:sp>
        <p:nvSpPr>
          <p:cNvPr id="491" name="Google Shape;491;g3f6f4717913_0_699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2cbe0eb5879_0_3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2cbe0eb5879_0_3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" name="Google Shape;26;p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p4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36" name="Google Shape;36;p4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1">
  <p:cSld name="TITLE_AND_BODY_1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9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6" name="Google Shape;56;p9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9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9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9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" name="Google Shape;60;p9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1" name="Google Shape;61;p9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2" name="Google Shape;62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5" name="Google Shape;65;p10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" name="Google Shape;66;p10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7" name="Google Shape;67;p10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8" name="Google Shape;68;p10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9" name="Google Shape;69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">
  <p:cSld name="SECTION_TITLE_AND_DESCRIPTION_1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3" name="Google Shape;73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" name="Google Shape;75;p11"/>
          <p:cNvSpPr txBox="1"/>
          <p:nvPr>
            <p:ph idx="2" type="title"/>
          </p:nvPr>
        </p:nvSpPr>
        <p:spPr>
          <a:xfrm>
            <a:off x="4835400" y="12156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6" name="Google Shape;76;p11"/>
          <p:cNvSpPr txBox="1"/>
          <p:nvPr>
            <p:ph idx="3" type="subTitle"/>
          </p:nvPr>
        </p:nvSpPr>
        <p:spPr>
          <a:xfrm>
            <a:off x="4835400" y="277505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 1">
  <p:cSld name="SECTION_TITLE_AND_DESCRIPTION_1_1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265500" y="445193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9pPr>
          </a:lstStyle>
          <a:p/>
        </p:txBody>
      </p:sp>
      <p:sp>
        <p:nvSpPr>
          <p:cNvPr id="80" name="Google Shape;80;p12"/>
          <p:cNvSpPr txBox="1"/>
          <p:nvPr>
            <p:ph idx="1" type="subTitle"/>
          </p:nvPr>
        </p:nvSpPr>
        <p:spPr>
          <a:xfrm>
            <a:off x="265500" y="1229375"/>
            <a:ext cx="4045200" cy="280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" name="Google Shape;82;p12"/>
          <p:cNvSpPr txBox="1"/>
          <p:nvPr>
            <p:ph idx="2" type="title"/>
          </p:nvPr>
        </p:nvSpPr>
        <p:spPr>
          <a:xfrm>
            <a:off x="4835400" y="438389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12"/>
          <p:cNvSpPr txBox="1"/>
          <p:nvPr>
            <p:ph idx="3" type="subTitle"/>
          </p:nvPr>
        </p:nvSpPr>
        <p:spPr>
          <a:xfrm>
            <a:off x="4835400" y="1236636"/>
            <a:ext cx="4045200" cy="280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oogle Shape;88;p14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9" name="Google Shape;89;p14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14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14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14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4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4" name="Google Shape;94;p14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5" name="Google Shape;95;p14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6" name="Google Shape;96;p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bg>
      <p:bgPr>
        <a:solidFill>
          <a:schemeClr val="lt1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01" name="Google Shape;101;p1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16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1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1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6" name="Google Shape;106;p16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9pPr>
          </a:lstStyle>
          <a:p/>
        </p:txBody>
      </p:sp>
      <p:sp>
        <p:nvSpPr>
          <p:cNvPr id="107" name="Google Shape;107;p16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8" name="Google Shape;108;p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 1">
  <p:cSld name="TITLE_1_1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" name="Google Shape;110;p17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1" name="Google Shape;111;p17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7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7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7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7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6" name="Google Shape;116;p17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9pPr>
          </a:lstStyle>
          <a:p/>
        </p:txBody>
      </p:sp>
      <p:sp>
        <p:nvSpPr>
          <p:cNvPr id="117" name="Google Shape;117;p17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8" name="Google Shape;118;p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9225" y="228600"/>
            <a:ext cx="6109998" cy="1270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dfd70bf31d_14_0)">
  <p:cSld name="Generated (g3dfd70bf31d_14_0)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dfd70bf31d_28_0)">
  <p:cSld name="Title and body (g3dfd70bf31d_28_0)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23" name="Google Shape;123;p19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4" name="Google Shape;124;p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dfd70bf31d_35_0)">
  <p:cSld name="Title and body (g3dfd70bf31d_35_0)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0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27" name="Google Shape;127;p20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8" name="Google Shape;128;p2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e19afcda42_8_0)">
  <p:cSld name="Title and body (g3e19afcda42_8_0)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1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31" name="Google Shape;131;p21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2" name="Google Shape;132;p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e19afcda42_29_0)">
  <p:cSld name="Title and body (g3e19afcda42_29_0)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35" name="Google Shape;135;p22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6" name="Google Shape;136;p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6_SPLIT_PANEL">
  <p:cSld name="S06_SPLIT_PANEL">
    <p:bg>
      <p:bgPr>
        <a:solidFill>
          <a:srgbClr val="FFFFFF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/>
          <p:nvPr/>
        </p:nvSpPr>
        <p:spPr>
          <a:xfrm>
            <a:off x="4570857" y="0"/>
            <a:ext cx="4570800" cy="5143500"/>
          </a:xfrm>
          <a:prstGeom prst="rect">
            <a:avLst/>
          </a:prstGeom>
          <a:solidFill>
            <a:srgbClr val="29348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24"/>
          <p:cNvSpPr txBox="1"/>
          <p:nvPr>
            <p:ph type="title"/>
          </p:nvPr>
        </p:nvSpPr>
        <p:spPr>
          <a:xfrm>
            <a:off x="411480" y="219456"/>
            <a:ext cx="3909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9pPr>
          </a:lstStyle>
          <a:p/>
        </p:txBody>
      </p:sp>
      <p:sp>
        <p:nvSpPr>
          <p:cNvPr id="141" name="Google Shape;141;p24"/>
          <p:cNvSpPr txBox="1"/>
          <p:nvPr>
            <p:ph idx="1" type="body"/>
          </p:nvPr>
        </p:nvSpPr>
        <p:spPr>
          <a:xfrm>
            <a:off x="411480" y="617220"/>
            <a:ext cx="3909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2" name="Google Shape;142;p24"/>
          <p:cNvSpPr txBox="1"/>
          <p:nvPr>
            <p:ph idx="2" type="body"/>
          </p:nvPr>
        </p:nvSpPr>
        <p:spPr>
          <a:xfrm>
            <a:off x="411480" y="1062990"/>
            <a:ext cx="390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293480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3" name="Google Shape;143;p24"/>
          <p:cNvSpPr txBox="1"/>
          <p:nvPr>
            <p:ph idx="3" type="body"/>
          </p:nvPr>
        </p:nvSpPr>
        <p:spPr>
          <a:xfrm>
            <a:off x="411480" y="1371600"/>
            <a:ext cx="3909300" cy="26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73050" lvl="1" marL="914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700"/>
              <a:buFont typeface="Arial"/>
              <a:buChar char="○"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6700" lvl="2" marL="1371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■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600"/>
              </a:spcBef>
              <a:spcAft>
                <a:spcPts val="6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44" name="Google Shape;144;p24"/>
          <p:cNvSpPr txBox="1"/>
          <p:nvPr>
            <p:ph idx="4" type="body"/>
          </p:nvPr>
        </p:nvSpPr>
        <p:spPr>
          <a:xfrm>
            <a:off x="411480" y="4526280"/>
            <a:ext cx="3909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800"/>
              <a:buFont typeface="Arial"/>
              <a:buNone/>
              <a:defRPr b="0" i="1" sz="8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5" name="Google Shape;145;p24"/>
          <p:cNvSpPr txBox="1"/>
          <p:nvPr>
            <p:ph idx="5" type="title"/>
          </p:nvPr>
        </p:nvSpPr>
        <p:spPr>
          <a:xfrm>
            <a:off x="4879467" y="219456"/>
            <a:ext cx="39537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9pPr>
          </a:lstStyle>
          <a:p/>
        </p:txBody>
      </p:sp>
      <p:sp>
        <p:nvSpPr>
          <p:cNvPr id="146" name="Google Shape;146;p24"/>
          <p:cNvSpPr txBox="1"/>
          <p:nvPr>
            <p:ph idx="6" type="body"/>
          </p:nvPr>
        </p:nvSpPr>
        <p:spPr>
          <a:xfrm>
            <a:off x="4879467" y="617220"/>
            <a:ext cx="3953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EC5F82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p24"/>
          <p:cNvSpPr txBox="1"/>
          <p:nvPr>
            <p:ph idx="7" type="body"/>
          </p:nvPr>
        </p:nvSpPr>
        <p:spPr>
          <a:xfrm>
            <a:off x="4879467" y="1062990"/>
            <a:ext cx="39537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8" name="Google Shape;148;p24"/>
          <p:cNvSpPr txBox="1"/>
          <p:nvPr>
            <p:ph idx="8" type="body"/>
          </p:nvPr>
        </p:nvSpPr>
        <p:spPr>
          <a:xfrm>
            <a:off x="4879467" y="1371600"/>
            <a:ext cx="3953700" cy="26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Char char="●"/>
              <a:defRPr b="0" i="0" sz="1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73050" lvl="1" marL="914400" marR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Arial"/>
              <a:buChar char="○"/>
              <a:defRPr b="0" i="0" sz="9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6700" lvl="2" marL="1371600" marR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Char char="■"/>
              <a:defRPr b="0" i="0" sz="8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600"/>
              </a:spcBef>
              <a:spcAft>
                <a:spcPts val="600"/>
              </a:spcAft>
              <a:buClr>
                <a:srgbClr val="FFFFFF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49" name="Google Shape;149;p24"/>
          <p:cNvSpPr txBox="1"/>
          <p:nvPr>
            <p:ph idx="9" type="body"/>
          </p:nvPr>
        </p:nvSpPr>
        <p:spPr>
          <a:xfrm>
            <a:off x="4810887" y="822960"/>
            <a:ext cx="40908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4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4_SECTION_BREAK_NAVY">
  <p:cSld name="S14_SECTION_BREAK_NAVY">
    <p:bg>
      <p:bgPr>
        <a:solidFill>
          <a:srgbClr val="2A3480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5"/>
          <p:cNvSpPr/>
          <p:nvPr/>
        </p:nvSpPr>
        <p:spPr>
          <a:xfrm>
            <a:off x="8291322" y="-521208"/>
            <a:ext cx="1371600" cy="1371600"/>
          </a:xfrm>
          <a:prstGeom prst="rect">
            <a:avLst/>
          </a:prstGeom>
          <a:solidFill>
            <a:srgbClr val="EC5F82">
              <a:alpha val="219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25"/>
          <p:cNvSpPr txBox="1"/>
          <p:nvPr>
            <p:ph type="title"/>
          </p:nvPr>
        </p:nvSpPr>
        <p:spPr>
          <a:xfrm>
            <a:off x="617220" y="1988820"/>
            <a:ext cx="7543800" cy="8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  <a:defRPr b="1" i="0" sz="30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9pPr>
          </a:lstStyle>
          <a:p/>
        </p:txBody>
      </p:sp>
      <p:sp>
        <p:nvSpPr>
          <p:cNvPr id="154" name="Google Shape;154;p25"/>
          <p:cNvSpPr txBox="1"/>
          <p:nvPr>
            <p:ph idx="1" type="body"/>
          </p:nvPr>
        </p:nvSpPr>
        <p:spPr>
          <a:xfrm>
            <a:off x="617220" y="2846070"/>
            <a:ext cx="6858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EC5F82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5" name="Google Shape;155;p25"/>
          <p:cNvSpPr txBox="1"/>
          <p:nvPr>
            <p:ph idx="2" type="body"/>
          </p:nvPr>
        </p:nvSpPr>
        <p:spPr>
          <a:xfrm>
            <a:off x="617220" y="3120390"/>
            <a:ext cx="65151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6DAF2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D6DAF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6" name="Google Shape;156;p25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7_EXERCISE">
  <p:cSld name="S07_EXERCISE">
    <p:bg>
      <p:bgPr>
        <a:solidFill>
          <a:srgbClr val="FFFFFF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9" name="Google Shape;159;p26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9pPr>
          </a:lstStyle>
          <a:p/>
        </p:txBody>
      </p:sp>
      <p:sp>
        <p:nvSpPr>
          <p:cNvPr id="160" name="Google Shape;160;p26"/>
          <p:cNvSpPr txBox="1"/>
          <p:nvPr>
            <p:ph idx="2" type="body"/>
          </p:nvPr>
        </p:nvSpPr>
        <p:spPr>
          <a:xfrm>
            <a:off x="3497580" y="651510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r">
              <a:spcBef>
                <a:spcPts val="200"/>
              </a:spcBef>
              <a:spcAft>
                <a:spcPts val="0"/>
              </a:spcAft>
              <a:buClr>
                <a:srgbClr val="6B7085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1" name="Google Shape;161;p26"/>
          <p:cNvSpPr txBox="1"/>
          <p:nvPr>
            <p:ph idx="3" type="body"/>
          </p:nvPr>
        </p:nvSpPr>
        <p:spPr>
          <a:xfrm>
            <a:off x="582930" y="822960"/>
            <a:ext cx="4389000" cy="21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2" name="Google Shape;162;p26"/>
          <p:cNvSpPr txBox="1"/>
          <p:nvPr>
            <p:ph idx="4" type="body"/>
          </p:nvPr>
        </p:nvSpPr>
        <p:spPr>
          <a:xfrm>
            <a:off x="5417820" y="65151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293480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3" name="Google Shape;163;p26"/>
          <p:cNvSpPr txBox="1"/>
          <p:nvPr>
            <p:ph idx="5" type="body"/>
          </p:nvPr>
        </p:nvSpPr>
        <p:spPr>
          <a:xfrm>
            <a:off x="5417820" y="99441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73050" lvl="1" marL="914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700"/>
              <a:buFont typeface="Arial"/>
              <a:buChar char="○"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6700" lvl="2" marL="1371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■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600"/>
              </a:spcBef>
              <a:spcAft>
                <a:spcPts val="6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64" name="Google Shape;164;p26"/>
          <p:cNvSpPr txBox="1"/>
          <p:nvPr>
            <p:ph idx="6" type="body"/>
          </p:nvPr>
        </p:nvSpPr>
        <p:spPr>
          <a:xfrm>
            <a:off x="5417820" y="2811780"/>
            <a:ext cx="3291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1000"/>
              <a:buFont typeface="Arial"/>
              <a:buNone/>
              <a:defRPr b="1" i="0" sz="10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26"/>
          <p:cNvSpPr txBox="1"/>
          <p:nvPr>
            <p:ph idx="7" type="body"/>
          </p:nvPr>
        </p:nvSpPr>
        <p:spPr>
          <a:xfrm>
            <a:off x="5417820" y="3051810"/>
            <a:ext cx="32919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6" name="Google Shape;166;p26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2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code.tutsplus.com/introduction-to-python--CRS-200307c" TargetMode="External"/><Relationship Id="rId4" Type="http://schemas.openxmlformats.org/officeDocument/2006/relationships/hyperlink" Target="https://code.tutsplus.com/data-handling-with-python--CRS-200572c" TargetMode="External"/><Relationship Id="rId5" Type="http://schemas.openxmlformats.org/officeDocument/2006/relationships/hyperlink" Target="https://gto76.github.io/python-cheatsheet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7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Functions</a:t>
            </a:r>
            <a:endParaRPr/>
          </a:p>
        </p:txBody>
      </p:sp>
      <p:sp>
        <p:nvSpPr>
          <p:cNvPr id="172" name="Google Shape;172;p27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8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Functions?</a:t>
            </a:r>
            <a:endParaRPr/>
          </a:p>
        </p:txBody>
      </p:sp>
      <p:sp>
        <p:nvSpPr>
          <p:cNvPr id="178" name="Google Shape;178;p28"/>
          <p:cNvSpPr/>
          <p:nvPr/>
        </p:nvSpPr>
        <p:spPr>
          <a:xfrm>
            <a:off x="397580" y="782295"/>
            <a:ext cx="80925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244"/>
              <a:buFont typeface="Roboto"/>
              <a:buNone/>
            </a:pPr>
            <a:r>
              <a:rPr b="0" i="0" lang="en" sz="1244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Reusable blocks of code designed to perform a specific, isolated task.</a:t>
            </a:r>
            <a:endParaRPr b="0" i="0" sz="1244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167"/>
              <a:buFont typeface="Roboto"/>
              <a:buNone/>
            </a:pPr>
            <a:r>
              <a:rPr b="0" i="1" lang="en" sz="1167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“Like a recipe abstracts cooking steps, a function abstracts code logic.”</a:t>
            </a:r>
            <a:endParaRPr b="0" i="0" sz="1244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8"/>
          <p:cNvSpPr/>
          <p:nvPr/>
        </p:nvSpPr>
        <p:spPr>
          <a:xfrm>
            <a:off x="397580" y="1772895"/>
            <a:ext cx="54864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933"/>
              <a:buFont typeface="Roboto"/>
              <a:buNone/>
            </a:pPr>
            <a:r>
              <a:rPr b="1" i="0" lang="en" sz="933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WHY USE THEM?</a:t>
            </a:r>
            <a:endParaRPr b="0" i="0" sz="93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8"/>
          <p:cNvSpPr/>
          <p:nvPr/>
        </p:nvSpPr>
        <p:spPr>
          <a:xfrm>
            <a:off x="597766" y="2153895"/>
            <a:ext cx="2537400" cy="2362200"/>
          </a:xfrm>
          <a:prstGeom prst="roundRect">
            <a:avLst>
              <a:gd fmla="val 2581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71100" lIns="71100" spcFirstLastPara="1" rIns="71100" wrap="square" tIns="71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28"/>
          <p:cNvSpPr/>
          <p:nvPr/>
        </p:nvSpPr>
        <p:spPr>
          <a:xfrm>
            <a:off x="769216" y="2344395"/>
            <a:ext cx="342900" cy="381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71100" lIns="71100" spcFirstLastPara="1" rIns="71100" wrap="square" tIns="71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28"/>
          <p:cNvSpPr/>
          <p:nvPr/>
        </p:nvSpPr>
        <p:spPr>
          <a:xfrm>
            <a:off x="769216" y="2344395"/>
            <a:ext cx="342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67"/>
              <a:buFont typeface="Roboto"/>
              <a:buNone/>
            </a:pPr>
            <a:r>
              <a:rPr b="1" i="0" lang="en" sz="1167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b="0" i="0" sz="116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8"/>
          <p:cNvSpPr/>
          <p:nvPr/>
        </p:nvSpPr>
        <p:spPr>
          <a:xfrm>
            <a:off x="769216" y="2877795"/>
            <a:ext cx="2194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283"/>
              <a:buFont typeface="Roboto"/>
              <a:buNone/>
            </a:pPr>
            <a:r>
              <a:rPr b="1" lang="en" sz="1283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Modularity</a:t>
            </a:r>
            <a:endParaRPr b="0" i="0" sz="128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8"/>
          <p:cNvSpPr/>
          <p:nvPr/>
        </p:nvSpPr>
        <p:spPr>
          <a:xfrm>
            <a:off x="769216" y="3258795"/>
            <a:ext cx="21945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72"/>
              <a:buFont typeface="Roboto"/>
              <a:buNone/>
            </a:pPr>
            <a:r>
              <a:rPr b="0" i="0" lang="en" sz="972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Execute tasks multiple times without duplicating instructions.</a:t>
            </a:r>
            <a:endParaRPr b="0" i="0" sz="972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8"/>
          <p:cNvSpPr/>
          <p:nvPr/>
        </p:nvSpPr>
        <p:spPr>
          <a:xfrm>
            <a:off x="3340966" y="2153895"/>
            <a:ext cx="2537400" cy="2362200"/>
          </a:xfrm>
          <a:prstGeom prst="roundRect">
            <a:avLst>
              <a:gd fmla="val 2581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71100" lIns="71100" spcFirstLastPara="1" rIns="71100" wrap="square" tIns="71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28"/>
          <p:cNvSpPr/>
          <p:nvPr/>
        </p:nvSpPr>
        <p:spPr>
          <a:xfrm>
            <a:off x="3512416" y="2344395"/>
            <a:ext cx="342900" cy="381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71100" lIns="71100" spcFirstLastPara="1" rIns="71100" wrap="square" tIns="71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28"/>
          <p:cNvSpPr/>
          <p:nvPr/>
        </p:nvSpPr>
        <p:spPr>
          <a:xfrm>
            <a:off x="3512416" y="2344395"/>
            <a:ext cx="342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67"/>
              <a:buFont typeface="Roboto"/>
              <a:buNone/>
            </a:pPr>
            <a:r>
              <a:rPr b="1" i="0" lang="en" sz="1167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b="0" i="0" sz="116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8"/>
          <p:cNvSpPr/>
          <p:nvPr/>
        </p:nvSpPr>
        <p:spPr>
          <a:xfrm>
            <a:off x="3512416" y="2877795"/>
            <a:ext cx="2194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283"/>
              <a:buFont typeface="Roboto"/>
              <a:buNone/>
            </a:pPr>
            <a:r>
              <a:rPr b="1" i="0" lang="en" sz="128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Readability</a:t>
            </a:r>
            <a:endParaRPr b="0" i="0" sz="128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8"/>
          <p:cNvSpPr/>
          <p:nvPr/>
        </p:nvSpPr>
        <p:spPr>
          <a:xfrm>
            <a:off x="3512416" y="3258795"/>
            <a:ext cx="21945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72"/>
              <a:buFont typeface="Roboto"/>
              <a:buNone/>
            </a:pPr>
            <a:r>
              <a:rPr b="0" i="0" lang="en" sz="972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Break complex logic into smaller, understandable chunks.</a:t>
            </a:r>
            <a:endParaRPr b="0" i="0" sz="972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8"/>
          <p:cNvSpPr/>
          <p:nvPr/>
        </p:nvSpPr>
        <p:spPr>
          <a:xfrm>
            <a:off x="6084166" y="2153895"/>
            <a:ext cx="2537400" cy="2362200"/>
          </a:xfrm>
          <a:prstGeom prst="roundRect">
            <a:avLst>
              <a:gd fmla="val 2581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71100" lIns="71100" spcFirstLastPara="1" rIns="71100" wrap="square" tIns="71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28"/>
          <p:cNvSpPr/>
          <p:nvPr/>
        </p:nvSpPr>
        <p:spPr>
          <a:xfrm>
            <a:off x="6255616" y="2344395"/>
            <a:ext cx="342900" cy="381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71100" lIns="71100" spcFirstLastPara="1" rIns="71100" wrap="square" tIns="71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28"/>
          <p:cNvSpPr/>
          <p:nvPr/>
        </p:nvSpPr>
        <p:spPr>
          <a:xfrm>
            <a:off x="6255616" y="2344395"/>
            <a:ext cx="342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67"/>
              <a:buFont typeface="Roboto"/>
              <a:buNone/>
            </a:pPr>
            <a:r>
              <a:rPr b="1" i="0" lang="en" sz="1167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b="0" i="0" sz="116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8"/>
          <p:cNvSpPr/>
          <p:nvPr/>
        </p:nvSpPr>
        <p:spPr>
          <a:xfrm>
            <a:off x="6255616" y="2877795"/>
            <a:ext cx="2194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283"/>
              <a:buFont typeface="Roboto"/>
              <a:buNone/>
            </a:pPr>
            <a:r>
              <a:rPr b="1" i="0" lang="en" sz="128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Maintenance</a:t>
            </a:r>
            <a:endParaRPr b="0" i="0" sz="128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8"/>
          <p:cNvSpPr/>
          <p:nvPr/>
        </p:nvSpPr>
        <p:spPr>
          <a:xfrm>
            <a:off x="6255616" y="3258795"/>
            <a:ext cx="21945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72"/>
              <a:buFont typeface="Roboto"/>
              <a:buNone/>
            </a:pPr>
            <a:r>
              <a:rPr b="0" i="0" lang="en" sz="972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Update logic in one place to affect all occurrences.</a:t>
            </a:r>
            <a:endParaRPr b="0" i="0" sz="972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9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525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2A3990"/>
                </a:solidFill>
                <a:latin typeface="Roboto"/>
                <a:ea typeface="Roboto"/>
                <a:cs typeface="Roboto"/>
                <a:sym typeface="Roboto"/>
              </a:rPr>
              <a:t>Anatomy of a Function</a:t>
            </a:r>
            <a:endParaRPr b="1" sz="3200">
              <a:solidFill>
                <a:srgbClr val="2A399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00" name="Google Shape;200;p29"/>
          <p:cNvGrpSpPr/>
          <p:nvPr/>
        </p:nvGrpSpPr>
        <p:grpSpPr>
          <a:xfrm>
            <a:off x="381000" y="1143000"/>
            <a:ext cx="8382000" cy="3429000"/>
            <a:chOff x="381000" y="1143000"/>
            <a:chExt cx="8382000" cy="3429000"/>
          </a:xfrm>
        </p:grpSpPr>
        <p:sp>
          <p:nvSpPr>
            <p:cNvPr id="201" name="Google Shape;201;p29"/>
            <p:cNvSpPr/>
            <p:nvPr/>
          </p:nvSpPr>
          <p:spPr>
            <a:xfrm>
              <a:off x="381000" y="1143000"/>
              <a:ext cx="8382000" cy="3429000"/>
            </a:xfrm>
            <a:prstGeom prst="roundRect">
              <a:avLst>
                <a:gd fmla="val 4166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02" name="Google Shape;202;p29"/>
            <p:cNvPicPr preferRelativeResize="0"/>
            <p:nvPr/>
          </p:nvPicPr>
          <p:blipFill rotWithShape="1">
            <a:blip r:embed="rId3">
              <a:alphaModFix/>
            </a:blip>
            <a:srcRect b="2267" l="1836" r="0" t="0"/>
            <a:stretch/>
          </p:blipFill>
          <p:spPr>
            <a:xfrm>
              <a:off x="397575" y="1523550"/>
              <a:ext cx="4470300" cy="2398500"/>
            </a:xfrm>
            <a:prstGeom prst="roundRect">
              <a:avLst>
                <a:gd fmla="val 3333" name="adj"/>
              </a:avLst>
            </a:prstGeom>
            <a:noFill/>
            <a:ln>
              <a:noFill/>
            </a:ln>
          </p:spPr>
        </p:pic>
        <p:sp>
          <p:nvSpPr>
            <p:cNvPr id="203" name="Google Shape;203;p29"/>
            <p:cNvSpPr txBox="1"/>
            <p:nvPr/>
          </p:nvSpPr>
          <p:spPr>
            <a:xfrm>
              <a:off x="4976325" y="1333500"/>
              <a:ext cx="3596100" cy="304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665">
                  <a:solidFill>
                    <a:srgbClr val="2A3990"/>
                  </a:solidFill>
                  <a:latin typeface="Roboto"/>
                  <a:ea typeface="Roboto"/>
                  <a:cs typeface="Roboto"/>
                  <a:sym typeface="Roboto"/>
                </a:rPr>
                <a:t>Understanding the Syntax</a:t>
              </a:r>
              <a:endParaRPr b="1" sz="1665">
                <a:solidFill>
                  <a:srgbClr val="2A399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304959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434343"/>
                </a:buClr>
                <a:buSzPts val="1203"/>
                <a:buFont typeface="Roboto"/>
                <a:buChar char="●"/>
              </a:pPr>
              <a:r>
                <a:rPr b="1" lang="en" sz="1203">
                  <a:solidFill>
                    <a:srgbClr val="D23369"/>
                  </a:solidFill>
                  <a:latin typeface="Roboto"/>
                  <a:ea typeface="Roboto"/>
                  <a:cs typeface="Roboto"/>
                  <a:sym typeface="Roboto"/>
                </a:rPr>
                <a:t>1. def keyword:</a:t>
              </a:r>
              <a:r>
                <a:rPr lang="en" sz="1203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Marks the start of a function header.</a:t>
              </a:r>
              <a:endParaRPr sz="1203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304959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34343"/>
                </a:buClr>
                <a:buSzPts val="1203"/>
                <a:buFont typeface="Roboto"/>
                <a:buChar char="●"/>
              </a:pPr>
              <a:r>
                <a:rPr b="1" lang="en" sz="1203">
                  <a:solidFill>
                    <a:srgbClr val="D23369"/>
                  </a:solidFill>
                  <a:latin typeface="Roboto"/>
                  <a:ea typeface="Roboto"/>
                  <a:cs typeface="Roboto"/>
                  <a:sym typeface="Roboto"/>
                </a:rPr>
                <a:t>2. Function Name:</a:t>
              </a:r>
              <a:r>
                <a:rPr lang="en" sz="1203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A unique identifier to call the function.</a:t>
              </a:r>
              <a:endParaRPr sz="1203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304959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34343"/>
                </a:buClr>
                <a:buSzPts val="1203"/>
                <a:buFont typeface="Roboto"/>
                <a:buChar char="●"/>
              </a:pPr>
              <a:r>
                <a:rPr b="1" lang="en" sz="1203">
                  <a:solidFill>
                    <a:srgbClr val="D23369"/>
                  </a:solidFill>
                  <a:latin typeface="Roboto"/>
                  <a:ea typeface="Roboto"/>
                  <a:cs typeface="Roboto"/>
                  <a:sym typeface="Roboto"/>
                </a:rPr>
                <a:t>3. Arguments:</a:t>
              </a:r>
              <a:r>
                <a:rPr lang="en" sz="1203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Inputs passed into the function inside ().</a:t>
              </a:r>
              <a:endParaRPr sz="1203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304959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34343"/>
                </a:buClr>
                <a:buSzPts val="1203"/>
                <a:buFont typeface="Roboto"/>
                <a:buChar char="●"/>
              </a:pPr>
              <a:r>
                <a:rPr b="1" lang="en" sz="1203">
                  <a:solidFill>
                    <a:srgbClr val="D23369"/>
                  </a:solidFill>
                  <a:latin typeface="Roboto"/>
                  <a:ea typeface="Roboto"/>
                  <a:cs typeface="Roboto"/>
                  <a:sym typeface="Roboto"/>
                </a:rPr>
                <a:t>4. Colon (:):</a:t>
              </a:r>
              <a:r>
                <a:rPr lang="en" sz="1203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Signal the end of the function header.</a:t>
              </a:r>
              <a:endParaRPr sz="1203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304959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34343"/>
                </a:buClr>
                <a:buSzPts val="1203"/>
                <a:buFont typeface="Roboto"/>
                <a:buChar char="●"/>
              </a:pPr>
              <a:r>
                <a:rPr b="1" lang="en" sz="1203">
                  <a:solidFill>
                    <a:srgbClr val="D23369"/>
                  </a:solidFill>
                  <a:latin typeface="Roboto"/>
                  <a:ea typeface="Roboto"/>
                  <a:cs typeface="Roboto"/>
                  <a:sym typeface="Roboto"/>
                </a:rPr>
                <a:t>5. Function Code:</a:t>
              </a:r>
              <a:r>
                <a:rPr lang="en" sz="1203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The block of logic that performs the task.</a:t>
              </a:r>
              <a:endParaRPr sz="1203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304959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34343"/>
                </a:buClr>
                <a:buSzPts val="1203"/>
                <a:buFont typeface="Roboto"/>
                <a:buChar char="●"/>
              </a:pPr>
              <a:r>
                <a:rPr b="1" lang="en" sz="1203">
                  <a:solidFill>
                    <a:srgbClr val="D23369"/>
                  </a:solidFill>
                  <a:latin typeface="Roboto"/>
                  <a:ea typeface="Roboto"/>
                  <a:cs typeface="Roboto"/>
                  <a:sym typeface="Roboto"/>
                </a:rPr>
                <a:t>6. Return Statement:</a:t>
              </a:r>
              <a:r>
                <a:rPr lang="en" sz="1203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Exits the function and passes back a value.</a:t>
              </a:r>
              <a:endParaRPr sz="1203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0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Define and Call a Function</a:t>
            </a:r>
            <a:endParaRPr b="1">
              <a:solidFill>
                <a:schemeClr val="accent4"/>
              </a:solidFill>
            </a:endParaRPr>
          </a:p>
        </p:txBody>
      </p:sp>
      <p:sp>
        <p:nvSpPr>
          <p:cNvPr id="209" name="Google Shape;209;p30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1"/>
          <p:cNvSpPr txBox="1"/>
          <p:nvPr>
            <p:ph type="title"/>
          </p:nvPr>
        </p:nvSpPr>
        <p:spPr>
          <a:xfrm>
            <a:off x="265500" y="445193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ct val="35612"/>
              <a:buNone/>
            </a:pPr>
            <a:r>
              <a:rPr lang="en" sz="2780"/>
              <a:t>Define a Function with </a:t>
            </a:r>
            <a:r>
              <a:rPr lang="en" sz="2780">
                <a:solidFill>
                  <a:schemeClr val="accent4"/>
                </a:solidFill>
              </a:rPr>
              <a:t>def</a:t>
            </a:r>
            <a:endParaRPr sz="2780">
              <a:solidFill>
                <a:schemeClr val="accent4"/>
              </a:solidFill>
            </a:endParaRPr>
          </a:p>
        </p:txBody>
      </p:sp>
      <p:sp>
        <p:nvSpPr>
          <p:cNvPr id="215" name="Google Shape;215;p31"/>
          <p:cNvSpPr txBox="1"/>
          <p:nvPr>
            <p:ph idx="1" type="subTitle"/>
          </p:nvPr>
        </p:nvSpPr>
        <p:spPr>
          <a:xfrm>
            <a:off x="265500" y="1229375"/>
            <a:ext cx="4045200" cy="280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089"/>
              <a:buFont typeface="Roboto"/>
              <a:buNone/>
            </a:pPr>
            <a:r>
              <a:rPr b="1" lang="en" sz="1600">
                <a:solidFill>
                  <a:srgbClr val="D84568"/>
                </a:solidFill>
              </a:rPr>
              <a:t>1. </a:t>
            </a:r>
            <a:r>
              <a:rPr lang="en" sz="1600">
                <a:solidFill>
                  <a:srgbClr val="222540"/>
                </a:solidFill>
              </a:rPr>
              <a:t>Write </a:t>
            </a:r>
            <a:r>
              <a:rPr b="1" lang="en" sz="1600">
                <a:solidFill>
                  <a:srgbClr val="D84568"/>
                </a:solidFill>
              </a:rPr>
              <a:t>def</a:t>
            </a:r>
            <a:r>
              <a:rPr lang="en" sz="1600">
                <a:solidFill>
                  <a:srgbClr val="222540"/>
                </a:solidFill>
              </a:rPr>
              <a:t> and name your function</a:t>
            </a:r>
            <a:endParaRPr sz="1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20000"/>
              </a:lnSpc>
              <a:spcBef>
                <a:spcPts val="1089"/>
              </a:spcBef>
              <a:spcAft>
                <a:spcPts val="0"/>
              </a:spcAft>
              <a:buClr>
                <a:srgbClr val="D84568"/>
              </a:buClr>
              <a:buSzPts val="1089"/>
              <a:buFont typeface="Roboto"/>
              <a:buNone/>
            </a:pPr>
            <a:r>
              <a:rPr b="1" lang="en" sz="1600">
                <a:solidFill>
                  <a:srgbClr val="D84568"/>
                </a:solidFill>
              </a:rPr>
              <a:t>2. </a:t>
            </a:r>
            <a:r>
              <a:rPr lang="en" sz="1600">
                <a:solidFill>
                  <a:srgbClr val="222540"/>
                </a:solidFill>
              </a:rPr>
              <a:t>Indent 4 or 2 spaces (must stay consistent), then write the body</a:t>
            </a:r>
            <a:endParaRPr sz="1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20000"/>
              </a:lnSpc>
              <a:spcBef>
                <a:spcPts val="1089"/>
              </a:spcBef>
              <a:spcAft>
                <a:spcPts val="0"/>
              </a:spcAft>
              <a:buClr>
                <a:srgbClr val="D84568"/>
              </a:buClr>
              <a:buSzPts val="1089"/>
              <a:buFont typeface="Roboto"/>
              <a:buNone/>
            </a:pPr>
            <a:r>
              <a:rPr b="1" lang="en" sz="1600">
                <a:solidFill>
                  <a:srgbClr val="D84568"/>
                </a:solidFill>
              </a:rPr>
              <a:t>3. </a:t>
            </a:r>
            <a:r>
              <a:rPr lang="en" sz="1600">
                <a:solidFill>
                  <a:srgbClr val="222540"/>
                </a:solidFill>
              </a:rPr>
              <a:t>Use </a:t>
            </a:r>
            <a:r>
              <a:rPr b="1" lang="en" sz="1600">
                <a:solidFill>
                  <a:srgbClr val="D84568"/>
                </a:solidFill>
              </a:rPr>
              <a:t>return</a:t>
            </a:r>
            <a:r>
              <a:rPr lang="en" sz="1600">
                <a:solidFill>
                  <a:srgbClr val="222540"/>
                </a:solidFill>
              </a:rPr>
              <a:t> to send back a value </a:t>
            </a:r>
            <a:r>
              <a:rPr lang="en">
                <a:solidFill>
                  <a:srgbClr val="222540"/>
                </a:solidFill>
              </a:rPr>
              <a:t>(Optional)</a:t>
            </a:r>
            <a:endParaRPr sz="1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pic>
        <p:nvPicPr>
          <p:cNvPr descr="./imgs/code_hl/def_add.png" id="216" name="Google Shape;216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6657" y="1984150"/>
            <a:ext cx="3771899" cy="1175201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31"/>
          <p:cNvSpPr txBox="1"/>
          <p:nvPr>
            <p:ph idx="2" type="title"/>
          </p:nvPr>
        </p:nvSpPr>
        <p:spPr>
          <a:xfrm>
            <a:off x="4835400" y="438389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31"/>
          <p:cNvSpPr txBox="1"/>
          <p:nvPr>
            <p:ph idx="3" type="subTitle"/>
          </p:nvPr>
        </p:nvSpPr>
        <p:spPr>
          <a:xfrm>
            <a:off x="4835400" y="1236636"/>
            <a:ext cx="4045200" cy="280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2"/>
          <p:cNvSpPr/>
          <p:nvPr/>
        </p:nvSpPr>
        <p:spPr>
          <a:xfrm>
            <a:off x="411480" y="219456"/>
            <a:ext cx="4114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933"/>
              <a:buFont typeface="Roboto"/>
              <a:buNone/>
            </a:pPr>
            <a:r>
              <a:rPr b="1" i="0" lang="en" sz="933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USING FUNCTIONS</a:t>
            </a:r>
            <a:endParaRPr b="0" i="0" sz="93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32"/>
          <p:cNvSpPr/>
          <p:nvPr/>
        </p:nvSpPr>
        <p:spPr>
          <a:xfrm>
            <a:off x="411480" y="425196"/>
            <a:ext cx="42519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022"/>
              <a:buFont typeface="Roboto"/>
              <a:buNone/>
            </a:pPr>
            <a:r>
              <a:rPr b="1" i="0" lang="en" sz="2022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Calling a Function</a:t>
            </a:r>
            <a:endParaRPr b="0" i="0" sz="202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32"/>
          <p:cNvSpPr/>
          <p:nvPr/>
        </p:nvSpPr>
        <p:spPr>
          <a:xfrm>
            <a:off x="411480" y="1268730"/>
            <a:ext cx="3771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933"/>
              <a:buFont typeface="Roboto"/>
              <a:buNone/>
            </a:pPr>
            <a:r>
              <a:rPr b="1" i="0" lang="en" sz="933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DEFINE</a:t>
            </a:r>
            <a:endParaRPr b="0" i="0" sz="93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def_add.png" id="227" name="Google Shape;227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508760"/>
            <a:ext cx="2971525" cy="92583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32"/>
          <p:cNvSpPr/>
          <p:nvPr/>
        </p:nvSpPr>
        <p:spPr>
          <a:xfrm>
            <a:off x="411480" y="2674620"/>
            <a:ext cx="38406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89"/>
              <a:buFont typeface="Roboto"/>
              <a:buNone/>
            </a:pPr>
            <a:r>
              <a:rPr b="0" i="0" lang="en" sz="1089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Use the function name + parentheses with arguments to run it.</a:t>
            </a:r>
            <a:endParaRPr b="0" i="0" sz="108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32"/>
          <p:cNvSpPr/>
          <p:nvPr/>
        </p:nvSpPr>
        <p:spPr>
          <a:xfrm>
            <a:off x="411480" y="3840480"/>
            <a:ext cx="3840600" cy="425400"/>
          </a:xfrm>
          <a:prstGeom prst="roundRect">
            <a:avLst>
              <a:gd fmla="val 9677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71100" lIns="71100" spcFirstLastPara="1" rIns="71100" wrap="square" tIns="71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32"/>
          <p:cNvSpPr/>
          <p:nvPr/>
        </p:nvSpPr>
        <p:spPr>
          <a:xfrm>
            <a:off x="534924" y="3991356"/>
            <a:ext cx="123300" cy="1233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71100" lIns="71100" spcFirstLastPara="1" rIns="71100" wrap="square" tIns="71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32"/>
          <p:cNvSpPr/>
          <p:nvPr/>
        </p:nvSpPr>
        <p:spPr>
          <a:xfrm>
            <a:off x="740664" y="3840480"/>
            <a:ext cx="3415200" cy="42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894"/>
              <a:buFont typeface="Roboto"/>
              <a:buNone/>
            </a:pPr>
            <a:r>
              <a:rPr b="1" i="0" lang="en" sz="894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Insight:  </a:t>
            </a:r>
            <a:r>
              <a:rPr b="0" i="0" lang="en" sz="894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the values you pass in (5, 3) are matched to (a, b) in order.</a:t>
            </a:r>
            <a:endParaRPr b="0" i="0" sz="89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32"/>
          <p:cNvSpPr/>
          <p:nvPr/>
        </p:nvSpPr>
        <p:spPr>
          <a:xfrm>
            <a:off x="4570857" y="0"/>
            <a:ext cx="4570800" cy="5143500"/>
          </a:xfrm>
          <a:prstGeom prst="rect">
            <a:avLst/>
          </a:prstGeom>
          <a:solidFill>
            <a:srgbClr val="293480"/>
          </a:solidFill>
          <a:ln>
            <a:noFill/>
          </a:ln>
        </p:spPr>
        <p:txBody>
          <a:bodyPr anchorCtr="0" anchor="ctr" bIns="71100" lIns="71100" spcFirstLastPara="1" rIns="71100" wrap="square" tIns="71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./imgs/code_hl/call_add.png" id="233" name="Google Shape;233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49857" y="1259113"/>
            <a:ext cx="3456434" cy="1425134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32"/>
          <p:cNvSpPr/>
          <p:nvPr/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085"/>
              </a:buClr>
              <a:buSzPts val="778"/>
              <a:buFont typeface="Roboto"/>
              <a:buNone/>
            </a:pPr>
            <a:r>
              <a:rPr b="0" i="0" lang="en" sz="778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b="0" i="0" sz="77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3"/>
          <p:cNvSpPr txBox="1"/>
          <p:nvPr>
            <p:ph type="title"/>
          </p:nvPr>
        </p:nvSpPr>
        <p:spPr>
          <a:xfrm>
            <a:off x="265500" y="445193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 definition</a:t>
            </a:r>
            <a:endParaRPr/>
          </a:p>
        </p:txBody>
      </p:sp>
      <p:sp>
        <p:nvSpPr>
          <p:cNvPr id="240" name="Google Shape;240;p33"/>
          <p:cNvSpPr txBox="1"/>
          <p:nvPr>
            <p:ph idx="1" type="subTitle"/>
          </p:nvPr>
        </p:nvSpPr>
        <p:spPr>
          <a:xfrm>
            <a:off x="265500" y="1229375"/>
            <a:ext cx="4045200" cy="280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2" type="title"/>
          </p:nvPr>
        </p:nvSpPr>
        <p:spPr>
          <a:xfrm>
            <a:off x="4835400" y="438389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Invoke/call the function by name</a:t>
            </a:r>
            <a:endParaRPr/>
          </a:p>
        </p:txBody>
      </p:sp>
      <p:sp>
        <p:nvSpPr>
          <p:cNvPr id="242" name="Google Shape;242;p33"/>
          <p:cNvSpPr txBox="1"/>
          <p:nvPr>
            <p:ph idx="3" type="subTitle"/>
          </p:nvPr>
        </p:nvSpPr>
        <p:spPr>
          <a:xfrm>
            <a:off x="4835400" y="3145024"/>
            <a:ext cx="4045200" cy="51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or</a:t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000" y="2235025"/>
            <a:ext cx="4382200" cy="1435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30313" y="1572600"/>
            <a:ext cx="4055384" cy="1482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3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70909" y="3778475"/>
            <a:ext cx="4374203" cy="1269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4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 with and without </a:t>
            </a:r>
            <a:r>
              <a:rPr b="1" lang="en">
                <a:solidFill>
                  <a:srgbClr val="FFFF00"/>
                </a:solidFill>
              </a:rPr>
              <a:t>return</a:t>
            </a:r>
            <a:endParaRPr b="1">
              <a:solidFill>
                <a:srgbClr val="FFFF00"/>
              </a:solidFill>
            </a:endParaRPr>
          </a:p>
        </p:txBody>
      </p:sp>
      <p:sp>
        <p:nvSpPr>
          <p:cNvPr id="251" name="Google Shape;251;p3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5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Functions Can Return Values</a:t>
            </a:r>
            <a:endParaRPr/>
          </a:p>
        </p:txBody>
      </p:sp>
      <p:sp>
        <p:nvSpPr>
          <p:cNvPr id="257" name="Google Shape;257;p35"/>
          <p:cNvSpPr/>
          <p:nvPr/>
        </p:nvSpPr>
        <p:spPr>
          <a:xfrm>
            <a:off x="482773" y="892075"/>
            <a:ext cx="39777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244"/>
              <a:buFont typeface="Roboto"/>
              <a:buNone/>
            </a:pPr>
            <a:r>
              <a:rPr b="1" i="0" lang="en" sz="1244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return</a:t>
            </a:r>
            <a:r>
              <a:rPr b="0" i="0" lang="en" sz="1244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sends a result back to the caller.</a:t>
            </a:r>
            <a:endParaRPr b="0" i="0" sz="1244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return_values.png" id="258" name="Google Shape;25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2773" y="1387375"/>
            <a:ext cx="3887959" cy="150876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35"/>
          <p:cNvSpPr/>
          <p:nvPr/>
        </p:nvSpPr>
        <p:spPr>
          <a:xfrm>
            <a:off x="482773" y="3901975"/>
            <a:ext cx="3977700" cy="472500"/>
          </a:xfrm>
          <a:prstGeom prst="roundRect">
            <a:avLst>
              <a:gd fmla="val 9677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71100" lIns="71100" spcFirstLastPara="1" rIns="71100" wrap="square" tIns="71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35"/>
          <p:cNvSpPr/>
          <p:nvPr/>
        </p:nvSpPr>
        <p:spPr>
          <a:xfrm>
            <a:off x="606217" y="4069615"/>
            <a:ext cx="123300" cy="1371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71100" lIns="71100" spcFirstLastPara="1" rIns="71100" wrap="square" tIns="71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35"/>
          <p:cNvSpPr/>
          <p:nvPr/>
        </p:nvSpPr>
        <p:spPr>
          <a:xfrm>
            <a:off x="811957" y="3901975"/>
            <a:ext cx="3552300" cy="47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894"/>
              <a:buFont typeface="Roboto"/>
              <a:buNone/>
            </a:pPr>
            <a:r>
              <a:rPr b="1" i="0" lang="en" sz="894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Insight:  </a:t>
            </a:r>
            <a:r>
              <a:rPr b="0" i="0" lang="en" sz="894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 function without return gives back None by default.</a:t>
            </a:r>
            <a:endParaRPr b="0" i="0" sz="894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35"/>
          <p:cNvSpPr/>
          <p:nvPr/>
        </p:nvSpPr>
        <p:spPr>
          <a:xfrm>
            <a:off x="4871893" y="892075"/>
            <a:ext cx="3771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933"/>
              <a:buFont typeface="Roboto"/>
              <a:buNone/>
            </a:pPr>
            <a:r>
              <a:rPr b="1" i="0" lang="en" sz="933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EXAMPLE OUTPUT</a:t>
            </a:r>
            <a:endParaRPr b="0" i="0" sz="93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35"/>
          <p:cNvSpPr/>
          <p:nvPr/>
        </p:nvSpPr>
        <p:spPr>
          <a:xfrm>
            <a:off x="4871893" y="1196875"/>
            <a:ext cx="3771900" cy="1066800"/>
          </a:xfrm>
          <a:prstGeom prst="roundRect">
            <a:avLst>
              <a:gd fmla="val 5714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71100" lIns="71100" spcFirstLastPara="1" rIns="71100" wrap="square" tIns="71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35"/>
          <p:cNvSpPr/>
          <p:nvPr/>
        </p:nvSpPr>
        <p:spPr>
          <a:xfrm>
            <a:off x="5077633" y="1349275"/>
            <a:ext cx="33603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244"/>
              <a:buFont typeface="Roboto"/>
              <a:buNone/>
            </a:pPr>
            <a:r>
              <a:rPr b="1" i="0" lang="en" sz="1244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multiply(4, 5)</a:t>
            </a:r>
            <a:endParaRPr b="0" i="0" sz="1244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711"/>
              <a:buFont typeface="Roboto"/>
              <a:buNone/>
            </a:pPr>
            <a:r>
              <a:rPr b="1" i="0" lang="en" sz="1711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→ 20</a:t>
            </a:r>
            <a:endParaRPr b="0" i="0" sz="1244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6"/>
          <p:cNvSpPr txBox="1"/>
          <p:nvPr>
            <p:ph type="title"/>
          </p:nvPr>
        </p:nvSpPr>
        <p:spPr>
          <a:xfrm>
            <a:off x="308610" y="164592"/>
            <a:ext cx="2931900" cy="267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Not the Same Thing</a:t>
            </a:r>
            <a:endParaRPr/>
          </a:p>
        </p:txBody>
      </p:sp>
      <p:sp>
        <p:nvSpPr>
          <p:cNvPr id="271" name="Google Shape;271;p36"/>
          <p:cNvSpPr txBox="1"/>
          <p:nvPr>
            <p:ph idx="1" type="body"/>
          </p:nvPr>
        </p:nvSpPr>
        <p:spPr>
          <a:xfrm>
            <a:off x="308610" y="462915"/>
            <a:ext cx="2931900" cy="15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625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ct val="1000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PRINT VS RETURN</a:t>
            </a:r>
            <a:endParaRPr/>
          </a:p>
        </p:txBody>
      </p:sp>
      <p:sp>
        <p:nvSpPr>
          <p:cNvPr id="272" name="Google Shape;272;p36"/>
          <p:cNvSpPr txBox="1"/>
          <p:nvPr>
            <p:ph idx="2" type="body"/>
          </p:nvPr>
        </p:nvSpPr>
        <p:spPr>
          <a:xfrm>
            <a:off x="308610" y="797242"/>
            <a:ext cx="29319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475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ct val="1000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Why it matters</a:t>
            </a:r>
            <a:endParaRPr/>
          </a:p>
        </p:txBody>
      </p:sp>
      <p:sp>
        <p:nvSpPr>
          <p:cNvPr id="273" name="Google Shape;273;p36"/>
          <p:cNvSpPr txBox="1"/>
          <p:nvPr>
            <p:ph idx="3" type="body"/>
          </p:nvPr>
        </p:nvSpPr>
        <p:spPr>
          <a:xfrm>
            <a:off x="308610" y="1028700"/>
            <a:ext cx="2931900" cy="20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print()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displays a value on screen — for humans, not the program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return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sends the value back so it can be stored, passed along, or computed with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Here,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multiply()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only prints — the caller's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result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ends up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None</a:t>
            </a:r>
            <a:endParaRPr/>
          </a:p>
        </p:txBody>
      </p:sp>
      <p:sp>
        <p:nvSpPr>
          <p:cNvPr id="274" name="Google Shape;274;p36"/>
          <p:cNvSpPr txBox="1"/>
          <p:nvPr>
            <p:ph idx="4" type="body"/>
          </p:nvPr>
        </p:nvSpPr>
        <p:spPr>
          <a:xfrm>
            <a:off x="308610" y="3394710"/>
            <a:ext cx="2931900" cy="15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7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ct val="100000"/>
              <a:buNone/>
            </a:pPr>
            <a:r>
              <a:rPr i="1" lang="en" sz="8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Highlighted: the print() inside the function, and result used outside</a:t>
            </a:r>
            <a:endParaRPr/>
          </a:p>
        </p:txBody>
      </p:sp>
      <p:pic>
        <p:nvPicPr>
          <p:cNvPr descr="Code screenshot: print_vs_return" id="275" name="Google Shape;275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54155" y="822960"/>
            <a:ext cx="3604259" cy="3771899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36"/>
          <p:cNvSpPr/>
          <p:nvPr/>
        </p:nvSpPr>
        <p:spPr>
          <a:xfrm>
            <a:off x="411480" y="4046220"/>
            <a:ext cx="3909300" cy="458700"/>
          </a:xfrm>
          <a:prstGeom prst="roundRect">
            <a:avLst>
              <a:gd fmla="val 1794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123425" spcFirstLastPara="1" rIns="123425" wrap="square" tIns="68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●  </a:t>
            </a:r>
            <a:r>
              <a:rPr b="1" i="0" lang="en" sz="9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Caution:  </a:t>
            </a:r>
            <a:r>
              <a:rPr b="0" i="0" lang="en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20 appears on screen, but result is still None — multiply() never returned anything.</a:t>
            </a:r>
            <a:endParaRPr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7"/>
          <p:cNvSpPr txBox="1"/>
          <p:nvPr>
            <p:ph type="title"/>
          </p:nvPr>
        </p:nvSpPr>
        <p:spPr>
          <a:xfrm>
            <a:off x="308610" y="164592"/>
            <a:ext cx="2931900" cy="267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Using a None Result</a:t>
            </a:r>
            <a:endParaRPr/>
          </a:p>
        </p:txBody>
      </p:sp>
      <p:sp>
        <p:nvSpPr>
          <p:cNvPr id="283" name="Google Shape;283;p37"/>
          <p:cNvSpPr txBox="1"/>
          <p:nvPr>
            <p:ph idx="1" type="body"/>
          </p:nvPr>
        </p:nvSpPr>
        <p:spPr>
          <a:xfrm>
            <a:off x="308610" y="462915"/>
            <a:ext cx="2931900" cy="15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625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ct val="1000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COMMON MISTAKE</a:t>
            </a:r>
            <a:endParaRPr/>
          </a:p>
        </p:txBody>
      </p:sp>
      <p:sp>
        <p:nvSpPr>
          <p:cNvPr id="284" name="Google Shape;284;p37"/>
          <p:cNvSpPr txBox="1"/>
          <p:nvPr>
            <p:ph idx="2" type="body"/>
          </p:nvPr>
        </p:nvSpPr>
        <p:spPr>
          <a:xfrm>
            <a:off x="308610" y="797242"/>
            <a:ext cx="29319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475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ct val="1000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What goes wrong</a:t>
            </a:r>
            <a:endParaRPr/>
          </a:p>
        </p:txBody>
      </p:sp>
      <p:sp>
        <p:nvSpPr>
          <p:cNvPr id="285" name="Google Shape;285;p37"/>
          <p:cNvSpPr txBox="1"/>
          <p:nvPr>
            <p:ph idx="3" type="body"/>
          </p:nvPr>
        </p:nvSpPr>
        <p:spPr>
          <a:xfrm>
            <a:off x="308610" y="1028700"/>
            <a:ext cx="2931900" cy="20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multiply()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still only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prints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— it never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returns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total = multiply(4, 5) + 10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tries to add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None + 10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Python raises a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TypeError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because None isn't a number</a:t>
            </a:r>
            <a:endParaRPr/>
          </a:p>
        </p:txBody>
      </p:sp>
      <p:sp>
        <p:nvSpPr>
          <p:cNvPr id="286" name="Google Shape;286;p37"/>
          <p:cNvSpPr txBox="1"/>
          <p:nvPr>
            <p:ph idx="4" type="body"/>
          </p:nvPr>
        </p:nvSpPr>
        <p:spPr>
          <a:xfrm>
            <a:off x="308610" y="3394710"/>
            <a:ext cx="2931900" cy="15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7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ct val="100000"/>
              <a:buNone/>
            </a:pPr>
            <a:r>
              <a:rPr i="1" lang="en" sz="8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Highlighted: the line that fails</a:t>
            </a:r>
            <a:endParaRPr/>
          </a:p>
        </p:txBody>
      </p:sp>
      <p:pic>
        <p:nvPicPr>
          <p:cNvPr descr="Code screenshot: none_typeerror" id="287" name="Google Shape;287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10887" y="1437044"/>
            <a:ext cx="4090797" cy="2543732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37"/>
          <p:cNvSpPr/>
          <p:nvPr/>
        </p:nvSpPr>
        <p:spPr>
          <a:xfrm>
            <a:off x="411480" y="4046220"/>
            <a:ext cx="3909300" cy="458700"/>
          </a:xfrm>
          <a:prstGeom prst="roundRect">
            <a:avLst>
              <a:gd fmla="val 1794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123425" spcFirstLastPara="1" rIns="123425" wrap="square" tIns="68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●  </a:t>
            </a:r>
            <a:r>
              <a:rPr b="1" i="0" lang="en" sz="9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Caution:  </a:t>
            </a:r>
            <a:r>
              <a:rPr b="0" i="0" lang="en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if you plan to use a function's result later, it must return it — not just print it.</a:t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8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Function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39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Function</a:t>
            </a:r>
            <a:endParaRPr/>
          </a:p>
        </p:txBody>
      </p:sp>
      <p:sp>
        <p:nvSpPr>
          <p:cNvPr id="299" name="Google Shape;299;p39"/>
          <p:cNvSpPr/>
          <p:nvPr/>
        </p:nvSpPr>
        <p:spPr>
          <a:xfrm>
            <a:off x="411480" y="1097280"/>
            <a:ext cx="80925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100"/>
              <a:buFont typeface="Roboto"/>
              <a:buNone/>
            </a:pPr>
            <a:r>
              <a:rPr b="0" i="0" lang="en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Functions that don’t need to be named, defined without the standard def keyword.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39"/>
          <p:cNvSpPr/>
          <p:nvPr/>
        </p:nvSpPr>
        <p:spPr>
          <a:xfrm>
            <a:off x="411480" y="1714500"/>
            <a:ext cx="3909300" cy="2331600"/>
          </a:xfrm>
          <a:prstGeom prst="roundRect">
            <a:avLst>
              <a:gd fmla="val 2353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39"/>
          <p:cNvSpPr/>
          <p:nvPr/>
        </p:nvSpPr>
        <p:spPr>
          <a:xfrm>
            <a:off x="617220" y="1920240"/>
            <a:ext cx="377100" cy="3771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9"/>
          <p:cNvSpPr/>
          <p:nvPr/>
        </p:nvSpPr>
        <p:spPr>
          <a:xfrm>
            <a:off x="617220" y="19202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39"/>
          <p:cNvSpPr/>
          <p:nvPr/>
        </p:nvSpPr>
        <p:spPr>
          <a:xfrm>
            <a:off x="617220" y="2468880"/>
            <a:ext cx="34977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400"/>
              <a:buFont typeface="Roboto"/>
              <a:buNone/>
            </a:pPr>
            <a:r>
              <a:rPr b="1" i="0" lang="en" sz="14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Anonymous Identity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39"/>
          <p:cNvSpPr/>
          <p:nvPr/>
        </p:nvSpPr>
        <p:spPr>
          <a:xfrm>
            <a:off x="617220" y="2914650"/>
            <a:ext cx="34977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100"/>
              <a:buFont typeface="Roboto"/>
              <a:buNone/>
            </a:pPr>
            <a:r>
              <a:rPr b="0" i="0" lang="en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No name is required — the function exists just long enough to be used, often passed directly as an argument.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39"/>
          <p:cNvSpPr/>
          <p:nvPr/>
        </p:nvSpPr>
        <p:spPr>
          <a:xfrm>
            <a:off x="4594860" y="1714500"/>
            <a:ext cx="3909300" cy="2331600"/>
          </a:xfrm>
          <a:prstGeom prst="roundRect">
            <a:avLst>
              <a:gd fmla="val 2353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39"/>
          <p:cNvSpPr/>
          <p:nvPr/>
        </p:nvSpPr>
        <p:spPr>
          <a:xfrm>
            <a:off x="4800600" y="1920240"/>
            <a:ext cx="377100" cy="3771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39"/>
          <p:cNvSpPr/>
          <p:nvPr/>
        </p:nvSpPr>
        <p:spPr>
          <a:xfrm>
            <a:off x="4800600" y="19202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39"/>
          <p:cNvSpPr/>
          <p:nvPr/>
        </p:nvSpPr>
        <p:spPr>
          <a:xfrm>
            <a:off x="4800600" y="2468880"/>
            <a:ext cx="34977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400"/>
              <a:buFont typeface="Roboto"/>
              <a:buNone/>
            </a:pPr>
            <a:r>
              <a:rPr b="1" i="0" lang="en" sz="14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Efficient One-Liners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39"/>
          <p:cNvSpPr/>
          <p:nvPr/>
        </p:nvSpPr>
        <p:spPr>
          <a:xfrm>
            <a:off x="4800600" y="2914650"/>
            <a:ext cx="34977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100"/>
              <a:buFont typeface="Roboto"/>
              <a:buNone/>
            </a:pPr>
            <a:r>
              <a:rPr b="0" i="0" lang="en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Ideal for small operations where a full def block would be overkill for a simple, single-expression task.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40"/>
          <p:cNvSpPr txBox="1"/>
          <p:nvPr>
            <p:ph type="title"/>
          </p:nvPr>
        </p:nvSpPr>
        <p:spPr>
          <a:xfrm>
            <a:off x="265500" y="445193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Find event number </a:t>
            </a:r>
            <a:r>
              <a:rPr lang="en"/>
              <a:t>using Function</a:t>
            </a:r>
            <a:endParaRPr/>
          </a:p>
        </p:txBody>
      </p:sp>
      <p:sp>
        <p:nvSpPr>
          <p:cNvPr id="315" name="Google Shape;315;p40"/>
          <p:cNvSpPr txBox="1"/>
          <p:nvPr>
            <p:ph idx="1" type="subTitle"/>
          </p:nvPr>
        </p:nvSpPr>
        <p:spPr>
          <a:xfrm>
            <a:off x="265500" y="1229375"/>
            <a:ext cx="4045200" cy="280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40"/>
          <p:cNvSpPr txBox="1"/>
          <p:nvPr>
            <p:ph idx="3" type="subTitle"/>
          </p:nvPr>
        </p:nvSpPr>
        <p:spPr>
          <a:xfrm>
            <a:off x="4835400" y="1236636"/>
            <a:ext cx="4045200" cy="280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17" name="Google Shape;317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923" y="1708425"/>
            <a:ext cx="3982499" cy="1826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75401" y="1938250"/>
            <a:ext cx="4172300" cy="861587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40"/>
          <p:cNvSpPr txBox="1"/>
          <p:nvPr>
            <p:ph idx="2" type="title"/>
          </p:nvPr>
        </p:nvSpPr>
        <p:spPr>
          <a:xfrm>
            <a:off x="4835400" y="438389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Find event number</a:t>
            </a:r>
            <a:r>
              <a:rPr lang="en"/>
              <a:t> using Lambda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1"/>
          <p:cNvSpPr txBox="1"/>
          <p:nvPr>
            <p:ph type="title"/>
          </p:nvPr>
        </p:nvSpPr>
        <p:spPr>
          <a:xfrm>
            <a:off x="265500" y="445193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Sort by field using Function</a:t>
            </a:r>
            <a:endParaRPr/>
          </a:p>
        </p:txBody>
      </p:sp>
      <p:sp>
        <p:nvSpPr>
          <p:cNvPr id="325" name="Google Shape;325;p41"/>
          <p:cNvSpPr txBox="1"/>
          <p:nvPr>
            <p:ph idx="1" type="subTitle"/>
          </p:nvPr>
        </p:nvSpPr>
        <p:spPr>
          <a:xfrm>
            <a:off x="265500" y="1229375"/>
            <a:ext cx="4045200" cy="280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41"/>
          <p:cNvSpPr txBox="1"/>
          <p:nvPr>
            <p:ph idx="2" type="title"/>
          </p:nvPr>
        </p:nvSpPr>
        <p:spPr>
          <a:xfrm>
            <a:off x="4835400" y="438389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Sort by field using Lambda</a:t>
            </a:r>
            <a:endParaRPr/>
          </a:p>
        </p:txBody>
      </p:sp>
      <p:sp>
        <p:nvSpPr>
          <p:cNvPr id="327" name="Google Shape;327;p41"/>
          <p:cNvSpPr txBox="1"/>
          <p:nvPr>
            <p:ph idx="3" type="subTitle"/>
          </p:nvPr>
        </p:nvSpPr>
        <p:spPr>
          <a:xfrm>
            <a:off x="4835400" y="1236636"/>
            <a:ext cx="4045200" cy="280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8" name="Google Shape;328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0362" y="1730275"/>
            <a:ext cx="3882224" cy="2332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9" name="Google Shape;329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91074" y="2380268"/>
            <a:ext cx="4189525" cy="103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2"/>
          <p:cNvSpPr txBox="1"/>
          <p:nvPr>
            <p:ph type="title"/>
          </p:nvPr>
        </p:nvSpPr>
        <p:spPr>
          <a:xfrm>
            <a:off x="617220" y="1988820"/>
            <a:ext cx="7543800" cy="8232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Exerciese</a:t>
            </a:r>
            <a:endParaRPr/>
          </a:p>
        </p:txBody>
      </p:sp>
      <p:sp>
        <p:nvSpPr>
          <p:cNvPr id="335" name="Google Shape;335;p42"/>
          <p:cNvSpPr txBox="1"/>
          <p:nvPr>
            <p:ph idx="1" type="body"/>
          </p:nvPr>
        </p:nvSpPr>
        <p:spPr>
          <a:xfrm>
            <a:off x="617220" y="2846070"/>
            <a:ext cx="6858000" cy="2742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42"/>
          <p:cNvSpPr txBox="1"/>
          <p:nvPr>
            <p:ph idx="2" type="body"/>
          </p:nvPr>
        </p:nvSpPr>
        <p:spPr>
          <a:xfrm>
            <a:off x="617220" y="3120390"/>
            <a:ext cx="6515100" cy="3429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3"/>
          <p:cNvSpPr txBox="1"/>
          <p:nvPr>
            <p:ph type="title"/>
          </p:nvPr>
        </p:nvSpPr>
        <p:spPr>
          <a:xfrm>
            <a:off x="617220" y="1988820"/>
            <a:ext cx="7543800" cy="8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</a:pPr>
            <a:r>
              <a:rPr b="1" lang="en" sz="3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Level 1: Beginner</a:t>
            </a:r>
            <a:endParaRPr/>
          </a:p>
        </p:txBody>
      </p:sp>
      <p:sp>
        <p:nvSpPr>
          <p:cNvPr id="342" name="Google Shape;342;p43"/>
          <p:cNvSpPr txBox="1"/>
          <p:nvPr>
            <p:ph idx="1" type="body"/>
          </p:nvPr>
        </p:nvSpPr>
        <p:spPr>
          <a:xfrm>
            <a:off x="617220" y="2846070"/>
            <a:ext cx="6858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EC5F82"/>
              </a:buClr>
              <a:buSzPts val="1100"/>
              <a:buNone/>
            </a:pPr>
            <a:r>
              <a:rPr b="1" lang="en" sz="1100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DEFINITIONS · INVOCATION · PRINT VS RETURN</a:t>
            </a:r>
            <a:endParaRPr/>
          </a:p>
        </p:txBody>
      </p:sp>
      <p:sp>
        <p:nvSpPr>
          <p:cNvPr id="343" name="Google Shape;343;p43"/>
          <p:cNvSpPr txBox="1"/>
          <p:nvPr>
            <p:ph idx="2" type="body"/>
          </p:nvPr>
        </p:nvSpPr>
        <p:spPr>
          <a:xfrm>
            <a:off x="617220" y="3120390"/>
            <a:ext cx="65151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6DAF2"/>
              </a:buClr>
              <a:buSzPts val="1100"/>
              <a:buNone/>
            </a:pPr>
            <a:r>
              <a:rPr lang="en" sz="1100">
                <a:solidFill>
                  <a:srgbClr val="D6DAF2"/>
                </a:solidFill>
                <a:latin typeface="Roboto"/>
                <a:ea typeface="Roboto"/>
                <a:cs typeface="Roboto"/>
                <a:sym typeface="Roboto"/>
              </a:rPr>
              <a:t>Understanding function headers, basic parameters, and how return values work vs printing.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44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Exercise 1: Simple Greeting</a:t>
            </a:r>
            <a:endParaRPr/>
          </a:p>
        </p:txBody>
      </p:sp>
      <p:sp>
        <p:nvSpPr>
          <p:cNvPr id="350" name="Google Shape;350;p44"/>
          <p:cNvSpPr txBox="1"/>
          <p:nvPr>
            <p:ph idx="2" type="body"/>
          </p:nvPr>
        </p:nvSpPr>
        <p:spPr>
          <a:xfrm>
            <a:off x="3497580" y="651510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Clr>
                <a:srgbClr val="6B7085"/>
              </a:buClr>
              <a:buSzPts val="800"/>
              <a:buNone/>
            </a:pPr>
            <a:r>
              <a:rPr lang="en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greet.py</a:t>
            </a:r>
            <a:endParaRPr/>
          </a:p>
        </p:txBody>
      </p:sp>
      <p:sp>
        <p:nvSpPr>
          <p:cNvPr id="351" name="Google Shape;351;p44"/>
          <p:cNvSpPr/>
          <p:nvPr/>
        </p:nvSpPr>
        <p:spPr>
          <a:xfrm>
            <a:off x="411480" y="651510"/>
            <a:ext cx="4731900" cy="2537700"/>
          </a:xfrm>
          <a:prstGeom prst="roundRect">
            <a:avLst>
              <a:gd fmla="val 6000" name="adj"/>
            </a:avLst>
          </a:prstGeom>
          <a:solidFill>
            <a:srgbClr val="27282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44"/>
          <p:cNvSpPr txBox="1"/>
          <p:nvPr>
            <p:ph idx="3" type="body"/>
          </p:nvPr>
        </p:nvSpPr>
        <p:spPr>
          <a:xfrm>
            <a:off x="582930" y="822960"/>
            <a:ext cx="4389000" cy="21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0" i="0" lang="en" sz="900">
                <a:solidFill>
                  <a:srgbClr val="A6E22E"/>
                </a:solidFill>
                <a:latin typeface="Consolas"/>
                <a:ea typeface="Consolas"/>
                <a:cs typeface="Consolas"/>
                <a:sym typeface="Consolas"/>
              </a:rPr>
              <a:t>greet_user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(name):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959077"/>
                </a:solidFill>
                <a:latin typeface="Consolas"/>
                <a:ea typeface="Consolas"/>
                <a:cs typeface="Consolas"/>
                <a:sym typeface="Consolas"/>
              </a:rPr>
              <a:t># your code here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pass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66D9E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959077"/>
              </a:buClr>
              <a:buSzPts val="900"/>
              <a:buNone/>
            </a:pPr>
            <a:r>
              <a:rPr b="0" i="0" lang="en" sz="900">
                <a:solidFill>
                  <a:srgbClr val="959077"/>
                </a:solidFill>
                <a:latin typeface="Consolas"/>
                <a:ea typeface="Consolas"/>
                <a:cs typeface="Consolas"/>
                <a:sym typeface="Consolas"/>
              </a:rPr>
              <a:t># call it twice with different names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959077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3" name="Google Shape;353;p44"/>
          <p:cNvSpPr txBox="1"/>
          <p:nvPr>
            <p:ph idx="4" type="body"/>
          </p:nvPr>
        </p:nvSpPr>
        <p:spPr>
          <a:xfrm>
            <a:off x="5417820" y="65151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775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ct val="1000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Your task</a:t>
            </a:r>
            <a:endParaRPr/>
          </a:p>
        </p:txBody>
      </p:sp>
      <p:sp>
        <p:nvSpPr>
          <p:cNvPr id="354" name="Google Shape;354;p44"/>
          <p:cNvSpPr txBox="1"/>
          <p:nvPr>
            <p:ph idx="5" type="body"/>
          </p:nvPr>
        </p:nvSpPr>
        <p:spPr>
          <a:xfrm>
            <a:off x="5417820" y="99441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Goal: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practice function syntax and parameter passing.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Write `greet_user(name)` that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prints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/>
          </a:p>
          <a:p>
            <a:pPr indent="-158750" lvl="1" marL="4826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700"/>
              <a:buChar char="○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"Hello, &lt;name&gt;! Welcome to Python."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Call the function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twice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with different names.</a:t>
            </a:r>
            <a:endParaRPr/>
          </a:p>
        </p:txBody>
      </p:sp>
      <p:sp>
        <p:nvSpPr>
          <p:cNvPr id="355" name="Google Shape;355;p44"/>
          <p:cNvSpPr txBox="1"/>
          <p:nvPr>
            <p:ph idx="6" type="body"/>
          </p:nvPr>
        </p:nvSpPr>
        <p:spPr>
          <a:xfrm>
            <a:off x="5417820" y="2811780"/>
            <a:ext cx="3291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ct val="100000"/>
              <a:buNone/>
            </a:pPr>
            <a:r>
              <a:rPr b="1"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/>
          </a:p>
        </p:txBody>
      </p:sp>
      <p:sp>
        <p:nvSpPr>
          <p:cNvPr id="356" name="Google Shape;356;p44"/>
          <p:cNvSpPr txBox="1"/>
          <p:nvPr>
            <p:ph idx="7" type="body"/>
          </p:nvPr>
        </p:nvSpPr>
        <p:spPr>
          <a:xfrm>
            <a:off x="5417820" y="3051810"/>
            <a:ext cx="32919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greet_user("Amy")  →  output: "Hello, Amy! Welcome to Python."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greet_user("Liam")  →  output: "Hello, Liam! Welcome to Python."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45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Exercise 2: Area Calculator</a:t>
            </a:r>
            <a:endParaRPr/>
          </a:p>
        </p:txBody>
      </p:sp>
      <p:sp>
        <p:nvSpPr>
          <p:cNvPr id="363" name="Google Shape;363;p45"/>
          <p:cNvSpPr txBox="1"/>
          <p:nvPr>
            <p:ph idx="2" type="body"/>
          </p:nvPr>
        </p:nvSpPr>
        <p:spPr>
          <a:xfrm>
            <a:off x="3497580" y="651510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Clr>
                <a:srgbClr val="6B7085"/>
              </a:buClr>
              <a:buSzPts val="800"/>
              <a:buNone/>
            </a:pPr>
            <a:r>
              <a:rPr lang="en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area.py</a:t>
            </a:r>
            <a:endParaRPr/>
          </a:p>
        </p:txBody>
      </p:sp>
      <p:sp>
        <p:nvSpPr>
          <p:cNvPr id="364" name="Google Shape;364;p45"/>
          <p:cNvSpPr/>
          <p:nvPr/>
        </p:nvSpPr>
        <p:spPr>
          <a:xfrm>
            <a:off x="411480" y="651510"/>
            <a:ext cx="4731900" cy="2537700"/>
          </a:xfrm>
          <a:prstGeom prst="roundRect">
            <a:avLst>
              <a:gd fmla="val 6000" name="adj"/>
            </a:avLst>
          </a:prstGeom>
          <a:solidFill>
            <a:srgbClr val="27282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45"/>
          <p:cNvSpPr txBox="1"/>
          <p:nvPr>
            <p:ph idx="3" type="body"/>
          </p:nvPr>
        </p:nvSpPr>
        <p:spPr>
          <a:xfrm>
            <a:off x="582930" y="822960"/>
            <a:ext cx="4389000" cy="21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0" i="0" lang="en" sz="900">
                <a:solidFill>
                  <a:srgbClr val="A6E22E"/>
                </a:solidFill>
                <a:latin typeface="Consolas"/>
                <a:ea typeface="Consolas"/>
                <a:cs typeface="Consolas"/>
                <a:sym typeface="Consolas"/>
              </a:rPr>
              <a:t>calculate_rectangle_area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(width, height):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959077"/>
                </a:solidFill>
                <a:latin typeface="Consolas"/>
                <a:ea typeface="Consolas"/>
                <a:cs typeface="Consolas"/>
                <a:sym typeface="Consolas"/>
              </a:rPr>
              <a:t># your code here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pass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66D9E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area </a:t>
            </a:r>
            <a:r>
              <a:rPr b="0" i="0" lang="en" sz="900">
                <a:solidFill>
                  <a:srgbClr val="FF4689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calculate_rectangle_area(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1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(area </a:t>
            </a:r>
            <a:r>
              <a:rPr b="0" i="0" lang="en" sz="900">
                <a:solidFill>
                  <a:srgbClr val="FF4689"/>
                </a:solidFill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6" name="Google Shape;366;p45"/>
          <p:cNvSpPr txBox="1"/>
          <p:nvPr>
            <p:ph idx="4" type="body"/>
          </p:nvPr>
        </p:nvSpPr>
        <p:spPr>
          <a:xfrm>
            <a:off x="5417820" y="65151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775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ct val="1000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Your task</a:t>
            </a:r>
            <a:endParaRPr/>
          </a:p>
        </p:txBody>
      </p:sp>
      <p:sp>
        <p:nvSpPr>
          <p:cNvPr id="367" name="Google Shape;367;p45"/>
          <p:cNvSpPr txBox="1"/>
          <p:nvPr>
            <p:ph idx="5" type="body"/>
          </p:nvPr>
        </p:nvSpPr>
        <p:spPr>
          <a:xfrm>
            <a:off x="5417820" y="99441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Goal: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tell the difference between printing and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returning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values.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Write `calculate_rectangle_area(width, height)` that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returns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area.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Assign the result to `area`, then print `area * 2`.</a:t>
            </a:r>
            <a:endParaRPr/>
          </a:p>
        </p:txBody>
      </p:sp>
      <p:sp>
        <p:nvSpPr>
          <p:cNvPr id="368" name="Google Shape;368;p45"/>
          <p:cNvSpPr txBox="1"/>
          <p:nvPr>
            <p:ph idx="6" type="body"/>
          </p:nvPr>
        </p:nvSpPr>
        <p:spPr>
          <a:xfrm>
            <a:off x="5417820" y="2811780"/>
            <a:ext cx="3291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ct val="100000"/>
              <a:buNone/>
            </a:pPr>
            <a:r>
              <a:rPr b="1"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/>
          </a:p>
        </p:txBody>
      </p:sp>
      <p:sp>
        <p:nvSpPr>
          <p:cNvPr id="369" name="Google Shape;369;p45"/>
          <p:cNvSpPr txBox="1"/>
          <p:nvPr>
            <p:ph idx="7" type="body"/>
          </p:nvPr>
        </p:nvSpPr>
        <p:spPr>
          <a:xfrm>
            <a:off x="5417820" y="3051810"/>
            <a:ext cx="32919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width=4, height=5  →  output: 40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width=3, height=6  →  output: 36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6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Exercise 3: Fix the NoneType Bug</a:t>
            </a:r>
            <a:endParaRPr/>
          </a:p>
        </p:txBody>
      </p:sp>
      <p:sp>
        <p:nvSpPr>
          <p:cNvPr id="376" name="Google Shape;376;p46"/>
          <p:cNvSpPr txBox="1"/>
          <p:nvPr>
            <p:ph idx="2" type="body"/>
          </p:nvPr>
        </p:nvSpPr>
        <p:spPr>
          <a:xfrm>
            <a:off x="3497580" y="651510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Clr>
                <a:srgbClr val="6B7085"/>
              </a:buClr>
              <a:buSzPts val="800"/>
              <a:buNone/>
            </a:pPr>
            <a:r>
              <a:rPr lang="en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tax.py</a:t>
            </a:r>
            <a:endParaRPr/>
          </a:p>
        </p:txBody>
      </p:sp>
      <p:sp>
        <p:nvSpPr>
          <p:cNvPr id="377" name="Google Shape;377;p46"/>
          <p:cNvSpPr/>
          <p:nvPr/>
        </p:nvSpPr>
        <p:spPr>
          <a:xfrm>
            <a:off x="411480" y="651510"/>
            <a:ext cx="4731900" cy="2537700"/>
          </a:xfrm>
          <a:prstGeom prst="roundRect">
            <a:avLst>
              <a:gd fmla="val 6000" name="adj"/>
            </a:avLst>
          </a:prstGeom>
          <a:solidFill>
            <a:srgbClr val="27282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46"/>
          <p:cNvSpPr txBox="1"/>
          <p:nvPr>
            <p:ph idx="3" type="body"/>
          </p:nvPr>
        </p:nvSpPr>
        <p:spPr>
          <a:xfrm>
            <a:off x="582930" y="822960"/>
            <a:ext cx="4389000" cy="21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0" i="0" lang="en" sz="900">
                <a:solidFill>
                  <a:srgbClr val="A6E22E"/>
                </a:solidFill>
                <a:latin typeface="Consolas"/>
                <a:ea typeface="Consolas"/>
                <a:cs typeface="Consolas"/>
                <a:sym typeface="Consolas"/>
              </a:rPr>
              <a:t>add_tax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(price):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1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(price </a:t>
            </a:r>
            <a:r>
              <a:rPr b="0" i="0" lang="en" sz="900">
                <a:solidFill>
                  <a:srgbClr val="FF4689"/>
                </a:solidFill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1.1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total </a:t>
            </a:r>
            <a:r>
              <a:rPr b="0" i="0" lang="en" sz="900">
                <a:solidFill>
                  <a:srgbClr val="FF4689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add_tax(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100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b="0" i="0" lang="en" sz="900">
                <a:solidFill>
                  <a:srgbClr val="FF4689"/>
                </a:solidFill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" sz="900">
                <a:solidFill>
                  <a:srgbClr val="959077"/>
                </a:solidFill>
                <a:latin typeface="Consolas"/>
                <a:ea typeface="Consolas"/>
                <a:cs typeface="Consolas"/>
                <a:sym typeface="Consolas"/>
              </a:rPr>
              <a:t># Currently fails!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959077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" name="Google Shape;379;p46"/>
          <p:cNvSpPr txBox="1"/>
          <p:nvPr>
            <p:ph idx="4" type="body"/>
          </p:nvPr>
        </p:nvSpPr>
        <p:spPr>
          <a:xfrm>
            <a:off x="5417820" y="65151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775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ct val="1000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Your task</a:t>
            </a:r>
            <a:endParaRPr/>
          </a:p>
        </p:txBody>
      </p:sp>
      <p:sp>
        <p:nvSpPr>
          <p:cNvPr id="380" name="Google Shape;380;p46"/>
          <p:cNvSpPr txBox="1"/>
          <p:nvPr>
            <p:ph idx="5" type="body"/>
          </p:nvPr>
        </p:nvSpPr>
        <p:spPr>
          <a:xfrm>
            <a:off x="5417820" y="99441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Goal: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recognize and fix a `TypeError` caused by a missing `return`.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`add_tax()` currently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prints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instead of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returning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 value.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Fix the function so `total` calculates correctly.</a:t>
            </a:r>
            <a:endParaRPr/>
          </a:p>
        </p:txBody>
      </p:sp>
      <p:sp>
        <p:nvSpPr>
          <p:cNvPr id="381" name="Google Shape;381;p46"/>
          <p:cNvSpPr txBox="1"/>
          <p:nvPr>
            <p:ph idx="6" type="body"/>
          </p:nvPr>
        </p:nvSpPr>
        <p:spPr>
          <a:xfrm>
            <a:off x="5417820" y="2811780"/>
            <a:ext cx="3291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ct val="100000"/>
              <a:buNone/>
            </a:pPr>
            <a:r>
              <a:rPr b="1"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/>
          </a:p>
        </p:txBody>
      </p:sp>
      <p:sp>
        <p:nvSpPr>
          <p:cNvPr id="382" name="Google Shape;382;p46"/>
          <p:cNvSpPr txBox="1"/>
          <p:nvPr>
            <p:ph idx="7" type="body"/>
          </p:nvPr>
        </p:nvSpPr>
        <p:spPr>
          <a:xfrm>
            <a:off x="5417820" y="3051810"/>
            <a:ext cx="32919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add_tax(100) + 5  →  return: 115.0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add_tax(50) + 5  →  return: 60.0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47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Exercise 4: Even/Odd Checker</a:t>
            </a:r>
            <a:endParaRPr/>
          </a:p>
        </p:txBody>
      </p:sp>
      <p:sp>
        <p:nvSpPr>
          <p:cNvPr id="389" name="Google Shape;389;p47"/>
          <p:cNvSpPr txBox="1"/>
          <p:nvPr>
            <p:ph idx="2" type="body"/>
          </p:nvPr>
        </p:nvSpPr>
        <p:spPr>
          <a:xfrm>
            <a:off x="3497580" y="651510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Clr>
                <a:srgbClr val="6B7085"/>
              </a:buClr>
              <a:buSzPts val="800"/>
              <a:buNone/>
            </a:pPr>
            <a:r>
              <a:rPr lang="en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even_odd.py</a:t>
            </a:r>
            <a:endParaRPr/>
          </a:p>
        </p:txBody>
      </p:sp>
      <p:sp>
        <p:nvSpPr>
          <p:cNvPr id="390" name="Google Shape;390;p47"/>
          <p:cNvSpPr/>
          <p:nvPr/>
        </p:nvSpPr>
        <p:spPr>
          <a:xfrm>
            <a:off x="411480" y="651510"/>
            <a:ext cx="4731900" cy="2537700"/>
          </a:xfrm>
          <a:prstGeom prst="roundRect">
            <a:avLst>
              <a:gd fmla="val 6000" name="adj"/>
            </a:avLst>
          </a:prstGeom>
          <a:solidFill>
            <a:srgbClr val="27282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47"/>
          <p:cNvSpPr txBox="1"/>
          <p:nvPr>
            <p:ph idx="3" type="body"/>
          </p:nvPr>
        </p:nvSpPr>
        <p:spPr>
          <a:xfrm>
            <a:off x="582930" y="822960"/>
            <a:ext cx="4389000" cy="21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0" i="0" lang="en" sz="900">
                <a:solidFill>
                  <a:srgbClr val="A6E22E"/>
                </a:solidFill>
                <a:latin typeface="Consolas"/>
                <a:ea typeface="Consolas"/>
                <a:cs typeface="Consolas"/>
                <a:sym typeface="Consolas"/>
              </a:rPr>
              <a:t>is_even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(number):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959077"/>
                </a:solidFill>
                <a:latin typeface="Consolas"/>
                <a:ea typeface="Consolas"/>
                <a:cs typeface="Consolas"/>
                <a:sym typeface="Consolas"/>
              </a:rPr>
              <a:t># your code here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pass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66D9E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1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(is_even(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))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1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(is_even(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))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" name="Google Shape;392;p47"/>
          <p:cNvSpPr txBox="1"/>
          <p:nvPr>
            <p:ph idx="4" type="body"/>
          </p:nvPr>
        </p:nvSpPr>
        <p:spPr>
          <a:xfrm>
            <a:off x="5417820" y="65151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775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ct val="1000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Your task</a:t>
            </a:r>
            <a:endParaRPr/>
          </a:p>
        </p:txBody>
      </p:sp>
      <p:sp>
        <p:nvSpPr>
          <p:cNvPr id="393" name="Google Shape;393;p47"/>
          <p:cNvSpPr txBox="1"/>
          <p:nvPr>
            <p:ph idx="5" type="body"/>
          </p:nvPr>
        </p:nvSpPr>
        <p:spPr>
          <a:xfrm>
            <a:off x="5417820" y="99441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Goal: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use control flow inside a function.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Write `is_even(number)` that returns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True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if even,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False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if odd.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Test it with `7` and `12`.</a:t>
            </a:r>
            <a:endParaRPr/>
          </a:p>
        </p:txBody>
      </p:sp>
      <p:sp>
        <p:nvSpPr>
          <p:cNvPr id="394" name="Google Shape;394;p47"/>
          <p:cNvSpPr txBox="1"/>
          <p:nvPr>
            <p:ph idx="6" type="body"/>
          </p:nvPr>
        </p:nvSpPr>
        <p:spPr>
          <a:xfrm>
            <a:off x="5417820" y="2811780"/>
            <a:ext cx="3291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ct val="100000"/>
              <a:buNone/>
            </a:pPr>
            <a:r>
              <a:rPr b="1"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/>
          </a:p>
        </p:txBody>
      </p:sp>
      <p:sp>
        <p:nvSpPr>
          <p:cNvPr id="395" name="Google Shape;395;p47"/>
          <p:cNvSpPr txBox="1"/>
          <p:nvPr>
            <p:ph idx="7" type="body"/>
          </p:nvPr>
        </p:nvSpPr>
        <p:spPr>
          <a:xfrm>
            <a:off x="5417820" y="3051810"/>
            <a:ext cx="32919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is_even(7)  →  return: False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is_even(12)  →  return: True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48"/>
          <p:cNvSpPr txBox="1"/>
          <p:nvPr>
            <p:ph type="title"/>
          </p:nvPr>
        </p:nvSpPr>
        <p:spPr>
          <a:xfrm>
            <a:off x="617220" y="1988820"/>
            <a:ext cx="7543800" cy="8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</a:pPr>
            <a:r>
              <a:rPr b="1" lang="en" sz="3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Level 2: Intermediate</a:t>
            </a:r>
            <a:endParaRPr/>
          </a:p>
        </p:txBody>
      </p:sp>
      <p:sp>
        <p:nvSpPr>
          <p:cNvPr id="401" name="Google Shape;401;p48"/>
          <p:cNvSpPr txBox="1"/>
          <p:nvPr>
            <p:ph idx="1" type="body"/>
          </p:nvPr>
        </p:nvSpPr>
        <p:spPr>
          <a:xfrm>
            <a:off x="617220" y="2846070"/>
            <a:ext cx="6858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EC5F82"/>
              </a:buClr>
              <a:buSzPts val="1100"/>
              <a:buNone/>
            </a:pPr>
            <a:r>
              <a:rPr b="1" lang="en" sz="1100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MULTI-PARAMETER FUNCTIONS · LAMBDAS</a:t>
            </a:r>
            <a:endParaRPr/>
          </a:p>
        </p:txBody>
      </p:sp>
      <p:sp>
        <p:nvSpPr>
          <p:cNvPr id="402" name="Google Shape;402;p48"/>
          <p:cNvSpPr txBox="1"/>
          <p:nvPr>
            <p:ph idx="2" type="body"/>
          </p:nvPr>
        </p:nvSpPr>
        <p:spPr>
          <a:xfrm>
            <a:off x="617220" y="3120390"/>
            <a:ext cx="65151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6DAF2"/>
              </a:buClr>
              <a:buSzPts val="1100"/>
              <a:buNone/>
            </a:pPr>
            <a:r>
              <a:rPr lang="en" sz="1100">
                <a:solidFill>
                  <a:srgbClr val="D6DAF2"/>
                </a:solidFill>
                <a:latin typeface="Roboto"/>
                <a:ea typeface="Roboto"/>
                <a:cs typeface="Roboto"/>
                <a:sym typeface="Roboto"/>
              </a:rPr>
              <a:t>Handling multiple inputs, using default values, and writing basic inline anonymous functions.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49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Exercise 5: Format Full Names</a:t>
            </a:r>
            <a:endParaRPr/>
          </a:p>
        </p:txBody>
      </p:sp>
      <p:sp>
        <p:nvSpPr>
          <p:cNvPr id="409" name="Google Shape;409;p49"/>
          <p:cNvSpPr txBox="1"/>
          <p:nvPr>
            <p:ph idx="2" type="body"/>
          </p:nvPr>
        </p:nvSpPr>
        <p:spPr>
          <a:xfrm>
            <a:off x="3497580" y="651510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Clr>
                <a:srgbClr val="6B7085"/>
              </a:buClr>
              <a:buSzPts val="800"/>
              <a:buNone/>
            </a:pPr>
            <a:r>
              <a:rPr lang="en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full_name.py</a:t>
            </a:r>
            <a:endParaRPr/>
          </a:p>
        </p:txBody>
      </p:sp>
      <p:sp>
        <p:nvSpPr>
          <p:cNvPr id="410" name="Google Shape;410;p49"/>
          <p:cNvSpPr/>
          <p:nvPr/>
        </p:nvSpPr>
        <p:spPr>
          <a:xfrm>
            <a:off x="411480" y="651510"/>
            <a:ext cx="4731900" cy="2537700"/>
          </a:xfrm>
          <a:prstGeom prst="roundRect">
            <a:avLst>
              <a:gd fmla="val 6000" name="adj"/>
            </a:avLst>
          </a:prstGeom>
          <a:solidFill>
            <a:srgbClr val="27282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49"/>
          <p:cNvSpPr txBox="1"/>
          <p:nvPr>
            <p:ph idx="3" type="body"/>
          </p:nvPr>
        </p:nvSpPr>
        <p:spPr>
          <a:xfrm>
            <a:off x="582930" y="822960"/>
            <a:ext cx="4389000" cy="21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0" i="0" lang="en" sz="900">
                <a:solidFill>
                  <a:srgbClr val="A6E22E"/>
                </a:solidFill>
                <a:latin typeface="Consolas"/>
                <a:ea typeface="Consolas"/>
                <a:cs typeface="Consolas"/>
                <a:sym typeface="Consolas"/>
              </a:rPr>
              <a:t>format_full_name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(first_name, last_name, middle_name</a:t>
            </a:r>
            <a:r>
              <a:rPr b="0" i="0" lang="en" sz="900">
                <a:solidFill>
                  <a:srgbClr val="FF4689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""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):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959077"/>
                </a:solidFill>
                <a:latin typeface="Consolas"/>
                <a:ea typeface="Consolas"/>
                <a:cs typeface="Consolas"/>
                <a:sym typeface="Consolas"/>
              </a:rPr>
              <a:t># your code here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pass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66D9E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2" name="Google Shape;412;p49"/>
          <p:cNvSpPr txBox="1"/>
          <p:nvPr>
            <p:ph idx="4" type="body"/>
          </p:nvPr>
        </p:nvSpPr>
        <p:spPr>
          <a:xfrm>
            <a:off x="5417820" y="65151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775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ct val="1000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Your task</a:t>
            </a:r>
            <a:endParaRPr/>
          </a:p>
        </p:txBody>
      </p:sp>
      <p:sp>
        <p:nvSpPr>
          <p:cNvPr id="413" name="Google Shape;413;p49"/>
          <p:cNvSpPr txBox="1"/>
          <p:nvPr>
            <p:ph idx="5" type="body"/>
          </p:nvPr>
        </p:nvSpPr>
        <p:spPr>
          <a:xfrm>
            <a:off x="5417820" y="99441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Goal: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handle multiple positional arguments and a default value cleanly.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Return a clean full-name string from `first_name`, `last_name`, and an optional `middle_name`.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Test it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with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without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 middle name.</a:t>
            </a:r>
            <a:endParaRPr/>
          </a:p>
        </p:txBody>
      </p:sp>
      <p:sp>
        <p:nvSpPr>
          <p:cNvPr id="414" name="Google Shape;414;p49"/>
          <p:cNvSpPr txBox="1"/>
          <p:nvPr>
            <p:ph idx="6" type="body"/>
          </p:nvPr>
        </p:nvSpPr>
        <p:spPr>
          <a:xfrm>
            <a:off x="5417820" y="2811780"/>
            <a:ext cx="3291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ct val="100000"/>
              <a:buNone/>
            </a:pPr>
            <a:r>
              <a:rPr b="1"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/>
          </a:p>
        </p:txBody>
      </p:sp>
      <p:sp>
        <p:nvSpPr>
          <p:cNvPr id="415" name="Google Shape;415;p49"/>
          <p:cNvSpPr txBox="1"/>
          <p:nvPr>
            <p:ph idx="7" type="body"/>
          </p:nvPr>
        </p:nvSpPr>
        <p:spPr>
          <a:xfrm>
            <a:off x="5417820" y="3051810"/>
            <a:ext cx="32919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format_full_name("Ana","Lee")  →  return: "Ana Lee"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format_full_name("Ana","Lee","J")  →  return: "Ana J Lee"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50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Exercise 6: Def to Lambda</a:t>
            </a:r>
            <a:endParaRPr/>
          </a:p>
        </p:txBody>
      </p:sp>
      <p:sp>
        <p:nvSpPr>
          <p:cNvPr id="422" name="Google Shape;422;p50"/>
          <p:cNvSpPr txBox="1"/>
          <p:nvPr>
            <p:ph idx="2" type="body"/>
          </p:nvPr>
        </p:nvSpPr>
        <p:spPr>
          <a:xfrm>
            <a:off x="3497580" y="651510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Clr>
                <a:srgbClr val="6B7085"/>
              </a:buClr>
              <a:buSzPts val="800"/>
              <a:buNone/>
            </a:pPr>
            <a:r>
              <a:rPr lang="en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square.py</a:t>
            </a:r>
            <a:endParaRPr/>
          </a:p>
        </p:txBody>
      </p:sp>
      <p:sp>
        <p:nvSpPr>
          <p:cNvPr id="423" name="Google Shape;423;p50"/>
          <p:cNvSpPr/>
          <p:nvPr/>
        </p:nvSpPr>
        <p:spPr>
          <a:xfrm>
            <a:off x="411480" y="651510"/>
            <a:ext cx="4731900" cy="2537700"/>
          </a:xfrm>
          <a:prstGeom prst="roundRect">
            <a:avLst>
              <a:gd fmla="val 6000" name="adj"/>
            </a:avLst>
          </a:prstGeom>
          <a:solidFill>
            <a:srgbClr val="27282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50"/>
          <p:cNvSpPr txBox="1"/>
          <p:nvPr>
            <p:ph idx="3" type="body"/>
          </p:nvPr>
        </p:nvSpPr>
        <p:spPr>
          <a:xfrm>
            <a:off x="582930" y="822960"/>
            <a:ext cx="4389000" cy="21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0" i="0" lang="en" sz="900">
                <a:solidFill>
                  <a:srgbClr val="A6E22E"/>
                </a:solidFill>
                <a:latin typeface="Consolas"/>
                <a:ea typeface="Consolas"/>
                <a:cs typeface="Consolas"/>
                <a:sym typeface="Consolas"/>
              </a:rPr>
              <a:t>square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(x):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x </a:t>
            </a:r>
            <a:r>
              <a:rPr b="0" i="0" lang="en" sz="900">
                <a:solidFill>
                  <a:srgbClr val="FF4689"/>
                </a:solidFill>
                <a:latin typeface="Consolas"/>
                <a:ea typeface="Consolas"/>
                <a:cs typeface="Consolas"/>
                <a:sym typeface="Consolas"/>
              </a:rPr>
              <a:t>**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AE81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5" name="Google Shape;425;p50"/>
          <p:cNvSpPr txBox="1"/>
          <p:nvPr>
            <p:ph idx="4" type="body"/>
          </p:nvPr>
        </p:nvSpPr>
        <p:spPr>
          <a:xfrm>
            <a:off x="5417820" y="65151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775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ct val="1000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Your task</a:t>
            </a:r>
            <a:endParaRPr/>
          </a:p>
        </p:txBody>
      </p:sp>
      <p:sp>
        <p:nvSpPr>
          <p:cNvPr id="426" name="Google Shape;426;p50"/>
          <p:cNvSpPr txBox="1"/>
          <p:nvPr>
            <p:ph idx="5" type="body"/>
          </p:nvPr>
        </p:nvSpPr>
        <p:spPr>
          <a:xfrm>
            <a:off x="5417820" y="99441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Goal: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convert a standard `def` function into a concise `lambda`.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Rewrite `square(x)` above as a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single-line lambda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assigned to a variable named `square`.</a:t>
            </a:r>
            <a:endParaRPr/>
          </a:p>
        </p:txBody>
      </p:sp>
      <p:sp>
        <p:nvSpPr>
          <p:cNvPr id="427" name="Google Shape;427;p50"/>
          <p:cNvSpPr txBox="1"/>
          <p:nvPr>
            <p:ph idx="6" type="body"/>
          </p:nvPr>
        </p:nvSpPr>
        <p:spPr>
          <a:xfrm>
            <a:off x="5417820" y="2811780"/>
            <a:ext cx="3291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ct val="100000"/>
              <a:buNone/>
            </a:pPr>
            <a:r>
              <a:rPr b="1"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/>
          </a:p>
        </p:txBody>
      </p:sp>
      <p:sp>
        <p:nvSpPr>
          <p:cNvPr id="428" name="Google Shape;428;p50"/>
          <p:cNvSpPr txBox="1"/>
          <p:nvPr>
            <p:ph idx="7" type="body"/>
          </p:nvPr>
        </p:nvSpPr>
        <p:spPr>
          <a:xfrm>
            <a:off x="5417820" y="3051810"/>
            <a:ext cx="32919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square(5)  →  return: 25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square(9)  →  return: 81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51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Exercise 7: Filter Even Numbers</a:t>
            </a:r>
            <a:endParaRPr/>
          </a:p>
        </p:txBody>
      </p:sp>
      <p:sp>
        <p:nvSpPr>
          <p:cNvPr id="435" name="Google Shape;435;p51"/>
          <p:cNvSpPr txBox="1"/>
          <p:nvPr>
            <p:ph idx="2" type="body"/>
          </p:nvPr>
        </p:nvSpPr>
        <p:spPr>
          <a:xfrm>
            <a:off x="3497580" y="651510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Clr>
                <a:srgbClr val="6B7085"/>
              </a:buClr>
              <a:buSzPts val="800"/>
              <a:buNone/>
            </a:pPr>
            <a:r>
              <a:rPr lang="en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evens.py</a:t>
            </a:r>
            <a:endParaRPr/>
          </a:p>
        </p:txBody>
      </p:sp>
      <p:sp>
        <p:nvSpPr>
          <p:cNvPr id="436" name="Google Shape;436;p51"/>
          <p:cNvSpPr/>
          <p:nvPr/>
        </p:nvSpPr>
        <p:spPr>
          <a:xfrm>
            <a:off x="411480" y="651510"/>
            <a:ext cx="4731900" cy="2537700"/>
          </a:xfrm>
          <a:prstGeom prst="roundRect">
            <a:avLst>
              <a:gd fmla="val 6000" name="adj"/>
            </a:avLst>
          </a:prstGeom>
          <a:solidFill>
            <a:srgbClr val="27282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51"/>
          <p:cNvSpPr txBox="1"/>
          <p:nvPr>
            <p:ph idx="3" type="body"/>
          </p:nvPr>
        </p:nvSpPr>
        <p:spPr>
          <a:xfrm>
            <a:off x="582930" y="822960"/>
            <a:ext cx="4389000" cy="21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numbers </a:t>
            </a:r>
            <a:r>
              <a:rPr b="0" i="0" lang="en" sz="900">
                <a:solidFill>
                  <a:srgbClr val="FF4689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[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9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959077"/>
              </a:buClr>
              <a:buSzPts val="900"/>
              <a:buNone/>
            </a:pPr>
            <a:r>
              <a:rPr b="0" i="0" lang="en" sz="900">
                <a:solidFill>
                  <a:srgbClr val="959077"/>
                </a:solidFill>
                <a:latin typeface="Consolas"/>
                <a:ea typeface="Consolas"/>
                <a:cs typeface="Consolas"/>
                <a:sym typeface="Consolas"/>
              </a:rPr>
              <a:t># your code here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959077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8" name="Google Shape;438;p51"/>
          <p:cNvSpPr txBox="1"/>
          <p:nvPr>
            <p:ph idx="4" type="body"/>
          </p:nvPr>
        </p:nvSpPr>
        <p:spPr>
          <a:xfrm>
            <a:off x="5417820" y="65151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775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ct val="1000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Your task</a:t>
            </a:r>
            <a:endParaRPr/>
          </a:p>
        </p:txBody>
      </p:sp>
      <p:sp>
        <p:nvSpPr>
          <p:cNvPr id="439" name="Google Shape;439;p51"/>
          <p:cNvSpPr txBox="1"/>
          <p:nvPr>
            <p:ph idx="5" type="body"/>
          </p:nvPr>
        </p:nvSpPr>
        <p:spPr>
          <a:xfrm>
            <a:off x="5417820" y="99441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Goal: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use lambdas for quick, inline evaluation.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Given the list above, use a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lambda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inside `filter()` (or a list comprehension) to keep only the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even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numbers.</a:t>
            </a:r>
            <a:endParaRPr/>
          </a:p>
        </p:txBody>
      </p:sp>
      <p:sp>
        <p:nvSpPr>
          <p:cNvPr id="440" name="Google Shape;440;p51"/>
          <p:cNvSpPr txBox="1"/>
          <p:nvPr>
            <p:ph idx="6" type="body"/>
          </p:nvPr>
        </p:nvSpPr>
        <p:spPr>
          <a:xfrm>
            <a:off x="5417820" y="2811780"/>
            <a:ext cx="3291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ct val="100000"/>
              <a:buNone/>
            </a:pPr>
            <a:r>
              <a:rPr b="1"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/>
          </a:p>
        </p:txBody>
      </p:sp>
      <p:sp>
        <p:nvSpPr>
          <p:cNvPr id="441" name="Google Shape;441;p51"/>
          <p:cNvSpPr txBox="1"/>
          <p:nvPr>
            <p:ph idx="7" type="body"/>
          </p:nvPr>
        </p:nvSpPr>
        <p:spPr>
          <a:xfrm>
            <a:off x="5417820" y="3051810"/>
            <a:ext cx="32919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numbers = [1..10]  →  return: [2, 4, 6, 8, 10]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52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Exercise 8: Discount Calculator</a:t>
            </a:r>
            <a:endParaRPr/>
          </a:p>
        </p:txBody>
      </p:sp>
      <p:sp>
        <p:nvSpPr>
          <p:cNvPr id="448" name="Google Shape;448;p52"/>
          <p:cNvSpPr txBox="1"/>
          <p:nvPr>
            <p:ph idx="2" type="body"/>
          </p:nvPr>
        </p:nvSpPr>
        <p:spPr>
          <a:xfrm>
            <a:off x="3497580" y="651510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Clr>
                <a:srgbClr val="6B7085"/>
              </a:buClr>
              <a:buSzPts val="800"/>
              <a:buNone/>
            </a:pPr>
            <a:r>
              <a:rPr lang="en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discount.py</a:t>
            </a:r>
            <a:endParaRPr/>
          </a:p>
        </p:txBody>
      </p:sp>
      <p:sp>
        <p:nvSpPr>
          <p:cNvPr id="449" name="Google Shape;449;p52"/>
          <p:cNvSpPr/>
          <p:nvPr/>
        </p:nvSpPr>
        <p:spPr>
          <a:xfrm>
            <a:off x="411480" y="651510"/>
            <a:ext cx="4731900" cy="2537700"/>
          </a:xfrm>
          <a:prstGeom prst="roundRect">
            <a:avLst>
              <a:gd fmla="val 6000" name="adj"/>
            </a:avLst>
          </a:prstGeom>
          <a:solidFill>
            <a:srgbClr val="27282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52"/>
          <p:cNvSpPr txBox="1"/>
          <p:nvPr>
            <p:ph idx="3" type="body"/>
          </p:nvPr>
        </p:nvSpPr>
        <p:spPr>
          <a:xfrm>
            <a:off x="582930" y="822960"/>
            <a:ext cx="4389000" cy="21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0" i="0" lang="en" sz="900">
                <a:solidFill>
                  <a:srgbClr val="A6E22E"/>
                </a:solidFill>
                <a:latin typeface="Consolas"/>
                <a:ea typeface="Consolas"/>
                <a:cs typeface="Consolas"/>
                <a:sym typeface="Consolas"/>
              </a:rPr>
              <a:t>apply_discount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(price, discount_percent</a:t>
            </a:r>
            <a:r>
              <a:rPr b="0" i="0" lang="en" sz="900">
                <a:solidFill>
                  <a:srgbClr val="FF4689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):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959077"/>
                </a:solidFill>
                <a:latin typeface="Consolas"/>
                <a:ea typeface="Consolas"/>
                <a:cs typeface="Consolas"/>
                <a:sym typeface="Consolas"/>
              </a:rPr>
              <a:t># your code here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pass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66D9E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" name="Google Shape;451;p52"/>
          <p:cNvSpPr txBox="1"/>
          <p:nvPr>
            <p:ph idx="4" type="body"/>
          </p:nvPr>
        </p:nvSpPr>
        <p:spPr>
          <a:xfrm>
            <a:off x="5417820" y="65151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775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ct val="1000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Your task</a:t>
            </a:r>
            <a:endParaRPr/>
          </a:p>
        </p:txBody>
      </p:sp>
      <p:sp>
        <p:nvSpPr>
          <p:cNvPr id="452" name="Google Shape;452;p52"/>
          <p:cNvSpPr txBox="1"/>
          <p:nvPr>
            <p:ph idx="5" type="body"/>
          </p:nvPr>
        </p:nvSpPr>
        <p:spPr>
          <a:xfrm>
            <a:off x="5417820" y="99441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Goal: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master optional parameters and default return behavior.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Return the discounted price from `price` and `discount_percent` (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default 10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Call it with just `price`, then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override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discount with `20`.</a:t>
            </a:r>
            <a:endParaRPr/>
          </a:p>
        </p:txBody>
      </p:sp>
      <p:sp>
        <p:nvSpPr>
          <p:cNvPr id="453" name="Google Shape;453;p52"/>
          <p:cNvSpPr txBox="1"/>
          <p:nvPr>
            <p:ph idx="6" type="body"/>
          </p:nvPr>
        </p:nvSpPr>
        <p:spPr>
          <a:xfrm>
            <a:off x="5417820" y="2811780"/>
            <a:ext cx="3291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ct val="100000"/>
              <a:buNone/>
            </a:pPr>
            <a:r>
              <a:rPr b="1"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/>
          </a:p>
        </p:txBody>
      </p:sp>
      <p:sp>
        <p:nvSpPr>
          <p:cNvPr id="454" name="Google Shape;454;p52"/>
          <p:cNvSpPr txBox="1"/>
          <p:nvPr>
            <p:ph idx="7" type="body"/>
          </p:nvPr>
        </p:nvSpPr>
        <p:spPr>
          <a:xfrm>
            <a:off x="5417820" y="3051810"/>
            <a:ext cx="32919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apply_discount(100)  →  return: 90.0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apply_discount(100, 20)  →  return: 80.0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53"/>
          <p:cNvSpPr txBox="1"/>
          <p:nvPr>
            <p:ph type="title"/>
          </p:nvPr>
        </p:nvSpPr>
        <p:spPr>
          <a:xfrm>
            <a:off x="617220" y="1988820"/>
            <a:ext cx="7543800" cy="8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</a:pPr>
            <a:r>
              <a:rPr b="1" lang="en" sz="3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Level 3: Advanced</a:t>
            </a:r>
            <a:endParaRPr sz="3000"/>
          </a:p>
        </p:txBody>
      </p:sp>
      <p:sp>
        <p:nvSpPr>
          <p:cNvPr id="460" name="Google Shape;460;p53"/>
          <p:cNvSpPr txBox="1"/>
          <p:nvPr>
            <p:ph idx="1" type="body"/>
          </p:nvPr>
        </p:nvSpPr>
        <p:spPr>
          <a:xfrm>
            <a:off x="617220" y="2846070"/>
            <a:ext cx="6858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EC5F82"/>
              </a:buClr>
              <a:buSzPts val="1050"/>
              <a:buNone/>
            </a:pPr>
            <a:r>
              <a:rPr b="1" lang="en" sz="1050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SORTING · COMPOSITION · LOGIC ABSTRACTION</a:t>
            </a:r>
            <a:endParaRPr sz="1050"/>
          </a:p>
        </p:txBody>
      </p:sp>
      <p:sp>
        <p:nvSpPr>
          <p:cNvPr id="461" name="Google Shape;461;p53"/>
          <p:cNvSpPr txBox="1"/>
          <p:nvPr>
            <p:ph idx="2" type="body"/>
          </p:nvPr>
        </p:nvSpPr>
        <p:spPr>
          <a:xfrm>
            <a:off x="617220" y="3120390"/>
            <a:ext cx="65151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6DAF2"/>
              </a:buClr>
              <a:buSzPts val="1125"/>
              <a:buNone/>
            </a:pPr>
            <a:r>
              <a:rPr lang="en" sz="1125">
                <a:solidFill>
                  <a:srgbClr val="D6DAF2"/>
                </a:solidFill>
                <a:latin typeface="Roboto"/>
                <a:ea typeface="Roboto"/>
                <a:cs typeface="Roboto"/>
                <a:sym typeface="Roboto"/>
              </a:rPr>
              <a:t>Sorting complex data structures using key functions, chaining functions, and logic abstraction.</a:t>
            </a:r>
            <a:endParaRPr sz="1125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54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Exercise 9: Sort Students by Score</a:t>
            </a:r>
            <a:endParaRPr sz="2100"/>
          </a:p>
        </p:txBody>
      </p:sp>
      <p:sp>
        <p:nvSpPr>
          <p:cNvPr id="468" name="Google Shape;468;p54"/>
          <p:cNvSpPr txBox="1"/>
          <p:nvPr>
            <p:ph idx="2" type="body"/>
          </p:nvPr>
        </p:nvSpPr>
        <p:spPr>
          <a:xfrm>
            <a:off x="3497580" y="651510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20000"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Clr>
                <a:srgbClr val="6B7085"/>
              </a:buClr>
              <a:buSzPts val="825"/>
              <a:buNone/>
            </a:pPr>
            <a:r>
              <a:rPr lang="en" sz="825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students.py</a:t>
            </a:r>
            <a:endParaRPr sz="825"/>
          </a:p>
        </p:txBody>
      </p:sp>
      <p:sp>
        <p:nvSpPr>
          <p:cNvPr id="469" name="Google Shape;469;p54"/>
          <p:cNvSpPr/>
          <p:nvPr/>
        </p:nvSpPr>
        <p:spPr>
          <a:xfrm>
            <a:off x="411480" y="651510"/>
            <a:ext cx="4731900" cy="2537400"/>
          </a:xfrm>
          <a:prstGeom prst="roundRect">
            <a:avLst>
              <a:gd fmla="val 6000" name="adj"/>
            </a:avLst>
          </a:prstGeom>
          <a:solidFill>
            <a:srgbClr val="27282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54"/>
          <p:cNvSpPr txBox="1"/>
          <p:nvPr>
            <p:ph idx="3" type="body"/>
          </p:nvPr>
        </p:nvSpPr>
        <p:spPr>
          <a:xfrm>
            <a:off x="582930" y="822960"/>
            <a:ext cx="4389000" cy="21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students </a:t>
            </a:r>
            <a:r>
              <a:rPr b="0" i="0" lang="en" sz="900">
                <a:solidFill>
                  <a:srgbClr val="FF4689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[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"name"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"Alice"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"score"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88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},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"name"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"Bob"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"score"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95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},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"name"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"Charlie"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"score"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78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959077"/>
              </a:buClr>
              <a:buSzPts val="900"/>
              <a:buNone/>
            </a:pPr>
            <a:r>
              <a:rPr b="0" i="0" lang="en" sz="900">
                <a:solidFill>
                  <a:srgbClr val="959077"/>
                </a:solidFill>
                <a:latin typeface="Consolas"/>
                <a:ea typeface="Consolas"/>
                <a:cs typeface="Consolas"/>
                <a:sym typeface="Consolas"/>
              </a:rPr>
              <a:t># your code here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959077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1" name="Google Shape;471;p54"/>
          <p:cNvSpPr txBox="1"/>
          <p:nvPr>
            <p:ph idx="4" type="body"/>
          </p:nvPr>
        </p:nvSpPr>
        <p:spPr>
          <a:xfrm>
            <a:off x="5417820" y="65151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ct val="100000"/>
              <a:buNone/>
            </a:pPr>
            <a:r>
              <a:rPr b="1" lang="en" sz="135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Your task</a:t>
            </a:r>
            <a:endParaRPr sz="1350"/>
          </a:p>
        </p:txBody>
      </p:sp>
      <p:sp>
        <p:nvSpPr>
          <p:cNvPr id="472" name="Google Shape;472;p54"/>
          <p:cNvSpPr txBox="1"/>
          <p:nvPr>
            <p:ph idx="5" type="body"/>
          </p:nvPr>
        </p:nvSpPr>
        <p:spPr>
          <a:xfrm>
            <a:off x="5417820" y="99441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0876" lvl="0" marL="20574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19"/>
              <a:buChar char="●"/>
            </a:pP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Goal: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use lambdas as key functions for sorting complex data.</a:t>
            </a:r>
            <a:endParaRPr sz="1050"/>
          </a:p>
          <a:p>
            <a:pPr indent="-150876" lvl="0" marL="205740" rtl="0" algn="l">
              <a:spcBef>
                <a:spcPts val="810"/>
              </a:spcBef>
              <a:spcAft>
                <a:spcPts val="0"/>
              </a:spcAft>
              <a:buClr>
                <a:srgbClr val="222540"/>
              </a:buClr>
              <a:buSzPts val="819"/>
              <a:buChar char="●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Sort `students` in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descending order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by `"score"` using `sorted()` and a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lambda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key.</a:t>
            </a:r>
            <a:endParaRPr sz="1050"/>
          </a:p>
        </p:txBody>
      </p:sp>
      <p:sp>
        <p:nvSpPr>
          <p:cNvPr id="473" name="Google Shape;473;p54"/>
          <p:cNvSpPr txBox="1"/>
          <p:nvPr>
            <p:ph idx="6" type="body"/>
          </p:nvPr>
        </p:nvSpPr>
        <p:spPr>
          <a:xfrm>
            <a:off x="5417820" y="2811780"/>
            <a:ext cx="3291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ct val="100000"/>
              <a:buNone/>
            </a:pPr>
            <a:r>
              <a:rPr b="1" lang="en" sz="975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975"/>
          </a:p>
        </p:txBody>
      </p:sp>
      <p:sp>
        <p:nvSpPr>
          <p:cNvPr id="474" name="Google Shape;474;p54"/>
          <p:cNvSpPr txBox="1"/>
          <p:nvPr>
            <p:ph idx="7" type="body"/>
          </p:nvPr>
        </p:nvSpPr>
        <p:spPr>
          <a:xfrm>
            <a:off x="5417820" y="3051810"/>
            <a:ext cx="32919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sorted by score, descending  →  return: [Bob 95, Alice 88, Charlie 78]</a:t>
            </a:r>
            <a:endParaRPr sz="9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55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Exercise 10: Multi-Key Sort</a:t>
            </a:r>
            <a:endParaRPr sz="2100"/>
          </a:p>
        </p:txBody>
      </p:sp>
      <p:sp>
        <p:nvSpPr>
          <p:cNvPr id="481" name="Google Shape;481;p55"/>
          <p:cNvSpPr txBox="1"/>
          <p:nvPr>
            <p:ph idx="2" type="body"/>
          </p:nvPr>
        </p:nvSpPr>
        <p:spPr>
          <a:xfrm>
            <a:off x="3497580" y="651510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20000"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Clr>
                <a:srgbClr val="6B7085"/>
              </a:buClr>
              <a:buSzPts val="825"/>
              <a:buNone/>
            </a:pPr>
            <a:r>
              <a:rPr lang="en" sz="825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sort_multi.py</a:t>
            </a:r>
            <a:endParaRPr sz="825"/>
          </a:p>
        </p:txBody>
      </p:sp>
      <p:sp>
        <p:nvSpPr>
          <p:cNvPr id="482" name="Google Shape;482;p55"/>
          <p:cNvSpPr/>
          <p:nvPr/>
        </p:nvSpPr>
        <p:spPr>
          <a:xfrm>
            <a:off x="411480" y="651510"/>
            <a:ext cx="4731900" cy="2537400"/>
          </a:xfrm>
          <a:prstGeom prst="roundRect">
            <a:avLst>
              <a:gd fmla="val 6000" name="adj"/>
            </a:avLst>
          </a:prstGeom>
          <a:solidFill>
            <a:srgbClr val="27282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55"/>
          <p:cNvSpPr txBox="1"/>
          <p:nvPr>
            <p:ph idx="3" type="body"/>
          </p:nvPr>
        </p:nvSpPr>
        <p:spPr>
          <a:xfrm>
            <a:off x="582930" y="822960"/>
            <a:ext cx="4389000" cy="21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data </a:t>
            </a:r>
            <a:r>
              <a:rPr b="0" i="0" lang="en" sz="900">
                <a:solidFill>
                  <a:srgbClr val="FF4689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[(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"Alice"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25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90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), (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"Bob"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20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95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), (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"Charlie"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25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85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)]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959077"/>
              </a:buClr>
              <a:buSzPts val="900"/>
              <a:buNone/>
            </a:pPr>
            <a:r>
              <a:rPr b="0" i="0" lang="en" sz="900">
                <a:solidFill>
                  <a:srgbClr val="959077"/>
                </a:solidFill>
                <a:latin typeface="Consolas"/>
                <a:ea typeface="Consolas"/>
                <a:cs typeface="Consolas"/>
                <a:sym typeface="Consolas"/>
              </a:rPr>
              <a:t># your code here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959077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4" name="Google Shape;484;p55"/>
          <p:cNvSpPr txBox="1"/>
          <p:nvPr>
            <p:ph idx="4" type="body"/>
          </p:nvPr>
        </p:nvSpPr>
        <p:spPr>
          <a:xfrm>
            <a:off x="5417820" y="65151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ct val="100000"/>
              <a:buNone/>
            </a:pPr>
            <a:r>
              <a:rPr b="1" lang="en" sz="135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Your task</a:t>
            </a:r>
            <a:endParaRPr sz="1350"/>
          </a:p>
        </p:txBody>
      </p:sp>
      <p:sp>
        <p:nvSpPr>
          <p:cNvPr id="485" name="Google Shape;485;p55"/>
          <p:cNvSpPr txBox="1"/>
          <p:nvPr>
            <p:ph idx="5" type="body"/>
          </p:nvPr>
        </p:nvSpPr>
        <p:spPr>
          <a:xfrm>
            <a:off x="5417820" y="99441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0876" lvl="0" marL="20574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19"/>
              <a:buChar char="●"/>
            </a:pP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Goal: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sort by multiple attributes using a tuple key in `lambda`.</a:t>
            </a:r>
            <a:endParaRPr sz="1050"/>
          </a:p>
          <a:p>
            <a:pPr indent="-150876" lvl="0" marL="205740" rtl="0" algn="l">
              <a:spcBef>
                <a:spcPts val="810"/>
              </a:spcBef>
              <a:spcAft>
                <a:spcPts val="0"/>
              </a:spcAft>
              <a:buClr>
                <a:srgbClr val="222540"/>
              </a:buClr>
              <a:buSzPts val="819"/>
              <a:buChar char="●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Sort `data` primarily by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age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(ascending) and secondarily by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score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(descending) — using a single `lambda`.</a:t>
            </a:r>
            <a:endParaRPr sz="1050"/>
          </a:p>
        </p:txBody>
      </p:sp>
      <p:sp>
        <p:nvSpPr>
          <p:cNvPr id="486" name="Google Shape;486;p55"/>
          <p:cNvSpPr txBox="1"/>
          <p:nvPr>
            <p:ph idx="6" type="body"/>
          </p:nvPr>
        </p:nvSpPr>
        <p:spPr>
          <a:xfrm>
            <a:off x="5417820" y="2811780"/>
            <a:ext cx="3291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ct val="100000"/>
              <a:buNone/>
            </a:pPr>
            <a:r>
              <a:rPr b="1" lang="en" sz="975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975"/>
          </a:p>
        </p:txBody>
      </p:sp>
      <p:sp>
        <p:nvSpPr>
          <p:cNvPr id="487" name="Google Shape;487;p55"/>
          <p:cNvSpPr txBox="1"/>
          <p:nvPr>
            <p:ph idx="7" type="body"/>
          </p:nvPr>
        </p:nvSpPr>
        <p:spPr>
          <a:xfrm>
            <a:off x="5417820" y="3051810"/>
            <a:ext cx="32919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sorted by age asc, score desc  →  return: [Bob, Alice, Charlie]</a:t>
            </a:r>
            <a:endParaRPr sz="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56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Exercise 11: Function Pipeline</a:t>
            </a:r>
            <a:endParaRPr sz="2100"/>
          </a:p>
        </p:txBody>
      </p:sp>
      <p:sp>
        <p:nvSpPr>
          <p:cNvPr id="494" name="Google Shape;494;p56"/>
          <p:cNvSpPr txBox="1"/>
          <p:nvPr>
            <p:ph idx="2" type="body"/>
          </p:nvPr>
        </p:nvSpPr>
        <p:spPr>
          <a:xfrm>
            <a:off x="3497580" y="651510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20000"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Clr>
                <a:srgbClr val="6B7085"/>
              </a:buClr>
              <a:buSzPts val="825"/>
              <a:buNone/>
            </a:pPr>
            <a:r>
              <a:rPr lang="en" sz="825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pipeline.py</a:t>
            </a:r>
            <a:endParaRPr sz="825"/>
          </a:p>
        </p:txBody>
      </p:sp>
      <p:sp>
        <p:nvSpPr>
          <p:cNvPr id="495" name="Google Shape;495;p56"/>
          <p:cNvSpPr/>
          <p:nvPr/>
        </p:nvSpPr>
        <p:spPr>
          <a:xfrm>
            <a:off x="411480" y="651510"/>
            <a:ext cx="4731900" cy="2537400"/>
          </a:xfrm>
          <a:prstGeom prst="roundRect">
            <a:avLst>
              <a:gd fmla="val 6000" name="adj"/>
            </a:avLst>
          </a:prstGeom>
          <a:solidFill>
            <a:srgbClr val="27282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56"/>
          <p:cNvSpPr txBox="1"/>
          <p:nvPr>
            <p:ph idx="3" type="body"/>
          </p:nvPr>
        </p:nvSpPr>
        <p:spPr>
          <a:xfrm>
            <a:off x="582930" y="822960"/>
            <a:ext cx="4389000" cy="21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0" i="0" lang="en" sz="900">
                <a:solidFill>
                  <a:srgbClr val="A6E22E"/>
                </a:solidFill>
                <a:latin typeface="Consolas"/>
                <a:ea typeface="Consolas"/>
                <a:cs typeface="Consolas"/>
                <a:sym typeface="Consolas"/>
              </a:rPr>
              <a:t>clean_text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(text):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959077"/>
                </a:solidFill>
                <a:latin typeface="Consolas"/>
                <a:ea typeface="Consolas"/>
                <a:cs typeface="Consolas"/>
                <a:sym typeface="Consolas"/>
              </a:rPr>
              <a:t># your code here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pass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66D9E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0" i="0" lang="en" sz="900">
                <a:solidFill>
                  <a:srgbClr val="A6E22E"/>
                </a:solidFill>
                <a:latin typeface="Consolas"/>
                <a:ea typeface="Consolas"/>
                <a:cs typeface="Consolas"/>
                <a:sym typeface="Consolas"/>
              </a:rPr>
              <a:t>count_words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(text):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959077"/>
                </a:solidFill>
                <a:latin typeface="Consolas"/>
                <a:ea typeface="Consolas"/>
                <a:cs typeface="Consolas"/>
                <a:sym typeface="Consolas"/>
              </a:rPr>
              <a:t># your code here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pass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66D9E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0" i="0" lang="en" sz="900">
                <a:solidFill>
                  <a:srgbClr val="A6E22E"/>
                </a:solidFill>
                <a:latin typeface="Consolas"/>
                <a:ea typeface="Consolas"/>
                <a:cs typeface="Consolas"/>
                <a:sym typeface="Consolas"/>
              </a:rPr>
              <a:t>process_document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(raw_text):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959077"/>
                </a:solidFill>
                <a:latin typeface="Consolas"/>
                <a:ea typeface="Consolas"/>
                <a:cs typeface="Consolas"/>
                <a:sym typeface="Consolas"/>
              </a:rPr>
              <a:t># your code here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pass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66D9E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" name="Google Shape;497;p56"/>
          <p:cNvSpPr txBox="1"/>
          <p:nvPr>
            <p:ph idx="4" type="body"/>
          </p:nvPr>
        </p:nvSpPr>
        <p:spPr>
          <a:xfrm>
            <a:off x="5417820" y="65151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ct val="100000"/>
              <a:buNone/>
            </a:pPr>
            <a:r>
              <a:rPr b="1" lang="en" sz="135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Your task</a:t>
            </a:r>
            <a:endParaRPr sz="1350"/>
          </a:p>
        </p:txBody>
      </p:sp>
      <p:sp>
        <p:nvSpPr>
          <p:cNvPr id="498" name="Google Shape;498;p56"/>
          <p:cNvSpPr txBox="1"/>
          <p:nvPr>
            <p:ph idx="5" type="body"/>
          </p:nvPr>
        </p:nvSpPr>
        <p:spPr>
          <a:xfrm>
            <a:off x="5417820" y="99441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0876" lvl="0" marL="20574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19"/>
              <a:buChar char="●"/>
            </a:pP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Goal: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combine functions where one's return value feeds the next.</a:t>
            </a:r>
            <a:endParaRPr sz="1050"/>
          </a:p>
          <a:p>
            <a:pPr indent="-150876" lvl="0" marL="205740" rtl="0" algn="l">
              <a:spcBef>
                <a:spcPts val="810"/>
              </a:spcBef>
              <a:spcAft>
                <a:spcPts val="0"/>
              </a:spcAft>
              <a:buClr>
                <a:srgbClr val="222540"/>
              </a:buClr>
              <a:buSzPts val="819"/>
              <a:buChar char="●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`clean_text(text)` → strips whitespace, lowercases.</a:t>
            </a:r>
            <a:endParaRPr sz="1050"/>
          </a:p>
          <a:p>
            <a:pPr indent="-150876" lvl="0" marL="205740" rtl="0" algn="l">
              <a:spcBef>
                <a:spcPts val="810"/>
              </a:spcBef>
              <a:spcAft>
                <a:spcPts val="0"/>
              </a:spcAft>
              <a:buClr>
                <a:srgbClr val="222540"/>
              </a:buClr>
              <a:buSzPts val="819"/>
              <a:buChar char="●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`count_words(text)` → returns word count.</a:t>
            </a:r>
            <a:endParaRPr sz="1050"/>
          </a:p>
          <a:p>
            <a:pPr indent="-150876" lvl="0" marL="205740" rtl="0" algn="l">
              <a:spcBef>
                <a:spcPts val="810"/>
              </a:spcBef>
              <a:spcAft>
                <a:spcPts val="0"/>
              </a:spcAft>
              <a:buClr>
                <a:srgbClr val="222540"/>
              </a:buClr>
              <a:buSzPts val="819"/>
              <a:buChar char="●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`process_document(raw_text)` → calls `clean_text`, then `count_words`.</a:t>
            </a:r>
            <a:endParaRPr sz="1050"/>
          </a:p>
        </p:txBody>
      </p:sp>
      <p:sp>
        <p:nvSpPr>
          <p:cNvPr id="499" name="Google Shape;499;p56"/>
          <p:cNvSpPr txBox="1"/>
          <p:nvPr>
            <p:ph idx="6" type="body"/>
          </p:nvPr>
        </p:nvSpPr>
        <p:spPr>
          <a:xfrm>
            <a:off x="5417820" y="2811780"/>
            <a:ext cx="3291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ct val="100000"/>
              <a:buNone/>
            </a:pPr>
            <a:r>
              <a:rPr b="1" lang="en" sz="975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975"/>
          </a:p>
        </p:txBody>
      </p:sp>
      <p:sp>
        <p:nvSpPr>
          <p:cNvPr id="500" name="Google Shape;500;p56"/>
          <p:cNvSpPr txBox="1"/>
          <p:nvPr>
            <p:ph idx="7" type="body"/>
          </p:nvPr>
        </p:nvSpPr>
        <p:spPr>
          <a:xfrm>
            <a:off x="5417820" y="3051810"/>
            <a:ext cx="32919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process_document("  Hello WORLD  ")  →  return: 2</a:t>
            </a:r>
            <a:endParaRPr sz="9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57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Learning resource</a:t>
            </a:r>
            <a:endParaRPr/>
          </a:p>
        </p:txBody>
      </p:sp>
      <p:sp>
        <p:nvSpPr>
          <p:cNvPr id="506" name="Google Shape;506;p57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https://code.tutsplus.com/introduction-to-python--CRS-200307c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4"/>
              </a:rPr>
              <a:t>https://code.tutsplus.com/data-handling-with-python--CRS-200572c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5"/>
              </a:rPr>
              <a:t>https://gto76.github.io/python-cheatsheet/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