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y="5143500" cx="9144000"/>
  <p:notesSz cx="6858000" cy="9144000"/>
  <p:embeddedFontLst>
    <p:embeddedFont>
      <p:font typeface="Roboto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font" Target="fonts/Roboto-bold.fntdata"/><Relationship Id="rId41" Type="http://schemas.openxmlformats.org/officeDocument/2006/relationships/font" Target="fonts/Roboto-regular.fntdata"/><Relationship Id="rId22" Type="http://schemas.openxmlformats.org/officeDocument/2006/relationships/slide" Target="slides/slide17.xml"/><Relationship Id="rId44" Type="http://schemas.openxmlformats.org/officeDocument/2006/relationships/font" Target="fonts/Roboto-boldItalic.fntdata"/><Relationship Id="rId21" Type="http://schemas.openxmlformats.org/officeDocument/2006/relationships/slide" Target="slides/slide16.xml"/><Relationship Id="rId43" Type="http://schemas.openxmlformats.org/officeDocument/2006/relationships/font" Target="fonts/Roboto-italic.fnt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dfd787d6ec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dfd787d6e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edc5c163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7edc5c163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dfd787d6ec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dfd787d6ec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fd787d6ec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dfd787d6e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fd787d6e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dfd787d6e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dfd787d6e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dfd787d6e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dfd787d6e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dfd787d6e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dfd787d6ec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dfd787d6ec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fd787d6ec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dfd787d6ec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f82923ea12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f82923ea12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803d8f74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f803d8f74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dfd787d6ec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dfd787d6ec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dfd787d6e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dfd787d6e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7edc5c16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f7edc5c16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dfd787d6ec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dfd787d6ec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dfd787d6ec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dfd787d6ec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dfd787d6ec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dfd787d6ec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f4d4b161e2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f4d4b161e2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4d91c0644_1_49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g3f4d91c0644_1_49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f4d91c0644_1_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g3f4d91c0644_1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Replace each ___ with the right operator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= 17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 = 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 ___ b)  # want 22      (add)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 ___ b)  # want 12      (subtract)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 ___ b)  # want 85      (multiply)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 ___ b)  # want 3.4     (divide include floating)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 ___ b)  # want 3       (divide whole number only)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 ___ b)  # want 2       (remainder)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print(a ___ b)  # want 1419857 (a power b)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f4d91c0644_1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f4d91c0644_1_24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g3f4d91c0644_1_24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print(17 // 5)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print(17 % 5)</a:t>
            </a:r>
            <a:endParaRPr/>
          </a:p>
        </p:txBody>
      </p:sp>
      <p:sp>
        <p:nvSpPr>
          <p:cNvPr id="311" name="Google Shape;311;g3f4d91c0644_1_24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f4d91c0644_1_25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2" name="Google Shape;322;g3f4d91c0644_1_25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 = "Python"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line = "="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greeting = "Hi " + name + "!"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edge = line * 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print(edge)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print(greeting)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print(edge)</a:t>
            </a:r>
            <a:endParaRPr/>
          </a:p>
        </p:txBody>
      </p:sp>
      <p:sp>
        <p:nvSpPr>
          <p:cNvPr id="323" name="Google Shape;323;g3f4d91c0644_1_251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f4d91c0644_1_124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g3f4d91c0644_1_124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f4d91c0644_1_124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g3f4d91c0644_1_124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raw = "   Ada, Grace, Alan   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step1 = raw.strip()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step2 = step1.upper()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names = step2.split(", 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fixed = raw.replace("Alan", "Linus")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print(names)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print(fixed)</a:t>
            </a:r>
            <a:endParaRPr/>
          </a:p>
        </p:txBody>
      </p:sp>
      <p:sp>
        <p:nvSpPr>
          <p:cNvPr id="345" name="Google Shape;345;g3f4d91c0644_1_124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4d91c0644_1_125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g3f4d91c0644_1_125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 = "  Hello World  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print(text.strip().lower())</a:t>
            </a:r>
            <a:endParaRPr/>
          </a:p>
        </p:txBody>
      </p:sp>
      <p:sp>
        <p:nvSpPr>
          <p:cNvPr id="358" name="Google Shape;358;g3f4d91c0644_1_125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803d8f749_0_32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g3f803d8f749_0_32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f803d8f749_0_83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g3f803d8f749_0_83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 = "Hello, World!"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a)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print(s[:5])      # 'Hello'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b)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print(s[-6:])      # 'World!'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c)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print(s[1:-1])     # 'ello, World'</a:t>
            </a:r>
            <a:endParaRPr/>
          </a:p>
        </p:txBody>
      </p:sp>
      <p:sp>
        <p:nvSpPr>
          <p:cNvPr id="375" name="Google Shape;375;g3f803d8f749_0_83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f803d8f749_0_84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4" name="Google Shape;384;g3f803d8f749_0_84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 = "abcdefghijklmnopqrstuvwxyz"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a)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print(s[::2])      # 'acegikmoqsuwy'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b)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print(s[::-1])     # 'zyxwvuts...a'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c)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print(s[1::3])     # 'behknqtwz'</a:t>
            </a:r>
            <a:endParaRPr/>
          </a:p>
        </p:txBody>
      </p:sp>
      <p:sp>
        <p:nvSpPr>
          <p:cNvPr id="385" name="Google Shape;385;g3f803d8f749_0_84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f803d8f749_0_85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4" name="Google Shape;394;g3f803d8f749_0_856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 = "Python Programming"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a)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print(s[-11:])     # 'Programming'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b)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print(s[:-3])      # 'Python Programm'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c)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print(s[-3:])      # 'ing'</a:t>
            </a:r>
            <a:endParaRPr/>
          </a:p>
        </p:txBody>
      </p:sp>
      <p:sp>
        <p:nvSpPr>
          <p:cNvPr id="395" name="Google Shape;395;g3f803d8f749_0_856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f803d8f749_0_87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g3f803d8f749_0_87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 = "2026-07-12"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a)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year, month, day = date[:4], date[5:7], date[8:]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print(year, month, day)   # 2026 07 12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b)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rearranged = date[8:] + "-" + date[5:7] + "-" + date[:4]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print(rearranged)         # 12-07-2026</a:t>
            </a:r>
            <a:endParaRPr/>
          </a:p>
        </p:txBody>
      </p:sp>
      <p:sp>
        <p:nvSpPr>
          <p:cNvPr id="405" name="Google Shape;405;g3f803d8f749_0_87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f4d91c0644_2_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g3f4d91c0644_2_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f4d91c0644_2_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0" name="Google Shape;420;g3f4d91c0644_2_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score = 72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pass_mark = 50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print(score &gt; pass_mark)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print(score != 100)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print(score == 72)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print(score &gt;= pass_mark)</a:t>
            </a:r>
            <a:endParaRPr/>
          </a:p>
        </p:txBody>
      </p:sp>
      <p:sp>
        <p:nvSpPr>
          <p:cNvPr id="421" name="Google Shape;421;g3f4d91c0644_2_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f4d91c0644_2_1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0" name="Google Shape;430;g3f4d91c0644_2_16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Bug 1 fix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number = 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 = "5"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print(number &gt; int(text))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Bug 2 fix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 = 18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age == 18: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print("adult")</a:t>
            </a:r>
            <a:endParaRPr/>
          </a:p>
        </p:txBody>
      </p:sp>
      <p:sp>
        <p:nvSpPr>
          <p:cNvPr id="431" name="Google Shape;431;g3f4d91c0644_2_16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3f4d91c0644_2_2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3" name="Google Shape;443;g3f4d91c0644_2_2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 = 20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has_ticket = True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is_vip = False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can_enter = (age &gt;= 18) and has_ticket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skip_line = is_vip or (age &gt;= 65)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needs_id  = not is_vip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print(can_enter, skip_line, needs_id)</a:t>
            </a:r>
            <a:endParaRPr/>
          </a:p>
        </p:txBody>
      </p:sp>
      <p:sp>
        <p:nvSpPr>
          <p:cNvPr id="444" name="Google Shape;444;g3f4d91c0644_2_2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oogle Shape;43;p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4" name="Google Shape;44;p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6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" name="Google Shape;49;p6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0" name="Google Shape;50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3" name="Google Shape;53;p7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" name="Google Shape;54;p7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5" name="Google Shape;55;p7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6" name="Google Shape;56;p7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8"/>
          <p:cNvSpPr txBox="1"/>
          <p:nvPr>
            <p:ph type="title"/>
          </p:nvPr>
        </p:nvSpPr>
        <p:spPr>
          <a:xfrm>
            <a:off x="264450" y="308008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61" name="Google Shape;61;p8"/>
          <p:cNvSpPr txBox="1"/>
          <p:nvPr>
            <p:ph idx="1" type="subTitle"/>
          </p:nvPr>
        </p:nvSpPr>
        <p:spPr>
          <a:xfrm>
            <a:off x="265500" y="122167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8"/>
          <p:cNvSpPr txBox="1"/>
          <p:nvPr>
            <p:ph idx="2" type="title"/>
          </p:nvPr>
        </p:nvSpPr>
        <p:spPr>
          <a:xfrm>
            <a:off x="4834350" y="302925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8"/>
          <p:cNvSpPr txBox="1"/>
          <p:nvPr>
            <p:ph idx="3" type="subTitle"/>
          </p:nvPr>
        </p:nvSpPr>
        <p:spPr>
          <a:xfrm>
            <a:off x="4835400" y="123506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9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67" name="Google Shape;67;p9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9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9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9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9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2" name="Google Shape;72;p9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3" name="Google Shape;73;p9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9" name="Google Shape;79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11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85" name="Google Shape;85;p11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9" name="Google Shape;89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" name="Google Shape;94;p12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95" name="Google Shape;95;p12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6" name="Google Shape;96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7" name="Google Shape;97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9225" y="228600"/>
            <a:ext cx="6109998" cy="127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fd70bf31d_14_0)">
  <p:cSld name="Generated (g3dfd70bf31d_14_0)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7_EXERCISE">
  <p:cSld name="S07_EXERCISE"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18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102" name="Google Shape;102;p14"/>
          <p:cNvSpPr txBox="1"/>
          <p:nvPr>
            <p:ph idx="2" type="body"/>
          </p:nvPr>
        </p:nvSpPr>
        <p:spPr>
          <a:xfrm>
            <a:off x="411480" y="1062990"/>
            <a:ext cx="4731900" cy="30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3" name="Google Shape;103;p14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70"/>
              </a:spcBef>
              <a:spcAft>
                <a:spcPts val="0"/>
              </a:spcAft>
              <a:buClr>
                <a:srgbClr val="293480"/>
              </a:buClr>
              <a:buSzPts val="1350"/>
              <a:buFont typeface="Arial"/>
              <a:buNone/>
              <a:defRPr b="1" i="0" sz="135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4" name="Google Shape;104;p14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95275" lvl="0" marL="457200" marR="0" algn="l">
              <a:spcBef>
                <a:spcPts val="21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1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2_QUIZ_MCQ">
  <p:cSld name="S12_QUIZ_MCQ"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18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109" name="Google Shape;109;p15"/>
          <p:cNvSpPr txBox="1"/>
          <p:nvPr>
            <p:ph idx="2" type="body"/>
          </p:nvPr>
        </p:nvSpPr>
        <p:spPr>
          <a:xfrm>
            <a:off x="411480" y="1062990"/>
            <a:ext cx="4320600" cy="26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0" name="Google Shape;110;p15"/>
          <p:cNvSpPr/>
          <p:nvPr/>
        </p:nvSpPr>
        <p:spPr>
          <a:xfrm>
            <a:off x="5006340" y="116586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5"/>
          <p:cNvSpPr txBox="1"/>
          <p:nvPr>
            <p:ph idx="3" type="body"/>
          </p:nvPr>
        </p:nvSpPr>
        <p:spPr>
          <a:xfrm>
            <a:off x="5177790" y="11658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188"/>
              </a:spcBef>
              <a:spcAft>
                <a:spcPts val="0"/>
              </a:spcAft>
              <a:buClr>
                <a:srgbClr val="222540"/>
              </a:buClr>
              <a:buSzPts val="938"/>
              <a:buFont typeface="Arial"/>
              <a:buNone/>
              <a:defRPr b="0" i="0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2" name="Google Shape;112;p15"/>
          <p:cNvSpPr/>
          <p:nvPr/>
        </p:nvSpPr>
        <p:spPr>
          <a:xfrm>
            <a:off x="5006340" y="16802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5"/>
          <p:cNvSpPr txBox="1"/>
          <p:nvPr>
            <p:ph idx="4" type="body"/>
          </p:nvPr>
        </p:nvSpPr>
        <p:spPr>
          <a:xfrm>
            <a:off x="5177790" y="16802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188"/>
              </a:spcBef>
              <a:spcAft>
                <a:spcPts val="0"/>
              </a:spcAft>
              <a:buClr>
                <a:srgbClr val="222540"/>
              </a:buClr>
              <a:buSzPts val="938"/>
              <a:buFont typeface="Arial"/>
              <a:buNone/>
              <a:defRPr b="0" i="0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4" name="Google Shape;114;p15"/>
          <p:cNvSpPr/>
          <p:nvPr/>
        </p:nvSpPr>
        <p:spPr>
          <a:xfrm>
            <a:off x="5006340" y="219456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5"/>
          <p:cNvSpPr txBox="1"/>
          <p:nvPr>
            <p:ph idx="5" type="body"/>
          </p:nvPr>
        </p:nvSpPr>
        <p:spPr>
          <a:xfrm>
            <a:off x="5177790" y="21945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188"/>
              </a:spcBef>
              <a:spcAft>
                <a:spcPts val="0"/>
              </a:spcAft>
              <a:buClr>
                <a:srgbClr val="222540"/>
              </a:buClr>
              <a:buSzPts val="938"/>
              <a:buFont typeface="Arial"/>
              <a:buNone/>
              <a:defRPr b="0" i="0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6" name="Google Shape;116;p15"/>
          <p:cNvSpPr/>
          <p:nvPr/>
        </p:nvSpPr>
        <p:spPr>
          <a:xfrm>
            <a:off x="5006340" y="27089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5"/>
          <p:cNvSpPr txBox="1"/>
          <p:nvPr>
            <p:ph idx="6" type="body"/>
          </p:nvPr>
        </p:nvSpPr>
        <p:spPr>
          <a:xfrm>
            <a:off x="5177790" y="27089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188"/>
              </a:spcBef>
              <a:spcAft>
                <a:spcPts val="0"/>
              </a:spcAft>
              <a:buClr>
                <a:srgbClr val="222540"/>
              </a:buClr>
              <a:buSzPts val="938"/>
              <a:buFont typeface="Arial"/>
              <a:buNone/>
              <a:defRPr b="0" i="0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4_SECTION_BREAK_NAVY">
  <p:cSld name="S14_SECTION_BREAK_NAVY">
    <p:bg>
      <p:bgPr>
        <a:solidFill>
          <a:srgbClr val="2A3480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6"/>
          <p:cNvSpPr txBox="1"/>
          <p:nvPr>
            <p:ph type="title"/>
          </p:nvPr>
        </p:nvSpPr>
        <p:spPr>
          <a:xfrm>
            <a:off x="617220" y="1988820"/>
            <a:ext cx="7543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  <a:defRPr b="1" i="0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10"/>
              </a:spcBef>
              <a:spcAft>
                <a:spcPts val="0"/>
              </a:spcAft>
              <a:buClr>
                <a:srgbClr val="EC5F82"/>
              </a:buClr>
              <a:buSzPts val="1050"/>
              <a:buFont typeface="Arial"/>
              <a:buNone/>
              <a:defRPr b="1" i="0" sz="105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3" name="Google Shape;123;p16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25"/>
              </a:spcBef>
              <a:spcAft>
                <a:spcPts val="0"/>
              </a:spcAft>
              <a:buClr>
                <a:srgbClr val="D6DAF2"/>
              </a:buClr>
              <a:buSzPts val="1125"/>
              <a:buFont typeface="Arial"/>
              <a:buNone/>
              <a:defRPr b="0" i="0" sz="1125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16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1_ERRORS_WITH_CODE">
  <p:cSld name="S11_ERRORS_WITH_CODE"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18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7" name="Google Shape;127;p1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/>
        </p:txBody>
      </p:sp>
      <p:sp>
        <p:nvSpPr>
          <p:cNvPr id="128" name="Google Shape;128;p17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7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>
            <p:ph idx="2" type="body"/>
          </p:nvPr>
        </p:nvSpPr>
        <p:spPr>
          <a:xfrm>
            <a:off x="857250" y="1062990"/>
            <a:ext cx="377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1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Arial"/>
              <a:buNone/>
              <a:defRPr b="1" i="0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1" name="Google Shape;131;p17"/>
          <p:cNvSpPr txBox="1"/>
          <p:nvPr>
            <p:ph idx="3" type="body"/>
          </p:nvPr>
        </p:nvSpPr>
        <p:spPr>
          <a:xfrm>
            <a:off x="857250" y="1440180"/>
            <a:ext cx="3566100" cy="11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2" name="Google Shape;132;p17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7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 txBox="1"/>
          <p:nvPr>
            <p:ph idx="4" type="body"/>
          </p:nvPr>
        </p:nvSpPr>
        <p:spPr>
          <a:xfrm>
            <a:off x="5452110" y="106299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1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Arial"/>
              <a:buNone/>
              <a:defRPr b="1" i="0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5" name="Google Shape;135;p17"/>
          <p:cNvSpPr txBox="1"/>
          <p:nvPr>
            <p:ph idx="5" type="body"/>
          </p:nvPr>
        </p:nvSpPr>
        <p:spPr>
          <a:xfrm>
            <a:off x="5452110" y="1440180"/>
            <a:ext cx="34290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17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>
            <p:ph idx="6" type="body"/>
          </p:nvPr>
        </p:nvSpPr>
        <p:spPr>
          <a:xfrm>
            <a:off x="857250" y="2880360"/>
            <a:ext cx="788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10"/>
              </a:spcBef>
              <a:spcAft>
                <a:spcPts val="0"/>
              </a:spcAft>
              <a:buClr>
                <a:srgbClr val="1A1F5C"/>
              </a:buClr>
              <a:buSzPts val="1050"/>
              <a:buFont typeface="Arial"/>
              <a:buNone/>
              <a:defRPr b="1" i="0" sz="10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9" name="Google Shape;139;p17"/>
          <p:cNvSpPr txBox="1"/>
          <p:nvPr>
            <p:ph idx="7" type="body"/>
          </p:nvPr>
        </p:nvSpPr>
        <p:spPr>
          <a:xfrm>
            <a:off x="857250" y="3188970"/>
            <a:ext cx="7886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188"/>
              </a:spcBef>
              <a:spcAft>
                <a:spcPts val="0"/>
              </a:spcAft>
              <a:buClr>
                <a:srgbClr val="222540"/>
              </a:buClr>
              <a:buSzPts val="938"/>
              <a:buFont typeface="Arial"/>
              <a:buNone/>
              <a:defRPr b="0" i="0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0" name="Google Shape;140;p17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75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1_TITLE_NAVY">
  <p:cSld name="S01_TITLE_NAVY">
    <p:bg>
      <p:bgPr>
        <a:solidFill>
          <a:srgbClr val="2A3480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/>
          <p:nvPr/>
        </p:nvSpPr>
        <p:spPr>
          <a:xfrm>
            <a:off x="8206283" y="-573328"/>
            <a:ext cx="1509000" cy="15090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8"/>
          <p:cNvSpPr/>
          <p:nvPr/>
        </p:nvSpPr>
        <p:spPr>
          <a:xfrm>
            <a:off x="-1508760" y="3154680"/>
            <a:ext cx="3703200" cy="37032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8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marR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1400"/>
            </a:lvl9pPr>
          </a:lstStyle>
          <a:p/>
        </p:txBody>
      </p:sp>
      <p:sp>
        <p:nvSpPr>
          <p:cNvPr id="145" name="Google Shape;145;p18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18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147" name="Google Shape;147;p18"/>
          <p:cNvCxnSpPr/>
          <p:nvPr/>
        </p:nvCxnSpPr>
        <p:spPr>
          <a:xfrm>
            <a:off x="617220" y="384048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" name="Google Shape;148;p18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18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18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8.png"/><Relationship Id="rId5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8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9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Operators</a:t>
            </a:r>
            <a:endParaRPr/>
          </a:p>
        </p:txBody>
      </p:sp>
      <p:sp>
        <p:nvSpPr>
          <p:cNvPr id="155" name="Google Shape;155;p19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</a:t>
            </a:r>
            <a:r>
              <a:rPr lang="en"/>
              <a:t>Operators?</a:t>
            </a:r>
            <a:endParaRPr/>
          </a:p>
        </p:txBody>
      </p:sp>
      <p:sp>
        <p:nvSpPr>
          <p:cNvPr id="161" name="Google Shape;161;p20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Operators perform operations on data: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Arithmetic Operators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Comparison Operators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Logical Operators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Arithmetic Operators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2"/>
          <p:cNvSpPr txBox="1"/>
          <p:nvPr>
            <p:ph type="title"/>
          </p:nvPr>
        </p:nvSpPr>
        <p:spPr>
          <a:xfrm>
            <a:off x="397700" y="155575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Arithmetic Operators </a:t>
            </a:r>
            <a:r>
              <a:rPr lang="en">
                <a:solidFill>
                  <a:schemeClr val="accent4"/>
                </a:solidFill>
              </a:rPr>
              <a:t>on</a:t>
            </a:r>
            <a:r>
              <a:rPr lang="en">
                <a:solidFill>
                  <a:schemeClr val="accent4"/>
                </a:solidFill>
              </a:rPr>
              <a:t> integer and float</a:t>
            </a:r>
            <a:endParaRPr/>
          </a:p>
        </p:txBody>
      </p:sp>
      <p:sp>
        <p:nvSpPr>
          <p:cNvPr id="172" name="Google Shape;172;p22"/>
          <p:cNvSpPr txBox="1"/>
          <p:nvPr>
            <p:ph idx="1" type="body"/>
          </p:nvPr>
        </p:nvSpPr>
        <p:spPr>
          <a:xfrm>
            <a:off x="311700" y="883325"/>
            <a:ext cx="8520600" cy="36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+ (addition)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- (subtraction)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 (multiplication)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/ (division)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** (exponentiation)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// (integer division)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% (modulo): Get remaining of division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Sample - </a:t>
            </a:r>
            <a:r>
              <a:rPr lang="en"/>
              <a:t>Arithmetic Operators </a:t>
            </a:r>
            <a:r>
              <a:rPr lang="en">
                <a:solidFill>
                  <a:schemeClr val="accent4"/>
                </a:solidFill>
              </a:rPr>
              <a:t>on integer and float</a:t>
            </a:r>
            <a:endParaRPr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14471"/>
          <a:stretch/>
        </p:blipFill>
        <p:spPr>
          <a:xfrm>
            <a:off x="900168" y="1189800"/>
            <a:ext cx="5409805" cy="36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Arithmetic Operators  (</a:t>
            </a:r>
            <a:r>
              <a:rPr lang="en">
                <a:solidFill>
                  <a:schemeClr val="accent4"/>
                </a:solidFill>
              </a:rPr>
              <a:t>For string</a:t>
            </a:r>
            <a:r>
              <a:rPr lang="en"/>
              <a:t>)</a:t>
            </a:r>
            <a:endParaRPr/>
          </a:p>
        </p:txBody>
      </p:sp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311700" y="892075"/>
            <a:ext cx="8520600" cy="367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+ (concat)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 (multiplication)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Arithmetic Operators  (</a:t>
            </a:r>
            <a:r>
              <a:rPr lang="en">
                <a:solidFill>
                  <a:schemeClr val="accent4"/>
                </a:solidFill>
              </a:rPr>
              <a:t>On string</a:t>
            </a:r>
            <a:r>
              <a:rPr lang="en"/>
              <a:t>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91" name="Google Shape;191;p25"/>
          <p:cNvPicPr preferRelativeResize="0"/>
          <p:nvPr/>
        </p:nvPicPr>
        <p:blipFill rotWithShape="1">
          <a:blip r:embed="rId3">
            <a:alphaModFix/>
          </a:blip>
          <a:srcRect b="0" l="0" r="0" t="7724"/>
          <a:stretch/>
        </p:blipFill>
        <p:spPr>
          <a:xfrm>
            <a:off x="712200" y="856400"/>
            <a:ext cx="4994399" cy="4196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Operation with String!</a:t>
            </a:r>
            <a:endParaRPr/>
          </a:p>
        </p:txBody>
      </p:sp>
      <p:sp>
        <p:nvSpPr>
          <p:cNvPr id="197" name="Google Shape;197;p2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264450" y="308008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 Methods</a:t>
            </a:r>
            <a:endParaRPr/>
          </a:p>
        </p:txBody>
      </p:sp>
      <p:sp>
        <p:nvSpPr>
          <p:cNvPr id="203" name="Google Shape;203;p27"/>
          <p:cNvSpPr txBox="1"/>
          <p:nvPr>
            <p:ph idx="1" type="subTitle"/>
          </p:nvPr>
        </p:nvSpPr>
        <p:spPr>
          <a:xfrm>
            <a:off x="265500" y="122167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Python provides numerous built-in methods for string manipulation, such as: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upper()</a:t>
            </a:r>
            <a:endParaRPr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lower()</a:t>
            </a:r>
            <a:endParaRPr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strip()</a:t>
            </a:r>
            <a:endParaRPr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split()</a:t>
            </a:r>
            <a:endParaRPr sz="1600"/>
          </a:p>
          <a:p>
            <a:pPr indent="-330200" lvl="0" marL="457200" rtl="0" algn="l">
              <a:spcBef>
                <a:spcPts val="1000"/>
              </a:spcBef>
              <a:spcAft>
                <a:spcPts val="1000"/>
              </a:spcAft>
              <a:buSzPts val="1600"/>
              <a:buChar char="●"/>
            </a:pPr>
            <a:r>
              <a:rPr lang="en" sz="1600"/>
              <a:t>replace(), and more.</a:t>
            </a:r>
            <a:endParaRPr sz="1600"/>
          </a:p>
        </p:txBody>
      </p:sp>
      <p:sp>
        <p:nvSpPr>
          <p:cNvPr id="204" name="Google Shape;204;p27"/>
          <p:cNvSpPr txBox="1"/>
          <p:nvPr>
            <p:ph idx="2" type="title"/>
          </p:nvPr>
        </p:nvSpPr>
        <p:spPr>
          <a:xfrm>
            <a:off x="4834350" y="302925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Sample</a:t>
            </a:r>
            <a:endParaRPr/>
          </a:p>
        </p:txBody>
      </p:sp>
      <p:sp>
        <p:nvSpPr>
          <p:cNvPr id="205" name="Google Shape;205;p27"/>
          <p:cNvSpPr txBox="1"/>
          <p:nvPr>
            <p:ph idx="3" type="subTitle"/>
          </p:nvPr>
        </p:nvSpPr>
        <p:spPr>
          <a:xfrm>
            <a:off x="4835400" y="123506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36861" t="26254"/>
          <a:stretch/>
        </p:blipFill>
        <p:spPr>
          <a:xfrm>
            <a:off x="4656000" y="1557900"/>
            <a:ext cx="4341749" cy="1920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8"/>
          <p:cNvSpPr txBox="1"/>
          <p:nvPr>
            <p:ph type="title"/>
          </p:nvPr>
        </p:nvSpPr>
        <p:spPr>
          <a:xfrm>
            <a:off x="264450" y="308008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 Indexing</a:t>
            </a:r>
            <a:endParaRPr/>
          </a:p>
        </p:txBody>
      </p:sp>
      <p:sp>
        <p:nvSpPr>
          <p:cNvPr id="212" name="Google Shape;212;p28"/>
          <p:cNvSpPr txBox="1"/>
          <p:nvPr>
            <p:ph idx="1" type="subTitle"/>
          </p:nvPr>
        </p:nvSpPr>
        <p:spPr>
          <a:xfrm>
            <a:off x="265500" y="1221674"/>
            <a:ext cx="4045200" cy="57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Extract character from String</a:t>
            </a:r>
            <a:endParaRPr/>
          </a:p>
        </p:txBody>
      </p:sp>
      <p:sp>
        <p:nvSpPr>
          <p:cNvPr id="213" name="Google Shape;213;p28"/>
          <p:cNvSpPr txBox="1"/>
          <p:nvPr>
            <p:ph idx="2" type="title"/>
          </p:nvPr>
        </p:nvSpPr>
        <p:spPr>
          <a:xfrm>
            <a:off x="4834350" y="302925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 Slicing</a:t>
            </a:r>
            <a:endParaRPr/>
          </a:p>
        </p:txBody>
      </p:sp>
      <p:sp>
        <p:nvSpPr>
          <p:cNvPr id="214" name="Google Shape;214;p28"/>
          <p:cNvSpPr txBox="1"/>
          <p:nvPr>
            <p:ph idx="3" type="subTitle"/>
          </p:nvPr>
        </p:nvSpPr>
        <p:spPr>
          <a:xfrm>
            <a:off x="4835400" y="123506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Extracting Substrings from a string using slicing notation</a:t>
            </a:r>
            <a:endParaRPr/>
          </a:p>
        </p:txBody>
      </p:sp>
      <p:pic>
        <p:nvPicPr>
          <p:cNvPr id="215" name="Google Shape;21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450" y="2705800"/>
            <a:ext cx="4045200" cy="1657062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8"/>
          <p:cNvSpPr txBox="1"/>
          <p:nvPr>
            <p:ph idx="4294967295" type="body"/>
          </p:nvPr>
        </p:nvSpPr>
        <p:spPr>
          <a:xfrm>
            <a:off x="327900" y="2081188"/>
            <a:ext cx="39204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47368"/>
              <a:buNone/>
            </a:pPr>
            <a:r>
              <a:rPr b="1" lang="en" sz="1900">
                <a:solidFill>
                  <a:schemeClr val="accent4"/>
                </a:solidFill>
              </a:rPr>
              <a:t>Syntax</a:t>
            </a:r>
            <a:r>
              <a:rPr b="1" lang="en" sz="1900">
                <a:solidFill>
                  <a:schemeClr val="dk1"/>
                </a:solidFill>
              </a:rPr>
              <a:t>: string[index]</a:t>
            </a:r>
            <a:endParaRPr sz="1900">
              <a:solidFill>
                <a:schemeClr val="dk1"/>
              </a:solidFill>
            </a:endParaRPr>
          </a:p>
        </p:txBody>
      </p:sp>
      <p:sp>
        <p:nvSpPr>
          <p:cNvPr id="217" name="Google Shape;217;p28"/>
          <p:cNvSpPr txBox="1"/>
          <p:nvPr>
            <p:ph idx="4294967295" type="body"/>
          </p:nvPr>
        </p:nvSpPr>
        <p:spPr>
          <a:xfrm>
            <a:off x="4897800" y="2019475"/>
            <a:ext cx="3920400" cy="3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ct val="47368"/>
              <a:buNone/>
            </a:pPr>
            <a:r>
              <a:rPr b="1" lang="en" sz="1900">
                <a:solidFill>
                  <a:srgbClr val="FFFF00"/>
                </a:solidFill>
              </a:rPr>
              <a:t>Syntax</a:t>
            </a:r>
            <a:r>
              <a:rPr b="1" lang="en" sz="1900">
                <a:solidFill>
                  <a:srgbClr val="FFFF00"/>
                </a:solidFill>
              </a:rPr>
              <a:t>: </a:t>
            </a:r>
            <a:r>
              <a:rPr b="1" lang="en" sz="1900">
                <a:solidFill>
                  <a:schemeClr val="lt1"/>
                </a:solidFill>
              </a:rPr>
              <a:t>string[begin:end:step]</a:t>
            </a:r>
            <a:endParaRPr sz="1900">
              <a:solidFill>
                <a:schemeClr val="lt1"/>
              </a:solidFill>
            </a:endParaRPr>
          </a:p>
        </p:txBody>
      </p:sp>
      <p:pic>
        <p:nvPicPr>
          <p:cNvPr id="218" name="Google Shape;21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3700" y="2549863"/>
            <a:ext cx="4308600" cy="19689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9"/>
          <p:cNvSpPr txBox="1"/>
          <p:nvPr>
            <p:ph type="title"/>
          </p:nvPr>
        </p:nvSpPr>
        <p:spPr>
          <a:xfrm>
            <a:off x="264450" y="308008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4"/>
                </a:solidFill>
              </a:rPr>
              <a:t>Positive</a:t>
            </a:r>
            <a:r>
              <a:rPr lang="en"/>
              <a:t> String slicing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9"/>
          <p:cNvSpPr txBox="1"/>
          <p:nvPr>
            <p:ph idx="1" type="subTitle"/>
          </p:nvPr>
        </p:nvSpPr>
        <p:spPr>
          <a:xfrm>
            <a:off x="265500" y="122167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9"/>
          <p:cNvSpPr txBox="1"/>
          <p:nvPr>
            <p:ph idx="2" type="title"/>
          </p:nvPr>
        </p:nvSpPr>
        <p:spPr>
          <a:xfrm>
            <a:off x="4834350" y="302925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</a:rPr>
              <a:t>Negative</a:t>
            </a:r>
            <a:r>
              <a:rPr lang="en"/>
              <a:t> String slicing</a:t>
            </a:r>
            <a:endParaRPr/>
          </a:p>
        </p:txBody>
      </p:sp>
      <p:sp>
        <p:nvSpPr>
          <p:cNvPr id="226" name="Google Shape;226;p29"/>
          <p:cNvSpPr txBox="1"/>
          <p:nvPr>
            <p:ph idx="3" type="subTitle"/>
          </p:nvPr>
        </p:nvSpPr>
        <p:spPr>
          <a:xfrm>
            <a:off x="4835400" y="123506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7" name="Google Shape;22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7337" y="945073"/>
            <a:ext cx="4419225" cy="145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" y="1129225"/>
            <a:ext cx="4352045" cy="392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08750" y="2890425"/>
            <a:ext cx="4098501" cy="2110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</a:t>
            </a:r>
            <a:r>
              <a:rPr lang="en"/>
              <a:t> Operators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1"/>
          <p:cNvSpPr txBox="1"/>
          <p:nvPr>
            <p:ph type="title"/>
          </p:nvPr>
        </p:nvSpPr>
        <p:spPr>
          <a:xfrm>
            <a:off x="264450" y="308008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 Operators</a:t>
            </a:r>
            <a:endParaRPr/>
          </a:p>
        </p:txBody>
      </p:sp>
      <p:sp>
        <p:nvSpPr>
          <p:cNvPr id="240" name="Google Shape;240;p31"/>
          <p:cNvSpPr txBox="1"/>
          <p:nvPr>
            <p:ph idx="1" type="subTitle"/>
          </p:nvPr>
        </p:nvSpPr>
        <p:spPr>
          <a:xfrm>
            <a:off x="265500" y="122167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== (equal to)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!= (not equal to)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&lt; (less than)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&gt; (greater than)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&lt;= (less than or equal to)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/>
              <a:t>&gt;= (greater than or equal to)</a:t>
            </a:r>
            <a:endParaRPr/>
          </a:p>
        </p:txBody>
      </p:sp>
      <p:sp>
        <p:nvSpPr>
          <p:cNvPr id="241" name="Google Shape;241;p31"/>
          <p:cNvSpPr txBox="1"/>
          <p:nvPr>
            <p:ph idx="2" type="title"/>
          </p:nvPr>
        </p:nvSpPr>
        <p:spPr>
          <a:xfrm>
            <a:off x="4834350" y="302925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Numerical Comparison</a:t>
            </a:r>
            <a:endParaRPr/>
          </a:p>
        </p:txBody>
      </p:sp>
      <p:sp>
        <p:nvSpPr>
          <p:cNvPr id="242" name="Google Shape;242;p31"/>
          <p:cNvSpPr txBox="1"/>
          <p:nvPr>
            <p:ph idx="3" type="subTitle"/>
          </p:nvPr>
        </p:nvSpPr>
        <p:spPr>
          <a:xfrm>
            <a:off x="4835400" y="123506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43" name="Google Shape;243;p31"/>
          <p:cNvPicPr preferRelativeResize="0"/>
          <p:nvPr/>
        </p:nvPicPr>
        <p:blipFill rotWithShape="1">
          <a:blip r:embed="rId3">
            <a:alphaModFix/>
          </a:blip>
          <a:srcRect b="0" l="0" r="0" t="13971"/>
          <a:stretch/>
        </p:blipFill>
        <p:spPr>
          <a:xfrm>
            <a:off x="4727987" y="1268150"/>
            <a:ext cx="4260025" cy="287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>
            <p:ph type="title"/>
          </p:nvPr>
        </p:nvSpPr>
        <p:spPr>
          <a:xfrm>
            <a:off x="264450" y="308008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Equal Comparison</a:t>
            </a:r>
            <a:endParaRPr/>
          </a:p>
        </p:txBody>
      </p:sp>
      <p:sp>
        <p:nvSpPr>
          <p:cNvPr id="249" name="Google Shape;249;p32"/>
          <p:cNvSpPr txBox="1"/>
          <p:nvPr>
            <p:ph idx="1" type="subTitle"/>
          </p:nvPr>
        </p:nvSpPr>
        <p:spPr>
          <a:xfrm>
            <a:off x="265500" y="122167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2"/>
          <p:cNvSpPr txBox="1"/>
          <p:nvPr>
            <p:ph idx="2" type="title"/>
          </p:nvPr>
        </p:nvSpPr>
        <p:spPr>
          <a:xfrm>
            <a:off x="4834350" y="302925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 Comparison (sort)</a:t>
            </a:r>
            <a:endParaRPr/>
          </a:p>
        </p:txBody>
      </p:sp>
      <p:sp>
        <p:nvSpPr>
          <p:cNvPr id="251" name="Google Shape;251;p32"/>
          <p:cNvSpPr txBox="1"/>
          <p:nvPr>
            <p:ph idx="3" type="subTitle"/>
          </p:nvPr>
        </p:nvSpPr>
        <p:spPr>
          <a:xfrm>
            <a:off x="4835400" y="123506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2" name="Google Shape;252;p32"/>
          <p:cNvPicPr preferRelativeResize="0"/>
          <p:nvPr/>
        </p:nvPicPr>
        <p:blipFill rotWithShape="1">
          <a:blip r:embed="rId3">
            <a:alphaModFix/>
          </a:blip>
          <a:srcRect b="0" l="2610" r="0" t="0"/>
          <a:stretch/>
        </p:blipFill>
        <p:spPr>
          <a:xfrm>
            <a:off x="454675" y="1630700"/>
            <a:ext cx="3746851" cy="2413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74438" y="1491575"/>
            <a:ext cx="3967125" cy="3365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4294967295" type="body"/>
          </p:nvPr>
        </p:nvSpPr>
        <p:spPr>
          <a:xfrm>
            <a:off x="265500" y="179925"/>
            <a:ext cx="76161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1900">
                <a:solidFill>
                  <a:srgbClr val="D84568"/>
                </a:solidFill>
              </a:rPr>
              <a:t>Comparison on String </a:t>
            </a:r>
            <a:r>
              <a:rPr b="1" lang="en" sz="1900">
                <a:solidFill>
                  <a:srgbClr val="D84568"/>
                </a:solidFill>
              </a:rPr>
              <a:t>Data Type</a:t>
            </a:r>
            <a:endParaRPr sz="1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3"/>
          <p:cNvSpPr txBox="1"/>
          <p:nvPr/>
        </p:nvSpPr>
        <p:spPr>
          <a:xfrm>
            <a:off x="402907" y="892492"/>
            <a:ext cx="83343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Python is a </a:t>
            </a:r>
            <a:r>
              <a:rPr b="0" lang="en" sz="1500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strictly typed system</a:t>
            </a:r>
            <a:r>
              <a:rPr b="0" lang="en" sz="15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rPr>
              <a:t> for comparison; data that are inherently different cannot be compared using logical operators.</a:t>
            </a:r>
            <a:endParaRPr b="0" sz="1500">
              <a:solidFill>
                <a:srgbClr val="43434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33"/>
          <p:cNvSpPr/>
          <p:nvPr/>
        </p:nvSpPr>
        <p:spPr>
          <a:xfrm>
            <a:off x="420905" y="4176470"/>
            <a:ext cx="8298300" cy="4251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3"/>
          <p:cNvSpPr/>
          <p:nvPr/>
        </p:nvSpPr>
        <p:spPr>
          <a:xfrm>
            <a:off x="544349" y="4327346"/>
            <a:ext cx="123600" cy="1236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3"/>
          <p:cNvSpPr txBox="1"/>
          <p:nvPr/>
        </p:nvSpPr>
        <p:spPr>
          <a:xfrm>
            <a:off x="741931" y="4324868"/>
            <a:ext cx="78729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63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Key takeaway:  </a:t>
            </a:r>
            <a:r>
              <a:rPr lang="en" sz="10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Ensure operand types match before using logical operators.</a:t>
            </a:r>
            <a:endParaRPr sz="1250"/>
          </a:p>
        </p:txBody>
      </p:sp>
      <p:sp>
        <p:nvSpPr>
          <p:cNvPr id="263" name="Google Shape;263;p33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Incompatible </a:t>
            </a:r>
            <a:r>
              <a:rPr lang="en"/>
              <a:t>Comparisons</a:t>
            </a:r>
            <a:endParaRPr/>
          </a:p>
        </p:txBody>
      </p:sp>
      <p:pic>
        <p:nvPicPr>
          <p:cNvPr id="264" name="Google Shape;264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1025" y="1464000"/>
            <a:ext cx="4866628" cy="2511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2.3 Logical Operators</a:t>
            </a:r>
            <a:endParaRPr/>
          </a:p>
        </p:txBody>
      </p:sp>
      <p:sp>
        <p:nvSpPr>
          <p:cNvPr id="270" name="Google Shape;270;p34"/>
          <p:cNvSpPr txBox="1"/>
          <p:nvPr>
            <p:ph idx="1" type="body"/>
          </p:nvPr>
        </p:nvSpPr>
        <p:spPr>
          <a:xfrm>
            <a:off x="311700" y="892075"/>
            <a:ext cx="8520600" cy="367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(both conditions true)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 (at least one condition true)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(inverts the truth value)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5"/>
          <p:cNvSpPr txBox="1"/>
          <p:nvPr>
            <p:ph type="title"/>
          </p:nvPr>
        </p:nvSpPr>
        <p:spPr>
          <a:xfrm>
            <a:off x="264450" y="308008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>
                <a:solidFill>
                  <a:schemeClr val="accent4"/>
                </a:solidFill>
              </a:rPr>
              <a:t>a</a:t>
            </a:r>
            <a:r>
              <a:rPr lang="en" sz="2500">
                <a:solidFill>
                  <a:schemeClr val="accent4"/>
                </a:solidFill>
              </a:rPr>
              <a:t>nd </a:t>
            </a:r>
            <a:r>
              <a:rPr lang="en" sz="2500"/>
              <a:t>(both conditions true)</a:t>
            </a:r>
            <a:endParaRPr sz="2500"/>
          </a:p>
        </p:txBody>
      </p:sp>
      <p:sp>
        <p:nvSpPr>
          <p:cNvPr id="276" name="Google Shape;276;p35"/>
          <p:cNvSpPr txBox="1"/>
          <p:nvPr>
            <p:ph idx="1" type="subTitle"/>
          </p:nvPr>
        </p:nvSpPr>
        <p:spPr>
          <a:xfrm>
            <a:off x="265500" y="122167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5"/>
          <p:cNvSpPr txBox="1"/>
          <p:nvPr>
            <p:ph idx="2" type="title"/>
          </p:nvPr>
        </p:nvSpPr>
        <p:spPr>
          <a:xfrm>
            <a:off x="4834350" y="302925"/>
            <a:ext cx="4045200" cy="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>
                <a:solidFill>
                  <a:srgbClr val="FFFF00"/>
                </a:solidFill>
              </a:rPr>
              <a:t>o</a:t>
            </a:r>
            <a:r>
              <a:rPr lang="en" sz="2500">
                <a:solidFill>
                  <a:srgbClr val="FFFF00"/>
                </a:solidFill>
              </a:rPr>
              <a:t>r </a:t>
            </a:r>
            <a:r>
              <a:rPr lang="en" sz="2500"/>
              <a:t>(at least one condition true)</a:t>
            </a:r>
            <a:endParaRPr sz="2500"/>
          </a:p>
        </p:txBody>
      </p:sp>
      <p:sp>
        <p:nvSpPr>
          <p:cNvPr id="278" name="Google Shape;278;p35"/>
          <p:cNvSpPr txBox="1"/>
          <p:nvPr>
            <p:ph idx="3" type="subTitle"/>
          </p:nvPr>
        </p:nvSpPr>
        <p:spPr>
          <a:xfrm>
            <a:off x="4835400" y="1235064"/>
            <a:ext cx="40452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9" name="Google Shape;279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3400" y="1511050"/>
            <a:ext cx="4146699" cy="302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7938" y="1288063"/>
            <a:ext cx="3771075" cy="3473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(inverts the truth value)</a:t>
            </a:r>
            <a:endParaRPr/>
          </a:p>
        </p:txBody>
      </p:sp>
      <p:sp>
        <p:nvSpPr>
          <p:cNvPr id="286" name="Google Shape;286;p36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87" name="Google Shape;28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8350" y="892075"/>
            <a:ext cx="3568925" cy="350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5"/>
                </a:solidFill>
              </a:rPr>
              <a:t>TRY IT YOURSELF</a:t>
            </a:r>
            <a:endParaRPr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8"/>
          <p:cNvSpPr txBox="1"/>
          <p:nvPr>
            <p:ph type="title"/>
          </p:nvPr>
        </p:nvSpPr>
        <p:spPr>
          <a:xfrm>
            <a:off x="617220" y="1988820"/>
            <a:ext cx="7543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Arithmetic Operators</a:t>
            </a:r>
            <a:endParaRPr sz="3000"/>
          </a:p>
        </p:txBody>
      </p:sp>
      <p:sp>
        <p:nvSpPr>
          <p:cNvPr id="298" name="Google Shape;298;p38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Do math on numbers and strings:   +   -   *   /   **   //   %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9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lang="en" sz="2100"/>
              <a:t>Arithmetic Operation</a:t>
            </a:r>
            <a:endParaRPr sz="2100"/>
          </a:p>
        </p:txBody>
      </p:sp>
      <p:sp>
        <p:nvSpPr>
          <p:cNvPr id="305" name="Google Shape;305;p39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306" name="Google Shape;306;p39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Replace every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___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 the operator that gives the wanted value.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Mind the difference between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(float),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//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(whole), and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%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(remainder).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Stretch: change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then predict each line before running.</a:t>
            </a:r>
            <a:endParaRPr sz="1050"/>
          </a:p>
        </p:txBody>
      </p:sp>
      <p:pic>
        <p:nvPicPr>
          <p:cNvPr id="307" name="Google Shape;30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475" y="1527224"/>
            <a:ext cx="4494171" cy="2247075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0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KNOWLEDGE CHECK</a:t>
            </a:r>
            <a:endParaRPr sz="900"/>
          </a:p>
        </p:txBody>
      </p:sp>
      <p:sp>
        <p:nvSpPr>
          <p:cNvPr id="314" name="Google Shape;314;p4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Division &amp; Modulo</a:t>
            </a:r>
            <a:endParaRPr sz="2100"/>
          </a:p>
        </p:txBody>
      </p:sp>
      <p:sp>
        <p:nvSpPr>
          <p:cNvPr id="315" name="Google Shape;315;p40"/>
          <p:cNvSpPr txBox="1"/>
          <p:nvPr>
            <p:ph idx="3" type="body"/>
          </p:nvPr>
        </p:nvSpPr>
        <p:spPr>
          <a:xfrm>
            <a:off x="5177790" y="11658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A.   2   and   3</a:t>
            </a:r>
            <a:endParaRPr sz="938"/>
          </a:p>
        </p:txBody>
      </p:sp>
      <p:sp>
        <p:nvSpPr>
          <p:cNvPr id="316" name="Google Shape;316;p40"/>
          <p:cNvSpPr txBox="1"/>
          <p:nvPr>
            <p:ph idx="4" type="body"/>
          </p:nvPr>
        </p:nvSpPr>
        <p:spPr>
          <a:xfrm>
            <a:off x="5177790" y="16802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B.   3.4   and   2</a:t>
            </a:r>
            <a:endParaRPr sz="938"/>
          </a:p>
        </p:txBody>
      </p:sp>
      <p:sp>
        <p:nvSpPr>
          <p:cNvPr id="317" name="Google Shape;317;p40"/>
          <p:cNvSpPr txBox="1"/>
          <p:nvPr>
            <p:ph idx="5" type="body"/>
          </p:nvPr>
        </p:nvSpPr>
        <p:spPr>
          <a:xfrm>
            <a:off x="5177790" y="21945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C.   3   and   2</a:t>
            </a:r>
            <a:endParaRPr sz="938"/>
          </a:p>
        </p:txBody>
      </p:sp>
      <p:sp>
        <p:nvSpPr>
          <p:cNvPr id="318" name="Google Shape;318;p40"/>
          <p:cNvSpPr txBox="1"/>
          <p:nvPr>
            <p:ph idx="6" type="body"/>
          </p:nvPr>
        </p:nvSpPr>
        <p:spPr>
          <a:xfrm>
            <a:off x="5177790" y="27089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D.   12   and   5</a:t>
            </a:r>
            <a:endParaRPr sz="938"/>
          </a:p>
        </p:txBody>
      </p:sp>
      <p:pic>
        <p:nvPicPr>
          <p:cNvPr descr="q1_divmod.png" id="319" name="Google Shape;319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635" y="1062990"/>
            <a:ext cx="3526230" cy="26403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~6 MIN</a:t>
            </a:r>
            <a:endParaRPr sz="900"/>
          </a:p>
        </p:txBody>
      </p:sp>
      <p:sp>
        <p:nvSpPr>
          <p:cNvPr id="326" name="Google Shape;326;p4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String Arithmetic</a:t>
            </a:r>
            <a:endParaRPr sz="2100"/>
          </a:p>
        </p:txBody>
      </p:sp>
      <p:sp>
        <p:nvSpPr>
          <p:cNvPr id="327" name="Google Shape;327;p41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328" name="Google Shape;328;p41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join strings together and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*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repeat one.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TODO 1 builds the greeting;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TODO 2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builds the 20-character edge line.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Run it — the output should be a banner box around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Hi Python!</a:t>
            </a:r>
            <a:endParaRPr sz="1050"/>
          </a:p>
        </p:txBody>
      </p:sp>
      <p:pic>
        <p:nvPicPr>
          <p:cNvPr descr="ex2_string.png" id="329" name="Google Shape;329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6329" y="935314"/>
            <a:ext cx="3582323" cy="3051811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41"/>
          <p:cNvSpPr/>
          <p:nvPr/>
        </p:nvSpPr>
        <p:spPr>
          <a:xfrm>
            <a:off x="5417820" y="3429000"/>
            <a:ext cx="3291900" cy="4251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1"/>
          <p:cNvSpPr/>
          <p:nvPr/>
        </p:nvSpPr>
        <p:spPr>
          <a:xfrm>
            <a:off x="5541264" y="357987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1"/>
          <p:cNvSpPr txBox="1"/>
          <p:nvPr/>
        </p:nvSpPr>
        <p:spPr>
          <a:xfrm>
            <a:off x="5747000" y="3511077"/>
            <a:ext cx="28665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63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lang="en" sz="863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joins string-to-string only; adding a number needs </a:t>
            </a:r>
            <a:r>
              <a:rPr lang="en" sz="863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str(...)</a:t>
            </a:r>
            <a:r>
              <a:rPr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first.</a:t>
            </a:r>
            <a:endParaRPr sz="1050"/>
          </a:p>
        </p:txBody>
      </p:sp>
      <p:sp>
        <p:nvSpPr>
          <p:cNvPr id="333" name="Google Shape;333;p41"/>
          <p:cNvSpPr txBox="1"/>
          <p:nvPr/>
        </p:nvSpPr>
        <p:spPr>
          <a:xfrm>
            <a:off x="1276775" y="4294075"/>
            <a:ext cx="34017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====================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Hi Python!</a:t>
            </a:r>
            <a:endParaRPr sz="1000"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====================</a:t>
            </a:r>
            <a:endParaRPr sz="1100"/>
          </a:p>
        </p:txBody>
      </p:sp>
      <p:sp>
        <p:nvSpPr>
          <p:cNvPr id="334" name="Google Shape;334;p41"/>
          <p:cNvSpPr txBox="1"/>
          <p:nvPr>
            <p:ph idx="1" type="body"/>
          </p:nvPr>
        </p:nvSpPr>
        <p:spPr>
          <a:xfrm>
            <a:off x="471321" y="4099425"/>
            <a:ext cx="123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Expected</a:t>
            </a:r>
            <a:r>
              <a:rPr lang="en"/>
              <a:t> output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2"/>
          <p:cNvSpPr txBox="1"/>
          <p:nvPr>
            <p:ph type="title"/>
          </p:nvPr>
        </p:nvSpPr>
        <p:spPr>
          <a:xfrm>
            <a:off x="617220" y="1988820"/>
            <a:ext cx="7543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String Methods</a:t>
            </a:r>
            <a:endParaRPr sz="3000"/>
          </a:p>
        </p:txBody>
      </p:sp>
      <p:sp>
        <p:nvSpPr>
          <p:cNvPr id="340" name="Google Shape;340;p42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Transform text with   upper()   lower()   strip()   split()   replace()</a:t>
            </a:r>
            <a:endParaRPr/>
          </a:p>
        </p:txBody>
      </p:sp>
      <p:sp>
        <p:nvSpPr>
          <p:cNvPr id="341" name="Google Shape;341;p42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6DAF2"/>
              </a:buClr>
              <a:buSzPts val="1125"/>
              <a:buNone/>
            </a:pPr>
            <a:r>
              <a:t/>
            </a:r>
            <a:endParaRPr sz="1125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3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~8 MIN</a:t>
            </a:r>
            <a:endParaRPr sz="900"/>
          </a:p>
        </p:txBody>
      </p:sp>
      <p:sp>
        <p:nvSpPr>
          <p:cNvPr id="348" name="Google Shape;348;p4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Clean the Data</a:t>
            </a:r>
            <a:endParaRPr sz="2100"/>
          </a:p>
        </p:txBody>
      </p:sp>
      <p:sp>
        <p:nvSpPr>
          <p:cNvPr id="349" name="Google Shape;349;p43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350" name="Google Shape;350;p43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Fill each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___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 the method that does the described job.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Methods can be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chained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raw.strip().upper() runs left to right.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Stretch: print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len(names)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how many names did split() produce?</a:t>
            </a:r>
            <a:endParaRPr sz="1050"/>
          </a:p>
        </p:txBody>
      </p:sp>
      <p:sp>
        <p:nvSpPr>
          <p:cNvPr id="351" name="Google Shape;351;p43"/>
          <p:cNvSpPr/>
          <p:nvPr/>
        </p:nvSpPr>
        <p:spPr>
          <a:xfrm>
            <a:off x="5417820" y="3429000"/>
            <a:ext cx="3291900" cy="4251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43"/>
          <p:cNvSpPr/>
          <p:nvPr/>
        </p:nvSpPr>
        <p:spPr>
          <a:xfrm>
            <a:off x="5541264" y="357987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43"/>
          <p:cNvSpPr txBox="1"/>
          <p:nvPr/>
        </p:nvSpPr>
        <p:spPr>
          <a:xfrm>
            <a:off x="5740625" y="3508800"/>
            <a:ext cx="28665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63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lang="en" sz="863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strip()</a:t>
            </a:r>
            <a:r>
              <a:rPr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removes spaces only at the </a:t>
            </a:r>
            <a:r>
              <a:rPr lang="en" sz="863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ends</a:t>
            </a:r>
            <a:r>
              <a:rPr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never in the middle.</a:t>
            </a:r>
            <a:endParaRPr sz="1050"/>
          </a:p>
        </p:txBody>
      </p:sp>
      <p:pic>
        <p:nvPicPr>
          <p:cNvPr descr="ex3_methods.png" id="354" name="Google Shape;354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086463"/>
            <a:ext cx="4732019" cy="30048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KNOWLEDGE CHECK</a:t>
            </a:r>
            <a:endParaRPr sz="900"/>
          </a:p>
        </p:txBody>
      </p:sp>
      <p:sp>
        <p:nvSpPr>
          <p:cNvPr id="361" name="Google Shape;361;p4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Chained Methods</a:t>
            </a:r>
            <a:endParaRPr sz="2100"/>
          </a:p>
        </p:txBody>
      </p:sp>
      <p:sp>
        <p:nvSpPr>
          <p:cNvPr id="362" name="Google Shape;362;p44"/>
          <p:cNvSpPr txBox="1"/>
          <p:nvPr>
            <p:ph idx="3" type="body"/>
          </p:nvPr>
        </p:nvSpPr>
        <p:spPr>
          <a:xfrm>
            <a:off x="5177790" y="11658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A.   "  hello world  "</a:t>
            </a:r>
            <a:endParaRPr sz="938"/>
          </a:p>
        </p:txBody>
      </p:sp>
      <p:sp>
        <p:nvSpPr>
          <p:cNvPr id="363" name="Google Shape;363;p44"/>
          <p:cNvSpPr txBox="1"/>
          <p:nvPr>
            <p:ph idx="4" type="body"/>
          </p:nvPr>
        </p:nvSpPr>
        <p:spPr>
          <a:xfrm>
            <a:off x="5177790" y="16802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B.   "HELLO WORLD"</a:t>
            </a:r>
            <a:endParaRPr sz="938"/>
          </a:p>
        </p:txBody>
      </p:sp>
      <p:sp>
        <p:nvSpPr>
          <p:cNvPr id="364" name="Google Shape;364;p44"/>
          <p:cNvSpPr txBox="1"/>
          <p:nvPr>
            <p:ph idx="5" type="body"/>
          </p:nvPr>
        </p:nvSpPr>
        <p:spPr>
          <a:xfrm>
            <a:off x="5177790" y="21945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C.   "hello world"</a:t>
            </a:r>
            <a:endParaRPr sz="938"/>
          </a:p>
        </p:txBody>
      </p:sp>
      <p:sp>
        <p:nvSpPr>
          <p:cNvPr id="365" name="Google Shape;365;p44"/>
          <p:cNvSpPr txBox="1"/>
          <p:nvPr>
            <p:ph idx="6" type="body"/>
          </p:nvPr>
        </p:nvSpPr>
        <p:spPr>
          <a:xfrm>
            <a:off x="5177790" y="27089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D.   "Hello World"</a:t>
            </a:r>
            <a:endParaRPr sz="938"/>
          </a:p>
        </p:txBody>
      </p:sp>
      <p:pic>
        <p:nvPicPr>
          <p:cNvPr descr="q2_chained.png" id="366" name="Google Shape;366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305383"/>
            <a:ext cx="4320540" cy="21555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45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</a:pPr>
            <a:r>
              <a:rPr b="1" lang="en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Python String Slicing</a:t>
            </a:r>
            <a:endParaRPr/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</a:pPr>
            <a:r>
              <a:rPr b="1" lang="en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Exercises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3 MINUTES</a:t>
            </a:r>
            <a:endParaRPr sz="900"/>
          </a:p>
        </p:txBody>
      </p:sp>
      <p:sp>
        <p:nvSpPr>
          <p:cNvPr id="378" name="Google Shape;378;p4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1 · Basics</a:t>
            </a:r>
            <a:endParaRPr sz="2100"/>
          </a:p>
        </p:txBody>
      </p:sp>
      <p:sp>
        <p:nvSpPr>
          <p:cNvPr id="379" name="Google Shape;379;p46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380" name="Google Shape;380;p46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/>
              <a:t>s = "Hello, World!"</a:t>
            </a:r>
            <a:endParaRPr/>
          </a:p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Slice out the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first 5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last 6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characters.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Drop the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first and last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character in one slice.</a:t>
            </a:r>
            <a:endParaRPr sz="1050"/>
          </a:p>
        </p:txBody>
      </p:sp>
      <p:pic>
        <p:nvPicPr>
          <p:cNvPr descr="ex1.png" id="381" name="Google Shape;381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400401"/>
            <a:ext cx="4732020" cy="2376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4 MINUTES</a:t>
            </a:r>
            <a:endParaRPr sz="900"/>
          </a:p>
        </p:txBody>
      </p:sp>
      <p:sp>
        <p:nvSpPr>
          <p:cNvPr id="388" name="Google Shape;388;p4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2 · Step Slicing</a:t>
            </a:r>
            <a:endParaRPr sz="2100"/>
          </a:p>
        </p:txBody>
      </p:sp>
      <p:sp>
        <p:nvSpPr>
          <p:cNvPr id="389" name="Google Shape;389;p47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390" name="Google Shape;390;p47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•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 = "abcdefghijklmnopqrstuvwxyz"</a:t>
            </a:r>
            <a:endParaRPr/>
          </a:p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Take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every 2nd character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 a step slice.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Reverse the string using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step -1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Combine a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start index and step 3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50"/>
          </a:p>
        </p:txBody>
      </p:sp>
      <p:pic>
        <p:nvPicPr>
          <p:cNvPr descr="ex2.png" id="391" name="Google Shape;391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327217"/>
            <a:ext cx="4732019" cy="2523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8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4 MINUTES</a:t>
            </a:r>
            <a:endParaRPr sz="900"/>
          </a:p>
        </p:txBody>
      </p:sp>
      <p:sp>
        <p:nvSpPr>
          <p:cNvPr id="398" name="Google Shape;398;p48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3 · Negative Indices</a:t>
            </a:r>
            <a:endParaRPr sz="2100"/>
          </a:p>
        </p:txBody>
      </p:sp>
      <p:sp>
        <p:nvSpPr>
          <p:cNvPr id="399" name="Google Shape;399;p48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400" name="Google Shape;400;p48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/>
              <a:t>s = "Python Programming"</a:t>
            </a:r>
            <a:endParaRPr/>
          </a:p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Pull the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last word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using negative indices, not `split()`.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Drop the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last 3 characters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Grab only the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final 3 characters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50"/>
          </a:p>
        </p:txBody>
      </p:sp>
      <p:pic>
        <p:nvPicPr>
          <p:cNvPr descr="ex3.png" id="401" name="Google Shape;401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553018"/>
            <a:ext cx="4732019" cy="20717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9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Exercise </a:t>
            </a:r>
            <a:r>
              <a:rPr lang="en"/>
              <a:t>4</a:t>
            </a: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 · Extract &amp; Rearrange</a:t>
            </a:r>
            <a:endParaRPr sz="2100"/>
          </a:p>
        </p:txBody>
      </p:sp>
      <p:sp>
        <p:nvSpPr>
          <p:cNvPr id="408" name="Google Shape;408;p49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409" name="Google Shape;409;p49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•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date = "2026-07-12"</a:t>
            </a:r>
            <a:endParaRPr/>
          </a:p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Slice out the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year, month, and day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separately.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Concatenate into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DD-MM-YYYY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format.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only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slicing + string ops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no `split()`.</a:t>
            </a:r>
            <a:endParaRPr sz="1050"/>
          </a:p>
        </p:txBody>
      </p:sp>
      <p:pic>
        <p:nvPicPr>
          <p:cNvPr descr="ex5.png" id="410" name="Google Shape;41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254478"/>
            <a:ext cx="4732020" cy="2668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50"/>
          <p:cNvSpPr txBox="1"/>
          <p:nvPr>
            <p:ph type="title"/>
          </p:nvPr>
        </p:nvSpPr>
        <p:spPr>
          <a:xfrm>
            <a:off x="617220" y="1988820"/>
            <a:ext cx="7543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Comparison &amp; Logic</a:t>
            </a:r>
            <a:endParaRPr sz="3000"/>
          </a:p>
        </p:txBody>
      </p:sp>
      <p:sp>
        <p:nvSpPr>
          <p:cNvPr id="416" name="Google Shape;416;p50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Ask true / false questions and combine them with   and   or   not</a:t>
            </a:r>
            <a:endParaRPr/>
          </a:p>
        </p:txBody>
      </p:sp>
      <p:sp>
        <p:nvSpPr>
          <p:cNvPr id="417" name="Google Shape;417;p50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6DAF2"/>
              </a:buClr>
              <a:buSzPts val="1125"/>
              <a:buNone/>
            </a:pPr>
            <a:r>
              <a:t/>
            </a:r>
            <a:endParaRPr sz="1125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~6 MIN</a:t>
            </a:r>
            <a:endParaRPr sz="900"/>
          </a:p>
        </p:txBody>
      </p:sp>
      <p:sp>
        <p:nvSpPr>
          <p:cNvPr id="424" name="Google Shape;424;p5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True or False?</a:t>
            </a:r>
            <a:endParaRPr sz="2100"/>
          </a:p>
        </p:txBody>
      </p:sp>
      <p:sp>
        <p:nvSpPr>
          <p:cNvPr id="425" name="Google Shape;425;p51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426" name="Google Shape;426;p51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Fill each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___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so that every line prints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True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Choose from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==   !=   &lt;   &gt;   &lt;=   &gt;=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 comparison always returns a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boolean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True or False.</a:t>
            </a:r>
            <a:endParaRPr sz="1050"/>
          </a:p>
        </p:txBody>
      </p:sp>
      <p:pic>
        <p:nvPicPr>
          <p:cNvPr id="427" name="Google Shape;427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475" y="1371599"/>
            <a:ext cx="4468074" cy="1858575"/>
          </a:xfrm>
          <a:prstGeom prst="rect">
            <a:avLst/>
          </a:prstGeom>
          <a:noFill/>
          <a:ln>
            <a:noFill/>
          </a:ln>
          <a:effectLst>
            <a:outerShdw blurRad="342900" rotWithShape="0" algn="bl" dir="5400000" dist="28575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DEBUG CHALLENGE</a:t>
            </a:r>
            <a:endParaRPr sz="900"/>
          </a:p>
        </p:txBody>
      </p:sp>
      <p:sp>
        <p:nvSpPr>
          <p:cNvPr id="434" name="Google Shape;434;p5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Fix the Bugs</a:t>
            </a:r>
            <a:endParaRPr sz="2100"/>
          </a:p>
        </p:txBody>
      </p:sp>
      <p:sp>
        <p:nvSpPr>
          <p:cNvPr id="435" name="Google Shape;435;p52"/>
          <p:cNvSpPr txBox="1"/>
          <p:nvPr>
            <p:ph idx="2" type="body"/>
          </p:nvPr>
        </p:nvSpPr>
        <p:spPr>
          <a:xfrm>
            <a:off x="857250" y="1062990"/>
            <a:ext cx="377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1A1F5C"/>
              </a:buClr>
              <a:buSzPts val="1050"/>
              <a:buNone/>
            </a:pPr>
            <a:r>
              <a:rPr b="1" lang="en" sz="10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1 · Comparing an int with a str</a:t>
            </a:r>
            <a:endParaRPr sz="1050"/>
          </a:p>
        </p:txBody>
      </p:sp>
      <p:sp>
        <p:nvSpPr>
          <p:cNvPr id="436" name="Google Shape;436;p52"/>
          <p:cNvSpPr txBox="1"/>
          <p:nvPr>
            <p:ph idx="4" type="body"/>
          </p:nvPr>
        </p:nvSpPr>
        <p:spPr>
          <a:xfrm>
            <a:off x="5452110" y="106299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1A1F5C"/>
              </a:buClr>
              <a:buSzPts val="1050"/>
              <a:buNone/>
            </a:pPr>
            <a:r>
              <a:rPr b="1" lang="en" sz="10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2 · Assigning instead of comparing</a:t>
            </a:r>
            <a:endParaRPr sz="1050"/>
          </a:p>
        </p:txBody>
      </p:sp>
      <p:sp>
        <p:nvSpPr>
          <p:cNvPr id="437" name="Google Shape;437;p52"/>
          <p:cNvSpPr txBox="1"/>
          <p:nvPr>
            <p:ph idx="6" type="body"/>
          </p:nvPr>
        </p:nvSpPr>
        <p:spPr>
          <a:xfrm>
            <a:off x="857250" y="2880360"/>
            <a:ext cx="788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1A1F5C"/>
              </a:buClr>
              <a:buSzPts val="1050"/>
              <a:buNone/>
            </a:pPr>
            <a:r>
              <a:rPr b="1" lang="en" sz="10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3 · Spell out your logic words</a:t>
            </a:r>
            <a:endParaRPr sz="1050"/>
          </a:p>
        </p:txBody>
      </p:sp>
      <p:sp>
        <p:nvSpPr>
          <p:cNvPr id="438" name="Google Shape;438;p52"/>
          <p:cNvSpPr txBox="1"/>
          <p:nvPr>
            <p:ph idx="7" type="body"/>
          </p:nvPr>
        </p:nvSpPr>
        <p:spPr>
          <a:xfrm>
            <a:off x="857250" y="3188970"/>
            <a:ext cx="7886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22540"/>
              </a:buClr>
              <a:buSzPts val="938"/>
              <a:buNone/>
            </a:pP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Fix each snippet above, then rewrite this correctly: use </a:t>
            </a:r>
            <a:r>
              <a:rPr lang="en" sz="938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age &gt; 0 and age &lt; 120</a:t>
            </a:r>
            <a:r>
              <a:rPr lang="en" sz="938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the words and / or / not, not the symbols &amp; or |.</a:t>
            </a:r>
            <a:endParaRPr sz="938"/>
          </a:p>
        </p:txBody>
      </p:sp>
      <p:pic>
        <p:nvPicPr>
          <p:cNvPr descr="bug1_type.png" id="439" name="Google Shape;43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0620" y="1440180"/>
            <a:ext cx="2799418" cy="11658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bug2_assign.png" id="440" name="Google Shape;440;p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99637" y="1440180"/>
            <a:ext cx="3133946" cy="12344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3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TRY IT YOURSELF · ~8 MIN</a:t>
            </a:r>
            <a:endParaRPr sz="900"/>
          </a:p>
        </p:txBody>
      </p:sp>
      <p:sp>
        <p:nvSpPr>
          <p:cNvPr id="447" name="Google Shape;447;p5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ct val="1000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Logic Gates</a:t>
            </a:r>
            <a:endParaRPr sz="2100"/>
          </a:p>
        </p:txBody>
      </p:sp>
      <p:sp>
        <p:nvSpPr>
          <p:cNvPr id="448" name="Google Shape;448;p53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293480"/>
              </a:buClr>
              <a:buSzPct val="10000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449" name="Google Shape;449;p53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257175" lvl="0" marL="257175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Fill each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___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with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or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or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not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D84568"/>
              </a:buClr>
              <a:buSzPts val="1050"/>
              <a:buChar char="•"/>
            </a:pP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needs both true;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or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needs at least one; </a:t>
            </a: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not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flips it.</a:t>
            </a:r>
            <a:endParaRPr sz="1050"/>
          </a:p>
          <a:p>
            <a:pPr indent="-257175" lvl="0" marL="257175" rtl="0" algn="l">
              <a:spcBef>
                <a:spcPts val="810"/>
              </a:spcBef>
              <a:spcAft>
                <a:spcPts val="0"/>
              </a:spcAft>
              <a:buClr>
                <a:srgbClr val="222540"/>
              </a:buClr>
              <a:buSzPts val="1050"/>
              <a:buChar char="•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Predict the three booleans, then run to check.</a:t>
            </a:r>
            <a:endParaRPr sz="1050"/>
          </a:p>
        </p:txBody>
      </p:sp>
      <p:pic>
        <p:nvPicPr>
          <p:cNvPr descr="ex5_logic.png" id="450" name="Google Shape;450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293058"/>
            <a:ext cx="4732020" cy="2591674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53"/>
          <p:cNvSpPr/>
          <p:nvPr/>
        </p:nvSpPr>
        <p:spPr>
          <a:xfrm>
            <a:off x="5417820" y="3429000"/>
            <a:ext cx="3291900" cy="425100"/>
          </a:xfrm>
          <a:prstGeom prst="roundRect">
            <a:avLst>
              <a:gd fmla="val 80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3"/>
          <p:cNvSpPr/>
          <p:nvPr/>
        </p:nvSpPr>
        <p:spPr>
          <a:xfrm>
            <a:off x="5541264" y="357987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53"/>
          <p:cNvSpPr txBox="1"/>
          <p:nvPr/>
        </p:nvSpPr>
        <p:spPr>
          <a:xfrm>
            <a:off x="5747004" y="3429000"/>
            <a:ext cx="28665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63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lang="en" sz="863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not</a:t>
            </a:r>
            <a:r>
              <a:rPr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binds tightly: not is_vip flips just is_vip, not the whole line.</a:t>
            </a:r>
            <a:endParaRPr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