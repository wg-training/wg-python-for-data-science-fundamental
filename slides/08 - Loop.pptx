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  <p:sldMasterId id="2147483712" r:id="rId5"/>
    <p:sldMasterId id="214748371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2">
          <p15:clr>
            <a:srgbClr val="747775"/>
          </p15:clr>
        </p15:guide>
        <p15:guide id="2" pos="2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2" orient="horz"/>
        <p:guide pos="25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oboto-bold.fntdata"/><Relationship Id="rId14" Type="http://schemas.openxmlformats.org/officeDocument/2006/relationships/slide" Target="slides/slide7.xml"/><Relationship Id="rId36" Type="http://schemas.openxmlformats.org/officeDocument/2006/relationships/font" Target="fonts/Roboto-regular.fntdata"/><Relationship Id="rId17" Type="http://schemas.openxmlformats.org/officeDocument/2006/relationships/slide" Target="slides/slide10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9.xml"/><Relationship Id="rId38" Type="http://schemas.openxmlformats.org/officeDocument/2006/relationships/font" Target="fonts/Roboto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cfb310f500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cfb310f500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ce3b1bb3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ce3b1bb3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7bbc5f39d_0_3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3f7bbc5f39d_0_3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f7bbc5f39d_0_3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44fec0953_4_26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f44fec0953_4_26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82c5e9c6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f82c5e9c6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32b7c1041_2_2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f32b7c1041_2_2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fruits = ['apple', 'banana', 'cherry']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fruit in fruits: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print(fruit)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f32b7c1041_2_2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ce3b1bb3c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ce3b1bb3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f936d01f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f936d01f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f44fec0953_5_171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f44fec0953_5_171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f44fec0953_5_171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44fec0953_5_180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count = 0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count &lt; 5: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count = count + 1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print(count)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f44fec0953_5_180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f936d01f3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f936d01f3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f936d01f3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f936d01f3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f44fec0953_5_2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f44fec0953_5_2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f44fec0953_5_188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g3f44fec0953_5_188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f44fec0953_5_188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f44fec0953_5_2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f44fec0953_5_2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f66b1364d1_0_25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g3f66b1364d1_0_25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in range(3):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 j in range(3):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print(i, j)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(0,0) (0,1) (0,2)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(1,0) (1,1) (1,2) ...</a:t>
            </a:r>
            <a:endParaRPr/>
          </a:p>
        </p:txBody>
      </p:sp>
      <p:sp>
        <p:nvSpPr>
          <p:cNvPr id="828" name="Google Shape;828;g3f66b1364d1_0_25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f66b1364d1_0_26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g3f66b1364d1_0_26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 = ['apple', 'banana', 'cherry']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idx, val in enumerate(fruits):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print(idx, val)  # 0 apple ...</a:t>
            </a:r>
            <a:endParaRPr/>
          </a:p>
        </p:txBody>
      </p:sp>
      <p:sp>
        <p:nvSpPr>
          <p:cNvPr id="837" name="Google Shape;837;g3f66b1364d1_0_26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f66b1364d1_0_2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g3f66b1364d1_0_27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= ['Alice', 'Bob']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scores = [95, 87]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n, s in zip(names, scores):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print(n, s)</a:t>
            </a:r>
            <a:endParaRPr/>
          </a:p>
        </p:txBody>
      </p:sp>
      <p:sp>
        <p:nvSpPr>
          <p:cNvPr id="847" name="Google Shape;847;g3f66b1364d1_0_27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f44fec0953_5_215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g3f44fec0953_5_215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g3f44fec0953_5_215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f66b1364d1_0_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f66b1364d1_0_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690757e71_1_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3f690757e71_1_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690757e71_1_1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3f690757e71_1_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690757e71_1_3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g3f690757e71_1_3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f690757e71_1_3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3f690757e71_1_3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f690757e71_1_31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g3f690757e71_1_31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f66b1364d1_0_82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f66b1364d1_0_82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f66b1364d1_0_84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f66b1364d1_0_84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66b1364d1_0_135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f66b1364d1_0_135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64450" y="252520"/>
            <a:ext cx="4045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b="1" sz="27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972973"/>
            <a:ext cx="4045200" cy="30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834350" y="245550"/>
            <a:ext cx="4045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987543"/>
            <a:ext cx="4045200" cy="30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4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1" name="Google Shape;101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1" name="Google Shape;111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d70bf31d_14_0)">
  <p:cSld name="Generated (g3dfd70bf31d_14_0)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28_0)">
  <p:cSld name="Title and body (g3dfd70bf31d_28_0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35_0)">
  <p:cSld name="Title and body (g3dfd70bf31d_35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93094ff1_9_0)">
  <p:cSld name="Title and body (g3e193094ff1_9_0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c8834e29_20_0)">
  <p:cSld name="Title and body (g3e1c8834e29_20_0)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c8834e29_30_0)">
  <p:cSld name="Title and body (g3e1c8834e29_30_0)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c8834e29_38_0)">
  <p:cSld name="Title and body (g3e1c8834e29_38_0)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44fec0953_12_0)">
  <p:cSld name="Title and body (g3f44fec0953_12_0)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44fec0953_28_0)">
  <p:cSld name="Title and body (g3f44fec0953_28_0)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>
            <a:off x="8206283" y="-573328"/>
            <a:ext cx="1509000" cy="15090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0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2" name="Google Shape;162;p30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30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68" name="Google Shape;168;p31"/>
          <p:cNvSpPr/>
          <p:nvPr/>
        </p:nvSpPr>
        <p:spPr>
          <a:xfrm>
            <a:off x="411480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1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1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1"/>
          <p:cNvSpPr txBox="1"/>
          <p:nvPr>
            <p:ph idx="2" type="body"/>
          </p:nvPr>
        </p:nvSpPr>
        <p:spPr>
          <a:xfrm>
            <a:off x="582930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3" type="body"/>
          </p:nvPr>
        </p:nvSpPr>
        <p:spPr>
          <a:xfrm>
            <a:off x="582930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31"/>
          <p:cNvSpPr/>
          <p:nvPr/>
        </p:nvSpPr>
        <p:spPr>
          <a:xfrm>
            <a:off x="2558034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1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 txBox="1"/>
          <p:nvPr>
            <p:ph idx="4" type="body"/>
          </p:nvPr>
        </p:nvSpPr>
        <p:spPr>
          <a:xfrm>
            <a:off x="2729484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31"/>
          <p:cNvSpPr txBox="1"/>
          <p:nvPr>
            <p:ph idx="5" type="body"/>
          </p:nvPr>
        </p:nvSpPr>
        <p:spPr>
          <a:xfrm>
            <a:off x="2729484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4704588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1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1"/>
          <p:cNvSpPr txBox="1"/>
          <p:nvPr>
            <p:ph idx="6" type="body"/>
          </p:nvPr>
        </p:nvSpPr>
        <p:spPr>
          <a:xfrm>
            <a:off x="4876038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7" type="body"/>
          </p:nvPr>
        </p:nvSpPr>
        <p:spPr>
          <a:xfrm>
            <a:off x="4876038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31"/>
          <p:cNvSpPr/>
          <p:nvPr/>
        </p:nvSpPr>
        <p:spPr>
          <a:xfrm>
            <a:off x="6851142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/>
          <p:nvPr>
            <p:ph idx="8" type="body"/>
          </p:nvPr>
        </p:nvSpPr>
        <p:spPr>
          <a:xfrm>
            <a:off x="7022592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31"/>
          <p:cNvSpPr txBox="1"/>
          <p:nvPr>
            <p:ph idx="9" type="body"/>
          </p:nvPr>
        </p:nvSpPr>
        <p:spPr>
          <a:xfrm>
            <a:off x="7022592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32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3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8" name="Google Shape;198;p33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FLOW_DIAGRAM">
  <p:cSld name="S08_FLOW_DIAGRAM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03" name="Google Shape;203;p34"/>
          <p:cNvSpPr/>
          <p:nvPr/>
        </p:nvSpPr>
        <p:spPr>
          <a:xfrm>
            <a:off x="48006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4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229743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264033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4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34"/>
          <p:cNvSpPr/>
          <p:nvPr/>
        </p:nvSpPr>
        <p:spPr>
          <a:xfrm>
            <a:off x="445770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80060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4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34"/>
          <p:cNvSpPr/>
          <p:nvPr/>
        </p:nvSpPr>
        <p:spPr>
          <a:xfrm>
            <a:off x="661797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696087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34"/>
          <p:cNvSpPr txBox="1"/>
          <p:nvPr>
            <p:ph idx="6" type="body"/>
          </p:nvPr>
        </p:nvSpPr>
        <p:spPr>
          <a:xfrm>
            <a:off x="480060" y="2571750"/>
            <a:ext cx="81609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5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0" name="Google Shape;220;p35"/>
          <p:cNvSpPr txBox="1"/>
          <p:nvPr>
            <p:ph idx="2" type="body"/>
          </p:nvPr>
        </p:nvSpPr>
        <p:spPr>
          <a:xfrm>
            <a:off x="411480" y="106299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35"/>
          <p:cNvSpPr txBox="1"/>
          <p:nvPr>
            <p:ph idx="3" type="body"/>
          </p:nvPr>
        </p:nvSpPr>
        <p:spPr>
          <a:xfrm>
            <a:off x="411480" y="1371600"/>
            <a:ext cx="39093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800"/>
              <a:buFont typeface="Arial"/>
              <a:buNone/>
              <a:defRPr b="0" i="1" sz="8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24" name="Google Shape;224;p35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35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35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p35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32" name="Google Shape;232;p36"/>
          <p:cNvSpPr/>
          <p:nvPr/>
        </p:nvSpPr>
        <p:spPr>
          <a:xfrm>
            <a:off x="411480" y="1062990"/>
            <a:ext cx="4046100" cy="2880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 txBox="1"/>
          <p:nvPr>
            <p:ph idx="2" type="body"/>
          </p:nvPr>
        </p:nvSpPr>
        <p:spPr>
          <a:xfrm>
            <a:off x="651510" y="123444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36"/>
          <p:cNvSpPr txBox="1"/>
          <p:nvPr>
            <p:ph idx="3" type="body"/>
          </p:nvPr>
        </p:nvSpPr>
        <p:spPr>
          <a:xfrm>
            <a:off x="651510" y="1611630"/>
            <a:ext cx="35664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p36"/>
          <p:cNvSpPr/>
          <p:nvPr/>
        </p:nvSpPr>
        <p:spPr>
          <a:xfrm>
            <a:off x="4663440" y="1062990"/>
            <a:ext cx="4046100" cy="2880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 txBox="1"/>
          <p:nvPr>
            <p:ph idx="4" type="body"/>
          </p:nvPr>
        </p:nvSpPr>
        <p:spPr>
          <a:xfrm>
            <a:off x="4903470" y="123444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p36"/>
          <p:cNvSpPr txBox="1"/>
          <p:nvPr>
            <p:ph idx="5" type="body"/>
          </p:nvPr>
        </p:nvSpPr>
        <p:spPr>
          <a:xfrm>
            <a:off x="4903470" y="1611630"/>
            <a:ext cx="35664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3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42" name="Google Shape;242;p37"/>
          <p:cNvSpPr txBox="1"/>
          <p:nvPr>
            <p:ph idx="2" type="body"/>
          </p:nvPr>
        </p:nvSpPr>
        <p:spPr>
          <a:xfrm>
            <a:off x="411480" y="1062990"/>
            <a:ext cx="47319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37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37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NUMBERED_ROWS_4">
  <p:cSld name="S10_NUMBERED_ROWS_4"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8" name="Google Shape;248;p3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300"/>
              <a:buFont typeface="Roboto"/>
              <a:buNone/>
              <a:defRPr b="1" i="0" sz="23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49" name="Google Shape;249;p38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8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8"/>
          <p:cNvSpPr txBox="1"/>
          <p:nvPr>
            <p:ph idx="2" type="body"/>
          </p:nvPr>
        </p:nvSpPr>
        <p:spPr>
          <a:xfrm>
            <a:off x="925830" y="10629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2" name="Google Shape;252;p38"/>
          <p:cNvSpPr txBox="1"/>
          <p:nvPr>
            <p:ph idx="3" type="body"/>
          </p:nvPr>
        </p:nvSpPr>
        <p:spPr>
          <a:xfrm>
            <a:off x="925830" y="13510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38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8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8"/>
          <p:cNvSpPr txBox="1"/>
          <p:nvPr>
            <p:ph idx="4" type="body"/>
          </p:nvPr>
        </p:nvSpPr>
        <p:spPr>
          <a:xfrm>
            <a:off x="925830" y="19545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8"/>
          <p:cNvSpPr txBox="1"/>
          <p:nvPr>
            <p:ph idx="5" type="body"/>
          </p:nvPr>
        </p:nvSpPr>
        <p:spPr>
          <a:xfrm>
            <a:off x="925830" y="22425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38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8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8"/>
          <p:cNvSpPr txBox="1"/>
          <p:nvPr>
            <p:ph idx="6" type="body"/>
          </p:nvPr>
        </p:nvSpPr>
        <p:spPr>
          <a:xfrm>
            <a:off x="925830" y="284607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38"/>
          <p:cNvSpPr txBox="1"/>
          <p:nvPr>
            <p:ph idx="7" type="body"/>
          </p:nvPr>
        </p:nvSpPr>
        <p:spPr>
          <a:xfrm>
            <a:off x="925830" y="313410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1" name="Google Shape;261;p38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8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8"/>
          <p:cNvSpPr txBox="1"/>
          <p:nvPr>
            <p:ph idx="8" type="body"/>
          </p:nvPr>
        </p:nvSpPr>
        <p:spPr>
          <a:xfrm>
            <a:off x="925830" y="37376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4" name="Google Shape;264;p38"/>
          <p:cNvSpPr txBox="1"/>
          <p:nvPr>
            <p:ph idx="9" type="body"/>
          </p:nvPr>
        </p:nvSpPr>
        <p:spPr>
          <a:xfrm>
            <a:off x="925830" y="40256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3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CLOSING_NAVY">
  <p:cSld name="S16_CLOSING_NAVY">
    <p:bg>
      <p:bgPr>
        <a:solidFill>
          <a:srgbClr val="2A348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9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9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70" name="Google Shape;270;p39"/>
          <p:cNvSpPr txBox="1"/>
          <p:nvPr>
            <p:ph idx="1" type="body"/>
          </p:nvPr>
        </p:nvSpPr>
        <p:spPr>
          <a:xfrm>
            <a:off x="617220" y="2537460"/>
            <a:ext cx="651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71" name="Google Shape;271;p39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39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6" name="Google Shape;276;p4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77" name="Google Shape;277;p40"/>
          <p:cNvSpPr/>
          <p:nvPr/>
        </p:nvSpPr>
        <p:spPr>
          <a:xfrm>
            <a:off x="411480" y="106299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0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0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0"/>
          <p:cNvSpPr txBox="1"/>
          <p:nvPr>
            <p:ph idx="2" type="body"/>
          </p:nvPr>
        </p:nvSpPr>
        <p:spPr>
          <a:xfrm>
            <a:off x="58293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1" name="Google Shape;281;p40"/>
          <p:cNvSpPr txBox="1"/>
          <p:nvPr>
            <p:ph idx="3" type="body"/>
          </p:nvPr>
        </p:nvSpPr>
        <p:spPr>
          <a:xfrm>
            <a:off x="58293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2" name="Google Shape;282;p40"/>
          <p:cNvSpPr/>
          <p:nvPr/>
        </p:nvSpPr>
        <p:spPr>
          <a:xfrm>
            <a:off x="3257550" y="1062990"/>
            <a:ext cx="2640300" cy="21948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0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0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0"/>
          <p:cNvSpPr txBox="1"/>
          <p:nvPr>
            <p:ph idx="4" type="body"/>
          </p:nvPr>
        </p:nvSpPr>
        <p:spPr>
          <a:xfrm>
            <a:off x="342900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6" name="Google Shape;286;p40"/>
          <p:cNvSpPr txBox="1"/>
          <p:nvPr>
            <p:ph idx="5" type="body"/>
          </p:nvPr>
        </p:nvSpPr>
        <p:spPr>
          <a:xfrm>
            <a:off x="342900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7" name="Google Shape;287;p40"/>
          <p:cNvSpPr/>
          <p:nvPr/>
        </p:nvSpPr>
        <p:spPr>
          <a:xfrm>
            <a:off x="6103620" y="106299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0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0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0"/>
          <p:cNvSpPr txBox="1"/>
          <p:nvPr>
            <p:ph idx="6" type="body"/>
          </p:nvPr>
        </p:nvSpPr>
        <p:spPr>
          <a:xfrm>
            <a:off x="627507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40"/>
          <p:cNvSpPr txBox="1"/>
          <p:nvPr>
            <p:ph idx="7" type="body"/>
          </p:nvPr>
        </p:nvSpPr>
        <p:spPr>
          <a:xfrm>
            <a:off x="627507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40"/>
          <p:cNvSpPr txBox="1"/>
          <p:nvPr>
            <p:ph idx="8" type="body"/>
          </p:nvPr>
        </p:nvSpPr>
        <p:spPr>
          <a:xfrm>
            <a:off x="411480" y="349758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4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6" name="Google Shape;296;p4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97" name="Google Shape;297;p41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1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1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0" name="Google Shape;300;p41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41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1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1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41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41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1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1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8" name="Google Shape;308;p41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9" name="Google Shape;309;p4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2" name="Google Shape;312;p4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13" name="Google Shape;313;p42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2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6" name="Google Shape;316;p42"/>
          <p:cNvSpPr txBox="1"/>
          <p:nvPr>
            <p:ph idx="3" type="body"/>
          </p:nvPr>
        </p:nvSpPr>
        <p:spPr>
          <a:xfrm>
            <a:off x="857250" y="1440180"/>
            <a:ext cx="35664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42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2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2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42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1" name="Google Shape;321;p42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2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42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4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4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29" name="Google Shape;329;p43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0" name="Google Shape;330;p43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3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2" name="Google Shape;332;p43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3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43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3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6" name="Google Shape;336;p43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3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8" name="Google Shape;338;p4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FIVE_CARDS">
  <p:cSld name="S13_FIVE_CARDS"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1" name="Google Shape;341;p4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42" name="Google Shape;342;p44"/>
          <p:cNvSpPr/>
          <p:nvPr/>
        </p:nvSpPr>
        <p:spPr>
          <a:xfrm>
            <a:off x="411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4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4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4"/>
          <p:cNvSpPr txBox="1"/>
          <p:nvPr>
            <p:ph idx="2" type="body"/>
          </p:nvPr>
        </p:nvSpPr>
        <p:spPr>
          <a:xfrm>
            <a:off x="562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6" name="Google Shape;346;p44"/>
          <p:cNvSpPr txBox="1"/>
          <p:nvPr>
            <p:ph idx="3" type="body"/>
          </p:nvPr>
        </p:nvSpPr>
        <p:spPr>
          <a:xfrm>
            <a:off x="562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" name="Google Shape;347;p44"/>
          <p:cNvSpPr/>
          <p:nvPr/>
        </p:nvSpPr>
        <p:spPr>
          <a:xfrm>
            <a:off x="2125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4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4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4"/>
          <p:cNvSpPr txBox="1"/>
          <p:nvPr>
            <p:ph idx="4" type="body"/>
          </p:nvPr>
        </p:nvSpPr>
        <p:spPr>
          <a:xfrm>
            <a:off x="2276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1" name="Google Shape;351;p44"/>
          <p:cNvSpPr txBox="1"/>
          <p:nvPr>
            <p:ph idx="5" type="body"/>
          </p:nvPr>
        </p:nvSpPr>
        <p:spPr>
          <a:xfrm>
            <a:off x="22768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2" name="Google Shape;352;p44"/>
          <p:cNvSpPr/>
          <p:nvPr/>
        </p:nvSpPr>
        <p:spPr>
          <a:xfrm>
            <a:off x="3840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4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4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4"/>
          <p:cNvSpPr txBox="1"/>
          <p:nvPr>
            <p:ph idx="6" type="body"/>
          </p:nvPr>
        </p:nvSpPr>
        <p:spPr>
          <a:xfrm>
            <a:off x="3991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6" name="Google Shape;356;p44"/>
          <p:cNvSpPr txBox="1"/>
          <p:nvPr>
            <p:ph idx="7" type="body"/>
          </p:nvPr>
        </p:nvSpPr>
        <p:spPr>
          <a:xfrm>
            <a:off x="3991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7" name="Google Shape;357;p44"/>
          <p:cNvSpPr/>
          <p:nvPr/>
        </p:nvSpPr>
        <p:spPr>
          <a:xfrm>
            <a:off x="5554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4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4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4"/>
          <p:cNvSpPr txBox="1"/>
          <p:nvPr>
            <p:ph idx="8" type="body"/>
          </p:nvPr>
        </p:nvSpPr>
        <p:spPr>
          <a:xfrm>
            <a:off x="5705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1" name="Google Shape;361;p44"/>
          <p:cNvSpPr txBox="1"/>
          <p:nvPr>
            <p:ph idx="9" type="body"/>
          </p:nvPr>
        </p:nvSpPr>
        <p:spPr>
          <a:xfrm>
            <a:off x="57058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2" name="Google Shape;362;p44"/>
          <p:cNvSpPr/>
          <p:nvPr/>
        </p:nvSpPr>
        <p:spPr>
          <a:xfrm>
            <a:off x="7269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4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4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4"/>
          <p:cNvSpPr txBox="1"/>
          <p:nvPr>
            <p:ph idx="13" type="body"/>
          </p:nvPr>
        </p:nvSpPr>
        <p:spPr>
          <a:xfrm>
            <a:off x="7420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6" name="Google Shape;366;p44"/>
          <p:cNvSpPr txBox="1"/>
          <p:nvPr>
            <p:ph idx="14" type="body"/>
          </p:nvPr>
        </p:nvSpPr>
        <p:spPr>
          <a:xfrm>
            <a:off x="7420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7" name="Google Shape;367;p4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CONTENT_IMAGE_RIGHT">
  <p:cSld name="S15_CONTENT_IMAGE_RIGHT"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4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71" name="Google Shape;371;p45"/>
          <p:cNvSpPr txBox="1"/>
          <p:nvPr>
            <p:ph idx="2" type="body"/>
          </p:nvPr>
        </p:nvSpPr>
        <p:spPr>
          <a:xfrm>
            <a:off x="411480" y="1062990"/>
            <a:ext cx="384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2" name="Google Shape;372;p45"/>
          <p:cNvSpPr txBox="1"/>
          <p:nvPr>
            <p:ph idx="3" type="body"/>
          </p:nvPr>
        </p:nvSpPr>
        <p:spPr>
          <a:xfrm>
            <a:off x="4457700" y="1062990"/>
            <a:ext cx="43206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3" name="Google Shape;373;p4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6"/>
          <p:cNvSpPr txBox="1"/>
          <p:nvPr>
            <p:ph type="title"/>
          </p:nvPr>
        </p:nvSpPr>
        <p:spPr>
          <a:xfrm>
            <a:off x="265500" y="8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b="1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b="1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b="1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b="1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b="1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b="1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b="1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b="1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b="1" sz="4200"/>
            </a:lvl9pPr>
          </a:lstStyle>
          <a:p/>
        </p:txBody>
      </p:sp>
      <p:sp>
        <p:nvSpPr>
          <p:cNvPr id="377" name="Google Shape;377;p4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8" name="Google Shape;378;p4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46"/>
          <p:cNvSpPr txBox="1"/>
          <p:nvPr>
            <p:ph idx="2" type="title"/>
          </p:nvPr>
        </p:nvSpPr>
        <p:spPr>
          <a:xfrm>
            <a:off x="4835400" y="-36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●"/>
              <a:defRPr b="1"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○"/>
              <a:defRPr b="1"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■"/>
              <a:defRPr b="1"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●"/>
              <a:defRPr b="1"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○"/>
              <a:defRPr b="1"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■"/>
              <a:defRPr b="1"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●"/>
              <a:defRPr b="1"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○"/>
              <a:defRPr b="1"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■"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0" name="Google Shape;380;p46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3" name="Google Shape;383;p4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84" name="Google Shape;384;p4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5" name="Google Shape;385;p4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6" name="Google Shape;386;p47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7" name="Google Shape;387;p47"/>
          <p:cNvSpPr txBox="1"/>
          <p:nvPr>
            <p:ph idx="5" type="body"/>
          </p:nvPr>
        </p:nvSpPr>
        <p:spPr>
          <a:xfrm>
            <a:off x="2811780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8" name="Google Shape;388;p47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9" name="Google Shape;389;p47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0" name="Google Shape;390;p47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1" name="Google Shape;391;p47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2" name="Google Shape;392;p47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3" name="Google Shape;393;p47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4" name="Google Shape;394;p47"/>
          <p:cNvSpPr txBox="1"/>
          <p:nvPr>
            <p:ph idx="15" type="body"/>
          </p:nvPr>
        </p:nvSpPr>
        <p:spPr>
          <a:xfrm>
            <a:off x="7084314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5" name="Google Shape;395;p47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6" name="Google Shape;396;p47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7" name="Google Shape;397;p47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p4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/>
          <p:nvPr/>
        </p:nvSpPr>
        <p:spPr>
          <a:xfrm>
            <a:off x="8206283" y="-573328"/>
            <a:ext cx="1509000" cy="15090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9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05" name="Google Shape;405;p49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6" name="Google Shape;406;p49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07" name="Google Shape;407;p49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49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9" name="Google Shape;409;p4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0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13" name="Google Shape;413;p50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4" name="Google Shape;414;p50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8" name="Google Shape;418;p5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19" name="Google Shape;419;p51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1"/>
          <p:cNvSpPr txBox="1"/>
          <p:nvPr>
            <p:ph idx="2" type="body"/>
          </p:nvPr>
        </p:nvSpPr>
        <p:spPr>
          <a:xfrm>
            <a:off x="240030" y="68580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1" name="Google Shape;421;p51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2" name="Google Shape;422;p51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3" name="Google Shape;423;p51"/>
          <p:cNvSpPr txBox="1"/>
          <p:nvPr>
            <p:ph idx="5" type="body"/>
          </p:nvPr>
        </p:nvSpPr>
        <p:spPr>
          <a:xfrm>
            <a:off x="2811780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4" name="Google Shape;424;p51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5" name="Google Shape;425;p51"/>
          <p:cNvSpPr/>
          <p:nvPr/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Roboto"/>
              <a:buNone/>
            </a:pPr>
            <a:r>
              <a:rPr b="1" i="0" lang="en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1"/>
          <p:cNvSpPr txBox="1"/>
          <p:nvPr>
            <p:ph idx="7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7" name="Google Shape;427;p51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1"/>
          <p:cNvSpPr txBox="1"/>
          <p:nvPr>
            <p:ph idx="8" type="body"/>
          </p:nvPr>
        </p:nvSpPr>
        <p:spPr>
          <a:xfrm>
            <a:off x="4512564" y="68580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9" name="Google Shape;429;p51"/>
          <p:cNvSpPr txBox="1"/>
          <p:nvPr>
            <p:ph idx="9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0" name="Google Shape;430;p51"/>
          <p:cNvSpPr txBox="1"/>
          <p:nvPr>
            <p:ph idx="13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1" name="Google Shape;431;p51"/>
          <p:cNvSpPr txBox="1"/>
          <p:nvPr>
            <p:ph idx="14" type="body"/>
          </p:nvPr>
        </p:nvSpPr>
        <p:spPr>
          <a:xfrm>
            <a:off x="7084314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2" name="Google Shape;432;p51"/>
          <p:cNvSpPr txBox="1"/>
          <p:nvPr>
            <p:ph idx="15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3" name="Google Shape;433;p51"/>
          <p:cNvSpPr/>
          <p:nvPr/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Roboto"/>
              <a:buNone/>
            </a:pPr>
            <a:r>
              <a:rPr b="1" i="0" lang="en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1"/>
          <p:cNvSpPr txBox="1"/>
          <p:nvPr>
            <p:ph idx="16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5" name="Google Shape;435;p5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8" name="Google Shape;438;p5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39" name="Google Shape;439;p52"/>
          <p:cNvSpPr txBox="1"/>
          <p:nvPr>
            <p:ph idx="2" type="body"/>
          </p:nvPr>
        </p:nvSpPr>
        <p:spPr>
          <a:xfrm>
            <a:off x="3497580" y="65151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0" name="Google Shape;440;p52"/>
          <p:cNvSpPr txBox="1"/>
          <p:nvPr>
            <p:ph idx="3" type="body"/>
          </p:nvPr>
        </p:nvSpPr>
        <p:spPr>
          <a:xfrm>
            <a:off x="582930" y="822960"/>
            <a:ext cx="43890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1" name="Google Shape;441;p52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2" name="Google Shape;442;p52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3" name="Google Shape;443;p52"/>
          <p:cNvSpPr txBox="1"/>
          <p:nvPr>
            <p:ph idx="6" type="body"/>
          </p:nvPr>
        </p:nvSpPr>
        <p:spPr>
          <a:xfrm>
            <a:off x="5417820" y="3051610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4" name="Google Shape;444;p5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CLOSING_NAVY">
  <p:cSld name="S16_CLOSING_NAVY">
    <p:bg>
      <p:bgPr>
        <a:solidFill>
          <a:srgbClr val="2A348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3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3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3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49" name="Google Shape;449;p53"/>
          <p:cNvSpPr txBox="1"/>
          <p:nvPr>
            <p:ph idx="1" type="body"/>
          </p:nvPr>
        </p:nvSpPr>
        <p:spPr>
          <a:xfrm>
            <a:off x="617220" y="2537460"/>
            <a:ext cx="651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50" name="Google Shape;450;p53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53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2" name="Google Shape;452;p5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6" name="Google Shape;456;p5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57" name="Google Shape;457;p55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57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○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050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6700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●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8" name="Google Shape;458;p5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1" name="Google Shape;461;p5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62" name="Google Shape;462;p56"/>
          <p:cNvSpPr/>
          <p:nvPr/>
        </p:nvSpPr>
        <p:spPr>
          <a:xfrm>
            <a:off x="411480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6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6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6"/>
          <p:cNvSpPr txBox="1"/>
          <p:nvPr>
            <p:ph idx="2" type="body"/>
          </p:nvPr>
        </p:nvSpPr>
        <p:spPr>
          <a:xfrm>
            <a:off x="582930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6" name="Google Shape;466;p56"/>
          <p:cNvSpPr txBox="1"/>
          <p:nvPr>
            <p:ph idx="3" type="body"/>
          </p:nvPr>
        </p:nvSpPr>
        <p:spPr>
          <a:xfrm>
            <a:off x="582930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7" name="Google Shape;467;p56"/>
          <p:cNvSpPr/>
          <p:nvPr/>
        </p:nvSpPr>
        <p:spPr>
          <a:xfrm>
            <a:off x="2558034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6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6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56"/>
          <p:cNvSpPr txBox="1"/>
          <p:nvPr>
            <p:ph idx="4" type="body"/>
          </p:nvPr>
        </p:nvSpPr>
        <p:spPr>
          <a:xfrm>
            <a:off x="2729484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1" name="Google Shape;471;p56"/>
          <p:cNvSpPr txBox="1"/>
          <p:nvPr>
            <p:ph idx="5" type="body"/>
          </p:nvPr>
        </p:nvSpPr>
        <p:spPr>
          <a:xfrm>
            <a:off x="2729484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2" name="Google Shape;472;p56"/>
          <p:cNvSpPr/>
          <p:nvPr/>
        </p:nvSpPr>
        <p:spPr>
          <a:xfrm>
            <a:off x="4704588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6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6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6"/>
          <p:cNvSpPr txBox="1"/>
          <p:nvPr>
            <p:ph idx="6" type="body"/>
          </p:nvPr>
        </p:nvSpPr>
        <p:spPr>
          <a:xfrm>
            <a:off x="4876038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6" name="Google Shape;476;p56"/>
          <p:cNvSpPr txBox="1"/>
          <p:nvPr>
            <p:ph idx="7" type="body"/>
          </p:nvPr>
        </p:nvSpPr>
        <p:spPr>
          <a:xfrm>
            <a:off x="4876038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7" name="Google Shape;477;p56"/>
          <p:cNvSpPr/>
          <p:nvPr/>
        </p:nvSpPr>
        <p:spPr>
          <a:xfrm>
            <a:off x="6851142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6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6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56"/>
          <p:cNvSpPr txBox="1"/>
          <p:nvPr>
            <p:ph idx="8" type="body"/>
          </p:nvPr>
        </p:nvSpPr>
        <p:spPr>
          <a:xfrm>
            <a:off x="7022592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1" name="Google Shape;481;p56"/>
          <p:cNvSpPr txBox="1"/>
          <p:nvPr>
            <p:ph idx="9" type="body"/>
          </p:nvPr>
        </p:nvSpPr>
        <p:spPr>
          <a:xfrm>
            <a:off x="7022592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2" name="Google Shape;482;p5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5" name="Google Shape;485;p5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86" name="Google Shape;486;p57"/>
          <p:cNvSpPr/>
          <p:nvPr/>
        </p:nvSpPr>
        <p:spPr>
          <a:xfrm>
            <a:off x="411480" y="106299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7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7"/>
          <p:cNvSpPr txBox="1"/>
          <p:nvPr>
            <p:ph idx="2" type="body"/>
          </p:nvPr>
        </p:nvSpPr>
        <p:spPr>
          <a:xfrm>
            <a:off x="58293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0" name="Google Shape;490;p57"/>
          <p:cNvSpPr txBox="1"/>
          <p:nvPr>
            <p:ph idx="3" type="body"/>
          </p:nvPr>
        </p:nvSpPr>
        <p:spPr>
          <a:xfrm>
            <a:off x="58293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1" name="Google Shape;491;p57"/>
          <p:cNvSpPr/>
          <p:nvPr/>
        </p:nvSpPr>
        <p:spPr>
          <a:xfrm>
            <a:off x="3257550" y="1062990"/>
            <a:ext cx="2640300" cy="21948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7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7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57"/>
          <p:cNvSpPr txBox="1"/>
          <p:nvPr>
            <p:ph idx="4" type="body"/>
          </p:nvPr>
        </p:nvSpPr>
        <p:spPr>
          <a:xfrm>
            <a:off x="342900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5" name="Google Shape;495;p57"/>
          <p:cNvSpPr txBox="1"/>
          <p:nvPr>
            <p:ph idx="5" type="body"/>
          </p:nvPr>
        </p:nvSpPr>
        <p:spPr>
          <a:xfrm>
            <a:off x="342900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6" name="Google Shape;496;p57"/>
          <p:cNvSpPr/>
          <p:nvPr/>
        </p:nvSpPr>
        <p:spPr>
          <a:xfrm>
            <a:off x="6103620" y="106299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7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7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7"/>
          <p:cNvSpPr txBox="1"/>
          <p:nvPr>
            <p:ph idx="6" type="body"/>
          </p:nvPr>
        </p:nvSpPr>
        <p:spPr>
          <a:xfrm>
            <a:off x="627507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0" name="Google Shape;500;p57"/>
          <p:cNvSpPr txBox="1"/>
          <p:nvPr>
            <p:ph idx="7" type="body"/>
          </p:nvPr>
        </p:nvSpPr>
        <p:spPr>
          <a:xfrm>
            <a:off x="627507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1" name="Google Shape;501;p57"/>
          <p:cNvSpPr txBox="1"/>
          <p:nvPr>
            <p:ph idx="8" type="body"/>
          </p:nvPr>
        </p:nvSpPr>
        <p:spPr>
          <a:xfrm>
            <a:off x="411480" y="349758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2" name="Google Shape;502;p5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5" name="Google Shape;505;p5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06" name="Google Shape;506;p58"/>
          <p:cNvSpPr/>
          <p:nvPr/>
        </p:nvSpPr>
        <p:spPr>
          <a:xfrm>
            <a:off x="411480" y="1062990"/>
            <a:ext cx="4046100" cy="2880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8"/>
          <p:cNvSpPr txBox="1"/>
          <p:nvPr>
            <p:ph idx="2" type="body"/>
          </p:nvPr>
        </p:nvSpPr>
        <p:spPr>
          <a:xfrm>
            <a:off x="651510" y="123444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8" name="Google Shape;508;p58"/>
          <p:cNvSpPr txBox="1"/>
          <p:nvPr>
            <p:ph idx="3" type="body"/>
          </p:nvPr>
        </p:nvSpPr>
        <p:spPr>
          <a:xfrm>
            <a:off x="651510" y="1611630"/>
            <a:ext cx="35664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9" name="Google Shape;509;p58"/>
          <p:cNvSpPr/>
          <p:nvPr/>
        </p:nvSpPr>
        <p:spPr>
          <a:xfrm>
            <a:off x="4663440" y="1062990"/>
            <a:ext cx="4046100" cy="2880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8"/>
          <p:cNvSpPr txBox="1"/>
          <p:nvPr>
            <p:ph idx="4" type="body"/>
          </p:nvPr>
        </p:nvSpPr>
        <p:spPr>
          <a:xfrm>
            <a:off x="4903470" y="123444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1" name="Google Shape;511;p58"/>
          <p:cNvSpPr txBox="1"/>
          <p:nvPr>
            <p:ph idx="5" type="body"/>
          </p:nvPr>
        </p:nvSpPr>
        <p:spPr>
          <a:xfrm>
            <a:off x="4903470" y="1611630"/>
            <a:ext cx="35664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2" name="Google Shape;512;p5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9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9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16" name="Google Shape;516;p59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7" name="Google Shape;517;p59"/>
          <p:cNvSpPr txBox="1"/>
          <p:nvPr>
            <p:ph idx="2" type="body"/>
          </p:nvPr>
        </p:nvSpPr>
        <p:spPr>
          <a:xfrm>
            <a:off x="411480" y="106299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8" name="Google Shape;518;p59"/>
          <p:cNvSpPr txBox="1"/>
          <p:nvPr>
            <p:ph idx="3" type="body"/>
          </p:nvPr>
        </p:nvSpPr>
        <p:spPr>
          <a:xfrm>
            <a:off x="411480" y="1371600"/>
            <a:ext cx="39093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9" name="Google Shape;519;p59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800"/>
              <a:buFont typeface="Arial"/>
              <a:buNone/>
              <a:defRPr b="0" i="1" sz="8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0" name="Google Shape;520;p59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1" name="Google Shape;521;p59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2" name="Google Shape;522;p59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3" name="Google Shape;523;p59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4" name="Google Shape;524;p59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5" name="Google Shape;525;p5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FLOW_DIAGRAM">
  <p:cSld name="S08_FLOW_DIAGRAM"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8" name="Google Shape;528;p6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9" name="Google Shape;529;p60"/>
          <p:cNvSpPr/>
          <p:nvPr/>
        </p:nvSpPr>
        <p:spPr>
          <a:xfrm>
            <a:off x="48006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0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1" name="Google Shape;531;p60"/>
          <p:cNvSpPr/>
          <p:nvPr/>
        </p:nvSpPr>
        <p:spPr>
          <a:xfrm>
            <a:off x="229743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0"/>
          <p:cNvSpPr/>
          <p:nvPr/>
        </p:nvSpPr>
        <p:spPr>
          <a:xfrm>
            <a:off x="264033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0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4" name="Google Shape;534;p60"/>
          <p:cNvSpPr/>
          <p:nvPr/>
        </p:nvSpPr>
        <p:spPr>
          <a:xfrm>
            <a:off x="445770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0"/>
          <p:cNvSpPr/>
          <p:nvPr/>
        </p:nvSpPr>
        <p:spPr>
          <a:xfrm>
            <a:off x="480060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0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7" name="Google Shape;537;p60"/>
          <p:cNvSpPr/>
          <p:nvPr/>
        </p:nvSpPr>
        <p:spPr>
          <a:xfrm>
            <a:off x="661797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60"/>
          <p:cNvSpPr/>
          <p:nvPr/>
        </p:nvSpPr>
        <p:spPr>
          <a:xfrm>
            <a:off x="696087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0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0" name="Google Shape;540;p60"/>
          <p:cNvSpPr txBox="1"/>
          <p:nvPr>
            <p:ph idx="6" type="body"/>
          </p:nvPr>
        </p:nvSpPr>
        <p:spPr>
          <a:xfrm>
            <a:off x="480060" y="2571750"/>
            <a:ext cx="81609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050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6700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■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1" name="Google Shape;541;p6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4" name="Google Shape;544;p6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5" name="Google Shape;545;p61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1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61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8" name="Google Shape;548;p61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9" name="Google Shape;549;p61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1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61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2" name="Google Shape;552;p61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3" name="Google Shape;553;p61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1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61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6" name="Google Shape;556;p61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7" name="Google Shape;557;p6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NUMBERED_ROWS_4">
  <p:cSld name="S10_NUMBERED_ROWS_4">
    <p:bg>
      <p:bgPr>
        <a:solidFill>
          <a:srgbClr val="FFFFFF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0" name="Google Shape;560;p6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300"/>
              <a:buFont typeface="Roboto"/>
              <a:buNone/>
              <a:defRPr b="1" i="0" sz="23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1" name="Google Shape;561;p62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2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62"/>
          <p:cNvSpPr txBox="1"/>
          <p:nvPr>
            <p:ph idx="2" type="body"/>
          </p:nvPr>
        </p:nvSpPr>
        <p:spPr>
          <a:xfrm>
            <a:off x="925830" y="10629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4" name="Google Shape;564;p62"/>
          <p:cNvSpPr txBox="1"/>
          <p:nvPr>
            <p:ph idx="3" type="body"/>
          </p:nvPr>
        </p:nvSpPr>
        <p:spPr>
          <a:xfrm>
            <a:off x="925830" y="13510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5" name="Google Shape;565;p62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62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2"/>
          <p:cNvSpPr txBox="1"/>
          <p:nvPr>
            <p:ph idx="4" type="body"/>
          </p:nvPr>
        </p:nvSpPr>
        <p:spPr>
          <a:xfrm>
            <a:off x="925830" y="19545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8" name="Google Shape;568;p62"/>
          <p:cNvSpPr txBox="1"/>
          <p:nvPr>
            <p:ph idx="5" type="body"/>
          </p:nvPr>
        </p:nvSpPr>
        <p:spPr>
          <a:xfrm>
            <a:off x="925830" y="22425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9" name="Google Shape;569;p62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62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2"/>
          <p:cNvSpPr txBox="1"/>
          <p:nvPr>
            <p:ph idx="6" type="body"/>
          </p:nvPr>
        </p:nvSpPr>
        <p:spPr>
          <a:xfrm>
            <a:off x="925830" y="284607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2" name="Google Shape;572;p62"/>
          <p:cNvSpPr txBox="1"/>
          <p:nvPr>
            <p:ph idx="7" type="body"/>
          </p:nvPr>
        </p:nvSpPr>
        <p:spPr>
          <a:xfrm>
            <a:off x="925830" y="313410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3" name="Google Shape;573;p62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2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62"/>
          <p:cNvSpPr txBox="1"/>
          <p:nvPr>
            <p:ph idx="8" type="body"/>
          </p:nvPr>
        </p:nvSpPr>
        <p:spPr>
          <a:xfrm>
            <a:off x="925830" y="37376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6" name="Google Shape;576;p62"/>
          <p:cNvSpPr txBox="1"/>
          <p:nvPr>
            <p:ph idx="9" type="body"/>
          </p:nvPr>
        </p:nvSpPr>
        <p:spPr>
          <a:xfrm>
            <a:off x="925830" y="40256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7" name="Google Shape;577;p6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0" name="Google Shape;580;p6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1" name="Google Shape;581;p63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3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63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4" name="Google Shape;584;p63"/>
          <p:cNvSpPr txBox="1"/>
          <p:nvPr>
            <p:ph idx="3" type="body"/>
          </p:nvPr>
        </p:nvSpPr>
        <p:spPr>
          <a:xfrm>
            <a:off x="857250" y="1440180"/>
            <a:ext cx="35664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5" name="Google Shape;585;p63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3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63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8" name="Google Shape;588;p63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9" name="Google Shape;589;p63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3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3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2" name="Google Shape;592;p63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3" name="Google Shape;593;p6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6" name="Google Shape;596;p6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7" name="Google Shape;597;p64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8" name="Google Shape;598;p64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64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0" name="Google Shape;600;p64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4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2" name="Google Shape;602;p64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4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4" name="Google Shape;604;p64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4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6" name="Google Shape;606;p6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FIVE_CARDS">
  <p:cSld name="S13_FIVE_CARDS">
    <p:bg>
      <p:bgPr>
        <a:solidFill>
          <a:srgbClr val="FFFFF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9" name="Google Shape;609;p6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10" name="Google Shape;610;p65"/>
          <p:cNvSpPr/>
          <p:nvPr/>
        </p:nvSpPr>
        <p:spPr>
          <a:xfrm>
            <a:off x="411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5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65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5"/>
          <p:cNvSpPr txBox="1"/>
          <p:nvPr>
            <p:ph idx="2" type="body"/>
          </p:nvPr>
        </p:nvSpPr>
        <p:spPr>
          <a:xfrm>
            <a:off x="562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4" name="Google Shape;614;p65"/>
          <p:cNvSpPr txBox="1"/>
          <p:nvPr>
            <p:ph idx="3" type="body"/>
          </p:nvPr>
        </p:nvSpPr>
        <p:spPr>
          <a:xfrm>
            <a:off x="562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5" name="Google Shape;615;p65"/>
          <p:cNvSpPr/>
          <p:nvPr/>
        </p:nvSpPr>
        <p:spPr>
          <a:xfrm>
            <a:off x="2125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5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5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65"/>
          <p:cNvSpPr txBox="1"/>
          <p:nvPr>
            <p:ph idx="4" type="body"/>
          </p:nvPr>
        </p:nvSpPr>
        <p:spPr>
          <a:xfrm>
            <a:off x="2276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9" name="Google Shape;619;p65"/>
          <p:cNvSpPr txBox="1"/>
          <p:nvPr>
            <p:ph idx="5" type="body"/>
          </p:nvPr>
        </p:nvSpPr>
        <p:spPr>
          <a:xfrm>
            <a:off x="22768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0" name="Google Shape;620;p65"/>
          <p:cNvSpPr/>
          <p:nvPr/>
        </p:nvSpPr>
        <p:spPr>
          <a:xfrm>
            <a:off x="3840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5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5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5"/>
          <p:cNvSpPr txBox="1"/>
          <p:nvPr>
            <p:ph idx="6" type="body"/>
          </p:nvPr>
        </p:nvSpPr>
        <p:spPr>
          <a:xfrm>
            <a:off x="3991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4" name="Google Shape;624;p65"/>
          <p:cNvSpPr txBox="1"/>
          <p:nvPr>
            <p:ph idx="7" type="body"/>
          </p:nvPr>
        </p:nvSpPr>
        <p:spPr>
          <a:xfrm>
            <a:off x="3991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5" name="Google Shape;625;p65"/>
          <p:cNvSpPr/>
          <p:nvPr/>
        </p:nvSpPr>
        <p:spPr>
          <a:xfrm>
            <a:off x="5554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5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65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5"/>
          <p:cNvSpPr txBox="1"/>
          <p:nvPr>
            <p:ph idx="8" type="body"/>
          </p:nvPr>
        </p:nvSpPr>
        <p:spPr>
          <a:xfrm>
            <a:off x="5705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9" name="Google Shape;629;p65"/>
          <p:cNvSpPr txBox="1"/>
          <p:nvPr>
            <p:ph idx="9" type="body"/>
          </p:nvPr>
        </p:nvSpPr>
        <p:spPr>
          <a:xfrm>
            <a:off x="57058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0" name="Google Shape;630;p65"/>
          <p:cNvSpPr/>
          <p:nvPr/>
        </p:nvSpPr>
        <p:spPr>
          <a:xfrm>
            <a:off x="7269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5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5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5"/>
          <p:cNvSpPr txBox="1"/>
          <p:nvPr>
            <p:ph idx="13" type="body"/>
          </p:nvPr>
        </p:nvSpPr>
        <p:spPr>
          <a:xfrm>
            <a:off x="7420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4" name="Google Shape;634;p65"/>
          <p:cNvSpPr txBox="1"/>
          <p:nvPr>
            <p:ph idx="14" type="body"/>
          </p:nvPr>
        </p:nvSpPr>
        <p:spPr>
          <a:xfrm>
            <a:off x="7420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5" name="Google Shape;635;p6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CONTENT_IMAGE_RIGHT">
  <p:cSld name="S15_CONTENT_IMAGE_RIGHT">
    <p:bg>
      <p:bgPr>
        <a:solidFill>
          <a:srgbClr val="FFFFF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8" name="Google Shape;638;p6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39" name="Google Shape;639;p66"/>
          <p:cNvSpPr txBox="1"/>
          <p:nvPr>
            <p:ph idx="2" type="body"/>
          </p:nvPr>
        </p:nvSpPr>
        <p:spPr>
          <a:xfrm>
            <a:off x="411480" y="1062990"/>
            <a:ext cx="384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57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○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050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0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6700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●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0" name="Google Shape;640;p66"/>
          <p:cNvSpPr txBox="1"/>
          <p:nvPr>
            <p:ph idx="3" type="body"/>
          </p:nvPr>
        </p:nvSpPr>
        <p:spPr>
          <a:xfrm>
            <a:off x="4457700" y="1062990"/>
            <a:ext cx="43206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1" name="Google Shape;641;p6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hyperlink" Target="https://programiz.pro/code-visualizer/python" TargetMode="External"/><Relationship Id="rId6" Type="http://schemas.openxmlformats.org/officeDocument/2006/relationships/hyperlink" Target="https://pythontutor.com/visualize.html#mode=display" TargetMode="External"/><Relationship Id="rId7" Type="http://schemas.openxmlformats.org/officeDocument/2006/relationships/hyperlink" Target="https://learn-code-with-vengleab.vercel.ap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</a:t>
            </a:r>
            <a:endParaRPr/>
          </a:p>
        </p:txBody>
      </p:sp>
      <p:sp>
        <p:nvSpPr>
          <p:cNvPr id="647" name="Google Shape;647;p6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8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Loop?</a:t>
            </a:r>
            <a:endParaRPr/>
          </a:p>
        </p:txBody>
      </p:sp>
      <p:sp>
        <p:nvSpPr>
          <p:cNvPr id="653" name="Google Shape;653;p68"/>
          <p:cNvSpPr txBox="1"/>
          <p:nvPr>
            <p:ph idx="1" type="body"/>
          </p:nvPr>
        </p:nvSpPr>
        <p:spPr>
          <a:xfrm>
            <a:off x="311700" y="892065"/>
            <a:ext cx="85206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loop helps in </a:t>
            </a:r>
            <a:r>
              <a:rPr lang="en">
                <a:solidFill>
                  <a:schemeClr val="accent4"/>
                </a:solidFill>
              </a:rPr>
              <a:t>executing </a:t>
            </a:r>
            <a:r>
              <a:rPr lang="en"/>
              <a:t>one or more</a:t>
            </a:r>
            <a:r>
              <a:rPr lang="en">
                <a:solidFill>
                  <a:schemeClr val="accent4"/>
                </a:solidFill>
              </a:rPr>
              <a:t> statements</a:t>
            </a:r>
            <a:r>
              <a:rPr lang="en"/>
              <a:t> up to a </a:t>
            </a:r>
            <a:r>
              <a:rPr lang="en">
                <a:solidFill>
                  <a:schemeClr val="accent4"/>
                </a:solidFill>
              </a:rPr>
              <a:t>desired number of times</a:t>
            </a:r>
            <a:r>
              <a:rPr lang="en"/>
              <a:t>.</a:t>
            </a:r>
            <a:endParaRPr/>
          </a:p>
        </p:txBody>
      </p:sp>
      <p:sp>
        <p:nvSpPr>
          <p:cNvPr id="654" name="Google Shape;654;p68"/>
          <p:cNvSpPr/>
          <p:nvPr/>
        </p:nvSpPr>
        <p:spPr>
          <a:xfrm>
            <a:off x="411480" y="1851660"/>
            <a:ext cx="3909000" cy="2194500"/>
          </a:xfrm>
          <a:prstGeom prst="roundRect">
            <a:avLst>
              <a:gd fmla="val 25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68"/>
          <p:cNvSpPr/>
          <p:nvPr/>
        </p:nvSpPr>
        <p:spPr>
          <a:xfrm>
            <a:off x="617220" y="2057400"/>
            <a:ext cx="377100" cy="3771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68"/>
          <p:cNvSpPr/>
          <p:nvPr/>
        </p:nvSpPr>
        <p:spPr>
          <a:xfrm>
            <a:off x="617220" y="205740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68"/>
          <p:cNvSpPr/>
          <p:nvPr/>
        </p:nvSpPr>
        <p:spPr>
          <a:xfrm>
            <a:off x="617220" y="2606040"/>
            <a:ext cx="349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425"/>
              <a:buFont typeface="Roboto"/>
              <a:buNone/>
            </a:pPr>
            <a:r>
              <a:rPr b="1" i="0" lang="en" sz="14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For Loop</a:t>
            </a:r>
            <a:endParaRPr b="0" i="0" sz="14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68"/>
          <p:cNvSpPr/>
          <p:nvPr/>
        </p:nvSpPr>
        <p:spPr>
          <a:xfrm>
            <a:off x="617220" y="3086100"/>
            <a:ext cx="3497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88"/>
              <a:buFont typeface="Roboto"/>
              <a:buNone/>
            </a:pPr>
            <a:r>
              <a:rPr b="0" i="0" lang="en" sz="108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Iterates over a sequence such as a list or a tuple.</a:t>
            </a:r>
            <a:endParaRPr b="0" i="0" sz="10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68"/>
          <p:cNvSpPr/>
          <p:nvPr/>
        </p:nvSpPr>
        <p:spPr>
          <a:xfrm>
            <a:off x="4594860" y="1851660"/>
            <a:ext cx="3909000" cy="2194500"/>
          </a:xfrm>
          <a:prstGeom prst="roundRect">
            <a:avLst>
              <a:gd fmla="val 25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68"/>
          <p:cNvSpPr/>
          <p:nvPr/>
        </p:nvSpPr>
        <p:spPr>
          <a:xfrm>
            <a:off x="4800600" y="2057400"/>
            <a:ext cx="377100" cy="3771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68"/>
          <p:cNvSpPr/>
          <p:nvPr/>
        </p:nvSpPr>
        <p:spPr>
          <a:xfrm>
            <a:off x="4800600" y="205740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68"/>
          <p:cNvSpPr/>
          <p:nvPr/>
        </p:nvSpPr>
        <p:spPr>
          <a:xfrm>
            <a:off x="4800600" y="2606040"/>
            <a:ext cx="349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425"/>
              <a:buFont typeface="Roboto"/>
              <a:buNone/>
            </a:pPr>
            <a:r>
              <a:rPr b="1" i="0" lang="en" sz="14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While Loop</a:t>
            </a:r>
            <a:endParaRPr b="0" i="0" sz="14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68"/>
          <p:cNvSpPr/>
          <p:nvPr/>
        </p:nvSpPr>
        <p:spPr>
          <a:xfrm>
            <a:off x="4800600" y="3086100"/>
            <a:ext cx="3497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88"/>
              <a:buFont typeface="Roboto"/>
              <a:buNone/>
            </a:pPr>
            <a:r>
              <a:rPr b="0" i="0" lang="en" sz="108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Executes a block of code repeatedly as long as a specified condition remains true.</a:t>
            </a:r>
            <a:endParaRPr b="0" i="0" sz="10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9"/>
          <p:cNvSpPr/>
          <p:nvPr/>
        </p:nvSpPr>
        <p:spPr>
          <a:xfrm>
            <a:off x="8291322" y="-521208"/>
            <a:ext cx="1371600" cy="1371600"/>
          </a:xfrm>
          <a:prstGeom prst="roundRect">
            <a:avLst>
              <a:gd fmla="val 32000" name="adj"/>
            </a:avLst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69"/>
          <p:cNvSpPr/>
          <p:nvPr/>
        </p:nvSpPr>
        <p:spPr>
          <a:xfrm>
            <a:off x="-1234440" y="3291840"/>
            <a:ext cx="3429000" cy="3429000"/>
          </a:xfrm>
          <a:prstGeom prst="ellipse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69"/>
          <p:cNvSpPr/>
          <p:nvPr/>
        </p:nvSpPr>
        <p:spPr>
          <a:xfrm>
            <a:off x="617220" y="2160270"/>
            <a:ext cx="7406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Loop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2" name="Google Shape;672;p69"/>
          <p:cNvCxnSpPr/>
          <p:nvPr/>
        </p:nvCxnSpPr>
        <p:spPr>
          <a:xfrm>
            <a:off x="617220" y="308610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01 · CONCEPTS</a:t>
            </a:r>
            <a:endParaRPr/>
          </a:p>
        </p:txBody>
      </p:sp>
      <p:sp>
        <p:nvSpPr>
          <p:cNvPr id="678" name="Google Shape;678;p7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</a:t>
            </a:r>
            <a:r>
              <a:rPr lang="en">
                <a:solidFill>
                  <a:srgbClr val="D84568"/>
                </a:solidFill>
              </a:rPr>
              <a:t>For </a:t>
            </a:r>
            <a:r>
              <a:rPr lang="en">
                <a:solidFill>
                  <a:srgbClr val="2A3480"/>
                </a:solidFill>
              </a:rPr>
              <a:t>Loop</a:t>
            </a:r>
            <a:r>
              <a:rPr lang="en"/>
              <a:t>?</a:t>
            </a:r>
            <a:endParaRPr/>
          </a:p>
        </p:txBody>
      </p:sp>
      <p:sp>
        <p:nvSpPr>
          <p:cNvPr id="679" name="Google Shape;679;p70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70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</a:t>
            </a:r>
            <a:r>
              <a:rPr b="1" lang="en">
                <a:solidFill>
                  <a:srgbClr val="D84568"/>
                </a:solidFill>
              </a:rPr>
              <a:t> 'for' </a:t>
            </a:r>
            <a:r>
              <a:rPr lang="en"/>
              <a:t>loop is used to iterate over a sequence </a:t>
            </a:r>
            <a:r>
              <a:rPr lang="en">
                <a:solidFill>
                  <a:srgbClr val="D84568"/>
                </a:solidFill>
              </a:rPr>
              <a:t>(list, tuple, string)</a:t>
            </a:r>
            <a:r>
              <a:rPr lang="en"/>
              <a:t> or other iterable objects.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pic>
        <p:nvPicPr>
          <p:cNvPr descr="./imgs/code_hl/for_basic.png" id="681" name="Google Shape;68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457" y="1015843"/>
            <a:ext cx="3840480" cy="235731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70"/>
          <p:cNvSpPr/>
          <p:nvPr/>
        </p:nvSpPr>
        <p:spPr>
          <a:xfrm>
            <a:off x="411470" y="3840475"/>
            <a:ext cx="76587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70"/>
          <p:cNvSpPr/>
          <p:nvPr/>
        </p:nvSpPr>
        <p:spPr>
          <a:xfrm>
            <a:off x="534924" y="3991356"/>
            <a:ext cx="123600" cy="1236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70"/>
          <p:cNvSpPr/>
          <p:nvPr/>
        </p:nvSpPr>
        <p:spPr>
          <a:xfrm>
            <a:off x="1045282" y="3840475"/>
            <a:ext cx="684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loop variable (item) takes on each value in the sequence, one at a time.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76" y="789200"/>
            <a:ext cx="7602500" cy="4223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71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Visualize Code Execution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2"/>
          <p:cNvSpPr/>
          <p:nvPr/>
        </p:nvSpPr>
        <p:spPr>
          <a:xfrm>
            <a:off x="274380" y="268596"/>
            <a:ext cx="4251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025"/>
              <a:buFont typeface="Roboto"/>
              <a:buNone/>
            </a:pPr>
            <a:r>
              <a:rPr b="1" lang="en" sz="2025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b="1" i="0" lang="en" sz="2025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or Loop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72"/>
          <p:cNvSpPr/>
          <p:nvPr/>
        </p:nvSpPr>
        <p:spPr>
          <a:xfrm>
            <a:off x="411480" y="3544430"/>
            <a:ext cx="39777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72"/>
          <p:cNvSpPr/>
          <p:nvPr/>
        </p:nvSpPr>
        <p:spPr>
          <a:xfrm>
            <a:off x="534924" y="369530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72"/>
          <p:cNvSpPr/>
          <p:nvPr/>
        </p:nvSpPr>
        <p:spPr>
          <a:xfrm>
            <a:off x="740664" y="3544430"/>
            <a:ext cx="3552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loop variable (</a:t>
            </a:r>
            <a:r>
              <a:rPr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takes on each value in the sequence, one at a time.</a:t>
            </a:r>
            <a:endParaRPr b="0" i="0" sz="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72"/>
          <p:cNvSpPr/>
          <p:nvPr/>
        </p:nvSpPr>
        <p:spPr>
          <a:xfrm>
            <a:off x="416619" y="1177638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SYNTAX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72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50"/>
              <a:buFont typeface="Roboto"/>
              <a:buNone/>
            </a:pPr>
            <a:r>
              <a:rPr b="0" i="0" lang="en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125" y="1042307"/>
            <a:ext cx="3977699" cy="1310518"/>
          </a:xfrm>
          <a:prstGeom prst="rect">
            <a:avLst/>
          </a:prstGeom>
          <a:solidFill>
            <a:srgbClr val="293480"/>
          </a:solidFill>
          <a:ln>
            <a:noFill/>
          </a:ln>
        </p:spPr>
      </p:pic>
      <p:sp>
        <p:nvSpPr>
          <p:cNvPr id="703" name="Google Shape;703;p72"/>
          <p:cNvSpPr txBox="1"/>
          <p:nvPr>
            <p:ph idx="2" type="title"/>
          </p:nvPr>
        </p:nvSpPr>
        <p:spPr>
          <a:xfrm>
            <a:off x="4834350" y="245550"/>
            <a:ext cx="4045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grpSp>
        <p:nvGrpSpPr>
          <p:cNvPr id="704" name="Google Shape;704;p72"/>
          <p:cNvGrpSpPr/>
          <p:nvPr/>
        </p:nvGrpSpPr>
        <p:grpSpPr>
          <a:xfrm>
            <a:off x="411354" y="1414339"/>
            <a:ext cx="3977941" cy="1551661"/>
            <a:chOff x="1173400" y="1809750"/>
            <a:chExt cx="6837300" cy="2667000"/>
          </a:xfrm>
        </p:grpSpPr>
        <p:sp>
          <p:nvSpPr>
            <p:cNvPr id="705" name="Google Shape;705;p72"/>
            <p:cNvSpPr/>
            <p:nvPr/>
          </p:nvSpPr>
          <p:spPr>
            <a:xfrm>
              <a:off x="1466850" y="1809750"/>
              <a:ext cx="6210300" cy="2667000"/>
            </a:xfrm>
            <a:prstGeom prst="roundRect">
              <a:avLst>
                <a:gd fmla="val 5357" name="adj"/>
              </a:avLst>
            </a:prstGeom>
            <a:solidFill>
              <a:srgbClr val="FFFFFF"/>
            </a:solidFill>
            <a:ln cap="flat" cmpd="sng" w="5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6" name="Google Shape;706;p72"/>
            <p:cNvPicPr preferRelativeResize="0"/>
            <p:nvPr/>
          </p:nvPicPr>
          <p:blipFill rotWithShape="1">
            <a:blip r:embed="rId4">
              <a:alphaModFix/>
            </a:blip>
            <a:srcRect b="0" l="596" r="0" t="0"/>
            <a:stretch/>
          </p:blipFill>
          <p:spPr>
            <a:xfrm>
              <a:off x="1173400" y="1809750"/>
              <a:ext cx="6837300" cy="2667000"/>
            </a:xfrm>
            <a:prstGeom prst="roundRect">
              <a:avLst>
                <a:gd fmla="val 5357" name="adj"/>
              </a:avLst>
            </a:prstGeom>
            <a:noFill/>
            <a:ln>
              <a:noFill/>
            </a:ln>
          </p:spPr>
        </p:pic>
      </p:grpSp>
      <p:sp>
        <p:nvSpPr>
          <p:cNvPr id="707" name="Google Shape;707;p72"/>
          <p:cNvSpPr txBox="1"/>
          <p:nvPr/>
        </p:nvSpPr>
        <p:spPr>
          <a:xfrm>
            <a:off x="0" y="4264275"/>
            <a:ext cx="458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Code visualizer: 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Char char="●"/>
            </a:pPr>
            <a:r>
              <a:rPr b="1" lang="en" sz="900" u="sng">
                <a:solidFill>
                  <a:schemeClr val="hlink"/>
                </a:solidFill>
                <a:hlinkClick r:id="rId5"/>
              </a:rPr>
              <a:t>https://programiz.pro/code-visualizer/python</a:t>
            </a:r>
            <a:endParaRPr b="1" sz="900">
              <a:solidFill>
                <a:schemeClr val="accent5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Char char="●"/>
            </a:pPr>
            <a:r>
              <a:rPr b="1" lang="en" sz="900" u="sng">
                <a:solidFill>
                  <a:schemeClr val="hlink"/>
                </a:solidFill>
                <a:hlinkClick r:id="rId6"/>
              </a:rPr>
              <a:t>https://pythontutor.com/visualize.html#mode=display</a:t>
            </a:r>
            <a:endParaRPr b="1" sz="900">
              <a:solidFill>
                <a:schemeClr val="accent5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Char char="●"/>
            </a:pPr>
            <a:r>
              <a:rPr b="1" lang="en" sz="900" u="sng">
                <a:solidFill>
                  <a:schemeClr val="hlink"/>
                </a:solidFill>
                <a:hlinkClick r:id="rId7"/>
              </a:rPr>
              <a:t>https://learn-code-with-vengleab.vercel.app/</a:t>
            </a:r>
            <a:endParaRPr b="1"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3"/>
          <p:cNvSpPr txBox="1"/>
          <p:nvPr>
            <p:ph type="title"/>
          </p:nvPr>
        </p:nvSpPr>
        <p:spPr>
          <a:xfrm>
            <a:off x="264450" y="252520"/>
            <a:ext cx="4045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 with List or Tuple</a:t>
            </a:r>
            <a:endParaRPr/>
          </a:p>
        </p:txBody>
      </p:sp>
      <p:sp>
        <p:nvSpPr>
          <p:cNvPr id="713" name="Google Shape;713;p73"/>
          <p:cNvSpPr txBox="1"/>
          <p:nvPr>
            <p:ph idx="1" type="subTitle"/>
          </p:nvPr>
        </p:nvSpPr>
        <p:spPr>
          <a:xfrm>
            <a:off x="265500" y="972973"/>
            <a:ext cx="4045200" cy="30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00" y="1300450"/>
            <a:ext cx="4156726" cy="20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73"/>
          <p:cNvSpPr txBox="1"/>
          <p:nvPr>
            <p:ph idx="2" type="title"/>
          </p:nvPr>
        </p:nvSpPr>
        <p:spPr>
          <a:xfrm>
            <a:off x="4834350" y="245550"/>
            <a:ext cx="4045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 with dictionary</a:t>
            </a:r>
            <a:endParaRPr/>
          </a:p>
        </p:txBody>
      </p:sp>
      <p:sp>
        <p:nvSpPr>
          <p:cNvPr id="716" name="Google Shape;716;p73"/>
          <p:cNvSpPr txBox="1"/>
          <p:nvPr>
            <p:ph idx="3" type="subTitle"/>
          </p:nvPr>
        </p:nvSpPr>
        <p:spPr>
          <a:xfrm>
            <a:off x="4835400" y="987543"/>
            <a:ext cx="4045200" cy="30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7" name="Google Shape;71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5325" y="1806774"/>
            <a:ext cx="4285275" cy="14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4"/>
          <p:cNvSpPr txBox="1"/>
          <p:nvPr>
            <p:ph type="title"/>
          </p:nvPr>
        </p:nvSpPr>
        <p:spPr>
          <a:xfrm>
            <a:off x="163575" y="252525"/>
            <a:ext cx="43347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Range(n) with For Loop</a:t>
            </a:r>
            <a:endParaRPr/>
          </a:p>
        </p:txBody>
      </p:sp>
      <p:sp>
        <p:nvSpPr>
          <p:cNvPr id="723" name="Google Shape;723;p74"/>
          <p:cNvSpPr txBox="1"/>
          <p:nvPr>
            <p:ph idx="1" type="subTitle"/>
          </p:nvPr>
        </p:nvSpPr>
        <p:spPr>
          <a:xfrm>
            <a:off x="265500" y="1697000"/>
            <a:ext cx="40452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1000"/>
              </a:spcAft>
              <a:buSzPts val="1700"/>
              <a:buChar char="●"/>
            </a:pPr>
            <a:r>
              <a:rPr lang="en" sz="1700">
                <a:solidFill>
                  <a:schemeClr val="accent4"/>
                </a:solidFill>
              </a:rPr>
              <a:t>range(n)</a:t>
            </a:r>
            <a:r>
              <a:rPr lang="en" sz="1700"/>
              <a:t> is commonly used with for loop to generates a sequence of numbers starting from </a:t>
            </a:r>
            <a:r>
              <a:rPr b="1" lang="en" sz="1700">
                <a:solidFill>
                  <a:schemeClr val="accent4"/>
                </a:solidFill>
              </a:rPr>
              <a:t>0 </a:t>
            </a:r>
            <a:r>
              <a:rPr lang="en" sz="1700"/>
              <a:t>up to </a:t>
            </a:r>
            <a:r>
              <a:rPr b="1" lang="en" sz="1700">
                <a:solidFill>
                  <a:schemeClr val="accent4"/>
                </a:solidFill>
              </a:rPr>
              <a:t>n - 1</a:t>
            </a:r>
            <a:endParaRPr b="1" sz="1700">
              <a:solidFill>
                <a:schemeClr val="accent4"/>
              </a:solidFill>
            </a:endParaRPr>
          </a:p>
        </p:txBody>
      </p:sp>
      <p:sp>
        <p:nvSpPr>
          <p:cNvPr id="724" name="Google Shape;724;p74"/>
          <p:cNvSpPr txBox="1"/>
          <p:nvPr>
            <p:ph idx="2" type="title"/>
          </p:nvPr>
        </p:nvSpPr>
        <p:spPr>
          <a:xfrm>
            <a:off x="4834350" y="245550"/>
            <a:ext cx="4045200" cy="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74"/>
          <p:cNvSpPr txBox="1"/>
          <p:nvPr>
            <p:ph idx="3" type="subTitle"/>
          </p:nvPr>
        </p:nvSpPr>
        <p:spPr>
          <a:xfrm>
            <a:off x="4835400" y="987543"/>
            <a:ext cx="4045200" cy="30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6" name="Google Shape;726;p74"/>
          <p:cNvPicPr preferRelativeResize="0"/>
          <p:nvPr/>
        </p:nvPicPr>
        <p:blipFill rotWithShape="1">
          <a:blip r:embed="rId3">
            <a:alphaModFix/>
          </a:blip>
          <a:srcRect b="0" l="0" r="18904" t="0"/>
          <a:stretch/>
        </p:blipFill>
        <p:spPr>
          <a:xfrm>
            <a:off x="4784400" y="1363233"/>
            <a:ext cx="4045200" cy="19926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74"/>
          <p:cNvSpPr/>
          <p:nvPr/>
        </p:nvSpPr>
        <p:spPr>
          <a:xfrm>
            <a:off x="397575" y="2969895"/>
            <a:ext cx="3977700" cy="8607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74"/>
          <p:cNvSpPr/>
          <p:nvPr/>
        </p:nvSpPr>
        <p:spPr>
          <a:xfrm>
            <a:off x="518975" y="2969900"/>
            <a:ext cx="37602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lang="en" sz="12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Note</a:t>
            </a:r>
            <a:r>
              <a:rPr b="1" i="0" lang="en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i="0" lang="en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Range </a:t>
            </a:r>
            <a:r>
              <a:rPr lang="en" sz="12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change</a:t>
            </a:r>
            <a:r>
              <a:rPr i="0" lang="en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 be </a:t>
            </a:r>
            <a:r>
              <a:rPr lang="en" sz="12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multiple</a:t>
            </a:r>
            <a:r>
              <a:rPr lang="en" sz="12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 syntax</a:t>
            </a:r>
            <a:endParaRPr sz="1250">
              <a:solidFill>
                <a:srgbClr val="1A1F5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797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50"/>
              <a:buFont typeface="Roboto"/>
              <a:buChar char="●"/>
            </a:pPr>
            <a:r>
              <a:rPr lang="en" sz="12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range(n)</a:t>
            </a:r>
            <a:endParaRPr sz="125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797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Roboto"/>
              <a:buChar char="●"/>
            </a:pPr>
            <a:r>
              <a:rPr lang="en" sz="12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range</a:t>
            </a:r>
            <a:r>
              <a:rPr lang="en" sz="12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(start, stop)</a:t>
            </a:r>
            <a:endParaRPr sz="125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7975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Roboto"/>
              <a:buChar char="●"/>
            </a:pPr>
            <a:r>
              <a:rPr lang="en" sz="12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range(start, stop, step)</a:t>
            </a:r>
            <a:endParaRPr sz="125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75"/>
          <p:cNvSpPr/>
          <p:nvPr/>
        </p:nvSpPr>
        <p:spPr>
          <a:xfrm>
            <a:off x="8291322" y="-521208"/>
            <a:ext cx="1371600" cy="1371600"/>
          </a:xfrm>
          <a:prstGeom prst="roundRect">
            <a:avLst>
              <a:gd fmla="val 32000" name="adj"/>
            </a:avLst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75"/>
          <p:cNvSpPr/>
          <p:nvPr/>
        </p:nvSpPr>
        <p:spPr>
          <a:xfrm>
            <a:off x="-1234440" y="3291840"/>
            <a:ext cx="3429000" cy="3429000"/>
          </a:xfrm>
          <a:prstGeom prst="ellipse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75"/>
          <p:cNvSpPr/>
          <p:nvPr/>
        </p:nvSpPr>
        <p:spPr>
          <a:xfrm>
            <a:off x="617220" y="2160270"/>
            <a:ext cx="7406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While</a:t>
            </a:r>
            <a:r>
              <a:rPr b="1" i="0" lang="en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Loop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75"/>
          <p:cNvCxnSpPr/>
          <p:nvPr/>
        </p:nvCxnSpPr>
        <p:spPr>
          <a:xfrm>
            <a:off x="617220" y="308610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6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01 · CONCEPTS</a:t>
            </a:r>
            <a:endParaRPr/>
          </a:p>
        </p:txBody>
      </p:sp>
      <p:sp>
        <p:nvSpPr>
          <p:cNvPr id="743" name="Google Shape;743;p76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</a:t>
            </a:r>
            <a:r>
              <a:rPr lang="en">
                <a:solidFill>
                  <a:srgbClr val="D84568"/>
                </a:solidFill>
              </a:rPr>
              <a:t>While </a:t>
            </a:r>
            <a:r>
              <a:rPr lang="en">
                <a:solidFill>
                  <a:srgbClr val="2A3480"/>
                </a:solidFill>
              </a:rPr>
              <a:t>Loop</a:t>
            </a:r>
            <a:r>
              <a:rPr lang="en"/>
              <a:t>?</a:t>
            </a:r>
            <a:endParaRPr/>
          </a:p>
        </p:txBody>
      </p:sp>
      <p:sp>
        <p:nvSpPr>
          <p:cNvPr id="744" name="Google Shape;744;p76"/>
          <p:cNvSpPr txBox="1"/>
          <p:nvPr>
            <p:ph idx="3" type="body"/>
          </p:nvPr>
        </p:nvSpPr>
        <p:spPr>
          <a:xfrm>
            <a:off x="411475" y="1134400"/>
            <a:ext cx="3909300" cy="5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600"/>
              </a:spcAft>
              <a:buNone/>
            </a:pPr>
            <a:r>
              <a:rPr lang="en"/>
              <a:t>Executes a block of code repeatedly as long as a specified condition remains true.</a:t>
            </a:r>
            <a:endParaRPr/>
          </a:p>
        </p:txBody>
      </p:sp>
      <p:sp>
        <p:nvSpPr>
          <p:cNvPr id="745" name="Google Shape;745;p76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</a:t>
            </a:r>
            <a:endParaRPr/>
          </a:p>
        </p:txBody>
      </p:sp>
      <p:sp>
        <p:nvSpPr>
          <p:cNvPr id="746" name="Google Shape;746;p76"/>
          <p:cNvSpPr txBox="1"/>
          <p:nvPr>
            <p:ph idx="6" type="body"/>
          </p:nvPr>
        </p:nvSpPr>
        <p:spPr>
          <a:xfrm>
            <a:off x="4936092" y="29221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747" name="Google Shape;747;p76"/>
          <p:cNvSpPr/>
          <p:nvPr/>
        </p:nvSpPr>
        <p:spPr>
          <a:xfrm>
            <a:off x="377280" y="4419780"/>
            <a:ext cx="3977700" cy="425100"/>
          </a:xfrm>
          <a:prstGeom prst="roundRect">
            <a:avLst>
              <a:gd fmla="val 9677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6"/>
          <p:cNvSpPr/>
          <p:nvPr/>
        </p:nvSpPr>
        <p:spPr>
          <a:xfrm>
            <a:off x="500724" y="4570656"/>
            <a:ext cx="123300" cy="1233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76"/>
          <p:cNvSpPr/>
          <p:nvPr/>
        </p:nvSpPr>
        <p:spPr>
          <a:xfrm>
            <a:off x="706464" y="4419780"/>
            <a:ext cx="3552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863"/>
              <a:buFont typeface="Roboto"/>
              <a:buNone/>
            </a:pP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always ensure your condition eventually becomes False, or use break — otherwise it runs forever!</a:t>
            </a:r>
            <a:endParaRPr b="0" i="0" sz="8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76"/>
          <p:cNvSpPr/>
          <p:nvPr/>
        </p:nvSpPr>
        <p:spPr>
          <a:xfrm>
            <a:off x="485090" y="1872860"/>
            <a:ext cx="397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EXECUTION FLOW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76"/>
          <p:cNvSpPr/>
          <p:nvPr/>
        </p:nvSpPr>
        <p:spPr>
          <a:xfrm>
            <a:off x="485090" y="2147180"/>
            <a:ext cx="274200" cy="2742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76"/>
          <p:cNvSpPr/>
          <p:nvPr/>
        </p:nvSpPr>
        <p:spPr>
          <a:xfrm>
            <a:off x="485090" y="214718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76"/>
          <p:cNvSpPr/>
          <p:nvPr/>
        </p:nvSpPr>
        <p:spPr>
          <a:xfrm>
            <a:off x="862277" y="2126600"/>
            <a:ext cx="1959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Evaluate condition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76"/>
          <p:cNvSpPr/>
          <p:nvPr/>
        </p:nvSpPr>
        <p:spPr>
          <a:xfrm>
            <a:off x="485090" y="2544944"/>
            <a:ext cx="274200" cy="2742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76"/>
          <p:cNvSpPr/>
          <p:nvPr/>
        </p:nvSpPr>
        <p:spPr>
          <a:xfrm>
            <a:off x="485090" y="25449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76"/>
          <p:cNvSpPr/>
          <p:nvPr/>
        </p:nvSpPr>
        <p:spPr>
          <a:xfrm>
            <a:off x="862277" y="2524366"/>
            <a:ext cx="1959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True → run body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76"/>
          <p:cNvSpPr/>
          <p:nvPr/>
        </p:nvSpPr>
        <p:spPr>
          <a:xfrm>
            <a:off x="485090" y="2942708"/>
            <a:ext cx="274200" cy="2742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76"/>
          <p:cNvSpPr/>
          <p:nvPr/>
        </p:nvSpPr>
        <p:spPr>
          <a:xfrm>
            <a:off x="485090" y="2942708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76"/>
          <p:cNvSpPr/>
          <p:nvPr/>
        </p:nvSpPr>
        <p:spPr>
          <a:xfrm>
            <a:off x="862277" y="2922132"/>
            <a:ext cx="1959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Go back to step 1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76"/>
          <p:cNvSpPr/>
          <p:nvPr/>
        </p:nvSpPr>
        <p:spPr>
          <a:xfrm>
            <a:off x="485090" y="3340472"/>
            <a:ext cx="274200" cy="2742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76"/>
          <p:cNvSpPr/>
          <p:nvPr/>
        </p:nvSpPr>
        <p:spPr>
          <a:xfrm>
            <a:off x="485090" y="334047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Roboto"/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76"/>
          <p:cNvSpPr/>
          <p:nvPr/>
        </p:nvSpPr>
        <p:spPr>
          <a:xfrm>
            <a:off x="862277" y="3319898"/>
            <a:ext cx="1959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13"/>
              <a:buFont typeface="Roboto"/>
              <a:buNone/>
            </a:pPr>
            <a:r>
              <a:rPr b="0" i="0" lang="en" sz="101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False → exit loop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3" name="Google Shape;76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095" y="864091"/>
            <a:ext cx="3840449" cy="163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1125" y="3319900"/>
            <a:ext cx="3909300" cy="1266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Visualize Code Execution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7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7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pic>
        <p:nvPicPr>
          <p:cNvPr id="772" name="Google Shape;77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75" y="799762"/>
            <a:ext cx="8709774" cy="3543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8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until correct</a:t>
            </a:r>
            <a:endParaRPr/>
          </a:p>
        </p:txBody>
      </p:sp>
      <p:sp>
        <p:nvSpPr>
          <p:cNvPr id="778" name="Google Shape;778;p78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78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multiple times</a:t>
            </a:r>
            <a:endParaRPr/>
          </a:p>
        </p:txBody>
      </p:sp>
      <p:sp>
        <p:nvSpPr>
          <p:cNvPr id="780" name="Google Shape;780;p78"/>
          <p:cNvSpPr txBox="1"/>
          <p:nvPr>
            <p:ph idx="2" type="body"/>
          </p:nvPr>
        </p:nvSpPr>
        <p:spPr>
          <a:xfrm>
            <a:off x="411480" y="1062990"/>
            <a:ext cx="39093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1" name="Google Shape;78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050" y="892075"/>
            <a:ext cx="4262551" cy="2751551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78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78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/>
              <a:t>Similar to range(10) with for loop</a:t>
            </a:r>
            <a:endParaRPr/>
          </a:p>
        </p:txBody>
      </p:sp>
      <p:pic>
        <p:nvPicPr>
          <p:cNvPr id="784" name="Google Shape;78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75" y="1146502"/>
            <a:ext cx="4420250" cy="2242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9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Statements</a:t>
            </a:r>
            <a:endParaRPr/>
          </a:p>
        </p:txBody>
      </p:sp>
      <p:sp>
        <p:nvSpPr>
          <p:cNvPr id="790" name="Google Shape;790;p79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79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79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80"/>
          <p:cNvSpPr/>
          <p:nvPr/>
        </p:nvSpPr>
        <p:spPr>
          <a:xfrm>
            <a:off x="411480" y="240030"/>
            <a:ext cx="6172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Roboto"/>
              <a:buNone/>
            </a:pPr>
            <a:r>
              <a:rPr b="1" i="0" lang="en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JUMP AROUND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80"/>
          <p:cNvSpPr/>
          <p:nvPr/>
        </p:nvSpPr>
        <p:spPr>
          <a:xfrm>
            <a:off x="411480" y="466344"/>
            <a:ext cx="720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i="0" lang="en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Transfer Statements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80"/>
          <p:cNvSpPr/>
          <p:nvPr/>
        </p:nvSpPr>
        <p:spPr>
          <a:xfrm>
            <a:off x="411480" y="1131570"/>
            <a:ext cx="809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Roboto"/>
              <a:buNone/>
            </a:pPr>
            <a:r>
              <a:rPr b="0" i="0" lang="en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Keywords that modify the normal top-to-bottom flow by jumping execution to a different point — think of them as traffic signs.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80"/>
          <p:cNvSpPr/>
          <p:nvPr/>
        </p:nvSpPr>
        <p:spPr>
          <a:xfrm>
            <a:off x="411475" y="1645927"/>
            <a:ext cx="2571900" cy="3074400"/>
          </a:xfrm>
          <a:prstGeom prst="roundRect">
            <a:avLst>
              <a:gd fmla="val 2353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0"/>
          <p:cNvSpPr/>
          <p:nvPr/>
        </p:nvSpPr>
        <p:spPr>
          <a:xfrm>
            <a:off x="548640" y="1783080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80"/>
          <p:cNvSpPr/>
          <p:nvPr/>
        </p:nvSpPr>
        <p:spPr>
          <a:xfrm>
            <a:off x="548640" y="2091690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Font typeface="Roboto"/>
              <a:buNone/>
            </a:pPr>
            <a:r>
              <a:rPr b="0" i="0" lang="en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Exit the loop immediately.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break_example.png" id="804" name="Google Shape;80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434590"/>
            <a:ext cx="2297430" cy="831532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80"/>
          <p:cNvSpPr/>
          <p:nvPr/>
        </p:nvSpPr>
        <p:spPr>
          <a:xfrm>
            <a:off x="3175250" y="1645927"/>
            <a:ext cx="2571900" cy="3074400"/>
          </a:xfrm>
          <a:prstGeom prst="roundRect">
            <a:avLst>
              <a:gd fmla="val 2353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80"/>
          <p:cNvSpPr/>
          <p:nvPr/>
        </p:nvSpPr>
        <p:spPr>
          <a:xfrm>
            <a:off x="3312414" y="1783080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continue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80"/>
          <p:cNvSpPr/>
          <p:nvPr/>
        </p:nvSpPr>
        <p:spPr>
          <a:xfrm>
            <a:off x="3312414" y="2091690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Font typeface="Roboto"/>
              <a:buNone/>
            </a:pPr>
            <a:r>
              <a:rPr b="0" i="0" lang="en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Skip the current iteration.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ontinue_example.png" id="808" name="Google Shape;808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2414" y="2434590"/>
            <a:ext cx="2297430" cy="831532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80"/>
          <p:cNvSpPr/>
          <p:nvPr/>
        </p:nvSpPr>
        <p:spPr>
          <a:xfrm>
            <a:off x="5939024" y="1645927"/>
            <a:ext cx="2571900" cy="3074400"/>
          </a:xfrm>
          <a:prstGeom prst="roundRect">
            <a:avLst>
              <a:gd fmla="val 2353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80"/>
          <p:cNvSpPr/>
          <p:nvPr/>
        </p:nvSpPr>
        <p:spPr>
          <a:xfrm>
            <a:off x="6076188" y="1783080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75"/>
              <a:buFont typeface="Roboto"/>
              <a:buNone/>
            </a:pPr>
            <a:r>
              <a:rPr b="1" i="0" lang="en" sz="12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pass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80"/>
          <p:cNvSpPr/>
          <p:nvPr/>
        </p:nvSpPr>
        <p:spPr>
          <a:xfrm>
            <a:off x="6076188" y="2091690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Font typeface="Roboto"/>
              <a:buNone/>
            </a:pPr>
            <a:r>
              <a:rPr b="0" i="0" lang="en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Placeholder — do nothing.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pass_example.png" id="812" name="Google Shape;812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6188" y="2434590"/>
            <a:ext cx="229743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80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50"/>
              <a:buFont typeface="Roboto"/>
              <a:buNone/>
            </a:pPr>
            <a:r>
              <a:rPr b="0" i="0" lang="en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4" name="Google Shape;814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650" y="3390900"/>
            <a:ext cx="2227500" cy="9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53825" y="3334825"/>
            <a:ext cx="2186025" cy="1067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80"/>
          <p:cNvPicPr preferRelativeResize="0"/>
          <p:nvPr/>
        </p:nvPicPr>
        <p:blipFill rotWithShape="1">
          <a:blip r:embed="rId8">
            <a:alphaModFix/>
          </a:blip>
          <a:srcRect b="13525" l="0" r="0" t="0"/>
          <a:stretch/>
        </p:blipFill>
        <p:spPr>
          <a:xfrm>
            <a:off x="6117525" y="3334825"/>
            <a:ext cx="2133541" cy="10676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1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with Loop</a:t>
            </a:r>
            <a:endParaRPr/>
          </a:p>
        </p:txBody>
      </p:sp>
      <p:sp>
        <p:nvSpPr>
          <p:cNvPr id="822" name="Google Shape;822;p81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81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81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2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Nested Loops</a:t>
            </a:r>
            <a:endParaRPr/>
          </a:p>
        </p:txBody>
      </p:sp>
      <p:sp>
        <p:nvSpPr>
          <p:cNvPr id="831" name="Google Shape;831;p82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loop inside a loop</a:t>
            </a:r>
            <a:endParaRPr/>
          </a:p>
        </p:txBody>
      </p:sp>
      <p:sp>
        <p:nvSpPr>
          <p:cNvPr id="832" name="Google Shape;832;p82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inner loop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runs to completion for every single pass of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outer loop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Useful for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grids, pairs, and coordinates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anywhere you need i and j together.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8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range(3)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twice gives 9 total iterations — 3 outer × 3 inner.</a:t>
            </a:r>
            <a:endParaRPr/>
          </a:p>
        </p:txBody>
      </p:sp>
      <p:pic>
        <p:nvPicPr>
          <p:cNvPr descr="nested_loops.png" id="833" name="Google Shape;83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3724" y="822960"/>
            <a:ext cx="2505123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3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enumerate()</a:t>
            </a:r>
            <a:endParaRPr/>
          </a:p>
        </p:txBody>
      </p:sp>
      <p:sp>
        <p:nvSpPr>
          <p:cNvPr id="840" name="Google Shape;840;p83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Index and value, together</a:t>
            </a:r>
            <a:endParaRPr/>
          </a:p>
        </p:txBody>
      </p:sp>
      <p:sp>
        <p:nvSpPr>
          <p:cNvPr id="841" name="Google Shape;841;p83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enumerate()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wraps a list and yields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(index, value)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pairs.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 need to track a counter by hand or call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len()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Cleaner and more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Pythonic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than looping over range(len(list)).</a:t>
            </a:r>
            <a:endParaRPr/>
          </a:p>
        </p:txBody>
      </p:sp>
      <p:pic>
        <p:nvPicPr>
          <p:cNvPr descr="enumerate_fn.png" id="842" name="Google Shape;84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144678"/>
            <a:ext cx="4090799" cy="312846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83"/>
          <p:cNvSpPr/>
          <p:nvPr/>
        </p:nvSpPr>
        <p:spPr>
          <a:xfrm>
            <a:off x="411480" y="4046220"/>
            <a:ext cx="39093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enumerate() instead of range(len(list)) for cleaner, more Pythonic code.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4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zip()</a:t>
            </a:r>
            <a:endParaRPr/>
          </a:p>
        </p:txBody>
      </p:sp>
      <p:sp>
        <p:nvSpPr>
          <p:cNvPr id="850" name="Google Shape;850;p84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Pair up parallel lists</a:t>
            </a:r>
            <a:endParaRPr/>
          </a:p>
        </p:txBody>
      </p:sp>
      <p:sp>
        <p:nvSpPr>
          <p:cNvPr id="851" name="Google Shape;851;p84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zip()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walks two (or more) lists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side by side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Each step returns one item from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each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list, in the same order.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Stops automatically at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shortest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list if lengths differ.</a:t>
            </a:r>
            <a:endParaRPr/>
          </a:p>
        </p:txBody>
      </p:sp>
      <p:pic>
        <p:nvPicPr>
          <p:cNvPr descr="zip_fn.png" id="852" name="Google Shape;85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889421"/>
            <a:ext cx="4090797" cy="36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5"/>
          <p:cNvSpPr/>
          <p:nvPr/>
        </p:nvSpPr>
        <p:spPr>
          <a:xfrm>
            <a:off x="411480" y="466344"/>
            <a:ext cx="720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i="0" lang="en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List Comprehensions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85"/>
          <p:cNvSpPr/>
          <p:nvPr/>
        </p:nvSpPr>
        <p:spPr>
          <a:xfrm>
            <a:off x="411480" y="1097280"/>
            <a:ext cx="809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25"/>
              <a:buFont typeface="Roboto"/>
              <a:buNone/>
            </a:pPr>
            <a:r>
              <a:rPr b="1" lang="en" sz="112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Syntax: </a:t>
            </a:r>
            <a:r>
              <a:rPr b="1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b="1" i="0" lang="en" sz="1125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expression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 for </a:t>
            </a:r>
            <a:r>
              <a:rPr b="1" i="0" lang="en" sz="1125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item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b="1" i="0" lang="en" sz="1125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iterable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 if </a:t>
            </a:r>
            <a:r>
              <a:rPr b="1" i="0" lang="en" sz="1125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b="1" i="0" lang="en" sz="11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85"/>
          <p:cNvSpPr/>
          <p:nvPr/>
        </p:nvSpPr>
        <p:spPr>
          <a:xfrm>
            <a:off x="411480" y="1440180"/>
            <a:ext cx="257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Basic — Squares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omp_squares.png" id="861" name="Google Shape;86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714500"/>
            <a:ext cx="2571749" cy="1449008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85"/>
          <p:cNvSpPr/>
          <p:nvPr/>
        </p:nvSpPr>
        <p:spPr>
          <a:xfrm>
            <a:off x="3175254" y="1440180"/>
            <a:ext cx="257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With Filter — Evens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omp_evens.png" id="863" name="Google Shape;863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254" y="1714500"/>
            <a:ext cx="2571750" cy="157708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85"/>
          <p:cNvSpPr/>
          <p:nvPr/>
        </p:nvSpPr>
        <p:spPr>
          <a:xfrm>
            <a:off x="5939028" y="1440180"/>
            <a:ext cx="257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013"/>
              <a:buFont typeface="Roboto"/>
              <a:buNone/>
            </a:pPr>
            <a:r>
              <a:rPr b="1" i="0" lang="en" sz="101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Dict Comprehension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./imgs/code_hl/comp_dict.png" id="865" name="Google Shape;865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028" y="1714500"/>
            <a:ext cx="2571749" cy="1449008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85"/>
          <p:cNvSpPr/>
          <p:nvPr/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85"/>
              </a:buClr>
              <a:buSzPts val="750"/>
              <a:buFont typeface="Roboto"/>
              <a:buNone/>
            </a:pPr>
            <a:r>
              <a:rPr b="0" i="0" lang="en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6"/>
          <p:cNvSpPr txBox="1"/>
          <p:nvPr>
            <p:ph type="title"/>
          </p:nvPr>
        </p:nvSpPr>
        <p:spPr>
          <a:xfrm>
            <a:off x="462915" y="1491615"/>
            <a:ext cx="56580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lang="en"/>
              <a:t>Practices</a:t>
            </a: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Foundations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7"/>
          <p:cNvSpPr txBox="1"/>
          <p:nvPr>
            <p:ph type="title"/>
          </p:nvPr>
        </p:nvSpPr>
        <p:spPr>
          <a:xfrm>
            <a:off x="462915" y="1491615"/>
            <a:ext cx="56580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 1: Loop </a:t>
            </a:r>
            <a:r>
              <a:rPr lang="en"/>
              <a:t>with </a:t>
            </a:r>
            <a:r>
              <a:rPr lang="en">
                <a:solidFill>
                  <a:srgbClr val="FFFF00"/>
                </a:solidFill>
              </a:rPr>
              <a:t>For Loop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877" name="Google Shape;877;p87"/>
          <p:cNvSpPr txBox="1"/>
          <p:nvPr>
            <p:ph idx="2" type="body"/>
          </p:nvPr>
        </p:nvSpPr>
        <p:spPr>
          <a:xfrm>
            <a:off x="462915" y="2340293"/>
            <a:ext cx="4886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Counting, stepping, and summing with range()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1: Loop with For Loop</a:t>
            </a:r>
            <a:endParaRPr/>
          </a:p>
        </p:txBody>
      </p:sp>
      <p:sp>
        <p:nvSpPr>
          <p:cNvPr descr="Step 1 badge" id="883" name="Google Shape;883;p88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8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885" name="Google Shape;885;p8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 from 1 to 10</a:t>
            </a:r>
            <a:endParaRPr/>
          </a:p>
        </p:txBody>
      </p:sp>
      <p:sp>
        <p:nvSpPr>
          <p:cNvPr id="886" name="Google Shape;886;p88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the numbers from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52400" lvl="1" marL="4826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Char char="○"/>
            </a:pPr>
            <a:r>
              <a:rPr lang="en" sz="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Hint: use range(1, 11)</a:t>
            </a:r>
            <a:endParaRPr/>
          </a:p>
        </p:txBody>
      </p:sp>
      <p:sp>
        <p:nvSpPr>
          <p:cNvPr descr="Step 2 badge" id="887" name="Google Shape;887;p88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88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889" name="Google Shape;889;p88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Print Even Numbers</a:t>
            </a:r>
            <a:endParaRPr/>
          </a:p>
        </p:txBody>
      </p:sp>
      <p:sp>
        <p:nvSpPr>
          <p:cNvPr id="890" name="Google Shape;890;p88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every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even number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from 2 to 20 (inclusive).</a:t>
            </a:r>
            <a:endParaRPr/>
          </a:p>
          <a:p>
            <a:pPr indent="-152400" lvl="1" marL="4826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Char char="○"/>
            </a:pPr>
            <a:r>
              <a:rPr lang="en" sz="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Hint: use a step of 2 in range() or using %</a:t>
            </a:r>
            <a:endParaRPr/>
          </a:p>
        </p:txBody>
      </p:sp>
      <p:sp>
        <p:nvSpPr>
          <p:cNvPr descr="Step 3 badge" id="891" name="Google Shape;891;p88"/>
          <p:cNvSpPr/>
          <p:nvPr/>
        </p:nvSpPr>
        <p:spPr>
          <a:xfrm>
            <a:off x="401227" y="2459688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88"/>
          <p:cNvSpPr txBox="1"/>
          <p:nvPr>
            <p:ph idx="2" type="body"/>
          </p:nvPr>
        </p:nvSpPr>
        <p:spPr>
          <a:xfrm>
            <a:off x="401227" y="2459688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893" name="Google Shape;893;p88"/>
          <p:cNvSpPr txBox="1"/>
          <p:nvPr>
            <p:ph idx="3" type="body"/>
          </p:nvPr>
        </p:nvSpPr>
        <p:spPr>
          <a:xfrm>
            <a:off x="867571" y="2473404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Sum of Numbers</a:t>
            </a:r>
            <a:endParaRPr/>
          </a:p>
        </p:txBody>
      </p:sp>
      <p:sp>
        <p:nvSpPr>
          <p:cNvPr id="894" name="Google Shape;894;p88"/>
          <p:cNvSpPr txBox="1"/>
          <p:nvPr>
            <p:ph idx="4" type="body"/>
          </p:nvPr>
        </p:nvSpPr>
        <p:spPr>
          <a:xfrm>
            <a:off x="401227" y="2974038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Calculate and print the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all numbers from 1 to 100.</a:t>
            </a:r>
            <a:endParaRPr/>
          </a:p>
        </p:txBody>
      </p:sp>
      <p:sp>
        <p:nvSpPr>
          <p:cNvPr descr="Step 4 badge" id="895" name="Google Shape;895;p88"/>
          <p:cNvSpPr/>
          <p:nvPr/>
        </p:nvSpPr>
        <p:spPr>
          <a:xfrm>
            <a:off x="4673761" y="2459688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88"/>
          <p:cNvSpPr txBox="1"/>
          <p:nvPr>
            <p:ph idx="9" type="body"/>
          </p:nvPr>
        </p:nvSpPr>
        <p:spPr>
          <a:xfrm>
            <a:off x="4673761" y="2459688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897" name="Google Shape;897;p88"/>
          <p:cNvSpPr txBox="1"/>
          <p:nvPr>
            <p:ph idx="13" type="body"/>
          </p:nvPr>
        </p:nvSpPr>
        <p:spPr>
          <a:xfrm>
            <a:off x="5140105" y="2473404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Loop Through a List</a:t>
            </a:r>
            <a:endParaRPr/>
          </a:p>
        </p:txBody>
      </p:sp>
      <p:sp>
        <p:nvSpPr>
          <p:cNvPr id="898" name="Google Shape;898;p88"/>
          <p:cNvSpPr txBox="1"/>
          <p:nvPr>
            <p:ph idx="14" type="body"/>
          </p:nvPr>
        </p:nvSpPr>
        <p:spPr>
          <a:xfrm>
            <a:off x="4673761" y="2974038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Given the list: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">
                <a:solidFill>
                  <a:srgbClr val="D84568"/>
                </a:solidFill>
              </a:rPr>
              <a:t>‘a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pple</a:t>
            </a:r>
            <a:r>
              <a:rPr lang="en">
                <a:solidFill>
                  <a:srgbClr val="D84568"/>
                </a:solidFill>
              </a:rPr>
              <a:t>’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>
                <a:solidFill>
                  <a:srgbClr val="D84568"/>
                </a:solidFill>
              </a:rPr>
              <a:t>‘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banana</a:t>
            </a:r>
            <a:r>
              <a:rPr lang="en">
                <a:solidFill>
                  <a:srgbClr val="D84568"/>
                </a:solidFill>
              </a:rPr>
              <a:t>’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>
                <a:solidFill>
                  <a:srgbClr val="D84568"/>
                </a:solidFill>
              </a:rPr>
              <a:t>‘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cherry</a:t>
            </a:r>
            <a:r>
              <a:rPr lang="en">
                <a:solidFill>
                  <a:srgbClr val="D84568"/>
                </a:solidFill>
              </a:rPr>
              <a:t>’]</a:t>
            </a:r>
            <a:endParaRPr/>
          </a:p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each fruit on its own line.</a:t>
            </a:r>
            <a:endParaRPr/>
          </a:p>
        </p:txBody>
      </p:sp>
      <p:sp>
        <p:nvSpPr>
          <p:cNvPr id="899" name="Google Shape;899;p88"/>
          <p:cNvSpPr txBox="1"/>
          <p:nvPr/>
        </p:nvSpPr>
        <p:spPr>
          <a:xfrm>
            <a:off x="401305" y="17830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88"/>
          <p:cNvSpPr txBox="1"/>
          <p:nvPr/>
        </p:nvSpPr>
        <p:spPr>
          <a:xfrm>
            <a:off x="744125" y="2023075"/>
            <a:ext cx="387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1, 2, 3, 4, 5, 6, 7, 8, 9, 10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88"/>
          <p:cNvSpPr txBox="1"/>
          <p:nvPr/>
        </p:nvSpPr>
        <p:spPr>
          <a:xfrm>
            <a:off x="4673839" y="17830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88"/>
          <p:cNvSpPr txBox="1"/>
          <p:nvPr/>
        </p:nvSpPr>
        <p:spPr>
          <a:xfrm>
            <a:off x="4840592" y="2023075"/>
            <a:ext cx="387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2, 4, 6, 8, 10, 12, 14, 16, 18, 20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88"/>
          <p:cNvSpPr txBox="1"/>
          <p:nvPr/>
        </p:nvSpPr>
        <p:spPr>
          <a:xfrm>
            <a:off x="378519" y="342747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88"/>
          <p:cNvSpPr txBox="1"/>
          <p:nvPr/>
        </p:nvSpPr>
        <p:spPr>
          <a:xfrm>
            <a:off x="754375" y="3667500"/>
            <a:ext cx="3926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Sum: 5050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88"/>
          <p:cNvSpPr txBox="1"/>
          <p:nvPr/>
        </p:nvSpPr>
        <p:spPr>
          <a:xfrm>
            <a:off x="4651053" y="342747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88"/>
          <p:cNvSpPr txBox="1"/>
          <p:nvPr/>
        </p:nvSpPr>
        <p:spPr>
          <a:xfrm>
            <a:off x="4893909" y="3667500"/>
            <a:ext cx="3803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apple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banana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cherry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9"/>
          <p:cNvSpPr txBox="1"/>
          <p:nvPr>
            <p:ph type="title"/>
          </p:nvPr>
        </p:nvSpPr>
        <p:spPr>
          <a:xfrm>
            <a:off x="462915" y="1491615"/>
            <a:ext cx="56580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 2: Loops </a:t>
            </a:r>
            <a:r>
              <a:rPr lang="en"/>
              <a:t>with </a:t>
            </a:r>
            <a:r>
              <a:rPr lang="en">
                <a:solidFill>
                  <a:srgbClr val="FFFF00"/>
                </a:solidFill>
              </a:rPr>
              <a:t>While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912" name="Google Shape;912;p89"/>
          <p:cNvSpPr txBox="1"/>
          <p:nvPr>
            <p:ph idx="2" type="body"/>
          </p:nvPr>
        </p:nvSpPr>
        <p:spPr>
          <a:xfrm>
            <a:off x="462915" y="2340293"/>
            <a:ext cx="4886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Countdowns, tables, and searching through data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9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2: Loops with While</a:t>
            </a:r>
            <a:endParaRPr/>
          </a:p>
        </p:txBody>
      </p:sp>
      <p:sp>
        <p:nvSpPr>
          <p:cNvPr descr="Step 5 badge" id="918" name="Google Shape;918;p9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9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920" name="Google Shape;920;p9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Countdown</a:t>
            </a:r>
            <a:endParaRPr/>
          </a:p>
        </p:txBody>
      </p:sp>
      <p:sp>
        <p:nvSpPr>
          <p:cNvPr id="921" name="Google Shape;921;p90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/>
              <a:t>Countdown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from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Then print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">
                <a:solidFill>
                  <a:srgbClr val="D84568"/>
                </a:solidFill>
              </a:rPr>
              <a:t>Done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!"</a:t>
            </a:r>
            <a:endParaRPr/>
          </a:p>
        </p:txBody>
      </p:sp>
      <p:sp>
        <p:nvSpPr>
          <p:cNvPr descr="Step 6 badge" id="922" name="Google Shape;922;p90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90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/>
          </a:p>
        </p:txBody>
      </p:sp>
      <p:sp>
        <p:nvSpPr>
          <p:cNvPr id="924" name="Google Shape;924;p90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Multiplication Table</a:t>
            </a:r>
            <a:endParaRPr/>
          </a:p>
        </p:txBody>
      </p:sp>
      <p:sp>
        <p:nvSpPr>
          <p:cNvPr id="925" name="Google Shape;925;p90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the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5 times table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from 5 x 1 up to 5 x 10.</a:t>
            </a:r>
            <a:endParaRPr/>
          </a:p>
        </p:txBody>
      </p:sp>
      <p:sp>
        <p:nvSpPr>
          <p:cNvPr descr="Step 7 badge" id="926" name="Google Shape;926;p90"/>
          <p:cNvSpPr/>
          <p:nvPr/>
        </p:nvSpPr>
        <p:spPr>
          <a:xfrm>
            <a:off x="412614" y="2921663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90"/>
          <p:cNvSpPr txBox="1"/>
          <p:nvPr>
            <p:ph idx="2" type="body"/>
          </p:nvPr>
        </p:nvSpPr>
        <p:spPr>
          <a:xfrm>
            <a:off x="412614" y="2921663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928" name="Google Shape;928;p90"/>
          <p:cNvSpPr txBox="1"/>
          <p:nvPr>
            <p:ph idx="3" type="body"/>
          </p:nvPr>
        </p:nvSpPr>
        <p:spPr>
          <a:xfrm>
            <a:off x="878958" y="2935378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 Vowels in a String</a:t>
            </a:r>
            <a:endParaRPr/>
          </a:p>
        </p:txBody>
      </p:sp>
      <p:sp>
        <p:nvSpPr>
          <p:cNvPr id="929" name="Google Shape;929;p90"/>
          <p:cNvSpPr txBox="1"/>
          <p:nvPr>
            <p:ph idx="4" type="body"/>
          </p:nvPr>
        </p:nvSpPr>
        <p:spPr>
          <a:xfrm>
            <a:off x="412625" y="3436026"/>
            <a:ext cx="40461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how many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vowels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(a, e, i, o, u) appear in "programming".</a:t>
            </a:r>
            <a:endParaRPr/>
          </a:p>
        </p:txBody>
      </p:sp>
      <p:sp>
        <p:nvSpPr>
          <p:cNvPr descr="Step 8 badge" id="930" name="Google Shape;930;p90"/>
          <p:cNvSpPr/>
          <p:nvPr/>
        </p:nvSpPr>
        <p:spPr>
          <a:xfrm>
            <a:off x="4685148" y="2921663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90"/>
          <p:cNvSpPr txBox="1"/>
          <p:nvPr>
            <p:ph idx="9" type="body"/>
          </p:nvPr>
        </p:nvSpPr>
        <p:spPr>
          <a:xfrm>
            <a:off x="4685148" y="2921663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932" name="Google Shape;932;p90"/>
          <p:cNvSpPr txBox="1"/>
          <p:nvPr>
            <p:ph idx="13" type="body"/>
          </p:nvPr>
        </p:nvSpPr>
        <p:spPr>
          <a:xfrm>
            <a:off x="5151492" y="2935378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Find the Largest Number</a:t>
            </a:r>
            <a:endParaRPr/>
          </a:p>
        </p:txBody>
      </p:sp>
      <p:sp>
        <p:nvSpPr>
          <p:cNvPr id="933" name="Google Shape;933;p90"/>
          <p:cNvSpPr txBox="1"/>
          <p:nvPr>
            <p:ph idx="14" type="body"/>
          </p:nvPr>
        </p:nvSpPr>
        <p:spPr>
          <a:xfrm>
            <a:off x="4685154" y="3436026"/>
            <a:ext cx="40461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largest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value in [14, 58, 2, 99, 43].</a:t>
            </a:r>
            <a:endParaRPr/>
          </a:p>
          <a:p>
            <a:pPr indent="-152400" lvl="1" marL="4826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Char char="○"/>
            </a:pPr>
            <a:r>
              <a:rPr lang="en"/>
              <a:t>Hint: Game </a:t>
            </a:r>
            <a:endParaRPr/>
          </a:p>
          <a:p>
            <a:pPr indent="-152400" lvl="1" marL="4826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600"/>
              <a:buChar char="○"/>
            </a:pPr>
            <a:r>
              <a:rPr lang="en" sz="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Constraint: don't use max()</a:t>
            </a:r>
            <a:endParaRPr/>
          </a:p>
        </p:txBody>
      </p:sp>
      <p:sp>
        <p:nvSpPr>
          <p:cNvPr id="934" name="Google Shape;934;p90"/>
          <p:cNvSpPr txBox="1"/>
          <p:nvPr/>
        </p:nvSpPr>
        <p:spPr>
          <a:xfrm>
            <a:off x="401300" y="1710170"/>
            <a:ext cx="40461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90"/>
          <p:cNvSpPr txBox="1"/>
          <p:nvPr/>
        </p:nvSpPr>
        <p:spPr>
          <a:xfrm>
            <a:off x="683750" y="1942650"/>
            <a:ext cx="3763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10, 9, 8, 7, 6, 5, 4, 3, 2, 1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Done!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90"/>
          <p:cNvSpPr txBox="1"/>
          <p:nvPr/>
        </p:nvSpPr>
        <p:spPr>
          <a:xfrm>
            <a:off x="4673842" y="1710170"/>
            <a:ext cx="40461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90"/>
          <p:cNvSpPr txBox="1"/>
          <p:nvPr/>
        </p:nvSpPr>
        <p:spPr>
          <a:xfrm>
            <a:off x="5028050" y="1942650"/>
            <a:ext cx="3691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5 x 1 = 5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5 x 2 = 10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5 x 10 = 50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90"/>
          <p:cNvSpPr txBox="1"/>
          <p:nvPr/>
        </p:nvSpPr>
        <p:spPr>
          <a:xfrm>
            <a:off x="401305" y="411143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90"/>
          <p:cNvSpPr txBox="1"/>
          <p:nvPr/>
        </p:nvSpPr>
        <p:spPr>
          <a:xfrm>
            <a:off x="815550" y="4351475"/>
            <a:ext cx="3844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Vowel count: 3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90"/>
          <p:cNvSpPr txBox="1"/>
          <p:nvPr/>
        </p:nvSpPr>
        <p:spPr>
          <a:xfrm>
            <a:off x="4673839" y="411143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1" sz="975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90"/>
          <p:cNvSpPr txBox="1"/>
          <p:nvPr/>
        </p:nvSpPr>
        <p:spPr>
          <a:xfrm>
            <a:off x="4875335" y="4351475"/>
            <a:ext cx="38445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Largest number: 99</a:t>
            </a:r>
            <a:endParaRPr sz="9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1"/>
          <p:cNvSpPr txBox="1"/>
          <p:nvPr>
            <p:ph type="title"/>
          </p:nvPr>
        </p:nvSpPr>
        <p:spPr>
          <a:xfrm>
            <a:off x="462915" y="1491615"/>
            <a:ext cx="56580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lang="en"/>
              <a:t>Practices</a:t>
            </a: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/>
              <a:t>More with loop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9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Practices: More with loop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52" name="Google Shape;952;p92"/>
          <p:cNvSpPr txBox="1"/>
          <p:nvPr>
            <p:ph idx="2" type="body"/>
          </p:nvPr>
        </p:nvSpPr>
        <p:spPr>
          <a:xfrm>
            <a:off x="240030" y="68580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953" name="Google Shape;953;p9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Transaction Categorization</a:t>
            </a:r>
            <a:endParaRPr/>
          </a:p>
        </p:txBody>
      </p:sp>
      <p:sp>
        <p:nvSpPr>
          <p:cNvPr id="954" name="Google Shape;954;p92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Loop through the account amounts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if/else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positive -&gt; Income, else -&gt; Expense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each amount with its label</a:t>
            </a:r>
            <a:endParaRPr/>
          </a:p>
        </p:txBody>
      </p:sp>
      <p:sp>
        <p:nvSpPr>
          <p:cNvPr id="955" name="Google Shape;955;p92"/>
          <p:cNvSpPr/>
          <p:nvPr/>
        </p:nvSpPr>
        <p:spPr>
          <a:xfrm>
            <a:off x="411480" y="1988820"/>
            <a:ext cx="4046100" cy="15090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92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amounts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150.0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45.5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3000.0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8.99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75715E"/>
              </a:buClr>
              <a:buSzPts val="900"/>
              <a:buNone/>
            </a:pPr>
            <a:r>
              <a:rPr b="0" i="0" lang="en" sz="900">
                <a:solidFill>
                  <a:srgbClr val="75715E"/>
                </a:solidFill>
                <a:latin typeface="Consolas"/>
                <a:ea typeface="Consolas"/>
                <a:cs typeface="Consolas"/>
                <a:sym typeface="Consolas"/>
              </a:rPr>
              <a:t># TODO: for each amount, print Income or Expense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amt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amounts: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7" name="Google Shape;957;p92"/>
          <p:cNvSpPr txBox="1"/>
          <p:nvPr>
            <p:ph idx="7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$150.00 -&gt; Income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-$45.50 -&gt; Expense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-$12.00 -&gt; Expense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$3000.00 -&gt; Income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-$8.99 -&gt; Expense</a:t>
            </a:r>
            <a:endParaRPr/>
          </a:p>
        </p:txBody>
      </p:sp>
      <p:sp>
        <p:nvSpPr>
          <p:cNvPr id="958" name="Google Shape;958;p92"/>
          <p:cNvSpPr txBox="1"/>
          <p:nvPr>
            <p:ph idx="8" type="body"/>
          </p:nvPr>
        </p:nvSpPr>
        <p:spPr>
          <a:xfrm>
            <a:off x="4512564" y="68580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959" name="Google Shape;959;p92"/>
          <p:cNvSpPr txBox="1"/>
          <p:nvPr>
            <p:ph idx="9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High-Value </a:t>
            </a:r>
            <a:r>
              <a:rPr lang="en"/>
              <a:t>Transaction</a:t>
            </a: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 Filter</a:t>
            </a:r>
            <a:endParaRPr/>
          </a:p>
        </p:txBody>
      </p:sp>
      <p:sp>
        <p:nvSpPr>
          <p:cNvPr id="960" name="Google Shape;960;p92"/>
          <p:cNvSpPr txBox="1"/>
          <p:nvPr>
            <p:ph idx="13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Loop through daily transaction values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if value &gt; $1,000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add it to the total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the final flagged total</a:t>
            </a:r>
            <a:endParaRPr/>
          </a:p>
        </p:txBody>
      </p:sp>
      <p:sp>
        <p:nvSpPr>
          <p:cNvPr id="961" name="Google Shape;961;p92"/>
          <p:cNvSpPr/>
          <p:nvPr/>
        </p:nvSpPr>
        <p:spPr>
          <a:xfrm>
            <a:off x="4684014" y="1988820"/>
            <a:ext cx="4046100" cy="15090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92"/>
          <p:cNvSpPr txBox="1"/>
          <p:nvPr>
            <p:ph idx="15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values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499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5000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total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AE8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75715E"/>
              </a:buClr>
              <a:buSzPts val="900"/>
              <a:buNone/>
            </a:pPr>
            <a:r>
              <a:rPr b="0" i="0" lang="en" sz="900">
                <a:solidFill>
                  <a:srgbClr val="75715E"/>
                </a:solidFill>
                <a:latin typeface="Consolas"/>
                <a:ea typeface="Consolas"/>
                <a:cs typeface="Consolas"/>
                <a:sym typeface="Consolas"/>
              </a:rPr>
              <a:t># TODO: if value &gt; 1000, add to total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v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values: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3" name="Google Shape;963;p92"/>
          <p:cNvSpPr txBox="1"/>
          <p:nvPr>
            <p:ph idx="16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high-value transactions: $6200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9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Practices: More with loop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69" name="Google Shape;969;p93"/>
          <p:cNvSpPr txBox="1"/>
          <p:nvPr>
            <p:ph idx="2" type="body"/>
          </p:nvPr>
        </p:nvSpPr>
        <p:spPr>
          <a:xfrm>
            <a:off x="240030" y="68580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970" name="Google Shape;970;p93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Credit Score Classifier</a:t>
            </a:r>
            <a:endParaRPr/>
          </a:p>
        </p:txBody>
      </p:sp>
      <p:sp>
        <p:nvSpPr>
          <p:cNvPr id="971" name="Google Shape;971;p93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if score &gt;= 700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-&gt; Prime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elif 620-699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-&gt; Near-Prime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-&gt; Subprime</a:t>
            </a:r>
            <a:endParaRPr/>
          </a:p>
        </p:txBody>
      </p:sp>
      <p:sp>
        <p:nvSpPr>
          <p:cNvPr id="972" name="Google Shape;972;p93"/>
          <p:cNvSpPr/>
          <p:nvPr/>
        </p:nvSpPr>
        <p:spPr>
          <a:xfrm>
            <a:off x="411480" y="1988820"/>
            <a:ext cx="4046100" cy="15090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93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scores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580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640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75715E"/>
              </a:buClr>
              <a:buSzPts val="900"/>
              <a:buNone/>
            </a:pPr>
            <a:r>
              <a:rPr b="0" i="0" lang="en" sz="900">
                <a:solidFill>
                  <a:srgbClr val="75715E"/>
                </a:solidFill>
                <a:latin typeface="Consolas"/>
                <a:ea typeface="Consolas"/>
                <a:cs typeface="Consolas"/>
                <a:sym typeface="Consolas"/>
              </a:rPr>
              <a:t># TODO: if/elif/else classify each score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score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scores: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4" name="Google Shape;974;p93"/>
          <p:cNvSpPr txBox="1"/>
          <p:nvPr>
            <p:ph idx="7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720 -&gt; Prime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580 -&gt; Subprime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810 -&gt; Prime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640 -&gt; Near-Prime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520 -&gt; Subprime</a:t>
            </a:r>
            <a:endParaRPr/>
          </a:p>
        </p:txBody>
      </p:sp>
      <p:sp>
        <p:nvSpPr>
          <p:cNvPr id="975" name="Google Shape;975;p93"/>
          <p:cNvSpPr txBox="1"/>
          <p:nvPr>
            <p:ph idx="8" type="body"/>
          </p:nvPr>
        </p:nvSpPr>
        <p:spPr>
          <a:xfrm>
            <a:off x="4512564" y="68580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976" name="Google Shape;976;p93"/>
          <p:cNvSpPr txBox="1"/>
          <p:nvPr>
            <p:ph idx="9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Skip Zero-Fee Accounts</a:t>
            </a:r>
            <a:endParaRPr/>
          </a:p>
        </p:txBody>
      </p:sp>
      <p:sp>
        <p:nvSpPr>
          <p:cNvPr id="977" name="Google Shape;977;p93"/>
          <p:cNvSpPr txBox="1"/>
          <p:nvPr>
            <p:ph idx="13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00"/>
              <a:buChar char="●"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if fee == 0.0: continue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skip it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only the active fee charges</a:t>
            </a:r>
            <a:endParaRPr/>
          </a:p>
          <a:p>
            <a:pPr indent="-152400" lvl="0" marL="203200" rtl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Practice the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continue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keyword</a:t>
            </a:r>
            <a:endParaRPr/>
          </a:p>
        </p:txBody>
      </p:sp>
      <p:sp>
        <p:nvSpPr>
          <p:cNvPr id="978" name="Google Shape;978;p93"/>
          <p:cNvSpPr/>
          <p:nvPr/>
        </p:nvSpPr>
        <p:spPr>
          <a:xfrm>
            <a:off x="4684014" y="1988820"/>
            <a:ext cx="4046100" cy="15090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93"/>
          <p:cNvSpPr txBox="1"/>
          <p:nvPr>
            <p:ph idx="15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fees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15.0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75715E"/>
              </a:buClr>
              <a:buSzPts val="900"/>
              <a:buNone/>
            </a:pPr>
            <a:r>
              <a:rPr b="0" i="0" lang="en" sz="900">
                <a:solidFill>
                  <a:srgbClr val="75715E"/>
                </a:solidFill>
                <a:latin typeface="Consolas"/>
                <a:ea typeface="Consolas"/>
                <a:cs typeface="Consolas"/>
                <a:sym typeface="Consolas"/>
              </a:rPr>
              <a:t># TODO: continue past any $0.0 fee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fee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fees: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p93"/>
          <p:cNvSpPr txBox="1"/>
          <p:nvPr>
            <p:ph idx="16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Fee: $12.00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Fee: $15.00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Fee: $8.50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9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Practices: More with loop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t/>
            </a:r>
            <a:endParaRPr/>
          </a:p>
        </p:txBody>
      </p:sp>
      <p:sp>
        <p:nvSpPr>
          <p:cNvPr id="986" name="Google Shape;986;p94"/>
          <p:cNvSpPr/>
          <p:nvPr/>
        </p:nvSpPr>
        <p:spPr>
          <a:xfrm>
            <a:off x="411475" y="1219929"/>
            <a:ext cx="4731900" cy="14202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94"/>
          <p:cNvSpPr txBox="1"/>
          <p:nvPr>
            <p:ph idx="3" type="body"/>
          </p:nvPr>
        </p:nvSpPr>
        <p:spPr>
          <a:xfrm>
            <a:off x="582925" y="1315896"/>
            <a:ext cx="43890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prices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75715E"/>
              </a:buClr>
              <a:buSzPts val="900"/>
              <a:buNone/>
            </a:pPr>
            <a:r>
              <a:rPr b="0" i="0" lang="en" sz="900">
                <a:solidFill>
                  <a:srgbClr val="75715E"/>
                </a:solidFill>
                <a:latin typeface="Consolas"/>
                <a:ea typeface="Consolas"/>
                <a:cs typeface="Consolas"/>
                <a:sym typeface="Consolas"/>
              </a:rPr>
              <a:t># TODO: if price &lt; 90, print + break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price </a:t>
            </a:r>
            <a:r>
              <a:rPr b="0" i="0" lang="en" sz="90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prices: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66D9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p94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Your task</a:t>
            </a:r>
            <a:endParaRPr sz="1350"/>
          </a:p>
        </p:txBody>
      </p:sp>
      <p:sp>
        <p:nvSpPr>
          <p:cNvPr id="989" name="Google Shape;989;p94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Print each trade price as you go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if price &lt; $90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print Trading Halted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immediately — stop processing</a:t>
            </a:r>
            <a:endParaRPr sz="1050"/>
          </a:p>
        </p:txBody>
      </p:sp>
      <p:sp>
        <p:nvSpPr>
          <p:cNvPr id="990" name="Google Shape;990;p94"/>
          <p:cNvSpPr txBox="1"/>
          <p:nvPr>
            <p:ph idx="6" type="body"/>
          </p:nvPr>
        </p:nvSpPr>
        <p:spPr>
          <a:xfrm>
            <a:off x="5417820" y="2178385"/>
            <a:ext cx="3291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900"/>
          </a:p>
        </p:txBody>
      </p:sp>
      <p:sp>
        <p:nvSpPr>
          <p:cNvPr id="991" name="Google Shape;991;p94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4"/>
          <p:cNvSpPr txBox="1"/>
          <p:nvPr>
            <p:ph idx="2" type="body"/>
          </p:nvPr>
        </p:nvSpPr>
        <p:spPr>
          <a:xfrm>
            <a:off x="240030" y="685800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</a:rPr>
              <a:t>5</a:t>
            </a:r>
            <a:endParaRPr/>
          </a:p>
        </p:txBody>
      </p:sp>
      <p:sp>
        <p:nvSpPr>
          <p:cNvPr id="993" name="Google Shape;993;p94"/>
          <p:cNvSpPr/>
          <p:nvPr/>
        </p:nvSpPr>
        <p:spPr>
          <a:xfrm>
            <a:off x="5417820" y="1938355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Roboto"/>
              <a:buNone/>
            </a:pPr>
            <a:r>
              <a:rPr b="1" i="0" lang="en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