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11" r:id="rId4"/>
    <p:sldMasterId id="2147483712" r:id="rId5"/>
    <p:sldMasterId id="214748371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y="5143500" cx="9144000"/>
  <p:notesSz cx="6858000" cy="9144000"/>
  <p:embeddedFontLst>
    <p:embeddedFont>
      <p:font typeface="Robot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62">
          <p15:clr>
            <a:srgbClr val="747775"/>
          </p15:clr>
        </p15:guide>
        <p15:guide id="2" pos="25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62" orient="horz"/>
        <p:guide pos="25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font" Target="fonts/Roboto-regular.fntdata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font" Target="fonts/Roboto-italic.fntdata"/><Relationship Id="rId14" Type="http://schemas.openxmlformats.org/officeDocument/2006/relationships/slide" Target="slides/slide7.xml"/><Relationship Id="rId36" Type="http://schemas.openxmlformats.org/officeDocument/2006/relationships/font" Target="fonts/Roboto-bold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38" Type="http://schemas.openxmlformats.org/officeDocument/2006/relationships/font" Target="fonts/Roboto-boldItalic.fntdata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2cfb310f500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2cfb310f500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2ce3b1bb3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2ce3b1bb3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3f7bbc5f39d_0_3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6" name="Google Shape;666;g3f7bbc5f39d_0_3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g3f7bbc5f39d_0_34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f44fec0953_4_26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g3f44fec0953_4_26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f32b7c1041_2_2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9" name="Google Shape;689;g3f32b7c1041_2_2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fruits = ['apple', 'banana', 'cherry']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for fruit in fruits: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  print(fruit)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g3f32b7c1041_2_2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2ce3b1bb3ca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2ce3b1bb3ca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f936d01f3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3f936d01f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f44fec0953_5_1714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7" name="Google Shape;727;g3f44fec0953_5_1714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g3f44fec0953_5_1714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f44fec0953_5_180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0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count &lt; 5: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count = count + 1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print(count)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g3f44fec0953_5_180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f936d01f34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3" name="Google Shape;763;g3f936d01f34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g3f936d01f34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1" name="Google Shape;771;g3f936d01f34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3f44fec0953_5_22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3" name="Google Shape;783;g3f44fec0953_5_2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f44fec0953_5_188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1" name="Google Shape;791;g3f44fec0953_5_188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2" name="Google Shape;792;g3f44fec0953_5_188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g3f44fec0953_5_2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5" name="Google Shape;815;g3f44fec0953_5_2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3f66b1364d1_0_25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3" name="Google Shape;823;g3f66b1364d1_0_259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 in range(3):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for j in range(3):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print(i, j)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(0,0) (0,1) (0,2)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# (1,0) (1,1) (1,2) ...</a:t>
            </a:r>
            <a:endParaRPr/>
          </a:p>
        </p:txBody>
      </p:sp>
      <p:sp>
        <p:nvSpPr>
          <p:cNvPr id="824" name="Google Shape;824;g3f66b1364d1_0_25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g3f66b1364d1_0_26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2" name="Google Shape;832;g3f66b1364d1_0_26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fruits = ['apple', 'banana', 'cherry']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idx, val in enumerate(fruits):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print(idx, val)  # 0 apple ...</a:t>
            </a:r>
            <a:endParaRPr/>
          </a:p>
        </p:txBody>
      </p:sp>
      <p:sp>
        <p:nvSpPr>
          <p:cNvPr id="833" name="Google Shape;833;g3f66b1364d1_0_26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f66b1364d1_0_27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2" name="Google Shape;842;g3f66b1364d1_0_27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= ['Alice', 'Bob']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scores = [95, 87]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n, s in zip(names, scores):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print(n, s)</a:t>
            </a:r>
            <a:endParaRPr/>
          </a:p>
        </p:txBody>
      </p:sp>
      <p:sp>
        <p:nvSpPr>
          <p:cNvPr id="843" name="Google Shape;843;g3f66b1364d1_0_27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f44fec0953_5_215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1" name="Google Shape;851;g3f44fec0953_5_215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g3f44fec0953_5_215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g3f66b1364d1_0_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g3f66b1364d1_0_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f690757e71_1_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g3f690757e71_1_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3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3f690757e71_1_1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1: Count from 1 to 10 ---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range(1, 11):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print(i, end=", " if i &lt; 10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2: Print Even Numbers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range(2, 21, 2):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print(i, end=", " if i &lt; 20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3: Sum of Numbers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total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i in range(1, 101):  # Note: range(1, 101) includes 100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total += 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print(f"Sum: {total}")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4: Loop Through a List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fruits = ['apple', 'banana', 'cherry']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fruit in fruits: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print(fruit)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5" name="Google Shape;875;g3f690757e71_1_1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g3f690757e71_1_32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g3f690757e71_1_32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g3f690757e71_1_3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5: Countdown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10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count &gt;= 1: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print(count, end=", " if count &gt; 1 else "\n")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count -=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print("Done!")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6: Multiplication Table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 = 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 &lt;= 10: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print(f"{num} x {i} = {num * i}")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7: Count Vowels in a String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text = "programming"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vowels = "aeiou"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count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 &lt; len(text):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text[i] in vowels: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count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print(f"Vowel count: {count}")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8: Find the Largest Number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numbers = [14, 58, 2, 99, 43]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largest = numbers[0]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idx 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while idx &lt; len(numbers):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numbers[idx] &gt; largest: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largest = numbers[idx]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idx += 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print(f"Largest number: {largest}")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g3f690757e71_1_3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f690757e71_1_31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8" name="Google Shape;938;g3f690757e71_1_31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g3f66b1364d1_0_827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1: Transaction Categorization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amounts = [150.0, -45.5, -12.0, 3000.0, -8.99]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amt in amounts: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category = "Income" if amt &gt; 0 else "Expense"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sign = "" if amt &gt;= 0 else "-"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print(f"{sign}${abs(amt):.2f} -&gt; {category}")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2: High-Value Transaction Filter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values = [25, 499, 1200, 85, 5000, 310]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total = 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v in values: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v &gt; 1000: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total += v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print(f"Total high-value transactions: ${total}")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g3f66b1364d1_0_82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f66b1364d1_0_84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3: Credit Score Classifier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scores = [720, 580, 810, 640, 520]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score in scores: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score &gt;= 700: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elif score &gt;= 620: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"Near-Prime"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else: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category = "Subprime"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print(f"{score} -&gt; {category}")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4: Skip Zero-Fee Accounts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fees = [12.0, 0.0, 15.0, 0.0, 8.5]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fee in fees: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fee == 0.0: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continue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print(f"Fee: ${fee:.2f}")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g3f66b1364d1_0_84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5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g3f66b1364d1_0_1356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# --- Problem 5: Trading Halt ---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prices = [100, 102, 101, 88, 82, 79]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price in prices: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if price &lt; 90: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print("Trading Halted")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    break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   print(price)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g3f66b1364d1_0_135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9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6" name="Google Shape;56;p9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9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9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9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1" name="Google Shape;61;p9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5" name="Google Shape;65;p10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p10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10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8" name="Google Shape;68;p1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">
  <p:cSld name="SECTION_TITLE_AND_DESCRIPTION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1"/>
          <p:cNvSpPr txBox="1"/>
          <p:nvPr>
            <p:ph idx="2" type="title"/>
          </p:nvPr>
        </p:nvSpPr>
        <p:spPr>
          <a:xfrm>
            <a:off x="4835400" y="12156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1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264450" y="25252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700"/>
              <a:buNone/>
              <a:defRPr b="1" sz="2700"/>
            </a:lvl9pPr>
          </a:lstStyle>
          <a:p/>
        </p:txBody>
      </p:sp>
      <p:sp>
        <p:nvSpPr>
          <p:cNvPr id="80" name="Google Shape;80;p12"/>
          <p:cNvSpPr txBox="1"/>
          <p:nvPr>
            <p:ph idx="1" type="subTitle"/>
          </p:nvPr>
        </p:nvSpPr>
        <p:spPr>
          <a:xfrm>
            <a:off x="265500" y="97297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2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12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9" name="Google Shape;89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4" name="Google Shape;94;p14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" name="Google Shape;96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01" name="Google Shape;101;p1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6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1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6" name="Google Shape;106;p16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07" name="Google Shape;107;p16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 1">
  <p:cSld name="TITLE_1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7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1" name="Google Shape;111;p17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7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7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7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" name="Google Shape;116;p1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17" name="Google Shape;117;p1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" name="Google Shape;118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9225" y="228600"/>
            <a:ext cx="6109998" cy="127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fd70bf31d_14_0)">
  <p:cSld name="Generated (g3dfd70bf31d_14_0)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28_0)">
  <p:cSld name="Title and body (g3dfd70bf31d_28_0)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4" name="Google Shape;124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dfd70bf31d_35_0)">
  <p:cSld name="Title and body (g3dfd70bf31d_35_0)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93094ff1_9_0)">
  <p:cSld name="Title and body (g3e193094ff1_9_0)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2" name="Google Shape;132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20_0)">
  <p:cSld name="Title and body (g3e1c8834e29_20_0)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5" name="Google Shape;135;p22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6" name="Google Shape;136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30_0)">
  <p:cSld name="Title and body (g3e1c8834e29_30_0)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39" name="Google Shape;139;p23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e1c8834e29_38_0)">
  <p:cSld name="Title and body (g3e1c8834e29_38_0)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43" name="Google Shape;143;p24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f44fec0953_12_0)">
  <p:cSld name="Title and body (g3f44fec0953_12_0)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48" name="Google Shape;148;p26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9" name="Google Shape;149;p2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g3f44fec0953_28_0)">
  <p:cSld name="Title and body (g3f44fec0953_28_0)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7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b="1"/>
            </a:lvl9pPr>
          </a:lstStyle>
          <a:p/>
        </p:txBody>
      </p:sp>
      <p:sp>
        <p:nvSpPr>
          <p:cNvPr id="152" name="Google Shape;152;p27"/>
          <p:cNvSpPr txBox="1"/>
          <p:nvPr>
            <p:ph idx="1" type="body"/>
          </p:nvPr>
        </p:nvSpPr>
        <p:spPr>
          <a:xfrm>
            <a:off x="311700" y="892063"/>
            <a:ext cx="8520600" cy="36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3" name="Google Shape;153;p2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1_TITLE_NAVY">
  <p:cSld name="S01_TITLE_NAVY">
    <p:bg>
      <p:bgPr>
        <a:solidFill>
          <a:srgbClr val="2A3480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30"/>
          <p:cNvSpPr/>
          <p:nvPr/>
        </p:nvSpPr>
        <p:spPr>
          <a:xfrm>
            <a:off x="8206283" y="-573328"/>
            <a:ext cx="1509000" cy="15090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30"/>
          <p:cNvSpPr/>
          <p:nvPr/>
        </p:nvSpPr>
        <p:spPr>
          <a:xfrm>
            <a:off x="-1508760" y="3154680"/>
            <a:ext cx="3703200" cy="37032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30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60" name="Google Shape;160;p30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30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162" name="Google Shape;162;p30"/>
          <p:cNvCxnSpPr/>
          <p:nvPr/>
        </p:nvCxnSpPr>
        <p:spPr>
          <a:xfrm>
            <a:off x="617220" y="384048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30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3_FOUR_CARDS">
  <p:cSld name="S03_FOUR_CARDS"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7" name="Google Shape;167;p3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68" name="Google Shape;168;p31"/>
          <p:cNvSpPr/>
          <p:nvPr/>
        </p:nvSpPr>
        <p:spPr>
          <a:xfrm>
            <a:off x="411480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1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31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1"/>
          <p:cNvSpPr txBox="1"/>
          <p:nvPr>
            <p:ph idx="2" type="body"/>
          </p:nvPr>
        </p:nvSpPr>
        <p:spPr>
          <a:xfrm>
            <a:off x="582930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2" name="Google Shape;172;p31"/>
          <p:cNvSpPr txBox="1"/>
          <p:nvPr>
            <p:ph idx="3" type="body"/>
          </p:nvPr>
        </p:nvSpPr>
        <p:spPr>
          <a:xfrm>
            <a:off x="582930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3" name="Google Shape;173;p31"/>
          <p:cNvSpPr/>
          <p:nvPr/>
        </p:nvSpPr>
        <p:spPr>
          <a:xfrm>
            <a:off x="2558034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31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1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1"/>
          <p:cNvSpPr txBox="1"/>
          <p:nvPr>
            <p:ph idx="4" type="body"/>
          </p:nvPr>
        </p:nvSpPr>
        <p:spPr>
          <a:xfrm>
            <a:off x="2729484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31"/>
          <p:cNvSpPr txBox="1"/>
          <p:nvPr>
            <p:ph idx="5" type="body"/>
          </p:nvPr>
        </p:nvSpPr>
        <p:spPr>
          <a:xfrm>
            <a:off x="2729484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8" name="Google Shape;178;p31"/>
          <p:cNvSpPr/>
          <p:nvPr/>
        </p:nvSpPr>
        <p:spPr>
          <a:xfrm>
            <a:off x="4704588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1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1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31"/>
          <p:cNvSpPr txBox="1"/>
          <p:nvPr>
            <p:ph idx="6" type="body"/>
          </p:nvPr>
        </p:nvSpPr>
        <p:spPr>
          <a:xfrm>
            <a:off x="4876038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2" name="Google Shape;182;p31"/>
          <p:cNvSpPr txBox="1"/>
          <p:nvPr>
            <p:ph idx="7" type="body"/>
          </p:nvPr>
        </p:nvSpPr>
        <p:spPr>
          <a:xfrm>
            <a:off x="4876038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3" name="Google Shape;183;p31"/>
          <p:cNvSpPr/>
          <p:nvPr/>
        </p:nvSpPr>
        <p:spPr>
          <a:xfrm>
            <a:off x="6851142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31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1"/>
          <p:cNvSpPr txBox="1"/>
          <p:nvPr>
            <p:ph idx="8" type="body"/>
          </p:nvPr>
        </p:nvSpPr>
        <p:spPr>
          <a:xfrm>
            <a:off x="7022592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7" name="Google Shape;187;p31"/>
          <p:cNvSpPr txBox="1"/>
          <p:nvPr>
            <p:ph idx="9" type="body"/>
          </p:nvPr>
        </p:nvSpPr>
        <p:spPr>
          <a:xfrm>
            <a:off x="7022592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3" name="Google Shape;193;p32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4" name="Google Shape;194;p3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7" name="Google Shape;197;p3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98" name="Google Shape;198;p33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8_FLOW_DIAGRAM">
  <p:cSld name="S08_FLOW_DIAGRAM"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2" name="Google Shape;202;p3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03" name="Google Shape;203;p34"/>
          <p:cNvSpPr/>
          <p:nvPr/>
        </p:nvSpPr>
        <p:spPr>
          <a:xfrm>
            <a:off x="48006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54864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5" name="Google Shape;205;p34"/>
          <p:cNvSpPr/>
          <p:nvPr/>
        </p:nvSpPr>
        <p:spPr>
          <a:xfrm>
            <a:off x="229743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4"/>
          <p:cNvSpPr/>
          <p:nvPr/>
        </p:nvSpPr>
        <p:spPr>
          <a:xfrm>
            <a:off x="264033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4"/>
          <p:cNvSpPr txBox="1"/>
          <p:nvPr>
            <p:ph idx="3" type="body"/>
          </p:nvPr>
        </p:nvSpPr>
        <p:spPr>
          <a:xfrm>
            <a:off x="270891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8" name="Google Shape;208;p34"/>
          <p:cNvSpPr/>
          <p:nvPr/>
        </p:nvSpPr>
        <p:spPr>
          <a:xfrm>
            <a:off x="445770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4"/>
          <p:cNvSpPr/>
          <p:nvPr/>
        </p:nvSpPr>
        <p:spPr>
          <a:xfrm>
            <a:off x="480060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4"/>
          <p:cNvSpPr txBox="1"/>
          <p:nvPr>
            <p:ph idx="4" type="body"/>
          </p:nvPr>
        </p:nvSpPr>
        <p:spPr>
          <a:xfrm>
            <a:off x="486918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1" name="Google Shape;211;p34"/>
          <p:cNvSpPr/>
          <p:nvPr/>
        </p:nvSpPr>
        <p:spPr>
          <a:xfrm>
            <a:off x="661797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696087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4"/>
          <p:cNvSpPr txBox="1"/>
          <p:nvPr>
            <p:ph idx="5" type="body"/>
          </p:nvPr>
        </p:nvSpPr>
        <p:spPr>
          <a:xfrm>
            <a:off x="702945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4" name="Google Shape;214;p34"/>
          <p:cNvSpPr txBox="1"/>
          <p:nvPr>
            <p:ph idx="6" type="body"/>
          </p:nvPr>
        </p:nvSpPr>
        <p:spPr>
          <a:xfrm>
            <a:off x="480060" y="2571750"/>
            <a:ext cx="8160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15" name="Google Shape;215;p3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6_SPLIT_PANEL">
  <p:cSld name="S06_SPLIT_PANEL">
    <p:bg>
      <p:bgPr>
        <a:solidFill>
          <a:srgbClr val="FFFFFF"/>
        </a:solid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5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5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0" name="Google Shape;220;p35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1" name="Google Shape;221;p35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2" name="Google Shape;222;p35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800"/>
              <a:buFont typeface="Arial"/>
              <a:buNone/>
              <a:defRPr b="0" i="1" sz="8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3" name="Google Shape;223;p35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24" name="Google Shape;224;p35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5" name="Google Shape;225;p35"/>
          <p:cNvSpPr txBox="1"/>
          <p:nvPr>
            <p:ph idx="7" type="body"/>
          </p:nvPr>
        </p:nvSpPr>
        <p:spPr>
          <a:xfrm>
            <a:off x="4879467" y="1062990"/>
            <a:ext cx="3953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6" name="Google Shape;226;p35"/>
          <p:cNvSpPr txBox="1"/>
          <p:nvPr>
            <p:ph idx="8" type="body"/>
          </p:nvPr>
        </p:nvSpPr>
        <p:spPr>
          <a:xfrm>
            <a:off x="4879467" y="1371600"/>
            <a:ext cx="39537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7" name="Google Shape;227;p35"/>
          <p:cNvSpPr txBox="1"/>
          <p:nvPr>
            <p:ph idx="9" type="body"/>
          </p:nvPr>
        </p:nvSpPr>
        <p:spPr>
          <a:xfrm>
            <a:off x="4810887" y="822960"/>
            <a:ext cx="40908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8" name="Google Shape;228;p3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5_TWO_COLUMN_COMPARE">
  <p:cSld name="S05_TWO_COLUMN_COMPARE"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1" name="Google Shape;231;p3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32" name="Google Shape;232;p36"/>
          <p:cNvSpPr/>
          <p:nvPr/>
        </p:nvSpPr>
        <p:spPr>
          <a:xfrm>
            <a:off x="411480" y="1062990"/>
            <a:ext cx="4046100" cy="2880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36"/>
          <p:cNvSpPr txBox="1"/>
          <p:nvPr>
            <p:ph idx="2" type="body"/>
          </p:nvPr>
        </p:nvSpPr>
        <p:spPr>
          <a:xfrm>
            <a:off x="65151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36"/>
          <p:cNvSpPr txBox="1"/>
          <p:nvPr>
            <p:ph idx="3" type="body"/>
          </p:nvPr>
        </p:nvSpPr>
        <p:spPr>
          <a:xfrm>
            <a:off x="65151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5" name="Google Shape;235;p36"/>
          <p:cNvSpPr/>
          <p:nvPr/>
        </p:nvSpPr>
        <p:spPr>
          <a:xfrm>
            <a:off x="4663440" y="1062990"/>
            <a:ext cx="4046100" cy="2880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idx="4" type="body"/>
          </p:nvPr>
        </p:nvSpPr>
        <p:spPr>
          <a:xfrm>
            <a:off x="490347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36"/>
          <p:cNvSpPr txBox="1"/>
          <p:nvPr>
            <p:ph idx="5" type="body"/>
          </p:nvPr>
        </p:nvSpPr>
        <p:spPr>
          <a:xfrm>
            <a:off x="490347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8" name="Google Shape;238;p3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42" name="Google Shape;242;p37"/>
          <p:cNvSpPr txBox="1"/>
          <p:nvPr>
            <p:ph idx="2" type="body"/>
          </p:nvPr>
        </p:nvSpPr>
        <p:spPr>
          <a:xfrm>
            <a:off x="411480" y="1062990"/>
            <a:ext cx="47319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3" name="Google Shape;243;p37"/>
          <p:cNvSpPr txBox="1"/>
          <p:nvPr>
            <p:ph idx="3" type="body"/>
          </p:nvPr>
        </p:nvSpPr>
        <p:spPr>
          <a:xfrm>
            <a:off x="5417820" y="106299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4" name="Google Shape;244;p37"/>
          <p:cNvSpPr txBox="1"/>
          <p:nvPr>
            <p:ph idx="4" type="body"/>
          </p:nvPr>
        </p:nvSpPr>
        <p:spPr>
          <a:xfrm>
            <a:off x="5417820" y="137160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984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5" name="Google Shape;245;p3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0_NUMBERED_ROWS_4">
  <p:cSld name="S10_NUMBERED_ROWS_4"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8" name="Google Shape;248;p3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300"/>
              <a:buFont typeface="Roboto"/>
              <a:buNone/>
              <a:defRPr b="1" i="0" sz="23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49" name="Google Shape;249;p38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8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8"/>
          <p:cNvSpPr txBox="1"/>
          <p:nvPr>
            <p:ph idx="2" type="body"/>
          </p:nvPr>
        </p:nvSpPr>
        <p:spPr>
          <a:xfrm>
            <a:off x="925830" y="106299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2" name="Google Shape;252;p38"/>
          <p:cNvSpPr txBox="1"/>
          <p:nvPr>
            <p:ph idx="3" type="body"/>
          </p:nvPr>
        </p:nvSpPr>
        <p:spPr>
          <a:xfrm>
            <a:off x="925830" y="135102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3" name="Google Shape;253;p38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8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8"/>
          <p:cNvSpPr txBox="1"/>
          <p:nvPr>
            <p:ph idx="4" type="body"/>
          </p:nvPr>
        </p:nvSpPr>
        <p:spPr>
          <a:xfrm>
            <a:off x="925830" y="195453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6" name="Google Shape;256;p38"/>
          <p:cNvSpPr txBox="1"/>
          <p:nvPr>
            <p:ph idx="5" type="body"/>
          </p:nvPr>
        </p:nvSpPr>
        <p:spPr>
          <a:xfrm>
            <a:off x="925830" y="224256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7" name="Google Shape;257;p38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38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8"/>
          <p:cNvSpPr txBox="1"/>
          <p:nvPr>
            <p:ph idx="6" type="body"/>
          </p:nvPr>
        </p:nvSpPr>
        <p:spPr>
          <a:xfrm>
            <a:off x="925830" y="284607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8"/>
          <p:cNvSpPr txBox="1"/>
          <p:nvPr>
            <p:ph idx="7" type="body"/>
          </p:nvPr>
        </p:nvSpPr>
        <p:spPr>
          <a:xfrm>
            <a:off x="925830" y="313410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1" name="Google Shape;261;p38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8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38"/>
          <p:cNvSpPr txBox="1"/>
          <p:nvPr>
            <p:ph idx="8" type="body"/>
          </p:nvPr>
        </p:nvSpPr>
        <p:spPr>
          <a:xfrm>
            <a:off x="925830" y="373761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4" name="Google Shape;264;p38"/>
          <p:cNvSpPr txBox="1"/>
          <p:nvPr>
            <p:ph idx="9" type="body"/>
          </p:nvPr>
        </p:nvSpPr>
        <p:spPr>
          <a:xfrm>
            <a:off x="925830" y="402564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5" name="Google Shape;265;p3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6_CLOSING_NAVY">
  <p:cSld name="S16_CLOSING_NAVY">
    <p:bg>
      <p:bgPr>
        <a:solidFill>
          <a:srgbClr val="2A3480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39"/>
          <p:cNvSpPr/>
          <p:nvPr/>
        </p:nvSpPr>
        <p:spPr>
          <a:xfrm>
            <a:off x="-1234440" y="3223260"/>
            <a:ext cx="3429000" cy="34290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9"/>
          <p:cNvSpPr txBox="1"/>
          <p:nvPr>
            <p:ph type="title"/>
          </p:nvPr>
        </p:nvSpPr>
        <p:spPr>
          <a:xfrm>
            <a:off x="617220" y="1851660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70" name="Google Shape;270;p39"/>
          <p:cNvSpPr txBox="1"/>
          <p:nvPr>
            <p:ph idx="1" type="body"/>
          </p:nvPr>
        </p:nvSpPr>
        <p:spPr>
          <a:xfrm>
            <a:off x="617220" y="2537460"/>
            <a:ext cx="65151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D6DAF2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271" name="Google Shape;271;p39"/>
          <p:cNvCxnSpPr/>
          <p:nvPr/>
        </p:nvCxnSpPr>
        <p:spPr>
          <a:xfrm>
            <a:off x="617220" y="322326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" name="Google Shape;272;p39"/>
          <p:cNvSpPr txBox="1"/>
          <p:nvPr>
            <p:ph idx="2" type="body"/>
          </p:nvPr>
        </p:nvSpPr>
        <p:spPr>
          <a:xfrm>
            <a:off x="617220" y="3394710"/>
            <a:ext cx="6172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3" name="Google Shape;273;p3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4_THREE_CARDS_ROADMAP">
  <p:cSld name="S04_THREE_CARDS_ROADMAP">
    <p:bg>
      <p:bgPr>
        <a:solidFill>
          <a:srgbClr val="FFFFFF"/>
        </a:solid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76" name="Google Shape;276;p4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77" name="Google Shape;277;p40"/>
          <p:cNvSpPr/>
          <p:nvPr/>
        </p:nvSpPr>
        <p:spPr>
          <a:xfrm>
            <a:off x="41148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40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40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40"/>
          <p:cNvSpPr txBox="1"/>
          <p:nvPr>
            <p:ph idx="2" type="body"/>
          </p:nvPr>
        </p:nvSpPr>
        <p:spPr>
          <a:xfrm>
            <a:off x="58293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1" name="Google Shape;281;p40"/>
          <p:cNvSpPr txBox="1"/>
          <p:nvPr>
            <p:ph idx="3" type="body"/>
          </p:nvPr>
        </p:nvSpPr>
        <p:spPr>
          <a:xfrm>
            <a:off x="58293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2" name="Google Shape;282;p40"/>
          <p:cNvSpPr/>
          <p:nvPr/>
        </p:nvSpPr>
        <p:spPr>
          <a:xfrm>
            <a:off x="3257550" y="1062990"/>
            <a:ext cx="2640300" cy="21948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0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40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40"/>
          <p:cNvSpPr txBox="1"/>
          <p:nvPr>
            <p:ph idx="4" type="body"/>
          </p:nvPr>
        </p:nvSpPr>
        <p:spPr>
          <a:xfrm>
            <a:off x="342900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6" name="Google Shape;286;p40"/>
          <p:cNvSpPr txBox="1"/>
          <p:nvPr>
            <p:ph idx="5" type="body"/>
          </p:nvPr>
        </p:nvSpPr>
        <p:spPr>
          <a:xfrm>
            <a:off x="342900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7" name="Google Shape;287;p40"/>
          <p:cNvSpPr/>
          <p:nvPr/>
        </p:nvSpPr>
        <p:spPr>
          <a:xfrm>
            <a:off x="610362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40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40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0"/>
          <p:cNvSpPr txBox="1"/>
          <p:nvPr>
            <p:ph idx="6" type="body"/>
          </p:nvPr>
        </p:nvSpPr>
        <p:spPr>
          <a:xfrm>
            <a:off x="627507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40"/>
          <p:cNvSpPr txBox="1"/>
          <p:nvPr>
            <p:ph idx="7" type="body"/>
          </p:nvPr>
        </p:nvSpPr>
        <p:spPr>
          <a:xfrm>
            <a:off x="627507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40"/>
          <p:cNvSpPr txBox="1"/>
          <p:nvPr>
            <p:ph idx="8" type="body"/>
          </p:nvPr>
        </p:nvSpPr>
        <p:spPr>
          <a:xfrm>
            <a:off x="411480" y="3497580"/>
            <a:ext cx="829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4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9_NUMBERED_ROWS_3">
  <p:cSld name="S09_NUMBERED_ROWS_3"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4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297" name="Google Shape;297;p4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4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1"/>
          <p:cNvSpPr txBox="1"/>
          <p:nvPr>
            <p:ph idx="2" type="body"/>
          </p:nvPr>
        </p:nvSpPr>
        <p:spPr>
          <a:xfrm>
            <a:off x="925830" y="10972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0" name="Google Shape;300;p41"/>
          <p:cNvSpPr txBox="1"/>
          <p:nvPr>
            <p:ph idx="3" type="body"/>
          </p:nvPr>
        </p:nvSpPr>
        <p:spPr>
          <a:xfrm>
            <a:off x="925830" y="13853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4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4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41"/>
          <p:cNvSpPr txBox="1"/>
          <p:nvPr>
            <p:ph idx="4" type="body"/>
          </p:nvPr>
        </p:nvSpPr>
        <p:spPr>
          <a:xfrm>
            <a:off x="925830" y="21259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41"/>
          <p:cNvSpPr txBox="1"/>
          <p:nvPr>
            <p:ph idx="5" type="body"/>
          </p:nvPr>
        </p:nvSpPr>
        <p:spPr>
          <a:xfrm>
            <a:off x="925830" y="24140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5" name="Google Shape;305;p4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4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41"/>
          <p:cNvSpPr txBox="1"/>
          <p:nvPr>
            <p:ph idx="6" type="body"/>
          </p:nvPr>
        </p:nvSpPr>
        <p:spPr>
          <a:xfrm>
            <a:off x="925830" y="31546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8" name="Google Shape;308;p41"/>
          <p:cNvSpPr txBox="1"/>
          <p:nvPr>
            <p:ph idx="7" type="body"/>
          </p:nvPr>
        </p:nvSpPr>
        <p:spPr>
          <a:xfrm>
            <a:off x="925830" y="34427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9" name="Google Shape;309;p4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1_ERRORS_WITH_CODE">
  <p:cSld name="S11_ERRORS_WITH_CODE"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2" name="Google Shape;312;p4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13" name="Google Shape;313;p42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42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2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6" name="Google Shape;316;p42"/>
          <p:cNvSpPr txBox="1"/>
          <p:nvPr>
            <p:ph idx="3" type="body"/>
          </p:nvPr>
        </p:nvSpPr>
        <p:spPr>
          <a:xfrm>
            <a:off x="857250" y="1440180"/>
            <a:ext cx="35664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7" name="Google Shape;317;p42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42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42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0" name="Google Shape;320;p42"/>
          <p:cNvSpPr txBox="1"/>
          <p:nvPr>
            <p:ph idx="5" type="body"/>
          </p:nvPr>
        </p:nvSpPr>
        <p:spPr>
          <a:xfrm>
            <a:off x="5452110" y="1440180"/>
            <a:ext cx="34290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1" name="Google Shape;321;p42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42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2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42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4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2_QUIZ_MCQ">
  <p:cSld name="S12_QUIZ_MCQ">
    <p:bg>
      <p:bgPr>
        <a:solidFill>
          <a:srgbClr val="FFFFFF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4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29" name="Google Shape;329;p43"/>
          <p:cNvSpPr txBox="1"/>
          <p:nvPr>
            <p:ph idx="2" type="body"/>
          </p:nvPr>
        </p:nvSpPr>
        <p:spPr>
          <a:xfrm>
            <a:off x="411480" y="1062990"/>
            <a:ext cx="4320600" cy="26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0" name="Google Shape;330;p43"/>
          <p:cNvSpPr/>
          <p:nvPr/>
        </p:nvSpPr>
        <p:spPr>
          <a:xfrm>
            <a:off x="5006340" y="11658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43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2" name="Google Shape;332;p43"/>
          <p:cNvSpPr/>
          <p:nvPr/>
        </p:nvSpPr>
        <p:spPr>
          <a:xfrm>
            <a:off x="5006340" y="16802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43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43"/>
          <p:cNvSpPr/>
          <p:nvPr/>
        </p:nvSpPr>
        <p:spPr>
          <a:xfrm>
            <a:off x="5006340" y="2194560"/>
            <a:ext cx="3703200" cy="411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43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6" name="Google Shape;336;p43"/>
          <p:cNvSpPr/>
          <p:nvPr/>
        </p:nvSpPr>
        <p:spPr>
          <a:xfrm>
            <a:off x="5006340" y="27089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43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8" name="Google Shape;338;p4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3_FIVE_CARDS">
  <p:cSld name="S13_FIVE_CARDS"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1" name="Google Shape;341;p4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42" name="Google Shape;342;p44"/>
          <p:cNvSpPr/>
          <p:nvPr/>
        </p:nvSpPr>
        <p:spPr>
          <a:xfrm>
            <a:off x="411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44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44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44"/>
          <p:cNvSpPr txBox="1"/>
          <p:nvPr>
            <p:ph idx="2" type="body"/>
          </p:nvPr>
        </p:nvSpPr>
        <p:spPr>
          <a:xfrm>
            <a:off x="562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6" name="Google Shape;346;p44"/>
          <p:cNvSpPr txBox="1"/>
          <p:nvPr>
            <p:ph idx="3" type="body"/>
          </p:nvPr>
        </p:nvSpPr>
        <p:spPr>
          <a:xfrm>
            <a:off x="562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47" name="Google Shape;347;p44"/>
          <p:cNvSpPr/>
          <p:nvPr/>
        </p:nvSpPr>
        <p:spPr>
          <a:xfrm>
            <a:off x="2125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44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44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44"/>
          <p:cNvSpPr txBox="1"/>
          <p:nvPr>
            <p:ph idx="4" type="body"/>
          </p:nvPr>
        </p:nvSpPr>
        <p:spPr>
          <a:xfrm>
            <a:off x="2276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1" name="Google Shape;351;p44"/>
          <p:cNvSpPr txBox="1"/>
          <p:nvPr>
            <p:ph idx="5" type="body"/>
          </p:nvPr>
        </p:nvSpPr>
        <p:spPr>
          <a:xfrm>
            <a:off x="2276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2" name="Google Shape;352;p44"/>
          <p:cNvSpPr/>
          <p:nvPr/>
        </p:nvSpPr>
        <p:spPr>
          <a:xfrm>
            <a:off x="3840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44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44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44"/>
          <p:cNvSpPr txBox="1"/>
          <p:nvPr>
            <p:ph idx="6" type="body"/>
          </p:nvPr>
        </p:nvSpPr>
        <p:spPr>
          <a:xfrm>
            <a:off x="3991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6" name="Google Shape;356;p44"/>
          <p:cNvSpPr txBox="1"/>
          <p:nvPr>
            <p:ph idx="7" type="body"/>
          </p:nvPr>
        </p:nvSpPr>
        <p:spPr>
          <a:xfrm>
            <a:off x="3991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57" name="Google Shape;357;p44"/>
          <p:cNvSpPr/>
          <p:nvPr/>
        </p:nvSpPr>
        <p:spPr>
          <a:xfrm>
            <a:off x="5554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44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44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4"/>
          <p:cNvSpPr txBox="1"/>
          <p:nvPr>
            <p:ph idx="8" type="body"/>
          </p:nvPr>
        </p:nvSpPr>
        <p:spPr>
          <a:xfrm>
            <a:off x="5705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1" name="Google Shape;361;p44"/>
          <p:cNvSpPr txBox="1"/>
          <p:nvPr>
            <p:ph idx="9" type="body"/>
          </p:nvPr>
        </p:nvSpPr>
        <p:spPr>
          <a:xfrm>
            <a:off x="5705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2" name="Google Shape;362;p44"/>
          <p:cNvSpPr/>
          <p:nvPr/>
        </p:nvSpPr>
        <p:spPr>
          <a:xfrm>
            <a:off x="7269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44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44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lang="en"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4"/>
          <p:cNvSpPr txBox="1"/>
          <p:nvPr>
            <p:ph idx="13" type="body"/>
          </p:nvPr>
        </p:nvSpPr>
        <p:spPr>
          <a:xfrm>
            <a:off x="7420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6" name="Google Shape;366;p44"/>
          <p:cNvSpPr txBox="1"/>
          <p:nvPr>
            <p:ph idx="14" type="body"/>
          </p:nvPr>
        </p:nvSpPr>
        <p:spPr>
          <a:xfrm>
            <a:off x="7420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7" name="Google Shape;367;p4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5_CONTENT_IMAGE_RIGHT">
  <p:cSld name="S15_CONTENT_IMAGE_RIGHT">
    <p:bg>
      <p:bgPr>
        <a:solidFill>
          <a:srgbClr val="FFFFFF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0" name="Google Shape;370;p4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71" name="Google Shape;371;p45"/>
          <p:cNvSpPr txBox="1"/>
          <p:nvPr>
            <p:ph idx="2" type="body"/>
          </p:nvPr>
        </p:nvSpPr>
        <p:spPr>
          <a:xfrm>
            <a:off x="411480" y="1062990"/>
            <a:ext cx="3840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048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2" name="Google Shape;372;p45"/>
          <p:cNvSpPr txBox="1"/>
          <p:nvPr>
            <p:ph idx="3" type="body"/>
          </p:nvPr>
        </p:nvSpPr>
        <p:spPr>
          <a:xfrm>
            <a:off x="4457700" y="1062990"/>
            <a:ext cx="43206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3" name="Google Shape;373;p4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sz="800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1 1">
  <p:cSld name="SECTION_TITLE_AND_DESCRIPTION_1_1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6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46"/>
          <p:cNvSpPr txBox="1"/>
          <p:nvPr>
            <p:ph type="title"/>
          </p:nvPr>
        </p:nvSpPr>
        <p:spPr>
          <a:xfrm>
            <a:off x="265500" y="8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b="1"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b="1"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b="1" sz="4200"/>
            </a:lvl9pPr>
          </a:lstStyle>
          <a:p/>
        </p:txBody>
      </p:sp>
      <p:sp>
        <p:nvSpPr>
          <p:cNvPr id="377" name="Google Shape;377;p46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78" name="Google Shape;37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46"/>
          <p:cNvSpPr txBox="1"/>
          <p:nvPr>
            <p:ph idx="2" type="title"/>
          </p:nvPr>
        </p:nvSpPr>
        <p:spPr>
          <a:xfrm>
            <a:off x="4835400" y="-36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●"/>
              <a:defRPr b="1" sz="4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○"/>
              <a:defRPr b="1" sz="4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Char char="■"/>
              <a:defRPr b="1"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0" name="Google Shape;380;p46"/>
          <p:cNvSpPr txBox="1"/>
          <p:nvPr>
            <p:ph idx="3" type="subTitle"/>
          </p:nvPr>
        </p:nvSpPr>
        <p:spPr>
          <a:xfrm>
            <a:off x="4835400" y="277505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None/>
              <a:defRPr sz="2100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3" name="Google Shape;383;p4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84" name="Google Shape;384;p47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5" name="Google Shape;385;p47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6" name="Google Shape;386;p47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87" name="Google Shape;387;p47"/>
          <p:cNvSpPr txBox="1"/>
          <p:nvPr>
            <p:ph idx="5" type="body"/>
          </p:nvPr>
        </p:nvSpPr>
        <p:spPr>
          <a:xfrm>
            <a:off x="2811780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8" name="Google Shape;388;p47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89" name="Google Shape;389;p47"/>
          <p:cNvSpPr txBox="1"/>
          <p:nvPr>
            <p:ph idx="7" type="body"/>
          </p:nvPr>
        </p:nvSpPr>
        <p:spPr>
          <a:xfrm>
            <a:off x="411480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Arial"/>
              <a:buNone/>
              <a:defRPr b="1" i="0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0" name="Google Shape;390;p47"/>
          <p:cNvSpPr txBox="1"/>
          <p:nvPr>
            <p:ph idx="8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1" name="Google Shape;391;p47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2" name="Google Shape;392;p47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47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94" name="Google Shape;394;p47"/>
          <p:cNvSpPr txBox="1"/>
          <p:nvPr>
            <p:ph idx="15" type="body"/>
          </p:nvPr>
        </p:nvSpPr>
        <p:spPr>
          <a:xfrm>
            <a:off x="7084314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5" name="Google Shape;395;p47"/>
          <p:cNvSpPr txBox="1"/>
          <p:nvPr>
            <p:ph idx="16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6" name="Google Shape;396;p47"/>
          <p:cNvSpPr txBox="1"/>
          <p:nvPr>
            <p:ph idx="17" type="body"/>
          </p:nvPr>
        </p:nvSpPr>
        <p:spPr>
          <a:xfrm>
            <a:off x="4684014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Arial"/>
              <a:buNone/>
              <a:defRPr b="1" i="0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7" name="Google Shape;397;p47"/>
          <p:cNvSpPr txBox="1"/>
          <p:nvPr>
            <p:ph idx="18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8" name="Google Shape;398;p4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1_TITLE_NAVY">
  <p:cSld name="S01_TITLE_NAVY">
    <p:bg>
      <p:bgPr>
        <a:solidFill>
          <a:srgbClr val="2A3480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9"/>
          <p:cNvSpPr/>
          <p:nvPr/>
        </p:nvSpPr>
        <p:spPr>
          <a:xfrm>
            <a:off x="8206283" y="-573328"/>
            <a:ext cx="1509000" cy="15090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49"/>
          <p:cNvSpPr/>
          <p:nvPr/>
        </p:nvSpPr>
        <p:spPr>
          <a:xfrm>
            <a:off x="-1508760" y="3154680"/>
            <a:ext cx="3703200" cy="37032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49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5" name="Google Shape;405;p49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6" name="Google Shape;406;p49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407" name="Google Shape;407;p49"/>
          <p:cNvCxnSpPr/>
          <p:nvPr/>
        </p:nvCxnSpPr>
        <p:spPr>
          <a:xfrm>
            <a:off x="617220" y="384048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" name="Google Shape;408;p49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9" name="Google Shape;409;p4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4_SECTION_BREAK_NAVY">
  <p:cSld name="S14_SECTION_BREAK_NAVY">
    <p:bg>
      <p:bgPr>
        <a:solidFill>
          <a:srgbClr val="2A3480"/>
        </a:solidFill>
      </p:bgPr>
    </p:bg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0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50"/>
          <p:cNvSpPr txBox="1"/>
          <p:nvPr>
            <p:ph type="title"/>
          </p:nvPr>
        </p:nvSpPr>
        <p:spPr>
          <a:xfrm>
            <a:off x="617220" y="1988820"/>
            <a:ext cx="7543800" cy="8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  <a:defRPr b="1" i="0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13" name="Google Shape;413;p50"/>
          <p:cNvSpPr txBox="1"/>
          <p:nvPr>
            <p:ph idx="1" type="body"/>
          </p:nvPr>
        </p:nvSpPr>
        <p:spPr>
          <a:xfrm>
            <a:off x="617220" y="2846070"/>
            <a:ext cx="6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4" name="Google Shape;414;p50"/>
          <p:cNvSpPr txBox="1"/>
          <p:nvPr>
            <p:ph idx="2" type="body"/>
          </p:nvPr>
        </p:nvSpPr>
        <p:spPr>
          <a:xfrm>
            <a:off x="617220" y="3120390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6DAF2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5" name="Google Shape;415;p5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7_TWO_EXERCISES">
  <p:cSld name="S17_TWO_EXERCISES"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5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8" name="Google Shape;418;p5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19" name="Google Shape;419;p51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51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1" name="Google Shape;421;p51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2" name="Google Shape;422;p51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23" name="Google Shape;423;p51"/>
          <p:cNvSpPr txBox="1"/>
          <p:nvPr>
            <p:ph idx="5" type="body"/>
          </p:nvPr>
        </p:nvSpPr>
        <p:spPr>
          <a:xfrm>
            <a:off x="2811780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4" name="Google Shape;424;p51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5" name="Google Shape;425;p51"/>
          <p:cNvSpPr/>
          <p:nvPr/>
        </p:nvSpPr>
        <p:spPr>
          <a:xfrm>
            <a:off x="411480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51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7" name="Google Shape;427;p51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51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9" name="Google Shape;429;p51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0" name="Google Shape;430;p51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6670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○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035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7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31" name="Google Shape;431;p51"/>
          <p:cNvSpPr txBox="1"/>
          <p:nvPr>
            <p:ph idx="14" type="body"/>
          </p:nvPr>
        </p:nvSpPr>
        <p:spPr>
          <a:xfrm>
            <a:off x="7084314" y="198882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2" name="Google Shape;432;p51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3" name="Google Shape;433;p51"/>
          <p:cNvSpPr/>
          <p:nvPr/>
        </p:nvSpPr>
        <p:spPr>
          <a:xfrm>
            <a:off x="4684014" y="36004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51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5" name="Google Shape;435;p5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7_EXERCISE">
  <p:cSld name="S07_EXERCISE">
    <p:bg>
      <p:bgPr>
        <a:solidFill>
          <a:srgbClr val="FFFFFF"/>
        </a:solidFill>
      </p:bgPr>
    </p:bg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5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38" name="Google Shape;438;p5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39" name="Google Shape;439;p52"/>
          <p:cNvSpPr txBox="1"/>
          <p:nvPr>
            <p:ph idx="2" type="body"/>
          </p:nvPr>
        </p:nvSpPr>
        <p:spPr>
          <a:xfrm>
            <a:off x="3497580" y="651510"/>
            <a:ext cx="15090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r">
              <a:spcBef>
                <a:spcPts val="200"/>
              </a:spcBef>
              <a:spcAft>
                <a:spcPts val="0"/>
              </a:spcAft>
              <a:buClr>
                <a:srgbClr val="6B7085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0" name="Google Shape;440;p52"/>
          <p:cNvSpPr txBox="1"/>
          <p:nvPr>
            <p:ph idx="3" type="body"/>
          </p:nvPr>
        </p:nvSpPr>
        <p:spPr>
          <a:xfrm>
            <a:off x="582930" y="822960"/>
            <a:ext cx="43890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1" name="Google Shape;441;p52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2" name="Google Shape;442;p52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43" name="Google Shape;443;p52"/>
          <p:cNvSpPr txBox="1"/>
          <p:nvPr>
            <p:ph idx="6" type="body"/>
          </p:nvPr>
        </p:nvSpPr>
        <p:spPr>
          <a:xfrm>
            <a:off x="5417820" y="3051610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4" name="Google Shape;444;p5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6_CLOSING_NAVY">
  <p:cSld name="S16_CLOSING_NAVY">
    <p:bg>
      <p:bgPr>
        <a:solidFill>
          <a:srgbClr val="2A3480"/>
        </a:solidFill>
      </p:bgPr>
    </p:bg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53"/>
          <p:cNvSpPr/>
          <p:nvPr/>
        </p:nvSpPr>
        <p:spPr>
          <a:xfrm>
            <a:off x="8291322" y="-521208"/>
            <a:ext cx="1371600" cy="1371600"/>
          </a:xfrm>
          <a:prstGeom prst="rect">
            <a:avLst/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53"/>
          <p:cNvSpPr/>
          <p:nvPr/>
        </p:nvSpPr>
        <p:spPr>
          <a:xfrm>
            <a:off x="-1234440" y="3223260"/>
            <a:ext cx="3429000" cy="3429000"/>
          </a:xfrm>
          <a:prstGeom prst="rect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53"/>
          <p:cNvSpPr txBox="1"/>
          <p:nvPr>
            <p:ph type="title"/>
          </p:nvPr>
        </p:nvSpPr>
        <p:spPr>
          <a:xfrm>
            <a:off x="617220" y="1851660"/>
            <a:ext cx="6858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Roboto"/>
              <a:buNone/>
              <a:defRPr b="1" i="0" sz="3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49" name="Google Shape;449;p53"/>
          <p:cNvSpPr txBox="1"/>
          <p:nvPr>
            <p:ph idx="1" type="body"/>
          </p:nvPr>
        </p:nvSpPr>
        <p:spPr>
          <a:xfrm>
            <a:off x="617220" y="2537460"/>
            <a:ext cx="65151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D6DAF2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D6DAF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cxnSp>
        <p:nvCxnSpPr>
          <p:cNvPr id="450" name="Google Shape;450;p53"/>
          <p:cNvCxnSpPr/>
          <p:nvPr/>
        </p:nvCxnSpPr>
        <p:spPr>
          <a:xfrm>
            <a:off x="617220" y="322326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53"/>
          <p:cNvSpPr txBox="1"/>
          <p:nvPr>
            <p:ph idx="2" type="body"/>
          </p:nvPr>
        </p:nvSpPr>
        <p:spPr>
          <a:xfrm>
            <a:off x="617220" y="3394710"/>
            <a:ext cx="6172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9DA3D4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2" name="Google Shape;452;p5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2_CONTENT_BULLETS">
  <p:cSld name="S02_CONTENT_BULLETS">
    <p:bg>
      <p:bgPr>
        <a:solidFill>
          <a:srgbClr val="FFFFF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6" name="Google Shape;456;p5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57" name="Google Shape;457;p55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857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Char char="●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940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○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7305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■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670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●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458" name="Google Shape;458;p5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3_FOUR_CARDS">
  <p:cSld name="S03_FOUR_CARDS">
    <p:bg>
      <p:bgPr>
        <a:solidFill>
          <a:srgbClr val="FFFFFF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1" name="Google Shape;461;p5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62" name="Google Shape;462;p56"/>
          <p:cNvSpPr/>
          <p:nvPr/>
        </p:nvSpPr>
        <p:spPr>
          <a:xfrm>
            <a:off x="411480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56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56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56"/>
          <p:cNvSpPr txBox="1"/>
          <p:nvPr>
            <p:ph idx="2" type="body"/>
          </p:nvPr>
        </p:nvSpPr>
        <p:spPr>
          <a:xfrm>
            <a:off x="582930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6" name="Google Shape;466;p56"/>
          <p:cNvSpPr txBox="1"/>
          <p:nvPr>
            <p:ph idx="3" type="body"/>
          </p:nvPr>
        </p:nvSpPr>
        <p:spPr>
          <a:xfrm>
            <a:off x="582930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67" name="Google Shape;467;p56"/>
          <p:cNvSpPr/>
          <p:nvPr/>
        </p:nvSpPr>
        <p:spPr>
          <a:xfrm>
            <a:off x="2558034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56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56"/>
          <p:cNvSpPr/>
          <p:nvPr/>
        </p:nvSpPr>
        <p:spPr>
          <a:xfrm>
            <a:off x="2729484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56"/>
          <p:cNvSpPr txBox="1"/>
          <p:nvPr>
            <p:ph idx="4" type="body"/>
          </p:nvPr>
        </p:nvSpPr>
        <p:spPr>
          <a:xfrm>
            <a:off x="2729484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1" name="Google Shape;471;p56"/>
          <p:cNvSpPr txBox="1"/>
          <p:nvPr>
            <p:ph idx="5" type="body"/>
          </p:nvPr>
        </p:nvSpPr>
        <p:spPr>
          <a:xfrm>
            <a:off x="2729484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2" name="Google Shape;472;p56"/>
          <p:cNvSpPr/>
          <p:nvPr/>
        </p:nvSpPr>
        <p:spPr>
          <a:xfrm>
            <a:off x="4704588" y="1062990"/>
            <a:ext cx="1954500" cy="30861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56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56"/>
          <p:cNvSpPr/>
          <p:nvPr/>
        </p:nvSpPr>
        <p:spPr>
          <a:xfrm>
            <a:off x="4876038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56"/>
          <p:cNvSpPr txBox="1"/>
          <p:nvPr>
            <p:ph idx="6" type="body"/>
          </p:nvPr>
        </p:nvSpPr>
        <p:spPr>
          <a:xfrm>
            <a:off x="4876038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6" name="Google Shape;476;p56"/>
          <p:cNvSpPr txBox="1"/>
          <p:nvPr>
            <p:ph idx="7" type="body"/>
          </p:nvPr>
        </p:nvSpPr>
        <p:spPr>
          <a:xfrm>
            <a:off x="4876038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7" name="Google Shape;477;p56"/>
          <p:cNvSpPr/>
          <p:nvPr/>
        </p:nvSpPr>
        <p:spPr>
          <a:xfrm>
            <a:off x="6851142" y="1062990"/>
            <a:ext cx="1954500" cy="30861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56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56"/>
          <p:cNvSpPr/>
          <p:nvPr/>
        </p:nvSpPr>
        <p:spPr>
          <a:xfrm>
            <a:off x="7022592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56"/>
          <p:cNvSpPr txBox="1"/>
          <p:nvPr>
            <p:ph idx="8" type="body"/>
          </p:nvPr>
        </p:nvSpPr>
        <p:spPr>
          <a:xfrm>
            <a:off x="7022592" y="1748790"/>
            <a:ext cx="16116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1" name="Google Shape;481;p56"/>
          <p:cNvSpPr txBox="1"/>
          <p:nvPr>
            <p:ph idx="9" type="body"/>
          </p:nvPr>
        </p:nvSpPr>
        <p:spPr>
          <a:xfrm>
            <a:off x="7022592" y="2263140"/>
            <a:ext cx="16116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2" name="Google Shape;482;p5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4_THREE_CARDS_ROADMAP">
  <p:cSld name="S04_THREE_CARDS_ROADMAP">
    <p:bg>
      <p:bgPr>
        <a:solidFill>
          <a:srgbClr val="FFFFF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57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5" name="Google Shape;485;p5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86" name="Google Shape;486;p57"/>
          <p:cNvSpPr/>
          <p:nvPr/>
        </p:nvSpPr>
        <p:spPr>
          <a:xfrm>
            <a:off x="41148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57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57"/>
          <p:cNvSpPr/>
          <p:nvPr/>
        </p:nvSpPr>
        <p:spPr>
          <a:xfrm>
            <a:off x="58293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57"/>
          <p:cNvSpPr txBox="1"/>
          <p:nvPr>
            <p:ph idx="2" type="body"/>
          </p:nvPr>
        </p:nvSpPr>
        <p:spPr>
          <a:xfrm>
            <a:off x="58293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0" name="Google Shape;490;p57"/>
          <p:cNvSpPr txBox="1"/>
          <p:nvPr>
            <p:ph idx="3" type="body"/>
          </p:nvPr>
        </p:nvSpPr>
        <p:spPr>
          <a:xfrm>
            <a:off x="58293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1" name="Google Shape;491;p57"/>
          <p:cNvSpPr/>
          <p:nvPr/>
        </p:nvSpPr>
        <p:spPr>
          <a:xfrm>
            <a:off x="3257550" y="1062990"/>
            <a:ext cx="2640300" cy="21948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57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57"/>
          <p:cNvSpPr/>
          <p:nvPr/>
        </p:nvSpPr>
        <p:spPr>
          <a:xfrm>
            <a:off x="342900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57"/>
          <p:cNvSpPr txBox="1"/>
          <p:nvPr>
            <p:ph idx="4" type="body"/>
          </p:nvPr>
        </p:nvSpPr>
        <p:spPr>
          <a:xfrm>
            <a:off x="342900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5" name="Google Shape;495;p57"/>
          <p:cNvSpPr txBox="1"/>
          <p:nvPr>
            <p:ph idx="5" type="body"/>
          </p:nvPr>
        </p:nvSpPr>
        <p:spPr>
          <a:xfrm>
            <a:off x="342900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6" name="Google Shape;496;p57"/>
          <p:cNvSpPr/>
          <p:nvPr/>
        </p:nvSpPr>
        <p:spPr>
          <a:xfrm>
            <a:off x="6103620" y="1062990"/>
            <a:ext cx="2640300" cy="21948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57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57"/>
          <p:cNvSpPr/>
          <p:nvPr/>
        </p:nvSpPr>
        <p:spPr>
          <a:xfrm>
            <a:off x="6275070" y="123444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57"/>
          <p:cNvSpPr txBox="1"/>
          <p:nvPr>
            <p:ph idx="6" type="body"/>
          </p:nvPr>
        </p:nvSpPr>
        <p:spPr>
          <a:xfrm>
            <a:off x="6275070" y="1748790"/>
            <a:ext cx="22974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93480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0" name="Google Shape;500;p57"/>
          <p:cNvSpPr txBox="1"/>
          <p:nvPr>
            <p:ph idx="7" type="body"/>
          </p:nvPr>
        </p:nvSpPr>
        <p:spPr>
          <a:xfrm>
            <a:off x="6275070" y="2125980"/>
            <a:ext cx="22974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1" name="Google Shape;501;p57"/>
          <p:cNvSpPr txBox="1"/>
          <p:nvPr>
            <p:ph idx="8" type="body"/>
          </p:nvPr>
        </p:nvSpPr>
        <p:spPr>
          <a:xfrm>
            <a:off x="411480" y="3497580"/>
            <a:ext cx="829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2" name="Google Shape;502;p57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5_TWO_COLUMN_COMPARE">
  <p:cSld name="S05_TWO_COLUMN_COMPARE"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8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5" name="Google Shape;505;p58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06" name="Google Shape;506;p58"/>
          <p:cNvSpPr/>
          <p:nvPr/>
        </p:nvSpPr>
        <p:spPr>
          <a:xfrm>
            <a:off x="411480" y="1062990"/>
            <a:ext cx="4046100" cy="2880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58"/>
          <p:cNvSpPr txBox="1"/>
          <p:nvPr>
            <p:ph idx="2" type="body"/>
          </p:nvPr>
        </p:nvSpPr>
        <p:spPr>
          <a:xfrm>
            <a:off x="65151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08" name="Google Shape;508;p58"/>
          <p:cNvSpPr txBox="1"/>
          <p:nvPr>
            <p:ph idx="3" type="body"/>
          </p:nvPr>
        </p:nvSpPr>
        <p:spPr>
          <a:xfrm>
            <a:off x="65151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09" name="Google Shape;509;p58"/>
          <p:cNvSpPr/>
          <p:nvPr/>
        </p:nvSpPr>
        <p:spPr>
          <a:xfrm>
            <a:off x="4663440" y="1062990"/>
            <a:ext cx="4046100" cy="2880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58"/>
          <p:cNvSpPr txBox="1"/>
          <p:nvPr>
            <p:ph idx="4" type="body"/>
          </p:nvPr>
        </p:nvSpPr>
        <p:spPr>
          <a:xfrm>
            <a:off x="4903470" y="1234440"/>
            <a:ext cx="356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1" name="Google Shape;511;p58"/>
          <p:cNvSpPr txBox="1"/>
          <p:nvPr>
            <p:ph idx="5" type="body"/>
          </p:nvPr>
        </p:nvSpPr>
        <p:spPr>
          <a:xfrm>
            <a:off x="4903470" y="1611630"/>
            <a:ext cx="3566400" cy="21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5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500"/>
              </a:spcBef>
              <a:spcAft>
                <a:spcPts val="5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12" name="Google Shape;512;p5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6_SPLIT_PANEL">
  <p:cSld name="S06_SPLIT_PANEL">
    <p:bg>
      <p:bgPr>
        <a:solidFill>
          <a:srgbClr val="FFFFFF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9"/>
          <p:cNvSpPr/>
          <p:nvPr/>
        </p:nvSpPr>
        <p:spPr>
          <a:xfrm>
            <a:off x="4570857" y="0"/>
            <a:ext cx="4570800" cy="5143500"/>
          </a:xfrm>
          <a:prstGeom prst="rect">
            <a:avLst/>
          </a:prstGeom>
          <a:solidFill>
            <a:srgbClr val="29348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59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16" name="Google Shape;516;p59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7" name="Google Shape;517;p59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293480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18" name="Google Shape;518;p59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19" name="Google Shape;519;p59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800"/>
              <a:buFont typeface="Arial"/>
              <a:buNone/>
              <a:defRPr b="0" i="1" sz="8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0" name="Google Shape;520;p59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1" name="Google Shape;521;p59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2" name="Google Shape;522;p59"/>
          <p:cNvSpPr txBox="1"/>
          <p:nvPr>
            <p:ph idx="7" type="body"/>
          </p:nvPr>
        </p:nvSpPr>
        <p:spPr>
          <a:xfrm>
            <a:off x="4879467" y="1062990"/>
            <a:ext cx="39537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  <a:defRPr b="1" i="0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3" name="Google Shape;523;p59"/>
          <p:cNvSpPr txBox="1"/>
          <p:nvPr>
            <p:ph idx="8" type="body"/>
          </p:nvPr>
        </p:nvSpPr>
        <p:spPr>
          <a:xfrm>
            <a:off x="4879467" y="1371600"/>
            <a:ext cx="3953700" cy="26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FFFFFF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FFFFFF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24" name="Google Shape;524;p59"/>
          <p:cNvSpPr txBox="1"/>
          <p:nvPr>
            <p:ph idx="9" type="body"/>
          </p:nvPr>
        </p:nvSpPr>
        <p:spPr>
          <a:xfrm>
            <a:off x="4810887" y="822960"/>
            <a:ext cx="40908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5" name="Google Shape;525;p59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9DA3D4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8_FLOW_DIAGRAM">
  <p:cSld name="S08_FLOW_DIAGRAM">
    <p:bg>
      <p:bgPr>
        <a:solidFill>
          <a:srgbClr val="FFFFFF"/>
        </a:solidFill>
      </p:bgPr>
    </p:bg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60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28" name="Google Shape;528;p60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9" name="Google Shape;529;p60"/>
          <p:cNvSpPr/>
          <p:nvPr/>
        </p:nvSpPr>
        <p:spPr>
          <a:xfrm>
            <a:off x="48006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60"/>
          <p:cNvSpPr txBox="1"/>
          <p:nvPr>
            <p:ph idx="2" type="body"/>
          </p:nvPr>
        </p:nvSpPr>
        <p:spPr>
          <a:xfrm>
            <a:off x="54864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1" name="Google Shape;531;p60"/>
          <p:cNvSpPr/>
          <p:nvPr/>
        </p:nvSpPr>
        <p:spPr>
          <a:xfrm>
            <a:off x="229743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60"/>
          <p:cNvSpPr/>
          <p:nvPr/>
        </p:nvSpPr>
        <p:spPr>
          <a:xfrm>
            <a:off x="264033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60"/>
          <p:cNvSpPr txBox="1"/>
          <p:nvPr>
            <p:ph idx="3" type="body"/>
          </p:nvPr>
        </p:nvSpPr>
        <p:spPr>
          <a:xfrm>
            <a:off x="270891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4" name="Google Shape;534;p60"/>
          <p:cNvSpPr/>
          <p:nvPr/>
        </p:nvSpPr>
        <p:spPr>
          <a:xfrm>
            <a:off x="445770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60"/>
          <p:cNvSpPr/>
          <p:nvPr/>
        </p:nvSpPr>
        <p:spPr>
          <a:xfrm>
            <a:off x="4800600" y="1200150"/>
            <a:ext cx="1783200" cy="10287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60"/>
          <p:cNvSpPr txBox="1"/>
          <p:nvPr>
            <p:ph idx="4" type="body"/>
          </p:nvPr>
        </p:nvSpPr>
        <p:spPr>
          <a:xfrm>
            <a:off x="486918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7" name="Google Shape;537;p60"/>
          <p:cNvSpPr/>
          <p:nvPr/>
        </p:nvSpPr>
        <p:spPr>
          <a:xfrm>
            <a:off x="6617970" y="1508760"/>
            <a:ext cx="342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1800"/>
              <a:buFont typeface="Roboto"/>
              <a:buNone/>
            </a:pPr>
            <a:r>
              <a:rPr b="0" i="0" lang="en" sz="18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60"/>
          <p:cNvSpPr/>
          <p:nvPr/>
        </p:nvSpPr>
        <p:spPr>
          <a:xfrm>
            <a:off x="6960870" y="1200150"/>
            <a:ext cx="1783200" cy="10287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60"/>
          <p:cNvSpPr txBox="1"/>
          <p:nvPr>
            <p:ph idx="5" type="body"/>
          </p:nvPr>
        </p:nvSpPr>
        <p:spPr>
          <a:xfrm>
            <a:off x="7029450" y="1200150"/>
            <a:ext cx="164580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ctr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0" name="Google Shape;540;p60"/>
          <p:cNvSpPr txBox="1"/>
          <p:nvPr>
            <p:ph idx="6" type="body"/>
          </p:nvPr>
        </p:nvSpPr>
        <p:spPr>
          <a:xfrm>
            <a:off x="480060" y="2571750"/>
            <a:ext cx="8160900" cy="15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794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●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305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○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6670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■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035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1" name="Google Shape;541;p60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09_NUMBERED_ROWS_3">
  <p:cSld name="S09_NUMBERED_ROWS_3">
    <p:bg>
      <p:bgPr>
        <a:solidFill>
          <a:srgbClr val="FFFFFF"/>
        </a:solidFill>
      </p:bgPr>
    </p:bg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61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4" name="Google Shape;544;p6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45" name="Google Shape;545;p6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61"/>
          <p:cNvSpPr/>
          <p:nvPr/>
        </p:nvSpPr>
        <p:spPr>
          <a:xfrm>
            <a:off x="411480" y="12001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61"/>
          <p:cNvSpPr txBox="1"/>
          <p:nvPr>
            <p:ph idx="2" type="body"/>
          </p:nvPr>
        </p:nvSpPr>
        <p:spPr>
          <a:xfrm>
            <a:off x="925830" y="10972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8" name="Google Shape;548;p61"/>
          <p:cNvSpPr txBox="1"/>
          <p:nvPr>
            <p:ph idx="3" type="body"/>
          </p:nvPr>
        </p:nvSpPr>
        <p:spPr>
          <a:xfrm>
            <a:off x="925830" y="13853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9" name="Google Shape;549;p6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61"/>
          <p:cNvSpPr/>
          <p:nvPr/>
        </p:nvSpPr>
        <p:spPr>
          <a:xfrm>
            <a:off x="411480" y="22288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61"/>
          <p:cNvSpPr txBox="1"/>
          <p:nvPr>
            <p:ph idx="4" type="body"/>
          </p:nvPr>
        </p:nvSpPr>
        <p:spPr>
          <a:xfrm>
            <a:off x="925830" y="21259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2" name="Google Shape;552;p61"/>
          <p:cNvSpPr txBox="1"/>
          <p:nvPr>
            <p:ph idx="5" type="body"/>
          </p:nvPr>
        </p:nvSpPr>
        <p:spPr>
          <a:xfrm>
            <a:off x="925830" y="24140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3" name="Google Shape;553;p6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61"/>
          <p:cNvSpPr/>
          <p:nvPr/>
        </p:nvSpPr>
        <p:spPr>
          <a:xfrm>
            <a:off x="411480" y="325755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61"/>
          <p:cNvSpPr txBox="1"/>
          <p:nvPr>
            <p:ph idx="6" type="body"/>
          </p:nvPr>
        </p:nvSpPr>
        <p:spPr>
          <a:xfrm>
            <a:off x="925830" y="315468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6" name="Google Shape;556;p61"/>
          <p:cNvSpPr txBox="1"/>
          <p:nvPr>
            <p:ph idx="7" type="body"/>
          </p:nvPr>
        </p:nvSpPr>
        <p:spPr>
          <a:xfrm>
            <a:off x="925830" y="3442716"/>
            <a:ext cx="77496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7" name="Google Shape;557;p61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0_NUMBERED_ROWS_4">
  <p:cSld name="S10_NUMBERED_ROWS_4">
    <p:bg>
      <p:bgPr>
        <a:solidFill>
          <a:srgbClr val="FFFFFF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62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0" name="Google Shape;560;p6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300"/>
              <a:buFont typeface="Roboto"/>
              <a:buNone/>
              <a:defRPr b="1" i="0" sz="23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61" name="Google Shape;561;p62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62"/>
          <p:cNvSpPr/>
          <p:nvPr/>
        </p:nvSpPr>
        <p:spPr>
          <a:xfrm>
            <a:off x="411480" y="114528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62"/>
          <p:cNvSpPr txBox="1"/>
          <p:nvPr>
            <p:ph idx="2" type="body"/>
          </p:nvPr>
        </p:nvSpPr>
        <p:spPr>
          <a:xfrm>
            <a:off x="925830" y="106299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4" name="Google Shape;564;p62"/>
          <p:cNvSpPr txBox="1"/>
          <p:nvPr>
            <p:ph idx="3" type="body"/>
          </p:nvPr>
        </p:nvSpPr>
        <p:spPr>
          <a:xfrm>
            <a:off x="925830" y="135102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5" name="Google Shape;565;p62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62"/>
          <p:cNvSpPr/>
          <p:nvPr/>
        </p:nvSpPr>
        <p:spPr>
          <a:xfrm>
            <a:off x="411480" y="203682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62"/>
          <p:cNvSpPr txBox="1"/>
          <p:nvPr>
            <p:ph idx="4" type="body"/>
          </p:nvPr>
        </p:nvSpPr>
        <p:spPr>
          <a:xfrm>
            <a:off x="925830" y="195453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8" name="Google Shape;568;p62"/>
          <p:cNvSpPr txBox="1"/>
          <p:nvPr>
            <p:ph idx="5" type="body"/>
          </p:nvPr>
        </p:nvSpPr>
        <p:spPr>
          <a:xfrm>
            <a:off x="925830" y="224256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9" name="Google Shape;569;p62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62"/>
          <p:cNvSpPr/>
          <p:nvPr/>
        </p:nvSpPr>
        <p:spPr>
          <a:xfrm>
            <a:off x="411480" y="29283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62"/>
          <p:cNvSpPr txBox="1"/>
          <p:nvPr>
            <p:ph idx="6" type="body"/>
          </p:nvPr>
        </p:nvSpPr>
        <p:spPr>
          <a:xfrm>
            <a:off x="925830" y="284607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2" name="Google Shape;572;p62"/>
          <p:cNvSpPr txBox="1"/>
          <p:nvPr>
            <p:ph idx="7" type="body"/>
          </p:nvPr>
        </p:nvSpPr>
        <p:spPr>
          <a:xfrm>
            <a:off x="925830" y="313410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3" name="Google Shape;573;p62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62"/>
          <p:cNvSpPr/>
          <p:nvPr/>
        </p:nvSpPr>
        <p:spPr>
          <a:xfrm>
            <a:off x="411480" y="381990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62"/>
          <p:cNvSpPr txBox="1"/>
          <p:nvPr>
            <p:ph idx="8" type="body"/>
          </p:nvPr>
        </p:nvSpPr>
        <p:spPr>
          <a:xfrm>
            <a:off x="925830" y="3737610"/>
            <a:ext cx="774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200"/>
              <a:buFont typeface="Arial"/>
              <a:buNone/>
              <a:defRPr b="1" i="0" sz="12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6" name="Google Shape;576;p62"/>
          <p:cNvSpPr txBox="1"/>
          <p:nvPr>
            <p:ph idx="9" type="body"/>
          </p:nvPr>
        </p:nvSpPr>
        <p:spPr>
          <a:xfrm>
            <a:off x="925830" y="4025646"/>
            <a:ext cx="7749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7" name="Google Shape;577;p62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1_ERRORS_WITH_CODE">
  <p:cSld name="S11_ERRORS_WITH_CODE">
    <p:bg>
      <p:bgPr>
        <a:solidFill>
          <a:srgbClr val="FFFFFF"/>
        </a:solidFill>
      </p:bgPr>
    </p:bg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63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0" name="Google Shape;580;p6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81" name="Google Shape;581;p63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63"/>
          <p:cNvSpPr/>
          <p:nvPr/>
        </p:nvSpPr>
        <p:spPr>
          <a:xfrm>
            <a:off x="41148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63"/>
          <p:cNvSpPr txBox="1"/>
          <p:nvPr>
            <p:ph idx="2" type="body"/>
          </p:nvPr>
        </p:nvSpPr>
        <p:spPr>
          <a:xfrm>
            <a:off x="857250" y="1062990"/>
            <a:ext cx="3771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4" name="Google Shape;584;p63"/>
          <p:cNvSpPr txBox="1"/>
          <p:nvPr>
            <p:ph idx="3" type="body"/>
          </p:nvPr>
        </p:nvSpPr>
        <p:spPr>
          <a:xfrm>
            <a:off x="857250" y="1440180"/>
            <a:ext cx="35664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5" name="Google Shape;585;p63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63"/>
          <p:cNvSpPr/>
          <p:nvPr/>
        </p:nvSpPr>
        <p:spPr>
          <a:xfrm>
            <a:off x="5006340" y="113157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63"/>
          <p:cNvSpPr txBox="1"/>
          <p:nvPr>
            <p:ph idx="4" type="body"/>
          </p:nvPr>
        </p:nvSpPr>
        <p:spPr>
          <a:xfrm>
            <a:off x="5452110" y="106299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8" name="Google Shape;588;p63"/>
          <p:cNvSpPr txBox="1"/>
          <p:nvPr>
            <p:ph idx="5" type="body"/>
          </p:nvPr>
        </p:nvSpPr>
        <p:spPr>
          <a:xfrm>
            <a:off x="5452110" y="1440180"/>
            <a:ext cx="34290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9" name="Google Shape;589;p63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63"/>
          <p:cNvSpPr/>
          <p:nvPr/>
        </p:nvSpPr>
        <p:spPr>
          <a:xfrm>
            <a:off x="411480" y="2948940"/>
            <a:ext cx="308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63"/>
          <p:cNvSpPr txBox="1"/>
          <p:nvPr>
            <p:ph idx="6" type="body"/>
          </p:nvPr>
        </p:nvSpPr>
        <p:spPr>
          <a:xfrm>
            <a:off x="857250" y="2880360"/>
            <a:ext cx="788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2" name="Google Shape;592;p63"/>
          <p:cNvSpPr txBox="1"/>
          <p:nvPr>
            <p:ph idx="7" type="body"/>
          </p:nvPr>
        </p:nvSpPr>
        <p:spPr>
          <a:xfrm>
            <a:off x="857250" y="3188970"/>
            <a:ext cx="7886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3" name="Google Shape;593;p63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2_QUIZ_MCQ">
  <p:cSld name="S12_QUIZ_MCQ">
    <p:bg>
      <p:bgPr>
        <a:solidFill>
          <a:srgbClr val="FFFF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64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6" name="Google Shape;596;p64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97" name="Google Shape;597;p64"/>
          <p:cNvSpPr txBox="1"/>
          <p:nvPr>
            <p:ph idx="2" type="body"/>
          </p:nvPr>
        </p:nvSpPr>
        <p:spPr>
          <a:xfrm>
            <a:off x="411480" y="1062990"/>
            <a:ext cx="4320600" cy="26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98" name="Google Shape;598;p64"/>
          <p:cNvSpPr/>
          <p:nvPr/>
        </p:nvSpPr>
        <p:spPr>
          <a:xfrm>
            <a:off x="5006340" y="116586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64"/>
          <p:cNvSpPr txBox="1"/>
          <p:nvPr>
            <p:ph idx="3" type="body"/>
          </p:nvPr>
        </p:nvSpPr>
        <p:spPr>
          <a:xfrm>
            <a:off x="5177790" y="11658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0" name="Google Shape;600;p64"/>
          <p:cNvSpPr/>
          <p:nvPr/>
        </p:nvSpPr>
        <p:spPr>
          <a:xfrm>
            <a:off x="5006340" y="16802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64"/>
          <p:cNvSpPr txBox="1"/>
          <p:nvPr>
            <p:ph idx="4" type="body"/>
          </p:nvPr>
        </p:nvSpPr>
        <p:spPr>
          <a:xfrm>
            <a:off x="5177790" y="16802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2" name="Google Shape;602;p64"/>
          <p:cNvSpPr/>
          <p:nvPr/>
        </p:nvSpPr>
        <p:spPr>
          <a:xfrm>
            <a:off x="5006340" y="2194560"/>
            <a:ext cx="3703200" cy="411600"/>
          </a:xfrm>
          <a:prstGeom prst="rect">
            <a:avLst/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64"/>
          <p:cNvSpPr txBox="1"/>
          <p:nvPr>
            <p:ph idx="5" type="body"/>
          </p:nvPr>
        </p:nvSpPr>
        <p:spPr>
          <a:xfrm>
            <a:off x="5177790" y="219456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4" name="Google Shape;604;p64"/>
          <p:cNvSpPr/>
          <p:nvPr/>
        </p:nvSpPr>
        <p:spPr>
          <a:xfrm>
            <a:off x="5006340" y="2708910"/>
            <a:ext cx="3703200" cy="411600"/>
          </a:xfrm>
          <a:prstGeom prst="rect">
            <a:avLst/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64"/>
          <p:cNvSpPr txBox="1"/>
          <p:nvPr>
            <p:ph idx="6" type="body"/>
          </p:nvPr>
        </p:nvSpPr>
        <p:spPr>
          <a:xfrm>
            <a:off x="5177790" y="2708910"/>
            <a:ext cx="3429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6" name="Google Shape;606;p64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3_FIVE_CARDS">
  <p:cSld name="S13_FIVE_CARDS">
    <p:bg>
      <p:bgPr>
        <a:solidFill>
          <a:srgbClr val="FFFFFF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65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09" name="Google Shape;609;p65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610" name="Google Shape;610;p65"/>
          <p:cNvSpPr/>
          <p:nvPr/>
        </p:nvSpPr>
        <p:spPr>
          <a:xfrm>
            <a:off x="411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65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65"/>
          <p:cNvSpPr/>
          <p:nvPr/>
        </p:nvSpPr>
        <p:spPr>
          <a:xfrm>
            <a:off x="562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65"/>
          <p:cNvSpPr txBox="1"/>
          <p:nvPr>
            <p:ph idx="2" type="body"/>
          </p:nvPr>
        </p:nvSpPr>
        <p:spPr>
          <a:xfrm>
            <a:off x="562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4" name="Google Shape;614;p65"/>
          <p:cNvSpPr txBox="1"/>
          <p:nvPr>
            <p:ph idx="3" type="body"/>
          </p:nvPr>
        </p:nvSpPr>
        <p:spPr>
          <a:xfrm>
            <a:off x="562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5" name="Google Shape;615;p65"/>
          <p:cNvSpPr/>
          <p:nvPr/>
        </p:nvSpPr>
        <p:spPr>
          <a:xfrm>
            <a:off x="2125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65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65"/>
          <p:cNvSpPr/>
          <p:nvPr/>
        </p:nvSpPr>
        <p:spPr>
          <a:xfrm>
            <a:off x="2276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65"/>
          <p:cNvSpPr txBox="1"/>
          <p:nvPr>
            <p:ph idx="4" type="body"/>
          </p:nvPr>
        </p:nvSpPr>
        <p:spPr>
          <a:xfrm>
            <a:off x="2276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19" name="Google Shape;619;p65"/>
          <p:cNvSpPr txBox="1"/>
          <p:nvPr>
            <p:ph idx="5" type="body"/>
          </p:nvPr>
        </p:nvSpPr>
        <p:spPr>
          <a:xfrm>
            <a:off x="2276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0" name="Google Shape;620;p65"/>
          <p:cNvSpPr/>
          <p:nvPr/>
        </p:nvSpPr>
        <p:spPr>
          <a:xfrm>
            <a:off x="3840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65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65"/>
          <p:cNvSpPr/>
          <p:nvPr/>
        </p:nvSpPr>
        <p:spPr>
          <a:xfrm>
            <a:off x="3991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65"/>
          <p:cNvSpPr txBox="1"/>
          <p:nvPr>
            <p:ph idx="6" type="body"/>
          </p:nvPr>
        </p:nvSpPr>
        <p:spPr>
          <a:xfrm>
            <a:off x="3991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4" name="Google Shape;624;p65"/>
          <p:cNvSpPr txBox="1"/>
          <p:nvPr>
            <p:ph idx="7" type="body"/>
          </p:nvPr>
        </p:nvSpPr>
        <p:spPr>
          <a:xfrm>
            <a:off x="3991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5" name="Google Shape;625;p65"/>
          <p:cNvSpPr/>
          <p:nvPr/>
        </p:nvSpPr>
        <p:spPr>
          <a:xfrm>
            <a:off x="5554980" y="1062990"/>
            <a:ext cx="1563600" cy="2674500"/>
          </a:xfrm>
          <a:prstGeom prst="rect">
            <a:avLst/>
          </a:prstGeom>
          <a:solidFill>
            <a:srgbClr val="F4F4F7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65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65"/>
          <p:cNvSpPr/>
          <p:nvPr/>
        </p:nvSpPr>
        <p:spPr>
          <a:xfrm>
            <a:off x="57058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65"/>
          <p:cNvSpPr txBox="1"/>
          <p:nvPr>
            <p:ph idx="8" type="body"/>
          </p:nvPr>
        </p:nvSpPr>
        <p:spPr>
          <a:xfrm>
            <a:off x="57058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9" name="Google Shape;629;p65"/>
          <p:cNvSpPr txBox="1"/>
          <p:nvPr>
            <p:ph idx="9" type="body"/>
          </p:nvPr>
        </p:nvSpPr>
        <p:spPr>
          <a:xfrm>
            <a:off x="57058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0" name="Google Shape;630;p65"/>
          <p:cNvSpPr/>
          <p:nvPr/>
        </p:nvSpPr>
        <p:spPr>
          <a:xfrm>
            <a:off x="7269480" y="1062990"/>
            <a:ext cx="1563600" cy="2674500"/>
          </a:xfrm>
          <a:prstGeom prst="rect">
            <a:avLst/>
          </a:prstGeom>
          <a:solidFill>
            <a:srgbClr val="EAF1FB"/>
          </a:solidFill>
          <a:ln>
            <a:noFill/>
          </a:ln>
          <a:effectLst>
            <a:outerShdw blurRad="76200" rotWithShape="0" algn="bl" dir="5400000" dist="28575">
              <a:srgbClr val="1B2430">
                <a:alpha val="1216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65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65"/>
          <p:cNvSpPr/>
          <p:nvPr/>
        </p:nvSpPr>
        <p:spPr>
          <a:xfrm>
            <a:off x="7420356" y="1213866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65"/>
          <p:cNvSpPr txBox="1"/>
          <p:nvPr>
            <p:ph idx="13" type="body"/>
          </p:nvPr>
        </p:nvSpPr>
        <p:spPr>
          <a:xfrm>
            <a:off x="7420356" y="1714500"/>
            <a:ext cx="12618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1A1F5C"/>
              </a:buClr>
              <a:buSzPts val="1100"/>
              <a:buFont typeface="Arial"/>
              <a:buNone/>
              <a:defRPr b="1" i="0" sz="11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4" name="Google Shape;634;p65"/>
          <p:cNvSpPr txBox="1"/>
          <p:nvPr>
            <p:ph idx="14" type="body"/>
          </p:nvPr>
        </p:nvSpPr>
        <p:spPr>
          <a:xfrm>
            <a:off x="7420356" y="2228850"/>
            <a:ext cx="1261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5" name="Google Shape;635;p65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15_CONTENT_IMAGE_RIGHT">
  <p:cSld name="S15_CONTENT_IMAGE_RIGHT">
    <p:bg>
      <p:bgPr>
        <a:solidFill>
          <a:srgbClr val="FFFFF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6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20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Arial"/>
              <a:buNone/>
              <a:defRPr b="1" i="0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8" name="Google Shape;638;p6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  <a:defRPr b="1" i="0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639" name="Google Shape;639;p66"/>
          <p:cNvSpPr txBox="1"/>
          <p:nvPr>
            <p:ph idx="2" type="body"/>
          </p:nvPr>
        </p:nvSpPr>
        <p:spPr>
          <a:xfrm>
            <a:off x="411480" y="1062990"/>
            <a:ext cx="3840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85750" lvl="0" marL="457200" marR="0" algn="l"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Font typeface="Arial"/>
              <a:buChar char="●"/>
              <a:defRPr b="0" i="0" sz="12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79400" lvl="1" marL="914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Font typeface="Arial"/>
              <a:buChar char="○"/>
              <a:defRPr b="0" i="0" sz="11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73050" lvl="2" marL="1371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700"/>
              <a:buFont typeface="Arial"/>
              <a:buChar char="■"/>
              <a:defRPr b="0" i="0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66700" lvl="3" marL="18288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Font typeface="Arial"/>
              <a:buChar char="●"/>
              <a:defRPr b="0" i="0" sz="8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60350" lvl="4" marL="22860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60350" lvl="5" marL="27432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60350" lvl="6" marL="32004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●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500"/>
              <a:buFont typeface="Arial"/>
              <a:buChar char="○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60350" lvl="8" marL="4114800" marR="0" algn="l">
              <a:spcBef>
                <a:spcPts val="600"/>
              </a:spcBef>
              <a:spcAft>
                <a:spcPts val="600"/>
              </a:spcAft>
              <a:buClr>
                <a:srgbClr val="222540"/>
              </a:buClr>
              <a:buSzPts val="500"/>
              <a:buFont typeface="Arial"/>
              <a:buChar char="■"/>
              <a:defRPr b="0" i="0" sz="6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0" name="Google Shape;640;p66"/>
          <p:cNvSpPr txBox="1"/>
          <p:nvPr>
            <p:ph idx="3" type="body"/>
          </p:nvPr>
        </p:nvSpPr>
        <p:spPr>
          <a:xfrm>
            <a:off x="4457700" y="1062990"/>
            <a:ext cx="4320600" cy="30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41" name="Google Shape;641;p66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7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43.xml"/><Relationship Id="rId16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4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5.xml"/><Relationship Id="rId13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7.xml"/><Relationship Id="rId15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59.xml"/><Relationship Id="rId17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61.xml"/><Relationship Id="rId19" Type="http://schemas.openxmlformats.org/officeDocument/2006/relationships/theme" Target="../theme/theme4.xml"/><Relationship Id="rId18" Type="http://schemas.openxmlformats.org/officeDocument/2006/relationships/slideLayout" Target="../slideLayouts/slideLayout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48"/>
          <p:cNvSpPr txBox="1"/>
          <p:nvPr>
            <p:ph idx="12" type="sldNum"/>
          </p:nvPr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2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png"/><Relationship Id="rId4" Type="http://schemas.openxmlformats.org/officeDocument/2006/relationships/image" Target="../media/image24.png"/><Relationship Id="rId5" Type="http://schemas.openxmlformats.org/officeDocument/2006/relationships/hyperlink" Target="https://programiz.pro/code-visualizer/python" TargetMode="External"/><Relationship Id="rId6" Type="http://schemas.openxmlformats.org/officeDocument/2006/relationships/hyperlink" Target="https://pythontutor.com/visualize.html#mode=display" TargetMode="External"/><Relationship Id="rId7" Type="http://schemas.openxmlformats.org/officeDocument/2006/relationships/hyperlink" Target="https://learn-code-with-vengleab.vercel.app/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gif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6.png"/><Relationship Id="rId8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15.png"/><Relationship Id="rId5" Type="http://schemas.openxmlformats.org/officeDocument/2006/relationships/image" Target="../media/image1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67"/>
          <p:cNvSpPr txBox="1"/>
          <p:nvPr>
            <p:ph type="ctrTitle"/>
          </p:nvPr>
        </p:nvSpPr>
        <p:spPr>
          <a:xfrm>
            <a:off x="235425" y="1775225"/>
            <a:ext cx="8584800" cy="195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</a:t>
            </a:r>
            <a:endParaRPr/>
          </a:p>
        </p:txBody>
      </p:sp>
      <p:sp>
        <p:nvSpPr>
          <p:cNvPr id="647" name="Google Shape;647;p67"/>
          <p:cNvSpPr txBox="1"/>
          <p:nvPr>
            <p:ph idx="1" type="subTitle"/>
          </p:nvPr>
        </p:nvSpPr>
        <p:spPr>
          <a:xfrm>
            <a:off x="36100" y="4230261"/>
            <a:ext cx="8222100" cy="83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68"/>
          <p:cNvSpPr txBox="1"/>
          <p:nvPr>
            <p:ph type="title"/>
          </p:nvPr>
        </p:nvSpPr>
        <p:spPr>
          <a:xfrm>
            <a:off x="311700" y="1814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Loop?</a:t>
            </a:r>
            <a:endParaRPr/>
          </a:p>
        </p:txBody>
      </p:sp>
      <p:sp>
        <p:nvSpPr>
          <p:cNvPr id="653" name="Google Shape;653;p68"/>
          <p:cNvSpPr txBox="1"/>
          <p:nvPr>
            <p:ph idx="1" type="body"/>
          </p:nvPr>
        </p:nvSpPr>
        <p:spPr>
          <a:xfrm>
            <a:off x="311700" y="892065"/>
            <a:ext cx="8520600" cy="73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loop helps in </a:t>
            </a:r>
            <a:r>
              <a:rPr lang="en">
                <a:solidFill>
                  <a:schemeClr val="accent4"/>
                </a:solidFill>
              </a:rPr>
              <a:t>executing </a:t>
            </a:r>
            <a:r>
              <a:rPr lang="en"/>
              <a:t>one or more</a:t>
            </a:r>
            <a:r>
              <a:rPr lang="en">
                <a:solidFill>
                  <a:schemeClr val="accent4"/>
                </a:solidFill>
              </a:rPr>
              <a:t> statements</a:t>
            </a:r>
            <a:r>
              <a:rPr lang="en"/>
              <a:t> up to a </a:t>
            </a:r>
            <a:r>
              <a:rPr lang="en">
                <a:solidFill>
                  <a:schemeClr val="accent4"/>
                </a:solidFill>
              </a:rPr>
              <a:t>desired number of times</a:t>
            </a:r>
            <a:r>
              <a:rPr lang="en"/>
              <a:t>.</a:t>
            </a:r>
            <a:endParaRPr/>
          </a:p>
        </p:txBody>
      </p:sp>
      <p:sp>
        <p:nvSpPr>
          <p:cNvPr id="654" name="Google Shape;654;p68"/>
          <p:cNvSpPr/>
          <p:nvPr/>
        </p:nvSpPr>
        <p:spPr>
          <a:xfrm>
            <a:off x="411480" y="1851660"/>
            <a:ext cx="3909000" cy="2194500"/>
          </a:xfrm>
          <a:prstGeom prst="roundRect">
            <a:avLst>
              <a:gd fmla="val 250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68"/>
          <p:cNvSpPr/>
          <p:nvPr/>
        </p:nvSpPr>
        <p:spPr>
          <a:xfrm>
            <a:off x="617220" y="205740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68"/>
          <p:cNvSpPr/>
          <p:nvPr/>
        </p:nvSpPr>
        <p:spPr>
          <a:xfrm>
            <a:off x="617220" y="205740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68"/>
          <p:cNvSpPr/>
          <p:nvPr/>
        </p:nvSpPr>
        <p:spPr>
          <a:xfrm>
            <a:off x="617220" y="260604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25"/>
              <a:buFont typeface="Roboto"/>
              <a:buNone/>
            </a:pPr>
            <a:r>
              <a:rPr b="1" i="0" lang="en" sz="142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For Loop</a:t>
            </a:r>
            <a:endParaRPr b="0" i="0" sz="14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68"/>
          <p:cNvSpPr/>
          <p:nvPr/>
        </p:nvSpPr>
        <p:spPr>
          <a:xfrm>
            <a:off x="617220" y="3086100"/>
            <a:ext cx="3497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88"/>
              <a:buFont typeface="Roboto"/>
              <a:buNone/>
            </a:pPr>
            <a:r>
              <a:rPr b="0" i="0" lang="en" sz="108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Iterates over a </a:t>
            </a:r>
            <a:r>
              <a:rPr b="0" i="0" lang="en" sz="1088" u="none" cap="none" strike="noStrike">
                <a:solidFill>
                  <a:schemeClr val="accent4"/>
                </a:solidFill>
                <a:latin typeface="Roboto"/>
                <a:ea typeface="Roboto"/>
                <a:cs typeface="Roboto"/>
                <a:sym typeface="Roboto"/>
              </a:rPr>
              <a:t>sequence</a:t>
            </a:r>
            <a:r>
              <a:rPr b="0" i="0" lang="en" sz="108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such as a list or a tuple.</a:t>
            </a:r>
            <a:endParaRPr b="0" i="0" sz="108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68"/>
          <p:cNvSpPr/>
          <p:nvPr/>
        </p:nvSpPr>
        <p:spPr>
          <a:xfrm>
            <a:off x="4594860" y="1851660"/>
            <a:ext cx="3909000" cy="2194500"/>
          </a:xfrm>
          <a:prstGeom prst="roundRect">
            <a:avLst>
              <a:gd fmla="val 2500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68"/>
          <p:cNvSpPr/>
          <p:nvPr/>
        </p:nvSpPr>
        <p:spPr>
          <a:xfrm>
            <a:off x="4800600" y="2057400"/>
            <a:ext cx="377100" cy="3771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68"/>
          <p:cNvSpPr/>
          <p:nvPr/>
        </p:nvSpPr>
        <p:spPr>
          <a:xfrm>
            <a:off x="4800600" y="2057400"/>
            <a:ext cx="3771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oboto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68"/>
          <p:cNvSpPr/>
          <p:nvPr/>
        </p:nvSpPr>
        <p:spPr>
          <a:xfrm>
            <a:off x="4800600" y="2606040"/>
            <a:ext cx="3497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425"/>
              <a:buFont typeface="Roboto"/>
              <a:buNone/>
            </a:pPr>
            <a:r>
              <a:rPr b="1" i="0" lang="en" sz="1425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While Loop</a:t>
            </a:r>
            <a:endParaRPr b="0" i="0" sz="142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68"/>
          <p:cNvSpPr/>
          <p:nvPr/>
        </p:nvSpPr>
        <p:spPr>
          <a:xfrm>
            <a:off x="4800600" y="3086100"/>
            <a:ext cx="34977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88"/>
              <a:buFont typeface="Roboto"/>
              <a:buNone/>
            </a:pPr>
            <a:r>
              <a:rPr b="0" i="0" lang="en" sz="108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Executes a block of code repeatedly as long as a specified condition remains true.</a:t>
            </a:r>
            <a:endParaRPr b="0" i="0" sz="108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A3480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69"/>
          <p:cNvSpPr/>
          <p:nvPr/>
        </p:nvSpPr>
        <p:spPr>
          <a:xfrm>
            <a:off x="8291322" y="-521208"/>
            <a:ext cx="1371600" cy="1371600"/>
          </a:xfrm>
          <a:prstGeom prst="roundRect">
            <a:avLst>
              <a:gd fmla="val 32000" name="adj"/>
            </a:avLst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69"/>
          <p:cNvSpPr/>
          <p:nvPr/>
        </p:nvSpPr>
        <p:spPr>
          <a:xfrm>
            <a:off x="-1234440" y="3291840"/>
            <a:ext cx="3429000" cy="3429000"/>
          </a:xfrm>
          <a:prstGeom prst="ellipse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69"/>
          <p:cNvSpPr/>
          <p:nvPr/>
        </p:nvSpPr>
        <p:spPr>
          <a:xfrm>
            <a:off x="617220" y="2160270"/>
            <a:ext cx="740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i="0" lang="en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For Loop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2" name="Google Shape;672;p69"/>
          <p:cNvCxnSpPr/>
          <p:nvPr/>
        </p:nvCxnSpPr>
        <p:spPr>
          <a:xfrm>
            <a:off x="617220" y="30861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70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01 · CONCEPTS</a:t>
            </a:r>
            <a:endParaRPr/>
          </a:p>
        </p:txBody>
      </p:sp>
      <p:sp>
        <p:nvSpPr>
          <p:cNvPr id="678" name="Google Shape;678;p70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is </a:t>
            </a:r>
            <a:r>
              <a:rPr lang="en">
                <a:solidFill>
                  <a:srgbClr val="D84568"/>
                </a:solidFill>
              </a:rPr>
              <a:t>For </a:t>
            </a:r>
            <a:r>
              <a:rPr lang="en">
                <a:solidFill>
                  <a:srgbClr val="2A3480"/>
                </a:solidFill>
              </a:rPr>
              <a:t>Loop</a:t>
            </a:r>
            <a:r>
              <a:rPr lang="en"/>
              <a:t>?</a:t>
            </a:r>
            <a:endParaRPr/>
          </a:p>
        </p:txBody>
      </p:sp>
      <p:pic>
        <p:nvPicPr>
          <p:cNvPr descr="./imgs/code_hl/for_basic.png" id="679" name="Google Shape;679;p70"/>
          <p:cNvPicPr preferRelativeResize="0"/>
          <p:nvPr/>
        </p:nvPicPr>
        <p:blipFill rotWithShape="1">
          <a:blip r:embed="rId3">
            <a:alphaModFix/>
          </a:blip>
          <a:srcRect b="0" l="0" r="0" t="54128"/>
          <a:stretch/>
        </p:blipFill>
        <p:spPr>
          <a:xfrm>
            <a:off x="460423" y="2306725"/>
            <a:ext cx="3130789" cy="960825"/>
          </a:xfrm>
          <a:prstGeom prst="rect">
            <a:avLst/>
          </a:prstGeom>
          <a:noFill/>
          <a:ln>
            <a:noFill/>
          </a:ln>
        </p:spPr>
      </p:pic>
      <p:sp>
        <p:nvSpPr>
          <p:cNvPr id="680" name="Google Shape;680;p70"/>
          <p:cNvSpPr/>
          <p:nvPr/>
        </p:nvSpPr>
        <p:spPr>
          <a:xfrm>
            <a:off x="411473" y="3840475"/>
            <a:ext cx="38361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70"/>
          <p:cNvSpPr/>
          <p:nvPr/>
        </p:nvSpPr>
        <p:spPr>
          <a:xfrm>
            <a:off x="534924" y="3991356"/>
            <a:ext cx="123600" cy="1236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70"/>
          <p:cNvSpPr/>
          <p:nvPr/>
        </p:nvSpPr>
        <p:spPr>
          <a:xfrm>
            <a:off x="728945" y="3840475"/>
            <a:ext cx="3426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loop variable (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fruits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) takes on each value in the </a:t>
            </a: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collection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, one at a time.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83" name="Google Shape;683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7650" y="1200025"/>
            <a:ext cx="4397350" cy="24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684" name="Google Shape;684;p70"/>
          <p:cNvSpPr txBox="1"/>
          <p:nvPr>
            <p:ph idx="3" type="body"/>
          </p:nvPr>
        </p:nvSpPr>
        <p:spPr>
          <a:xfrm>
            <a:off x="411480" y="1371600"/>
            <a:ext cx="3909300" cy="26745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The '</a:t>
            </a:r>
            <a:r>
              <a:rPr lang="en">
                <a:solidFill>
                  <a:srgbClr val="F92672"/>
                </a:solidFill>
              </a:rPr>
              <a:t>for</a:t>
            </a:r>
            <a:r>
              <a:rPr lang="en"/>
              <a:t>' loop is used to iterate over a collection data type (list, tuple, string) or other iterable objects.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70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70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Visualize the code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71"/>
          <p:cNvSpPr/>
          <p:nvPr/>
        </p:nvSpPr>
        <p:spPr>
          <a:xfrm>
            <a:off x="274380" y="268596"/>
            <a:ext cx="42519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025"/>
              <a:buFont typeface="Roboto"/>
              <a:buNone/>
            </a:pPr>
            <a:r>
              <a:rPr b="1" lang="en" sz="2025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r>
              <a:rPr b="1" i="0" lang="en" sz="2025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or Loop</a:t>
            </a:r>
            <a:endParaRPr b="0" i="0" sz="20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71"/>
          <p:cNvSpPr/>
          <p:nvPr/>
        </p:nvSpPr>
        <p:spPr>
          <a:xfrm>
            <a:off x="411480" y="354443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71"/>
          <p:cNvSpPr/>
          <p:nvPr/>
        </p:nvSpPr>
        <p:spPr>
          <a:xfrm>
            <a:off x="534924" y="369530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71"/>
          <p:cNvSpPr/>
          <p:nvPr/>
        </p:nvSpPr>
        <p:spPr>
          <a:xfrm>
            <a:off x="740664" y="354443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loop variable (</a:t>
            </a:r>
            <a:r>
              <a:rPr lang="en" sz="863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var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) takes on each value in the sequence, one at a time.</a:t>
            </a:r>
            <a:endParaRPr b="0" i="0" sz="86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71"/>
          <p:cNvSpPr/>
          <p:nvPr/>
        </p:nvSpPr>
        <p:spPr>
          <a:xfrm>
            <a:off x="416619" y="1177638"/>
            <a:ext cx="3840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C5F82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SYNTAX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71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8" name="Google Shape;698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6125" y="1042307"/>
            <a:ext cx="3977699" cy="1310518"/>
          </a:xfrm>
          <a:prstGeom prst="rect">
            <a:avLst/>
          </a:prstGeom>
          <a:solidFill>
            <a:srgbClr val="293480"/>
          </a:solidFill>
          <a:ln>
            <a:noFill/>
          </a:ln>
        </p:spPr>
      </p:pic>
      <p:sp>
        <p:nvSpPr>
          <p:cNvPr id="699" name="Google Shape;699;p71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Example</a:t>
            </a:r>
            <a:endParaRPr/>
          </a:p>
        </p:txBody>
      </p:sp>
      <p:grpSp>
        <p:nvGrpSpPr>
          <p:cNvPr id="700" name="Google Shape;700;p71"/>
          <p:cNvGrpSpPr/>
          <p:nvPr/>
        </p:nvGrpSpPr>
        <p:grpSpPr>
          <a:xfrm>
            <a:off x="411354" y="1414339"/>
            <a:ext cx="3977941" cy="1551661"/>
            <a:chOff x="1173400" y="1809750"/>
            <a:chExt cx="6837300" cy="2667000"/>
          </a:xfrm>
        </p:grpSpPr>
        <p:sp>
          <p:nvSpPr>
            <p:cNvPr id="701" name="Google Shape;701;p71"/>
            <p:cNvSpPr/>
            <p:nvPr/>
          </p:nvSpPr>
          <p:spPr>
            <a:xfrm>
              <a:off x="1466850" y="1809750"/>
              <a:ext cx="6210300" cy="2667000"/>
            </a:xfrm>
            <a:prstGeom prst="roundRect">
              <a:avLst>
                <a:gd fmla="val 5357" name="adj"/>
              </a:avLst>
            </a:prstGeom>
            <a:solidFill>
              <a:srgbClr val="FFFFFF"/>
            </a:solidFill>
            <a:ln cap="flat" cmpd="sng" w="5525">
              <a:solidFill>
                <a:srgbClr val="E0E0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02" name="Google Shape;702;p71"/>
            <p:cNvPicPr preferRelativeResize="0"/>
            <p:nvPr/>
          </p:nvPicPr>
          <p:blipFill rotWithShape="1">
            <a:blip r:embed="rId4">
              <a:alphaModFix/>
            </a:blip>
            <a:srcRect b="0" l="596" r="0" t="0"/>
            <a:stretch/>
          </p:blipFill>
          <p:spPr>
            <a:xfrm>
              <a:off x="1173400" y="1809750"/>
              <a:ext cx="6837300" cy="2667000"/>
            </a:xfrm>
            <a:prstGeom prst="roundRect">
              <a:avLst>
                <a:gd fmla="val 5357" name="adj"/>
              </a:avLst>
            </a:prstGeom>
            <a:noFill/>
            <a:ln>
              <a:noFill/>
            </a:ln>
          </p:spPr>
        </p:pic>
      </p:grpSp>
      <p:sp>
        <p:nvSpPr>
          <p:cNvPr id="703" name="Google Shape;703;p71"/>
          <p:cNvSpPr txBox="1"/>
          <p:nvPr/>
        </p:nvSpPr>
        <p:spPr>
          <a:xfrm>
            <a:off x="0" y="4264275"/>
            <a:ext cx="458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chemeClr val="dk1"/>
                </a:solidFill>
              </a:rPr>
              <a:t>Code visualizer: </a:t>
            </a:r>
            <a:endParaRPr b="1" sz="900">
              <a:solidFill>
                <a:schemeClr val="dk1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5"/>
              </a:rPr>
              <a:t>https://programiz.pro/code-visualizer/python</a:t>
            </a:r>
            <a:endParaRPr b="1" sz="900">
              <a:solidFill>
                <a:schemeClr val="accent5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6"/>
              </a:rPr>
              <a:t>https://pythontutor.com/visualize.html#mode=display</a:t>
            </a:r>
            <a:endParaRPr b="1" sz="900">
              <a:solidFill>
                <a:schemeClr val="accent5"/>
              </a:solidFill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900"/>
              <a:buChar char="●"/>
            </a:pPr>
            <a:r>
              <a:rPr b="1" lang="en" sz="900" u="sng">
                <a:solidFill>
                  <a:schemeClr val="hlink"/>
                </a:solidFill>
                <a:hlinkClick r:id="rId7"/>
              </a:rPr>
              <a:t>https://learn-code-with-vengleab.vercel.app/</a:t>
            </a:r>
            <a:endParaRPr b="1" sz="9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72"/>
          <p:cNvSpPr txBox="1"/>
          <p:nvPr>
            <p:ph type="title"/>
          </p:nvPr>
        </p:nvSpPr>
        <p:spPr>
          <a:xfrm>
            <a:off x="264450" y="25252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 with List or Tuple</a:t>
            </a:r>
            <a:endParaRPr/>
          </a:p>
        </p:txBody>
      </p:sp>
      <p:sp>
        <p:nvSpPr>
          <p:cNvPr id="709" name="Google Shape;709;p72"/>
          <p:cNvSpPr txBox="1"/>
          <p:nvPr>
            <p:ph idx="1" type="subTitle"/>
          </p:nvPr>
        </p:nvSpPr>
        <p:spPr>
          <a:xfrm>
            <a:off x="265500" y="97297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10" name="Google Shape;71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8700" y="1300450"/>
            <a:ext cx="4156726" cy="2089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72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loop with dictionary</a:t>
            </a:r>
            <a:endParaRPr/>
          </a:p>
        </p:txBody>
      </p:sp>
      <p:sp>
        <p:nvSpPr>
          <p:cNvPr id="712" name="Google Shape;712;p72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13" name="Google Shape;713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95325" y="1806774"/>
            <a:ext cx="4285275" cy="144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p73"/>
          <p:cNvSpPr txBox="1"/>
          <p:nvPr>
            <p:ph type="title"/>
          </p:nvPr>
        </p:nvSpPr>
        <p:spPr>
          <a:xfrm>
            <a:off x="163575" y="252525"/>
            <a:ext cx="43347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Range(n) with For Loop</a:t>
            </a:r>
            <a:endParaRPr/>
          </a:p>
        </p:txBody>
      </p:sp>
      <p:sp>
        <p:nvSpPr>
          <p:cNvPr id="719" name="Google Shape;719;p73"/>
          <p:cNvSpPr txBox="1"/>
          <p:nvPr>
            <p:ph idx="1" type="subTitle"/>
          </p:nvPr>
        </p:nvSpPr>
        <p:spPr>
          <a:xfrm>
            <a:off x="265500" y="1697000"/>
            <a:ext cx="40452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1000"/>
              </a:spcAft>
              <a:buSzPts val="1700"/>
              <a:buChar char="●"/>
            </a:pPr>
            <a:r>
              <a:rPr lang="en" sz="1700">
                <a:solidFill>
                  <a:schemeClr val="accent4"/>
                </a:solidFill>
              </a:rPr>
              <a:t>range(n)</a:t>
            </a:r>
            <a:r>
              <a:rPr lang="en" sz="1700"/>
              <a:t> is commonly used with for loop to generates a sequence of numbers starting from </a:t>
            </a:r>
            <a:r>
              <a:rPr b="1" lang="en" sz="1700">
                <a:solidFill>
                  <a:schemeClr val="accent4"/>
                </a:solidFill>
              </a:rPr>
              <a:t>0 </a:t>
            </a:r>
            <a:r>
              <a:rPr lang="en" sz="1700"/>
              <a:t>up to </a:t>
            </a:r>
            <a:r>
              <a:rPr b="1" lang="en" sz="1700">
                <a:solidFill>
                  <a:schemeClr val="accent4"/>
                </a:solidFill>
              </a:rPr>
              <a:t>n - 1</a:t>
            </a:r>
            <a:endParaRPr b="1" sz="1700">
              <a:solidFill>
                <a:schemeClr val="accent4"/>
              </a:solidFill>
            </a:endParaRPr>
          </a:p>
        </p:txBody>
      </p:sp>
      <p:sp>
        <p:nvSpPr>
          <p:cNvPr id="720" name="Google Shape;720;p73"/>
          <p:cNvSpPr txBox="1"/>
          <p:nvPr>
            <p:ph idx="2" type="title"/>
          </p:nvPr>
        </p:nvSpPr>
        <p:spPr>
          <a:xfrm>
            <a:off x="4834350" y="245550"/>
            <a:ext cx="4045200" cy="9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73"/>
          <p:cNvSpPr txBox="1"/>
          <p:nvPr>
            <p:ph idx="3" type="subTitle"/>
          </p:nvPr>
        </p:nvSpPr>
        <p:spPr>
          <a:xfrm>
            <a:off x="4835400" y="987543"/>
            <a:ext cx="4045200" cy="305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22" name="Google Shape;722;p73"/>
          <p:cNvPicPr preferRelativeResize="0"/>
          <p:nvPr/>
        </p:nvPicPr>
        <p:blipFill rotWithShape="1">
          <a:blip r:embed="rId3">
            <a:alphaModFix/>
          </a:blip>
          <a:srcRect b="0" l="0" r="18904" t="0"/>
          <a:stretch/>
        </p:blipFill>
        <p:spPr>
          <a:xfrm>
            <a:off x="4784400" y="1363233"/>
            <a:ext cx="4045200" cy="1992641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p73"/>
          <p:cNvSpPr/>
          <p:nvPr/>
        </p:nvSpPr>
        <p:spPr>
          <a:xfrm>
            <a:off x="397575" y="2969895"/>
            <a:ext cx="3977700" cy="8607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73"/>
          <p:cNvSpPr/>
          <p:nvPr/>
        </p:nvSpPr>
        <p:spPr>
          <a:xfrm>
            <a:off x="518975" y="2969900"/>
            <a:ext cx="3760200" cy="86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Note</a:t>
            </a:r>
            <a:r>
              <a:rPr b="1"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Range 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change</a:t>
            </a:r>
            <a:r>
              <a:rPr i="0" lang="en" sz="125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 be 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multiple</a:t>
            </a:r>
            <a:r>
              <a:rPr lang="en" sz="1250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 syntax </a:t>
            </a:r>
            <a:endParaRPr sz="1250">
              <a:solidFill>
                <a:srgbClr val="1A1F5C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range(n)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</a:t>
            </a: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(start, stop)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7975" lvl="0" marL="4572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250"/>
              <a:buFont typeface="Roboto"/>
              <a:buChar char="●"/>
            </a:pPr>
            <a:r>
              <a:rPr lang="en" sz="12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range(start, stop, step)</a:t>
            </a:r>
            <a:endParaRPr sz="125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A3480"/>
        </a:solidFill>
      </p:bgPr>
    </p:bg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74"/>
          <p:cNvSpPr/>
          <p:nvPr/>
        </p:nvSpPr>
        <p:spPr>
          <a:xfrm>
            <a:off x="8291322" y="-521208"/>
            <a:ext cx="1371600" cy="1371600"/>
          </a:xfrm>
          <a:prstGeom prst="roundRect">
            <a:avLst>
              <a:gd fmla="val 32000" name="adj"/>
            </a:avLst>
          </a:prstGeom>
          <a:solidFill>
            <a:srgbClr val="EC5F82">
              <a:alpha val="2196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74"/>
          <p:cNvSpPr/>
          <p:nvPr/>
        </p:nvSpPr>
        <p:spPr>
          <a:xfrm>
            <a:off x="-1234440" y="3291840"/>
            <a:ext cx="3429000" cy="3429000"/>
          </a:xfrm>
          <a:prstGeom prst="ellipse">
            <a:avLst/>
          </a:prstGeom>
          <a:solidFill>
            <a:srgbClr val="FFFFFF">
              <a:alpha val="784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74"/>
          <p:cNvSpPr/>
          <p:nvPr/>
        </p:nvSpPr>
        <p:spPr>
          <a:xfrm>
            <a:off x="617220" y="2160270"/>
            <a:ext cx="740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While</a:t>
            </a:r>
            <a:r>
              <a:rPr b="1" i="0" lang="en" sz="30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 Loop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33" name="Google Shape;733;p74"/>
          <p:cNvCxnSpPr/>
          <p:nvPr/>
        </p:nvCxnSpPr>
        <p:spPr>
          <a:xfrm>
            <a:off x="617220" y="3086100"/>
            <a:ext cx="2057400" cy="0"/>
          </a:xfrm>
          <a:prstGeom prst="straightConnector1">
            <a:avLst/>
          </a:prstGeom>
          <a:noFill/>
          <a:ln cap="flat" cmpd="sng" w="19050">
            <a:solidFill>
              <a:srgbClr val="EC5F8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75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None/>
            </a:pPr>
            <a:r>
              <a:rPr b="1" lang="en" sz="9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01 · CONCEPTS</a:t>
            </a:r>
            <a:endParaRPr/>
          </a:p>
        </p:txBody>
      </p:sp>
      <p:sp>
        <p:nvSpPr>
          <p:cNvPr id="739" name="Google Shape;739;p75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is </a:t>
            </a:r>
            <a:r>
              <a:rPr lang="en">
                <a:solidFill>
                  <a:srgbClr val="D84568"/>
                </a:solidFill>
              </a:rPr>
              <a:t>While </a:t>
            </a:r>
            <a:r>
              <a:rPr lang="en">
                <a:solidFill>
                  <a:srgbClr val="2A3480"/>
                </a:solidFill>
              </a:rPr>
              <a:t>Loop</a:t>
            </a:r>
            <a:r>
              <a:rPr lang="en"/>
              <a:t>?</a:t>
            </a:r>
            <a:endParaRPr/>
          </a:p>
        </p:txBody>
      </p:sp>
      <p:sp>
        <p:nvSpPr>
          <p:cNvPr id="740" name="Google Shape;740;p75"/>
          <p:cNvSpPr txBox="1"/>
          <p:nvPr>
            <p:ph idx="3" type="body"/>
          </p:nvPr>
        </p:nvSpPr>
        <p:spPr>
          <a:xfrm>
            <a:off x="411475" y="1134400"/>
            <a:ext cx="3909300" cy="561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600"/>
              </a:spcAft>
              <a:buNone/>
            </a:pPr>
            <a:r>
              <a:rPr lang="en"/>
              <a:t>Executes a block of code repeatedly as long as a specified condition remains true.</a:t>
            </a:r>
            <a:endParaRPr/>
          </a:p>
        </p:txBody>
      </p:sp>
      <p:sp>
        <p:nvSpPr>
          <p:cNvPr id="741" name="Google Shape;741;p75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Syntax</a:t>
            </a:r>
            <a:endParaRPr/>
          </a:p>
        </p:txBody>
      </p:sp>
      <p:sp>
        <p:nvSpPr>
          <p:cNvPr id="742" name="Google Shape;742;p75"/>
          <p:cNvSpPr txBox="1"/>
          <p:nvPr>
            <p:ph idx="6" type="body"/>
          </p:nvPr>
        </p:nvSpPr>
        <p:spPr>
          <a:xfrm>
            <a:off x="4936092" y="2922120"/>
            <a:ext cx="39537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743" name="Google Shape;743;p75"/>
          <p:cNvSpPr/>
          <p:nvPr/>
        </p:nvSpPr>
        <p:spPr>
          <a:xfrm>
            <a:off x="377280" y="4419780"/>
            <a:ext cx="3977700" cy="425100"/>
          </a:xfrm>
          <a:prstGeom prst="roundRect">
            <a:avLst>
              <a:gd fmla="val 9677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75"/>
          <p:cNvSpPr/>
          <p:nvPr/>
        </p:nvSpPr>
        <p:spPr>
          <a:xfrm>
            <a:off x="500724" y="4570656"/>
            <a:ext cx="123300" cy="1233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75"/>
          <p:cNvSpPr/>
          <p:nvPr/>
        </p:nvSpPr>
        <p:spPr>
          <a:xfrm>
            <a:off x="706464" y="4419780"/>
            <a:ext cx="35523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863"/>
              <a:buFont typeface="Roboto"/>
              <a:buNone/>
            </a:pPr>
            <a:r>
              <a:rPr b="1" i="0" lang="en" sz="86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86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always ensure your condition eventually becomes False, or use break — otherwise it runs forever!</a:t>
            </a:r>
            <a:endParaRPr b="0" i="0" sz="86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75"/>
          <p:cNvSpPr/>
          <p:nvPr/>
        </p:nvSpPr>
        <p:spPr>
          <a:xfrm>
            <a:off x="485090" y="1872860"/>
            <a:ext cx="397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EXECUTION FLOW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75"/>
          <p:cNvSpPr/>
          <p:nvPr/>
        </p:nvSpPr>
        <p:spPr>
          <a:xfrm>
            <a:off x="485090" y="2147180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75"/>
          <p:cNvSpPr/>
          <p:nvPr/>
        </p:nvSpPr>
        <p:spPr>
          <a:xfrm>
            <a:off x="485090" y="2147180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75"/>
          <p:cNvSpPr/>
          <p:nvPr/>
        </p:nvSpPr>
        <p:spPr>
          <a:xfrm>
            <a:off x="862277" y="2126600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Evaluate condition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75"/>
          <p:cNvSpPr/>
          <p:nvPr/>
        </p:nvSpPr>
        <p:spPr>
          <a:xfrm>
            <a:off x="485090" y="2544944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1" name="Google Shape;751;p75"/>
          <p:cNvSpPr/>
          <p:nvPr/>
        </p:nvSpPr>
        <p:spPr>
          <a:xfrm>
            <a:off x="485090" y="2544944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75"/>
          <p:cNvSpPr/>
          <p:nvPr/>
        </p:nvSpPr>
        <p:spPr>
          <a:xfrm>
            <a:off x="862277" y="2524366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True → run body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5"/>
          <p:cNvSpPr/>
          <p:nvPr/>
        </p:nvSpPr>
        <p:spPr>
          <a:xfrm>
            <a:off x="485090" y="2942708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" name="Google Shape;754;p75"/>
          <p:cNvSpPr/>
          <p:nvPr/>
        </p:nvSpPr>
        <p:spPr>
          <a:xfrm>
            <a:off x="485090" y="2942708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75"/>
          <p:cNvSpPr/>
          <p:nvPr/>
        </p:nvSpPr>
        <p:spPr>
          <a:xfrm>
            <a:off x="862277" y="2922132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Go back to step 1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75"/>
          <p:cNvSpPr/>
          <p:nvPr/>
        </p:nvSpPr>
        <p:spPr>
          <a:xfrm>
            <a:off x="485090" y="3340472"/>
            <a:ext cx="274200" cy="274200"/>
          </a:xfrm>
          <a:prstGeom prst="ellipse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7" name="Google Shape;757;p75"/>
          <p:cNvSpPr/>
          <p:nvPr/>
        </p:nvSpPr>
        <p:spPr>
          <a:xfrm>
            <a:off x="485090" y="3340472"/>
            <a:ext cx="274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75"/>
              <a:buFont typeface="Roboto"/>
              <a:buNone/>
            </a:pPr>
            <a:r>
              <a:rPr b="1" i="0" lang="en" sz="975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b="0" i="0" sz="975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75"/>
          <p:cNvSpPr/>
          <p:nvPr/>
        </p:nvSpPr>
        <p:spPr>
          <a:xfrm>
            <a:off x="862277" y="3319898"/>
            <a:ext cx="19593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13"/>
              <a:buFont typeface="Roboto"/>
              <a:buNone/>
            </a:pPr>
            <a:r>
              <a:rPr b="0" i="0" lang="en" sz="1013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False → exit loop</a:t>
            </a:r>
            <a:endParaRPr b="0" i="0" sz="101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9" name="Google Shape;759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6095" y="864091"/>
            <a:ext cx="3840449" cy="163521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0" name="Google Shape;760;p7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1125" y="3319900"/>
            <a:ext cx="3909300" cy="12663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76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Visualize Code Execution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" name="Google Shape;766;p76"/>
          <p:cNvSpPr txBox="1"/>
          <p:nvPr>
            <p:ph idx="1" type="body"/>
          </p:nvPr>
        </p:nvSpPr>
        <p:spPr>
          <a:xfrm>
            <a:off x="411480" y="617220"/>
            <a:ext cx="75438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7" name="Google Shape;767;p76"/>
          <p:cNvSpPr txBox="1"/>
          <p:nvPr>
            <p:ph idx="2" type="body"/>
          </p:nvPr>
        </p:nvSpPr>
        <p:spPr>
          <a:xfrm>
            <a:off x="480060" y="1062990"/>
            <a:ext cx="8160900" cy="2949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600"/>
              </a:spcAft>
              <a:buNone/>
            </a:pPr>
            <a:r>
              <a:t/>
            </a:r>
            <a:endParaRPr/>
          </a:p>
        </p:txBody>
      </p:sp>
      <p:pic>
        <p:nvPicPr>
          <p:cNvPr id="768" name="Google Shape;768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675" y="799762"/>
            <a:ext cx="8709774" cy="35439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77"/>
          <p:cNvSpPr txBox="1"/>
          <p:nvPr>
            <p:ph type="title"/>
          </p:nvPr>
        </p:nvSpPr>
        <p:spPr>
          <a:xfrm>
            <a:off x="411480" y="219456"/>
            <a:ext cx="39093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until correct</a:t>
            </a:r>
            <a:endParaRPr/>
          </a:p>
        </p:txBody>
      </p:sp>
      <p:sp>
        <p:nvSpPr>
          <p:cNvPr id="774" name="Google Shape;774;p77"/>
          <p:cNvSpPr txBox="1"/>
          <p:nvPr>
            <p:ph idx="1" type="body"/>
          </p:nvPr>
        </p:nvSpPr>
        <p:spPr>
          <a:xfrm>
            <a:off x="411480" y="617220"/>
            <a:ext cx="39093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77"/>
          <p:cNvSpPr txBox="1"/>
          <p:nvPr>
            <p:ph idx="5" type="title"/>
          </p:nvPr>
        </p:nvSpPr>
        <p:spPr>
          <a:xfrm>
            <a:off x="4879467" y="219456"/>
            <a:ext cx="3953700" cy="3567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 multiple times</a:t>
            </a:r>
            <a:endParaRPr/>
          </a:p>
        </p:txBody>
      </p:sp>
      <p:sp>
        <p:nvSpPr>
          <p:cNvPr id="776" name="Google Shape;776;p77"/>
          <p:cNvSpPr txBox="1"/>
          <p:nvPr>
            <p:ph idx="2" type="body"/>
          </p:nvPr>
        </p:nvSpPr>
        <p:spPr>
          <a:xfrm>
            <a:off x="411480" y="1062990"/>
            <a:ext cx="39093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77" name="Google Shape;777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5050" y="892075"/>
            <a:ext cx="4262551" cy="2751551"/>
          </a:xfrm>
          <a:prstGeom prst="rect">
            <a:avLst/>
          </a:prstGeom>
          <a:noFill/>
          <a:ln>
            <a:noFill/>
          </a:ln>
        </p:spPr>
      </p:pic>
      <p:sp>
        <p:nvSpPr>
          <p:cNvPr id="778" name="Google Shape;778;p77"/>
          <p:cNvSpPr txBox="1"/>
          <p:nvPr>
            <p:ph idx="4" type="body"/>
          </p:nvPr>
        </p:nvSpPr>
        <p:spPr>
          <a:xfrm>
            <a:off x="411480" y="4526280"/>
            <a:ext cx="39093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9" name="Google Shape;779;p77"/>
          <p:cNvSpPr txBox="1"/>
          <p:nvPr>
            <p:ph idx="6" type="body"/>
          </p:nvPr>
        </p:nvSpPr>
        <p:spPr>
          <a:xfrm>
            <a:off x="4879467" y="617220"/>
            <a:ext cx="3953700" cy="2058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/>
              <a:t>Similar to range(10) with for loop</a:t>
            </a:r>
            <a:endParaRPr/>
          </a:p>
        </p:txBody>
      </p:sp>
      <p:pic>
        <p:nvPicPr>
          <p:cNvPr id="780" name="Google Shape;780;p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75" y="1146502"/>
            <a:ext cx="4420250" cy="22426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4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78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Transfer Statements</a:t>
            </a:r>
            <a:endParaRPr/>
          </a:p>
        </p:txBody>
      </p:sp>
      <p:sp>
        <p:nvSpPr>
          <p:cNvPr id="786" name="Google Shape;786;p78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78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78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79"/>
          <p:cNvSpPr/>
          <p:nvPr/>
        </p:nvSpPr>
        <p:spPr>
          <a:xfrm>
            <a:off x="411480" y="240030"/>
            <a:ext cx="6172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900"/>
              <a:buFont typeface="Roboto"/>
              <a:buNone/>
            </a:pPr>
            <a:r>
              <a:rPr b="1" i="0" lang="en" sz="9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JUMP AROUND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79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Transfer Statements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79"/>
          <p:cNvSpPr/>
          <p:nvPr/>
        </p:nvSpPr>
        <p:spPr>
          <a:xfrm>
            <a:off x="411480" y="1131570"/>
            <a:ext cx="80925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1050"/>
              <a:buFont typeface="Roboto"/>
              <a:buNone/>
            </a:pPr>
            <a:r>
              <a:rPr b="0" i="0" lang="en" sz="105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Keywords that modify the normal top-to-bottom flow by jumping execution to a different point — think of them as traffic signs.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79"/>
          <p:cNvSpPr/>
          <p:nvPr/>
        </p:nvSpPr>
        <p:spPr>
          <a:xfrm>
            <a:off x="411475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p79"/>
          <p:cNvSpPr/>
          <p:nvPr/>
        </p:nvSpPr>
        <p:spPr>
          <a:xfrm>
            <a:off x="548640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break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79"/>
          <p:cNvSpPr/>
          <p:nvPr/>
        </p:nvSpPr>
        <p:spPr>
          <a:xfrm>
            <a:off x="548640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Exit the loop immediately.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break_example.png" id="800" name="Google Shape;800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434590"/>
            <a:ext cx="2297430" cy="831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1" name="Google Shape;801;p79"/>
          <p:cNvSpPr/>
          <p:nvPr/>
        </p:nvSpPr>
        <p:spPr>
          <a:xfrm>
            <a:off x="3175250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F4F4F7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2" name="Google Shape;802;p79"/>
          <p:cNvSpPr/>
          <p:nvPr/>
        </p:nvSpPr>
        <p:spPr>
          <a:xfrm>
            <a:off x="3312414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continue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" name="Google Shape;803;p79"/>
          <p:cNvSpPr/>
          <p:nvPr/>
        </p:nvSpPr>
        <p:spPr>
          <a:xfrm>
            <a:off x="3312414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Skip the current iteration.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ntinue_example.png" id="804" name="Google Shape;804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12414" y="2434590"/>
            <a:ext cx="2297430" cy="831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5" name="Google Shape;805;p79"/>
          <p:cNvSpPr/>
          <p:nvPr/>
        </p:nvSpPr>
        <p:spPr>
          <a:xfrm>
            <a:off x="5939024" y="1645927"/>
            <a:ext cx="2571900" cy="3074400"/>
          </a:xfrm>
          <a:prstGeom prst="roundRect">
            <a:avLst>
              <a:gd fmla="val 2353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79"/>
          <p:cNvSpPr/>
          <p:nvPr/>
        </p:nvSpPr>
        <p:spPr>
          <a:xfrm>
            <a:off x="6076188" y="178308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275"/>
              <a:buFont typeface="Roboto"/>
              <a:buNone/>
            </a:pPr>
            <a:r>
              <a:rPr b="1" i="0" lang="en" sz="127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pass</a:t>
            </a:r>
            <a:endParaRPr b="0" i="0" sz="12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79"/>
          <p:cNvSpPr/>
          <p:nvPr/>
        </p:nvSpPr>
        <p:spPr>
          <a:xfrm>
            <a:off x="6076188" y="2091690"/>
            <a:ext cx="22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38"/>
              <a:buFont typeface="Roboto"/>
              <a:buNone/>
            </a:pPr>
            <a:r>
              <a:rPr b="0" i="0" lang="en" sz="938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Placeholder — do nothing.</a:t>
            </a:r>
            <a:endParaRPr b="0" i="0" sz="93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pass_example.png" id="808" name="Google Shape;808;p7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76188" y="2434590"/>
            <a:ext cx="2297430" cy="600075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79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10" name="Google Shape;810;p7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8650" y="3390900"/>
            <a:ext cx="2227500" cy="948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1" name="Google Shape;811;p7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53825" y="3334825"/>
            <a:ext cx="2186025" cy="106759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2" name="Google Shape;812;p79"/>
          <p:cNvPicPr preferRelativeResize="0"/>
          <p:nvPr/>
        </p:nvPicPr>
        <p:blipFill rotWithShape="1">
          <a:blip r:embed="rId8">
            <a:alphaModFix/>
          </a:blip>
          <a:srcRect b="13525" l="0" r="0" t="0"/>
          <a:stretch/>
        </p:blipFill>
        <p:spPr>
          <a:xfrm>
            <a:off x="6117525" y="3334825"/>
            <a:ext cx="2133541" cy="1067600"/>
          </a:xfrm>
          <a:prstGeom prst="rect">
            <a:avLst/>
          </a:prstGeom>
          <a:solidFill>
            <a:srgbClr val="EAF1FB"/>
          </a:solidFill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80"/>
          <p:cNvSpPr txBox="1"/>
          <p:nvPr>
            <p:ph type="title"/>
          </p:nvPr>
        </p:nvSpPr>
        <p:spPr>
          <a:xfrm>
            <a:off x="617220" y="1577340"/>
            <a:ext cx="7886700" cy="13029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with Loop</a:t>
            </a:r>
            <a:endParaRPr/>
          </a:p>
        </p:txBody>
      </p:sp>
      <p:sp>
        <p:nvSpPr>
          <p:cNvPr id="818" name="Google Shape;818;p80"/>
          <p:cNvSpPr txBox="1"/>
          <p:nvPr>
            <p:ph idx="1" type="body"/>
          </p:nvPr>
        </p:nvSpPr>
        <p:spPr>
          <a:xfrm>
            <a:off x="617220" y="2914650"/>
            <a:ext cx="7200900" cy="2742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9" name="Google Shape;819;p80"/>
          <p:cNvSpPr txBox="1"/>
          <p:nvPr>
            <p:ph idx="2" type="body"/>
          </p:nvPr>
        </p:nvSpPr>
        <p:spPr>
          <a:xfrm>
            <a:off x="617220" y="3257550"/>
            <a:ext cx="6652500" cy="4116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80"/>
          <p:cNvSpPr txBox="1"/>
          <p:nvPr>
            <p:ph idx="3" type="body"/>
          </p:nvPr>
        </p:nvSpPr>
        <p:spPr>
          <a:xfrm>
            <a:off x="617220" y="3977640"/>
            <a:ext cx="5486400" cy="2400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81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Nested Loops</a:t>
            </a:r>
            <a:endParaRPr/>
          </a:p>
        </p:txBody>
      </p:sp>
      <p:sp>
        <p:nvSpPr>
          <p:cNvPr id="827" name="Google Shape;827;p81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A loop inside a loop</a:t>
            </a:r>
            <a:endParaRPr/>
          </a:p>
        </p:txBody>
      </p:sp>
      <p:sp>
        <p:nvSpPr>
          <p:cNvPr id="828" name="Google Shape;828;p81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inner loop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runs to completion for every single pass of 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outer loop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Useful for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grids, pairs, and coordinates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anywhere you need i and j together.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range(3)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twice gives 9 total iterations — 3 outer × 3 inner.</a:t>
            </a:r>
            <a:endParaRPr/>
          </a:p>
        </p:txBody>
      </p:sp>
      <p:pic>
        <p:nvPicPr>
          <p:cNvPr descr="nested_loops.png" id="829" name="Google Shape;829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03724" y="822960"/>
            <a:ext cx="2505123" cy="377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82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enumerate()</a:t>
            </a:r>
            <a:endParaRPr/>
          </a:p>
        </p:txBody>
      </p:sp>
      <p:sp>
        <p:nvSpPr>
          <p:cNvPr id="836" name="Google Shape;836;p82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Index and value, together</a:t>
            </a:r>
            <a:endParaRPr/>
          </a:p>
        </p:txBody>
      </p:sp>
      <p:sp>
        <p:nvSpPr>
          <p:cNvPr id="837" name="Google Shape;837;p82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enumerate()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wraps a list and yields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(index, value)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pairs.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No need to track a counter by hand or call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len()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Cleaner and more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Pythonic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than looping over range(len(list)).</a:t>
            </a:r>
            <a:endParaRPr/>
          </a:p>
        </p:txBody>
      </p:sp>
      <p:pic>
        <p:nvPicPr>
          <p:cNvPr descr="enumerate_fn.png" id="838" name="Google Shape;838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887" y="1144678"/>
            <a:ext cx="4090799" cy="3128464"/>
          </a:xfrm>
          <a:prstGeom prst="rect">
            <a:avLst/>
          </a:prstGeom>
          <a:noFill/>
          <a:ln>
            <a:noFill/>
          </a:ln>
        </p:spPr>
      </p:pic>
      <p:sp>
        <p:nvSpPr>
          <p:cNvPr id="839" name="Google Shape;839;p82"/>
          <p:cNvSpPr/>
          <p:nvPr/>
        </p:nvSpPr>
        <p:spPr>
          <a:xfrm>
            <a:off x="411480" y="4046220"/>
            <a:ext cx="3909300" cy="458700"/>
          </a:xfrm>
          <a:prstGeom prst="roundRect">
            <a:avLst>
              <a:gd fmla="val 17940" name="adj"/>
            </a:avLst>
          </a:prstGeom>
          <a:solidFill>
            <a:srgbClr val="EAF1FB"/>
          </a:solidFill>
          <a:ln>
            <a:noFill/>
          </a:ln>
        </p:spPr>
        <p:txBody>
          <a:bodyPr anchorCtr="0" anchor="ctr" bIns="68575" lIns="123425" spcFirstLastPara="1" rIns="123425" wrap="square" tIns="68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EC5F82"/>
                </a:solidFill>
                <a:latin typeface="Roboto"/>
                <a:ea typeface="Roboto"/>
                <a:cs typeface="Roboto"/>
                <a:sym typeface="Roboto"/>
              </a:rPr>
              <a:t>●  </a:t>
            </a:r>
            <a:r>
              <a:rPr b="1" i="0" lang="en" sz="900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Insight:  </a:t>
            </a:r>
            <a:r>
              <a:rPr b="0" i="0" lang="en" sz="900" u="none" cap="none" strike="noStrike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use enumerate() instead of range(len(list)) for cleaner, more Pythonic code.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4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83"/>
          <p:cNvSpPr txBox="1"/>
          <p:nvPr>
            <p:ph type="title"/>
          </p:nvPr>
        </p:nvSpPr>
        <p:spPr>
          <a:xfrm>
            <a:off x="308610" y="164592"/>
            <a:ext cx="29319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lang="en" sz="21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zip()</a:t>
            </a:r>
            <a:endParaRPr/>
          </a:p>
        </p:txBody>
      </p:sp>
      <p:sp>
        <p:nvSpPr>
          <p:cNvPr id="846" name="Google Shape;846;p83"/>
          <p:cNvSpPr txBox="1"/>
          <p:nvPr>
            <p:ph idx="2" type="body"/>
          </p:nvPr>
        </p:nvSpPr>
        <p:spPr>
          <a:xfrm>
            <a:off x="308610" y="797242"/>
            <a:ext cx="29319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Pair up parallel lists</a:t>
            </a:r>
            <a:endParaRPr/>
          </a:p>
        </p:txBody>
      </p:sp>
      <p:sp>
        <p:nvSpPr>
          <p:cNvPr id="847" name="Google Shape;847;p83"/>
          <p:cNvSpPr txBox="1"/>
          <p:nvPr>
            <p:ph idx="3" type="body"/>
          </p:nvPr>
        </p:nvSpPr>
        <p:spPr>
          <a:xfrm>
            <a:off x="308610" y="1028700"/>
            <a:ext cx="29319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•"/>
            </a:pP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zip()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walks two (or more) lists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side by side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Each step returns one item from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each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list, in the same order.</a:t>
            </a:r>
            <a:endParaRPr/>
          </a:p>
          <a:p>
            <a:pPr indent="-152400" lvl="0" marL="203200" rtl="0" algn="l">
              <a:spcBef>
                <a:spcPts val="800"/>
              </a:spcBef>
              <a:spcAft>
                <a:spcPts val="0"/>
              </a:spcAft>
              <a:buClr>
                <a:srgbClr val="222540"/>
              </a:buClr>
              <a:buSzPts val="800"/>
              <a:buChar char="•"/>
            </a:pP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Stops automatically at the </a:t>
            </a:r>
            <a:r>
              <a:rPr lang="en" sz="11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shortest</a:t>
            </a:r>
            <a:r>
              <a:rPr lang="en" sz="11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list if lengths differ.</a:t>
            </a:r>
            <a:endParaRPr/>
          </a:p>
        </p:txBody>
      </p:sp>
      <p:pic>
        <p:nvPicPr>
          <p:cNvPr descr="zip_fn.png" id="848" name="Google Shape;848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10887" y="889421"/>
            <a:ext cx="4090797" cy="363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84"/>
          <p:cNvSpPr/>
          <p:nvPr/>
        </p:nvSpPr>
        <p:spPr>
          <a:xfrm>
            <a:off x="411480" y="466344"/>
            <a:ext cx="7200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rPr b="1" i="0" lang="en" sz="2100" u="none" cap="none" strike="noStrike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List Comprehensions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84"/>
          <p:cNvSpPr/>
          <p:nvPr/>
        </p:nvSpPr>
        <p:spPr>
          <a:xfrm>
            <a:off x="411480" y="1097280"/>
            <a:ext cx="8092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125"/>
              <a:buFont typeface="Roboto"/>
              <a:buNone/>
            </a:pPr>
            <a:r>
              <a:rPr b="1" lang="en" sz="1125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Syntax: </a:t>
            </a:r>
            <a:r>
              <a:rPr b="1" lang="en" sz="112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    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expression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for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item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in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iterable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if </a:t>
            </a:r>
            <a:r>
              <a:rPr b="1" i="0" lang="en" sz="1125" u="none" cap="none" strike="noStrik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b="1" i="0" lang="en" sz="1125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]</a:t>
            </a:r>
            <a:endParaRPr b="0" i="0" sz="11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84"/>
          <p:cNvSpPr/>
          <p:nvPr/>
        </p:nvSpPr>
        <p:spPr>
          <a:xfrm>
            <a:off x="411480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Basic — Squares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squares.png" id="857" name="Google Shape;857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714500"/>
            <a:ext cx="2571749" cy="1449008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p84"/>
          <p:cNvSpPr/>
          <p:nvPr/>
        </p:nvSpPr>
        <p:spPr>
          <a:xfrm>
            <a:off x="3175254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With Filter — Evens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evens.png" id="859" name="Google Shape;859;p8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5254" y="1714500"/>
            <a:ext cx="2571750" cy="157708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84"/>
          <p:cNvSpPr/>
          <p:nvPr/>
        </p:nvSpPr>
        <p:spPr>
          <a:xfrm>
            <a:off x="5939028" y="1440180"/>
            <a:ext cx="257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F5C"/>
              </a:buClr>
              <a:buSzPts val="1013"/>
              <a:buFont typeface="Roboto"/>
              <a:buNone/>
            </a:pPr>
            <a:r>
              <a:rPr b="1" i="0" lang="en" sz="1013" u="none" cap="none" strike="noStrike">
                <a:solidFill>
                  <a:srgbClr val="1A1F5C"/>
                </a:solidFill>
                <a:latin typeface="Roboto"/>
                <a:ea typeface="Roboto"/>
                <a:cs typeface="Roboto"/>
                <a:sym typeface="Roboto"/>
              </a:rPr>
              <a:t>Dict Comprehension</a:t>
            </a:r>
            <a:endParaRPr b="0" i="0" sz="10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./imgs/code_hl/comp_dict.png" id="861" name="Google Shape;861;p8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39028" y="1714500"/>
            <a:ext cx="2571749" cy="1449008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84"/>
          <p:cNvSpPr/>
          <p:nvPr/>
        </p:nvSpPr>
        <p:spPr>
          <a:xfrm>
            <a:off x="8593074" y="4800600"/>
            <a:ext cx="342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085"/>
              </a:buClr>
              <a:buSzPts val="750"/>
              <a:buFont typeface="Roboto"/>
              <a:buNone/>
            </a:pPr>
            <a:r>
              <a:rPr b="0" i="0" lang="en" sz="750" u="none" cap="none" strike="noStrike">
                <a:solidFill>
                  <a:srgbClr val="6B7085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6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85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lang="en"/>
              <a:t>Practices</a:t>
            </a: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: Foundations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86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Part 1: Loop </a:t>
            </a:r>
            <a:r>
              <a:rPr lang="en"/>
              <a:t>with </a:t>
            </a:r>
            <a:r>
              <a:rPr lang="en">
                <a:solidFill>
                  <a:srgbClr val="FFFF00"/>
                </a:solidFill>
              </a:rPr>
              <a:t>For Loop</a:t>
            </a:r>
            <a:endParaRPr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87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1: Loop with For Loop</a:t>
            </a:r>
            <a:endParaRPr/>
          </a:p>
        </p:txBody>
      </p:sp>
      <p:sp>
        <p:nvSpPr>
          <p:cNvPr descr="Step 1 badge" id="878" name="Google Shape;878;p87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87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880" name="Google Shape;880;p87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 from 1 to 10</a:t>
            </a:r>
            <a:endParaRPr/>
          </a:p>
        </p:txBody>
      </p:sp>
      <p:sp>
        <p:nvSpPr>
          <p:cNvPr id="881" name="Google Shape;881;p87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numbers from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Hint: use range(1, 11)</a:t>
            </a:r>
            <a:endParaRPr/>
          </a:p>
        </p:txBody>
      </p:sp>
      <p:sp>
        <p:nvSpPr>
          <p:cNvPr descr="Step 2 badge" id="882" name="Google Shape;882;p87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87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884" name="Google Shape;884;p87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Print Even Numbers</a:t>
            </a:r>
            <a:endParaRPr/>
          </a:p>
        </p:txBody>
      </p:sp>
      <p:sp>
        <p:nvSpPr>
          <p:cNvPr id="885" name="Google Shape;885;p87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every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even number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2 to 20 (inclusive).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Hint: use a step of 2 in range() or using %</a:t>
            </a:r>
            <a:endParaRPr/>
          </a:p>
        </p:txBody>
      </p:sp>
      <p:sp>
        <p:nvSpPr>
          <p:cNvPr descr="Step 3 badge" id="886" name="Google Shape;886;p87"/>
          <p:cNvSpPr/>
          <p:nvPr/>
        </p:nvSpPr>
        <p:spPr>
          <a:xfrm>
            <a:off x="401227" y="245968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87"/>
          <p:cNvSpPr txBox="1"/>
          <p:nvPr>
            <p:ph idx="2" type="body"/>
          </p:nvPr>
        </p:nvSpPr>
        <p:spPr>
          <a:xfrm>
            <a:off x="401227" y="2459688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888" name="Google Shape;888;p87"/>
          <p:cNvSpPr txBox="1"/>
          <p:nvPr>
            <p:ph idx="3" type="body"/>
          </p:nvPr>
        </p:nvSpPr>
        <p:spPr>
          <a:xfrm>
            <a:off x="867571" y="247340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Sum of Numbers</a:t>
            </a:r>
            <a:endParaRPr/>
          </a:p>
        </p:txBody>
      </p:sp>
      <p:sp>
        <p:nvSpPr>
          <p:cNvPr id="889" name="Google Shape;889;p87"/>
          <p:cNvSpPr txBox="1"/>
          <p:nvPr>
            <p:ph idx="4" type="body"/>
          </p:nvPr>
        </p:nvSpPr>
        <p:spPr>
          <a:xfrm>
            <a:off x="401227" y="297403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Calculate and print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sum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of all numbers from 1 to 100.</a:t>
            </a:r>
            <a:endParaRPr/>
          </a:p>
        </p:txBody>
      </p:sp>
      <p:sp>
        <p:nvSpPr>
          <p:cNvPr descr="Step 4 badge" id="890" name="Google Shape;890;p87"/>
          <p:cNvSpPr/>
          <p:nvPr/>
        </p:nvSpPr>
        <p:spPr>
          <a:xfrm>
            <a:off x="4673761" y="2459688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87"/>
          <p:cNvSpPr txBox="1"/>
          <p:nvPr>
            <p:ph idx="9" type="body"/>
          </p:nvPr>
        </p:nvSpPr>
        <p:spPr>
          <a:xfrm>
            <a:off x="4673761" y="2459688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892" name="Google Shape;892;p87"/>
          <p:cNvSpPr txBox="1"/>
          <p:nvPr>
            <p:ph idx="13" type="body"/>
          </p:nvPr>
        </p:nvSpPr>
        <p:spPr>
          <a:xfrm>
            <a:off x="5140105" y="2473404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Loop Through a List</a:t>
            </a:r>
            <a:endParaRPr/>
          </a:p>
        </p:txBody>
      </p:sp>
      <p:sp>
        <p:nvSpPr>
          <p:cNvPr id="893" name="Google Shape;893;p87"/>
          <p:cNvSpPr txBox="1"/>
          <p:nvPr>
            <p:ph idx="14" type="body"/>
          </p:nvPr>
        </p:nvSpPr>
        <p:spPr>
          <a:xfrm>
            <a:off x="4673761" y="2974038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Given the list: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[</a:t>
            </a:r>
            <a:r>
              <a:rPr lang="en">
                <a:solidFill>
                  <a:srgbClr val="D84568"/>
                </a:solidFill>
              </a:rPr>
              <a:t>‘a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pple</a:t>
            </a:r>
            <a:r>
              <a:rPr lang="en">
                <a:solidFill>
                  <a:srgbClr val="D84568"/>
                </a:solidFill>
              </a:rPr>
              <a:t>’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>
                <a:solidFill>
                  <a:srgbClr val="D84568"/>
                </a:solidFill>
              </a:rPr>
              <a:t>‘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banana</a:t>
            </a:r>
            <a:r>
              <a:rPr lang="en">
                <a:solidFill>
                  <a:srgbClr val="D84568"/>
                </a:solidFill>
              </a:rPr>
              <a:t>’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>
                <a:solidFill>
                  <a:srgbClr val="D84568"/>
                </a:solidFill>
              </a:rPr>
              <a:t>‘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cherry</a:t>
            </a:r>
            <a:r>
              <a:rPr lang="en">
                <a:solidFill>
                  <a:srgbClr val="D84568"/>
                </a:solidFill>
              </a:rPr>
              <a:t>’]</a:t>
            </a:r>
            <a:endParaRPr/>
          </a:p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fruit on its own line.</a:t>
            </a:r>
            <a:endParaRPr/>
          </a:p>
        </p:txBody>
      </p:sp>
      <p:sp>
        <p:nvSpPr>
          <p:cNvPr id="894" name="Google Shape;894;p87"/>
          <p:cNvSpPr txBox="1"/>
          <p:nvPr/>
        </p:nvSpPr>
        <p:spPr>
          <a:xfrm>
            <a:off x="401305" y="17830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87"/>
          <p:cNvSpPr txBox="1"/>
          <p:nvPr/>
        </p:nvSpPr>
        <p:spPr>
          <a:xfrm>
            <a:off x="744125" y="2023075"/>
            <a:ext cx="387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1, 2, 3, 4, 5, 6, 7, 8, 9, 10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87"/>
          <p:cNvSpPr txBox="1"/>
          <p:nvPr/>
        </p:nvSpPr>
        <p:spPr>
          <a:xfrm>
            <a:off x="4673839" y="1783050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87"/>
          <p:cNvSpPr txBox="1"/>
          <p:nvPr/>
        </p:nvSpPr>
        <p:spPr>
          <a:xfrm>
            <a:off x="4840592" y="2023075"/>
            <a:ext cx="3879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2, 4, 6, 8, 10, 12, 14, 16, 18, 20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87"/>
          <p:cNvSpPr txBox="1"/>
          <p:nvPr/>
        </p:nvSpPr>
        <p:spPr>
          <a:xfrm>
            <a:off x="378519" y="3427476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87"/>
          <p:cNvSpPr txBox="1"/>
          <p:nvPr/>
        </p:nvSpPr>
        <p:spPr>
          <a:xfrm>
            <a:off x="754375" y="3667500"/>
            <a:ext cx="39267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Sum: 5050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87"/>
          <p:cNvSpPr txBox="1"/>
          <p:nvPr/>
        </p:nvSpPr>
        <p:spPr>
          <a:xfrm>
            <a:off x="4651053" y="3427476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87"/>
          <p:cNvSpPr txBox="1"/>
          <p:nvPr/>
        </p:nvSpPr>
        <p:spPr>
          <a:xfrm>
            <a:off x="4893909" y="3667500"/>
            <a:ext cx="3803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apple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banana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cherry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5" name="Shape 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Google Shape;906;p88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Part 2: Loops </a:t>
            </a:r>
            <a:r>
              <a:rPr lang="en"/>
              <a:t>with </a:t>
            </a:r>
            <a:r>
              <a:rPr lang="en">
                <a:solidFill>
                  <a:srgbClr val="FFFF00"/>
                </a:solidFill>
              </a:rPr>
              <a:t>While</a:t>
            </a:r>
            <a:endParaRPr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89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 2: Loops with While</a:t>
            </a:r>
            <a:endParaRPr/>
          </a:p>
        </p:txBody>
      </p:sp>
      <p:sp>
        <p:nvSpPr>
          <p:cNvPr descr="Step 5 badge" id="912" name="Google Shape;912;p89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89"/>
          <p:cNvSpPr txBox="1"/>
          <p:nvPr>
            <p:ph idx="2" type="body"/>
          </p:nvPr>
        </p:nvSpPr>
        <p:spPr>
          <a:xfrm>
            <a:off x="411480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/>
          </a:p>
        </p:txBody>
      </p:sp>
      <p:sp>
        <p:nvSpPr>
          <p:cNvPr id="914" name="Google Shape;914;p89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Countdown</a:t>
            </a:r>
            <a:endParaRPr/>
          </a:p>
        </p:txBody>
      </p:sp>
      <p:sp>
        <p:nvSpPr>
          <p:cNvPr id="915" name="Google Shape;915;p89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/>
              <a:t>Countdown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from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Then print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"</a:t>
            </a:r>
            <a:r>
              <a:rPr lang="en">
                <a:solidFill>
                  <a:srgbClr val="D84568"/>
                </a:solidFill>
              </a:rPr>
              <a:t>Done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!"</a:t>
            </a:r>
            <a:endParaRPr/>
          </a:p>
        </p:txBody>
      </p:sp>
      <p:sp>
        <p:nvSpPr>
          <p:cNvPr descr="Step 6 badge" id="916" name="Google Shape;916;p89"/>
          <p:cNvSpPr/>
          <p:nvPr/>
        </p:nvSpPr>
        <p:spPr>
          <a:xfrm>
            <a:off x="4684014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89"/>
          <p:cNvSpPr txBox="1"/>
          <p:nvPr>
            <p:ph idx="9" type="body"/>
          </p:nvPr>
        </p:nvSpPr>
        <p:spPr>
          <a:xfrm>
            <a:off x="4684014" y="685800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endParaRPr/>
          </a:p>
        </p:txBody>
      </p:sp>
      <p:sp>
        <p:nvSpPr>
          <p:cNvPr id="918" name="Google Shape;918;p89"/>
          <p:cNvSpPr txBox="1"/>
          <p:nvPr>
            <p:ph idx="13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Multiplication Table</a:t>
            </a:r>
            <a:endParaRPr/>
          </a:p>
        </p:txBody>
      </p:sp>
      <p:sp>
        <p:nvSpPr>
          <p:cNvPr id="919" name="Google Shape;919;p89"/>
          <p:cNvSpPr txBox="1"/>
          <p:nvPr>
            <p:ph idx="14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5 times table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— from 5 x 1 up to 5 x 10.</a:t>
            </a:r>
            <a:endParaRPr/>
          </a:p>
        </p:txBody>
      </p:sp>
      <p:sp>
        <p:nvSpPr>
          <p:cNvPr descr="Step 7 badge" id="920" name="Google Shape;920;p89"/>
          <p:cNvSpPr/>
          <p:nvPr/>
        </p:nvSpPr>
        <p:spPr>
          <a:xfrm>
            <a:off x="412614" y="2921663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89"/>
          <p:cNvSpPr txBox="1"/>
          <p:nvPr>
            <p:ph idx="2" type="body"/>
          </p:nvPr>
        </p:nvSpPr>
        <p:spPr>
          <a:xfrm>
            <a:off x="412614" y="2921663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922" name="Google Shape;922;p89"/>
          <p:cNvSpPr txBox="1"/>
          <p:nvPr>
            <p:ph idx="3" type="body"/>
          </p:nvPr>
        </p:nvSpPr>
        <p:spPr>
          <a:xfrm>
            <a:off x="878958" y="2935378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Count Vowels in a String</a:t>
            </a:r>
            <a:endParaRPr/>
          </a:p>
        </p:txBody>
      </p:sp>
      <p:sp>
        <p:nvSpPr>
          <p:cNvPr id="923" name="Google Shape;923;p89"/>
          <p:cNvSpPr txBox="1"/>
          <p:nvPr>
            <p:ph idx="4" type="body"/>
          </p:nvPr>
        </p:nvSpPr>
        <p:spPr>
          <a:xfrm>
            <a:off x="412625" y="3436026"/>
            <a:ext cx="4046100" cy="6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Count how many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vowels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(a, e, i, o, u) appear in "programming".</a:t>
            </a:r>
            <a:endParaRPr/>
          </a:p>
        </p:txBody>
      </p:sp>
      <p:sp>
        <p:nvSpPr>
          <p:cNvPr descr="Step 8 badge" id="924" name="Google Shape;924;p89"/>
          <p:cNvSpPr/>
          <p:nvPr/>
        </p:nvSpPr>
        <p:spPr>
          <a:xfrm>
            <a:off x="4685148" y="2921663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89"/>
          <p:cNvSpPr txBox="1"/>
          <p:nvPr>
            <p:ph idx="9" type="body"/>
          </p:nvPr>
        </p:nvSpPr>
        <p:spPr>
          <a:xfrm>
            <a:off x="4685148" y="2921663"/>
            <a:ext cx="34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  <a:endParaRPr/>
          </a:p>
        </p:txBody>
      </p:sp>
      <p:sp>
        <p:nvSpPr>
          <p:cNvPr id="926" name="Google Shape;926;p89"/>
          <p:cNvSpPr txBox="1"/>
          <p:nvPr>
            <p:ph idx="13" type="body"/>
          </p:nvPr>
        </p:nvSpPr>
        <p:spPr>
          <a:xfrm>
            <a:off x="5151492" y="2935378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Find the Largest Number</a:t>
            </a:r>
            <a:endParaRPr/>
          </a:p>
        </p:txBody>
      </p:sp>
      <p:sp>
        <p:nvSpPr>
          <p:cNvPr id="927" name="Google Shape;927;p89"/>
          <p:cNvSpPr txBox="1"/>
          <p:nvPr>
            <p:ph idx="14" type="body"/>
          </p:nvPr>
        </p:nvSpPr>
        <p:spPr>
          <a:xfrm>
            <a:off x="4685154" y="3436026"/>
            <a:ext cx="4046100" cy="6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Find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largest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value in [14, 58, 2, 99, 43].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/>
              <a:t>Hint: use a value to store larger number every step</a:t>
            </a:r>
            <a:endParaRPr/>
          </a:p>
          <a:p>
            <a:pPr indent="-152400" lvl="1" marL="4826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600"/>
              <a:buChar char="○"/>
            </a:pPr>
            <a:r>
              <a:rPr lang="en" sz="8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Constraint: don't use max()</a:t>
            </a:r>
            <a:endParaRPr/>
          </a:p>
        </p:txBody>
      </p:sp>
      <p:sp>
        <p:nvSpPr>
          <p:cNvPr id="928" name="Google Shape;928;p89"/>
          <p:cNvSpPr txBox="1"/>
          <p:nvPr/>
        </p:nvSpPr>
        <p:spPr>
          <a:xfrm>
            <a:off x="401300" y="1710170"/>
            <a:ext cx="40461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89"/>
          <p:cNvSpPr txBox="1"/>
          <p:nvPr/>
        </p:nvSpPr>
        <p:spPr>
          <a:xfrm>
            <a:off x="683750" y="1942650"/>
            <a:ext cx="37638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10, 9, 8, 7, 6, 5, 4, 3, 2, 1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Done!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89"/>
          <p:cNvSpPr txBox="1"/>
          <p:nvPr/>
        </p:nvSpPr>
        <p:spPr>
          <a:xfrm>
            <a:off x="4673842" y="1710170"/>
            <a:ext cx="4046100" cy="1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89"/>
          <p:cNvSpPr txBox="1"/>
          <p:nvPr/>
        </p:nvSpPr>
        <p:spPr>
          <a:xfrm>
            <a:off x="5028050" y="1942650"/>
            <a:ext cx="3691800" cy="8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1 = 5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2 = 10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...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 x 10 = 50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89"/>
          <p:cNvSpPr txBox="1"/>
          <p:nvPr/>
        </p:nvSpPr>
        <p:spPr>
          <a:xfrm>
            <a:off x="401305" y="4111439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89"/>
          <p:cNvSpPr txBox="1"/>
          <p:nvPr/>
        </p:nvSpPr>
        <p:spPr>
          <a:xfrm>
            <a:off x="815550" y="4351475"/>
            <a:ext cx="3844500" cy="2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Vowel count: 3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89"/>
          <p:cNvSpPr txBox="1"/>
          <p:nvPr/>
        </p:nvSpPr>
        <p:spPr>
          <a:xfrm>
            <a:off x="4673839" y="4111439"/>
            <a:ext cx="4046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75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1" sz="975">
              <a:solidFill>
                <a:srgbClr val="D8456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89"/>
          <p:cNvSpPr txBox="1"/>
          <p:nvPr/>
        </p:nvSpPr>
        <p:spPr>
          <a:xfrm>
            <a:off x="4875335" y="4351475"/>
            <a:ext cx="3844500" cy="2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Largest number: 99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90"/>
          <p:cNvSpPr txBox="1"/>
          <p:nvPr>
            <p:ph type="title"/>
          </p:nvPr>
        </p:nvSpPr>
        <p:spPr>
          <a:xfrm>
            <a:off x="462915" y="1491615"/>
            <a:ext cx="5658000" cy="6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Roboto"/>
              <a:buNone/>
            </a:pPr>
            <a:r>
              <a:rPr lang="en"/>
              <a:t>Practices</a:t>
            </a:r>
            <a:r>
              <a:rPr b="1" lang="en" sz="3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"/>
              <a:t>More with loop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4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91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46" name="Google Shape;946;p91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sp>
        <p:nvSpPr>
          <p:cNvPr id="947" name="Google Shape;947;p91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Transaction Categorization</a:t>
            </a:r>
            <a:endParaRPr/>
          </a:p>
        </p:txBody>
      </p:sp>
      <p:sp>
        <p:nvSpPr>
          <p:cNvPr id="948" name="Google Shape;948;p91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Loop through the account amounts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if/else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positive -&gt; Income, else -&gt; Expense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amount with its label</a:t>
            </a:r>
            <a:endParaRPr/>
          </a:p>
        </p:txBody>
      </p:sp>
      <p:sp>
        <p:nvSpPr>
          <p:cNvPr id="949" name="Google Shape;949;p91"/>
          <p:cNvSpPr/>
          <p:nvPr/>
        </p:nvSpPr>
        <p:spPr>
          <a:xfrm>
            <a:off x="411480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91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amounts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150.0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45.5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3000.0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8.99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for each amount, print Income or Expense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amt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amounts: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1" name="Google Shape;951;p91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$150.00 -&gt; Income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-$45.50 -&gt; Expense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-$12.00 -&gt; Expense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$3000.00 -&gt; Income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-$8.99 -&gt; Expense</a:t>
            </a:r>
            <a:endParaRPr/>
          </a:p>
        </p:txBody>
      </p:sp>
      <p:sp>
        <p:nvSpPr>
          <p:cNvPr id="952" name="Google Shape;952;p91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/>
          </a:p>
        </p:txBody>
      </p:sp>
      <p:sp>
        <p:nvSpPr>
          <p:cNvPr id="953" name="Google Shape;953;p91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High-Value </a:t>
            </a:r>
            <a:r>
              <a:rPr lang="en"/>
              <a:t>Transaction</a:t>
            </a: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 Filter</a:t>
            </a:r>
            <a:endParaRPr/>
          </a:p>
        </p:txBody>
      </p:sp>
      <p:sp>
        <p:nvSpPr>
          <p:cNvPr id="954" name="Google Shape;954;p91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Loop through daily transaction values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value &gt; $1,000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add it to the total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the final flagged total</a:t>
            </a:r>
            <a:endParaRPr/>
          </a:p>
        </p:txBody>
      </p:sp>
      <p:sp>
        <p:nvSpPr>
          <p:cNvPr id="955" name="Google Shape;955;p91"/>
          <p:cNvSpPr/>
          <p:nvPr/>
        </p:nvSpPr>
        <p:spPr>
          <a:xfrm>
            <a:off x="4684014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p91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values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499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310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total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AE8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 value &gt; 1000, add to total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v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values: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7" name="Google Shape;957;p91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Total high-value transactions: $6200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92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63" name="Google Shape;963;p92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/>
          </a:p>
        </p:txBody>
      </p:sp>
      <p:sp>
        <p:nvSpPr>
          <p:cNvPr id="964" name="Google Shape;964;p92"/>
          <p:cNvSpPr txBox="1"/>
          <p:nvPr>
            <p:ph idx="3" type="body"/>
          </p:nvPr>
        </p:nvSpPr>
        <p:spPr>
          <a:xfrm>
            <a:off x="877824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Credit Score Classifier</a:t>
            </a:r>
            <a:endParaRPr/>
          </a:p>
        </p:txBody>
      </p:sp>
      <p:sp>
        <p:nvSpPr>
          <p:cNvPr id="965" name="Google Shape;965;p92"/>
          <p:cNvSpPr txBox="1"/>
          <p:nvPr>
            <p:ph idx="4" type="body"/>
          </p:nvPr>
        </p:nvSpPr>
        <p:spPr>
          <a:xfrm>
            <a:off x="411480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score &gt;= 700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Prime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elif 620-699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Near-Prime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else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-&gt; Subprime</a:t>
            </a:r>
            <a:endParaRPr/>
          </a:p>
        </p:txBody>
      </p:sp>
      <p:sp>
        <p:nvSpPr>
          <p:cNvPr id="966" name="Google Shape;966;p92"/>
          <p:cNvSpPr/>
          <p:nvPr/>
        </p:nvSpPr>
        <p:spPr>
          <a:xfrm>
            <a:off x="411480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92"/>
          <p:cNvSpPr txBox="1"/>
          <p:nvPr>
            <p:ph idx="6" type="body"/>
          </p:nvPr>
        </p:nvSpPr>
        <p:spPr>
          <a:xfrm>
            <a:off x="582930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scores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580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810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640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520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if/elif/else classify each score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score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scores: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8" name="Google Shape;968;p92"/>
          <p:cNvSpPr txBox="1"/>
          <p:nvPr>
            <p:ph idx="7" type="body"/>
          </p:nvPr>
        </p:nvSpPr>
        <p:spPr>
          <a:xfrm>
            <a:off x="411480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720 -&gt; 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580 -&gt; Subprime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810 -&gt; 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640 -&gt; Near-Prime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520 -&gt; Subprime</a:t>
            </a:r>
            <a:endParaRPr/>
          </a:p>
        </p:txBody>
      </p:sp>
      <p:sp>
        <p:nvSpPr>
          <p:cNvPr id="969" name="Google Shape;969;p92"/>
          <p:cNvSpPr txBox="1"/>
          <p:nvPr>
            <p:ph idx="8" type="body"/>
          </p:nvPr>
        </p:nvSpPr>
        <p:spPr>
          <a:xfrm>
            <a:off x="4512564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/>
          </a:p>
        </p:txBody>
      </p:sp>
      <p:sp>
        <p:nvSpPr>
          <p:cNvPr id="970" name="Google Shape;970;p92"/>
          <p:cNvSpPr txBox="1"/>
          <p:nvPr>
            <p:ph idx="9" type="body"/>
          </p:nvPr>
        </p:nvSpPr>
        <p:spPr>
          <a:xfrm>
            <a:off x="5150358" y="699516"/>
            <a:ext cx="3579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400"/>
              <a:buNone/>
            </a:pPr>
            <a:r>
              <a:rPr b="1" lang="en" sz="140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Skip Zero-Fee Accounts</a:t>
            </a:r>
            <a:endParaRPr/>
          </a:p>
        </p:txBody>
      </p:sp>
      <p:sp>
        <p:nvSpPr>
          <p:cNvPr id="971" name="Google Shape;971;p92"/>
          <p:cNvSpPr txBox="1"/>
          <p:nvPr>
            <p:ph idx="13" type="body"/>
          </p:nvPr>
        </p:nvSpPr>
        <p:spPr>
          <a:xfrm>
            <a:off x="4684014" y="1200150"/>
            <a:ext cx="40461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2400" lvl="0" marL="20320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800"/>
              <a:buChar char="●"/>
            </a:pP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fee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==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 0.0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: continue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to 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skip it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only the active fee charges</a:t>
            </a:r>
            <a:endParaRPr/>
          </a:p>
          <a:p>
            <a:pPr indent="-152400" lvl="0" marL="203200" rtl="0" algn="l">
              <a:spcBef>
                <a:spcPts val="600"/>
              </a:spcBef>
              <a:spcAft>
                <a:spcPts val="0"/>
              </a:spcAft>
              <a:buClr>
                <a:srgbClr val="222540"/>
              </a:buClr>
              <a:buSzPts val="800"/>
              <a:buChar char="●"/>
            </a:pP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Practice the </a:t>
            </a:r>
            <a:r>
              <a:rPr lang="en" sz="100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continue</a:t>
            </a:r>
            <a:r>
              <a:rPr lang="en" sz="10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keyword</a:t>
            </a:r>
            <a:endParaRPr/>
          </a:p>
        </p:txBody>
      </p:sp>
      <p:sp>
        <p:nvSpPr>
          <p:cNvPr id="972" name="Google Shape;972;p92"/>
          <p:cNvSpPr/>
          <p:nvPr/>
        </p:nvSpPr>
        <p:spPr>
          <a:xfrm>
            <a:off x="4684014" y="1988820"/>
            <a:ext cx="4046100" cy="15090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92"/>
          <p:cNvSpPr txBox="1"/>
          <p:nvPr>
            <p:ph idx="15" type="body"/>
          </p:nvPr>
        </p:nvSpPr>
        <p:spPr>
          <a:xfrm>
            <a:off x="4855464" y="2160270"/>
            <a:ext cx="37032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fees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12.0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15.0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8.5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continue past any $0.0 fee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fee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fees: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4" name="Google Shape;974;p92"/>
          <p:cNvSpPr txBox="1"/>
          <p:nvPr>
            <p:ph idx="16" type="body"/>
          </p:nvPr>
        </p:nvSpPr>
        <p:spPr>
          <a:xfrm>
            <a:off x="4684014" y="3840480"/>
            <a:ext cx="40461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$12.00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$15.00</a:t>
            </a:r>
            <a:endParaRPr/>
          </a:p>
          <a:p>
            <a:pPr indent="0" lvl="0" marL="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Fee: $8.50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8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93"/>
          <p:cNvSpPr txBox="1"/>
          <p:nvPr>
            <p:ph type="title"/>
          </p:nvPr>
        </p:nvSpPr>
        <p:spPr>
          <a:xfrm>
            <a:off x="411480" y="219456"/>
            <a:ext cx="8298300" cy="35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Practices: More with loop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2100"/>
              <a:buFont typeface="Roboto"/>
              <a:buNone/>
            </a:pPr>
            <a:r>
              <a:t/>
            </a:r>
            <a:endParaRPr/>
          </a:p>
        </p:txBody>
      </p:sp>
      <p:sp>
        <p:nvSpPr>
          <p:cNvPr id="980" name="Google Shape;980;p93"/>
          <p:cNvSpPr/>
          <p:nvPr/>
        </p:nvSpPr>
        <p:spPr>
          <a:xfrm>
            <a:off x="411475" y="1219929"/>
            <a:ext cx="4731900" cy="1420200"/>
          </a:xfrm>
          <a:prstGeom prst="roundRect">
            <a:avLst>
              <a:gd fmla="val 6000" name="adj"/>
            </a:avLst>
          </a:prstGeom>
          <a:solidFill>
            <a:srgbClr val="27282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93"/>
          <p:cNvSpPr txBox="1"/>
          <p:nvPr>
            <p:ph idx="3" type="body"/>
          </p:nvPr>
        </p:nvSpPr>
        <p:spPr>
          <a:xfrm>
            <a:off x="582925" y="1315896"/>
            <a:ext cx="4389000" cy="12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prices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[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101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88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82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b="0" i="0" lang="en" sz="900">
                <a:solidFill>
                  <a:srgbClr val="AE81FF"/>
                </a:solidFill>
                <a:latin typeface="Consolas"/>
                <a:ea typeface="Consolas"/>
                <a:cs typeface="Consolas"/>
                <a:sym typeface="Consolas"/>
              </a:rPr>
              <a:t>79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75715E"/>
              </a:buClr>
              <a:buSzPts val="900"/>
              <a:buNone/>
            </a:pPr>
            <a:r>
              <a:rPr b="0" i="0" lang="en" sz="900">
                <a:solidFill>
                  <a:srgbClr val="75715E"/>
                </a:solidFill>
                <a:latin typeface="Consolas"/>
                <a:ea typeface="Consolas"/>
                <a:cs typeface="Consolas"/>
                <a:sym typeface="Consolas"/>
              </a:rPr>
              <a:t># TODO: if price &lt; 90, print + break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66D9EF"/>
              </a:buClr>
              <a:buSzPts val="900"/>
              <a:buNone/>
            </a:pP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price </a:t>
            </a:r>
            <a:r>
              <a:rPr b="0" i="0" lang="en" sz="900">
                <a:solidFill>
                  <a:srgbClr val="F92672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prices: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rPr b="0" i="0" lang="en" sz="900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en" sz="900">
                <a:solidFill>
                  <a:srgbClr val="66D9EF"/>
                </a:solidFill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F8F8F2"/>
              </a:buClr>
              <a:buSzPts val="900"/>
              <a:buNone/>
            </a:pPr>
            <a:r>
              <a:t/>
            </a:r>
            <a:endParaRPr b="0" i="0" sz="900">
              <a:solidFill>
                <a:srgbClr val="66D9E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p93"/>
          <p:cNvSpPr txBox="1"/>
          <p:nvPr>
            <p:ph idx="4" type="body"/>
          </p:nvPr>
        </p:nvSpPr>
        <p:spPr>
          <a:xfrm>
            <a:off x="5417820" y="651510"/>
            <a:ext cx="32919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93480"/>
              </a:buClr>
              <a:buSzPts val="1350"/>
              <a:buNone/>
            </a:pPr>
            <a:r>
              <a:rPr b="1" lang="en" sz="1350">
                <a:solidFill>
                  <a:srgbClr val="293480"/>
                </a:solidFill>
                <a:latin typeface="Roboto"/>
                <a:ea typeface="Roboto"/>
                <a:cs typeface="Roboto"/>
                <a:sym typeface="Roboto"/>
              </a:rPr>
              <a:t>Your task</a:t>
            </a:r>
            <a:endParaRPr sz="1350"/>
          </a:p>
        </p:txBody>
      </p:sp>
      <p:sp>
        <p:nvSpPr>
          <p:cNvPr id="983" name="Google Shape;983;p93"/>
          <p:cNvSpPr txBox="1"/>
          <p:nvPr>
            <p:ph idx="5" type="body"/>
          </p:nvPr>
        </p:nvSpPr>
        <p:spPr>
          <a:xfrm>
            <a:off x="5417820" y="994410"/>
            <a:ext cx="3291900" cy="164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150876" lvl="0" marL="205740" rtl="0" algn="l"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819"/>
              <a:buChar char="●"/>
            </a:pP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Print each trade price as you go</a:t>
            </a:r>
            <a:endParaRPr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if price &lt; $90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: print </a:t>
            </a:r>
            <a:r>
              <a:rPr b="1" lang="en" sz="1050">
                <a:solidFill>
                  <a:srgbClr val="222540"/>
                </a:solidFill>
              </a:rPr>
              <a:t>Trading Halted</a:t>
            </a:r>
            <a:endParaRPr b="1" sz="1050"/>
          </a:p>
          <a:p>
            <a:pPr indent="-150876" lvl="0" marL="205740" rtl="0" algn="l">
              <a:spcBef>
                <a:spcPts val="810"/>
              </a:spcBef>
              <a:spcAft>
                <a:spcPts val="0"/>
              </a:spcAft>
              <a:buClr>
                <a:srgbClr val="D84568"/>
              </a:buClr>
              <a:buSzPts val="819"/>
              <a:buChar char="●"/>
            </a:pPr>
            <a:r>
              <a:rPr lang="en" sz="1050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break</a:t>
            </a:r>
            <a:r>
              <a:rPr lang="en" sz="105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 immediately — stop processing</a:t>
            </a:r>
            <a:endParaRPr sz="1050"/>
          </a:p>
        </p:txBody>
      </p:sp>
      <p:sp>
        <p:nvSpPr>
          <p:cNvPr id="984" name="Google Shape;984;p93"/>
          <p:cNvSpPr txBox="1"/>
          <p:nvPr>
            <p:ph idx="6" type="body"/>
          </p:nvPr>
        </p:nvSpPr>
        <p:spPr>
          <a:xfrm>
            <a:off x="5417820" y="2178385"/>
            <a:ext cx="32919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100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900"/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 sz="900">
                <a:solidFill>
                  <a:srgbClr val="222540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900">
              <a:solidFill>
                <a:srgbClr val="22254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15000"/>
              </a:lnSpc>
              <a:spcBef>
                <a:spcPts val="180"/>
              </a:spcBef>
              <a:spcAft>
                <a:spcPts val="0"/>
              </a:spcAft>
              <a:buClr>
                <a:srgbClr val="222540"/>
              </a:buClr>
              <a:buSzPts val="900"/>
              <a:buNone/>
            </a:pPr>
            <a:r>
              <a:rPr lang="en"/>
              <a:t>Trading Halted</a:t>
            </a:r>
            <a:endParaRPr/>
          </a:p>
        </p:txBody>
      </p:sp>
      <p:sp>
        <p:nvSpPr>
          <p:cNvPr id="985" name="Google Shape;985;p93"/>
          <p:cNvSpPr/>
          <p:nvPr/>
        </p:nvSpPr>
        <p:spPr>
          <a:xfrm>
            <a:off x="411480" y="685800"/>
            <a:ext cx="342900" cy="342900"/>
          </a:xfrm>
          <a:prstGeom prst="rect">
            <a:avLst/>
          </a:prstGeom>
          <a:solidFill>
            <a:srgbClr val="EC5F8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6" name="Google Shape;986;p93"/>
          <p:cNvSpPr txBox="1"/>
          <p:nvPr>
            <p:ph idx="2" type="body"/>
          </p:nvPr>
        </p:nvSpPr>
        <p:spPr>
          <a:xfrm>
            <a:off x="240030" y="6858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None/>
            </a:pPr>
            <a:r>
              <a:rPr b="1" lang="en" sz="1100">
                <a:solidFill>
                  <a:srgbClr val="FFFFFF"/>
                </a:solidFill>
              </a:rPr>
              <a:t>5</a:t>
            </a:r>
            <a:endParaRPr/>
          </a:p>
        </p:txBody>
      </p:sp>
      <p:sp>
        <p:nvSpPr>
          <p:cNvPr id="987" name="Google Shape;987;p93"/>
          <p:cNvSpPr/>
          <p:nvPr/>
        </p:nvSpPr>
        <p:spPr>
          <a:xfrm>
            <a:off x="5417820" y="1938355"/>
            <a:ext cx="3291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84568"/>
              </a:buClr>
              <a:buSzPts val="1000"/>
              <a:buFont typeface="Roboto"/>
              <a:buNone/>
            </a:pPr>
            <a:r>
              <a:rPr b="1" i="0" lang="en" sz="1000" u="none" cap="none" strike="noStrike">
                <a:solidFill>
                  <a:srgbClr val="D84568"/>
                </a:solidFill>
                <a:latin typeface="Roboto"/>
                <a:ea typeface="Roboto"/>
                <a:cs typeface="Roboto"/>
                <a:sym typeface="Roboto"/>
              </a:rPr>
              <a:t>Expected output: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