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12192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1.</a:t>
            </a:r>
            <a:endParaRPr/>
          </a:p>
        </p:txBody>
      </p:sp>
      <p:sp>
        <p:nvSpPr>
          <p:cNvPr id="248" name="Google Shape;24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slides 2–3 merged; course goal moved into the insight box.</a:t>
            </a:r>
            <a:endParaRPr/>
          </a:p>
        </p:txBody>
      </p:sp>
      <p:sp>
        <p:nvSpPr>
          <p:cNvPr id="257" name="Google Shape;2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0d45f894c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0d45f894c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0d45f894c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8673dcd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48673dcd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48673dcd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0d45f894c_2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0d45f894c_2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0d45f894c_2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slides 5–6.</a:t>
            </a:r>
            <a:endParaRPr/>
          </a:p>
        </p:txBody>
      </p:sp>
      <p:sp>
        <p:nvSpPr>
          <p:cNvPr id="305" name="Google Shape;3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slides 7–8: map image + data-vs-information comparison kept.</a:t>
            </a:r>
            <a:endParaRPr/>
          </a:p>
        </p:txBody>
      </p:sp>
      <p:sp>
        <p:nvSpPr>
          <p:cNvPr id="315" name="Google Shape;3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0d45f894c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0d45f894c_2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0d45f894c_2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48673dcd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f48673dcd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f48673dcd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10, both icons kept.</a:t>
            </a:r>
            <a:endParaRPr/>
          </a:p>
        </p:txBody>
      </p:sp>
      <p:sp>
        <p:nvSpPr>
          <p:cNvPr id="339" name="Google Shape;3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11.</a:t>
            </a:r>
            <a:endParaRPr/>
          </a:p>
        </p:txBody>
      </p:sp>
      <p:sp>
        <p:nvSpPr>
          <p:cNvPr id="351" name="Google Shape;3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14.</a:t>
            </a:r>
            <a:endParaRPr/>
          </a:p>
        </p:txBody>
      </p:sp>
      <p:sp>
        <p:nvSpPr>
          <p:cNvPr id="361" name="Google Shape;3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12.</a:t>
            </a:r>
            <a:endParaRPr/>
          </a:p>
        </p:txBody>
      </p:sp>
      <p:sp>
        <p:nvSpPr>
          <p:cNvPr id="371" name="Google Shape;3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13.</a:t>
            </a:r>
            <a:endParaRPr/>
          </a:p>
        </p:txBody>
      </p:sp>
      <p:sp>
        <p:nvSpPr>
          <p:cNvPr id="382" name="Google Shape;3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15.</a:t>
            </a:r>
            <a:endParaRPr/>
          </a:p>
        </p:txBody>
      </p:sp>
      <p:sp>
        <p:nvSpPr>
          <p:cNvPr id="393" name="Google Shape;3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16.</a:t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17.</a:t>
            </a:r>
            <a:endParaRPr/>
          </a:p>
        </p:txBody>
      </p:sp>
      <p:sp>
        <p:nvSpPr>
          <p:cNvPr id="416" name="Google Shape;4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slide 22.</a:t>
            </a:r>
            <a:endParaRPr/>
          </a:p>
        </p:txBody>
      </p:sp>
      <p:sp>
        <p:nvSpPr>
          <p:cNvPr id="429" name="Google Shape;4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8206283" y="-573328"/>
            <a:ext cx="1509000" cy="15090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617220" y="164592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617220" y="19202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NUMBERED_ROWS_3">
  <p:cSld name="S11_NUMBERED_ROWS_3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11480" y="147447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11480" y="14744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>
            <p:ph idx="2" type="body"/>
          </p:nvPr>
        </p:nvSpPr>
        <p:spPr>
          <a:xfrm>
            <a:off x="925830" y="13716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3" type="body"/>
          </p:nvPr>
        </p:nvSpPr>
        <p:spPr>
          <a:xfrm>
            <a:off x="925830" y="16596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>
            <a:off x="411480" y="250317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11480" y="25031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idx="4" type="body"/>
          </p:nvPr>
        </p:nvSpPr>
        <p:spPr>
          <a:xfrm>
            <a:off x="925830" y="24003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5" type="body"/>
          </p:nvPr>
        </p:nvSpPr>
        <p:spPr>
          <a:xfrm>
            <a:off x="925830" y="26883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/>
          <p:nvPr/>
        </p:nvSpPr>
        <p:spPr>
          <a:xfrm>
            <a:off x="411480" y="353187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11480" y="35318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>
            <p:ph idx="6" type="body"/>
          </p:nvPr>
        </p:nvSpPr>
        <p:spPr>
          <a:xfrm>
            <a:off x="925830" y="34290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7" type="body"/>
          </p:nvPr>
        </p:nvSpPr>
        <p:spPr>
          <a:xfrm>
            <a:off x="925830" y="37170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TEP_CODE_RIGHT">
  <p:cSld name="S06_STEP_CODE_RIGHT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40" name="Google Shape;40;p4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4" type="body"/>
          </p:nvPr>
        </p:nvSpPr>
        <p:spPr>
          <a:xfrm>
            <a:off x="4810887" y="822960"/>
            <a:ext cx="40908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STEP_CODE_LEFT">
  <p:cSld name="S07_STEP_CODE_LEFT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48" name="Google Shape;48;p5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4" type="body"/>
          </p:nvPr>
        </p:nvSpPr>
        <p:spPr>
          <a:xfrm>
            <a:off x="4810887" y="1371600"/>
            <a:ext cx="40908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CODE_WIDE">
  <p:cSld name="S08_CODE_WIDE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56" name="Google Shape;56;p6"/>
          <p:cNvSpPr txBox="1"/>
          <p:nvPr>
            <p:ph idx="2" type="body"/>
          </p:nvPr>
        </p:nvSpPr>
        <p:spPr>
          <a:xfrm>
            <a:off x="411480" y="1508760"/>
            <a:ext cx="39093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3" type="body"/>
          </p:nvPr>
        </p:nvSpPr>
        <p:spPr>
          <a:xfrm>
            <a:off x="4810887" y="1645920"/>
            <a:ext cx="4090800" cy="18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63" name="Google Shape;63;p8"/>
          <p:cNvSpPr txBox="1"/>
          <p:nvPr>
            <p:ph idx="2" type="body"/>
          </p:nvPr>
        </p:nvSpPr>
        <p:spPr>
          <a:xfrm>
            <a:off x="480060" y="1371600"/>
            <a:ext cx="81609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68" name="Google Shape;68;p9"/>
          <p:cNvSpPr/>
          <p:nvPr/>
        </p:nvSpPr>
        <p:spPr>
          <a:xfrm>
            <a:off x="411480" y="1474470"/>
            <a:ext cx="1954500" cy="284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582930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582930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582930" y="216027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3" type="body"/>
          </p:nvPr>
        </p:nvSpPr>
        <p:spPr>
          <a:xfrm>
            <a:off x="582930" y="267462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9"/>
          <p:cNvSpPr/>
          <p:nvPr/>
        </p:nvSpPr>
        <p:spPr>
          <a:xfrm>
            <a:off x="2558034" y="1474470"/>
            <a:ext cx="1954500" cy="284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2729484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2729484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9"/>
          <p:cNvSpPr txBox="1"/>
          <p:nvPr>
            <p:ph idx="4" type="body"/>
          </p:nvPr>
        </p:nvSpPr>
        <p:spPr>
          <a:xfrm>
            <a:off x="2729484" y="216027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5" type="body"/>
          </p:nvPr>
        </p:nvSpPr>
        <p:spPr>
          <a:xfrm>
            <a:off x="2729484" y="267462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9"/>
          <p:cNvSpPr/>
          <p:nvPr/>
        </p:nvSpPr>
        <p:spPr>
          <a:xfrm>
            <a:off x="4704588" y="1474470"/>
            <a:ext cx="1954500" cy="284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4876038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4876038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 txBox="1"/>
          <p:nvPr>
            <p:ph idx="6" type="body"/>
          </p:nvPr>
        </p:nvSpPr>
        <p:spPr>
          <a:xfrm>
            <a:off x="4876038" y="216027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7" type="body"/>
          </p:nvPr>
        </p:nvSpPr>
        <p:spPr>
          <a:xfrm>
            <a:off x="4876038" y="267462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9"/>
          <p:cNvSpPr/>
          <p:nvPr/>
        </p:nvSpPr>
        <p:spPr>
          <a:xfrm>
            <a:off x="6851142" y="1474470"/>
            <a:ext cx="1954500" cy="284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7022592" y="164592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022592" y="164592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 txBox="1"/>
          <p:nvPr>
            <p:ph idx="8" type="body"/>
          </p:nvPr>
        </p:nvSpPr>
        <p:spPr>
          <a:xfrm>
            <a:off x="7022592" y="2160270"/>
            <a:ext cx="1611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9" type="body"/>
          </p:nvPr>
        </p:nvSpPr>
        <p:spPr>
          <a:xfrm>
            <a:off x="7022592" y="2674620"/>
            <a:ext cx="16116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411480" y="137160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582930" y="154305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582930" y="154305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 txBox="1"/>
          <p:nvPr>
            <p:ph idx="2" type="body"/>
          </p:nvPr>
        </p:nvSpPr>
        <p:spPr>
          <a:xfrm>
            <a:off x="582930" y="205740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3" type="body"/>
          </p:nvPr>
        </p:nvSpPr>
        <p:spPr>
          <a:xfrm>
            <a:off x="582930" y="243459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0"/>
          <p:cNvSpPr/>
          <p:nvPr/>
        </p:nvSpPr>
        <p:spPr>
          <a:xfrm>
            <a:off x="3257550" y="1371600"/>
            <a:ext cx="2640300" cy="21948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3429000" y="154305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3429000" y="154305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 txBox="1"/>
          <p:nvPr>
            <p:ph idx="4" type="body"/>
          </p:nvPr>
        </p:nvSpPr>
        <p:spPr>
          <a:xfrm>
            <a:off x="3429000" y="205740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0"/>
          <p:cNvSpPr txBox="1"/>
          <p:nvPr>
            <p:ph idx="5" type="body"/>
          </p:nvPr>
        </p:nvSpPr>
        <p:spPr>
          <a:xfrm>
            <a:off x="3429000" y="243459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0"/>
          <p:cNvSpPr/>
          <p:nvPr/>
        </p:nvSpPr>
        <p:spPr>
          <a:xfrm>
            <a:off x="6103620" y="1371600"/>
            <a:ext cx="2640300" cy="21948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6275070" y="154305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6275070" y="154305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 txBox="1"/>
          <p:nvPr>
            <p:ph idx="6" type="body"/>
          </p:nvPr>
        </p:nvSpPr>
        <p:spPr>
          <a:xfrm>
            <a:off x="6275070" y="205740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7" type="body"/>
          </p:nvPr>
        </p:nvSpPr>
        <p:spPr>
          <a:xfrm>
            <a:off x="6275070" y="243459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8" type="body"/>
          </p:nvPr>
        </p:nvSpPr>
        <p:spPr>
          <a:xfrm>
            <a:off x="411480" y="377190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12" name="Google Shape;112;p11"/>
          <p:cNvSpPr/>
          <p:nvPr/>
        </p:nvSpPr>
        <p:spPr>
          <a:xfrm>
            <a:off x="411480" y="1303020"/>
            <a:ext cx="4046100" cy="27432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 txBox="1"/>
          <p:nvPr>
            <p:ph idx="2" type="body"/>
          </p:nvPr>
        </p:nvSpPr>
        <p:spPr>
          <a:xfrm>
            <a:off x="651510" y="147447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6B7085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3" type="body"/>
          </p:nvPr>
        </p:nvSpPr>
        <p:spPr>
          <a:xfrm>
            <a:off x="651510" y="1851660"/>
            <a:ext cx="356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4663440" y="1303020"/>
            <a:ext cx="4046100" cy="27432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>
            <p:ph idx="4" type="body"/>
          </p:nvPr>
        </p:nvSpPr>
        <p:spPr>
          <a:xfrm>
            <a:off x="4903470" y="147447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5" type="body"/>
          </p:nvPr>
        </p:nvSpPr>
        <p:spPr>
          <a:xfrm>
            <a:off x="4903470" y="1851660"/>
            <a:ext cx="356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EXERCISE">
  <p:cSld name="S09_EXERCISE"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2" name="Google Shape;122;p12"/>
          <p:cNvSpPr txBox="1"/>
          <p:nvPr>
            <p:ph idx="2" type="body"/>
          </p:nvPr>
        </p:nvSpPr>
        <p:spPr>
          <a:xfrm>
            <a:off x="411480" y="1165860"/>
            <a:ext cx="4731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3" type="body"/>
          </p:nvPr>
        </p:nvSpPr>
        <p:spPr>
          <a:xfrm>
            <a:off x="5417820" y="130302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4" type="body"/>
          </p:nvPr>
        </p:nvSpPr>
        <p:spPr>
          <a:xfrm>
            <a:off x="5417820" y="161163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FLOW_DIAGRAM">
  <p:cSld name="S10_FLOW_DIAGRAM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29" name="Google Shape;129;p13"/>
          <p:cNvSpPr/>
          <p:nvPr/>
        </p:nvSpPr>
        <p:spPr>
          <a:xfrm>
            <a:off x="480060" y="157734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>
            <p:ph idx="2" type="body"/>
          </p:nvPr>
        </p:nvSpPr>
        <p:spPr>
          <a:xfrm>
            <a:off x="54864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3"/>
          <p:cNvSpPr/>
          <p:nvPr/>
        </p:nvSpPr>
        <p:spPr>
          <a:xfrm>
            <a:off x="2297430" y="188595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-US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640330" y="157734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>
            <p:ph idx="3" type="body"/>
          </p:nvPr>
        </p:nvSpPr>
        <p:spPr>
          <a:xfrm>
            <a:off x="270891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3"/>
          <p:cNvSpPr/>
          <p:nvPr/>
        </p:nvSpPr>
        <p:spPr>
          <a:xfrm>
            <a:off x="4457700" y="188595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-US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800600" y="157734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>
            <p:ph idx="4" type="body"/>
          </p:nvPr>
        </p:nvSpPr>
        <p:spPr>
          <a:xfrm>
            <a:off x="486918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6617970" y="188595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lang="en-US" sz="18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6960870" y="157734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 txBox="1"/>
          <p:nvPr>
            <p:ph idx="5" type="body"/>
          </p:nvPr>
        </p:nvSpPr>
        <p:spPr>
          <a:xfrm>
            <a:off x="7029450" y="157734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idx="6" type="body"/>
          </p:nvPr>
        </p:nvSpPr>
        <p:spPr>
          <a:xfrm>
            <a:off x="480060" y="2948940"/>
            <a:ext cx="81609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95275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NUMBERED_ROWS_4">
  <p:cSld name="S12_NUMBERED_ROWS_4"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4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250"/>
              <a:buFont typeface="Roboto"/>
              <a:buNone/>
              <a:defRPr b="1" i="0" sz="22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5" name="Google Shape;145;p14"/>
          <p:cNvSpPr/>
          <p:nvPr/>
        </p:nvSpPr>
        <p:spPr>
          <a:xfrm>
            <a:off x="411480" y="14196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411480" y="14196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>
            <p:ph idx="2" type="body"/>
          </p:nvPr>
        </p:nvSpPr>
        <p:spPr>
          <a:xfrm>
            <a:off x="925830" y="13373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14"/>
          <p:cNvSpPr txBox="1"/>
          <p:nvPr>
            <p:ph idx="3" type="body"/>
          </p:nvPr>
        </p:nvSpPr>
        <p:spPr>
          <a:xfrm>
            <a:off x="925830" y="16253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14"/>
          <p:cNvSpPr/>
          <p:nvPr/>
        </p:nvSpPr>
        <p:spPr>
          <a:xfrm>
            <a:off x="411480" y="231114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411480" y="231114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>
            <p:ph idx="4" type="body"/>
          </p:nvPr>
        </p:nvSpPr>
        <p:spPr>
          <a:xfrm>
            <a:off x="925830" y="222885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14"/>
          <p:cNvSpPr txBox="1"/>
          <p:nvPr>
            <p:ph idx="5" type="body"/>
          </p:nvPr>
        </p:nvSpPr>
        <p:spPr>
          <a:xfrm>
            <a:off x="925830" y="251688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4"/>
          <p:cNvSpPr/>
          <p:nvPr/>
        </p:nvSpPr>
        <p:spPr>
          <a:xfrm>
            <a:off x="411480" y="32026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411480" y="32026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>
            <p:ph idx="6" type="body"/>
          </p:nvPr>
        </p:nvSpPr>
        <p:spPr>
          <a:xfrm>
            <a:off x="925830" y="31203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7" type="body"/>
          </p:nvPr>
        </p:nvSpPr>
        <p:spPr>
          <a:xfrm>
            <a:off x="925830" y="34084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4"/>
          <p:cNvSpPr/>
          <p:nvPr/>
        </p:nvSpPr>
        <p:spPr>
          <a:xfrm>
            <a:off x="411480" y="40942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411480" y="40942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 txBox="1"/>
          <p:nvPr>
            <p:ph idx="8" type="body"/>
          </p:nvPr>
        </p:nvSpPr>
        <p:spPr>
          <a:xfrm>
            <a:off x="925830" y="40119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14"/>
          <p:cNvSpPr txBox="1"/>
          <p:nvPr>
            <p:ph idx="9" type="body"/>
          </p:nvPr>
        </p:nvSpPr>
        <p:spPr>
          <a:xfrm>
            <a:off x="925830" y="42999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ERRORS_WITH_CODE">
  <p:cSld name="S13_ERRORS_WITH_CODE"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65" name="Google Shape;165;p15"/>
          <p:cNvSpPr/>
          <p:nvPr/>
        </p:nvSpPr>
        <p:spPr>
          <a:xfrm>
            <a:off x="411480" y="133731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411480" y="133731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>
            <p:ph idx="2" type="body"/>
          </p:nvPr>
        </p:nvSpPr>
        <p:spPr>
          <a:xfrm>
            <a:off x="857250" y="126873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5"/>
          <p:cNvSpPr txBox="1"/>
          <p:nvPr>
            <p:ph idx="3" type="body"/>
          </p:nvPr>
        </p:nvSpPr>
        <p:spPr>
          <a:xfrm>
            <a:off x="857250" y="1645920"/>
            <a:ext cx="35664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5"/>
          <p:cNvSpPr/>
          <p:nvPr/>
        </p:nvSpPr>
        <p:spPr>
          <a:xfrm>
            <a:off x="5006340" y="133731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5006340" y="133731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>
            <p:ph idx="4" type="body"/>
          </p:nvPr>
        </p:nvSpPr>
        <p:spPr>
          <a:xfrm>
            <a:off x="5452110" y="126873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5"/>
          <p:cNvSpPr txBox="1"/>
          <p:nvPr>
            <p:ph idx="5" type="body"/>
          </p:nvPr>
        </p:nvSpPr>
        <p:spPr>
          <a:xfrm>
            <a:off x="5452110" y="164592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5"/>
          <p:cNvSpPr/>
          <p:nvPr/>
        </p:nvSpPr>
        <p:spPr>
          <a:xfrm>
            <a:off x="411480" y="315468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411480" y="315468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>
            <p:ph idx="6" type="body"/>
          </p:nvPr>
        </p:nvSpPr>
        <p:spPr>
          <a:xfrm>
            <a:off x="857250" y="308610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7" type="body"/>
          </p:nvPr>
        </p:nvSpPr>
        <p:spPr>
          <a:xfrm>
            <a:off x="857250" y="339471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QUIZ_MCQ">
  <p:cSld name="S14_QUIZ_MCQ"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6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81" name="Google Shape;181;p16"/>
          <p:cNvSpPr txBox="1"/>
          <p:nvPr>
            <p:ph idx="2" type="body"/>
          </p:nvPr>
        </p:nvSpPr>
        <p:spPr>
          <a:xfrm>
            <a:off x="411480" y="1234440"/>
            <a:ext cx="4320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6"/>
          <p:cNvSpPr/>
          <p:nvPr/>
        </p:nvSpPr>
        <p:spPr>
          <a:xfrm>
            <a:off x="5006340" y="137160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>
            <p:ph idx="3" type="body"/>
          </p:nvPr>
        </p:nvSpPr>
        <p:spPr>
          <a:xfrm>
            <a:off x="5177790" y="137160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16"/>
          <p:cNvSpPr/>
          <p:nvPr/>
        </p:nvSpPr>
        <p:spPr>
          <a:xfrm>
            <a:off x="5006340" y="188595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>
            <p:ph idx="4" type="body"/>
          </p:nvPr>
        </p:nvSpPr>
        <p:spPr>
          <a:xfrm>
            <a:off x="5177790" y="188595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16"/>
          <p:cNvSpPr/>
          <p:nvPr/>
        </p:nvSpPr>
        <p:spPr>
          <a:xfrm>
            <a:off x="5006340" y="240030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>
            <p:ph idx="5" type="body"/>
          </p:nvPr>
        </p:nvSpPr>
        <p:spPr>
          <a:xfrm>
            <a:off x="5177790" y="240030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16"/>
          <p:cNvSpPr/>
          <p:nvPr/>
        </p:nvSpPr>
        <p:spPr>
          <a:xfrm>
            <a:off x="5006340" y="291465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>
            <p:ph idx="6" type="body"/>
          </p:nvPr>
        </p:nvSpPr>
        <p:spPr>
          <a:xfrm>
            <a:off x="5177790" y="291465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1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FIVE_CARDS">
  <p:cSld name="S15_FIVE_CARDS"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17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94" name="Google Shape;194;p17"/>
          <p:cNvSpPr/>
          <p:nvPr/>
        </p:nvSpPr>
        <p:spPr>
          <a:xfrm>
            <a:off x="411480" y="1440180"/>
            <a:ext cx="1563600" cy="24690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5623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623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>
            <p:ph idx="2" type="body"/>
          </p:nvPr>
        </p:nvSpPr>
        <p:spPr>
          <a:xfrm>
            <a:off x="5623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17"/>
          <p:cNvSpPr txBox="1"/>
          <p:nvPr>
            <p:ph idx="3" type="body"/>
          </p:nvPr>
        </p:nvSpPr>
        <p:spPr>
          <a:xfrm>
            <a:off x="562356" y="260604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17"/>
          <p:cNvSpPr/>
          <p:nvPr/>
        </p:nvSpPr>
        <p:spPr>
          <a:xfrm>
            <a:off x="2125980" y="1440180"/>
            <a:ext cx="1563600" cy="24690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22768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22768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>
            <p:ph idx="4" type="body"/>
          </p:nvPr>
        </p:nvSpPr>
        <p:spPr>
          <a:xfrm>
            <a:off x="22768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5" type="body"/>
          </p:nvPr>
        </p:nvSpPr>
        <p:spPr>
          <a:xfrm>
            <a:off x="2276856" y="260604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17"/>
          <p:cNvSpPr/>
          <p:nvPr/>
        </p:nvSpPr>
        <p:spPr>
          <a:xfrm>
            <a:off x="3840480" y="1440180"/>
            <a:ext cx="1563600" cy="24690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9913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39913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>
            <p:ph idx="6" type="body"/>
          </p:nvPr>
        </p:nvSpPr>
        <p:spPr>
          <a:xfrm>
            <a:off x="39913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7" type="body"/>
          </p:nvPr>
        </p:nvSpPr>
        <p:spPr>
          <a:xfrm>
            <a:off x="3991356" y="260604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17"/>
          <p:cNvSpPr/>
          <p:nvPr/>
        </p:nvSpPr>
        <p:spPr>
          <a:xfrm>
            <a:off x="5554980" y="1440180"/>
            <a:ext cx="1563600" cy="24690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57058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7058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 txBox="1"/>
          <p:nvPr>
            <p:ph idx="8" type="body"/>
          </p:nvPr>
        </p:nvSpPr>
        <p:spPr>
          <a:xfrm>
            <a:off x="57058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body"/>
          </p:nvPr>
        </p:nvSpPr>
        <p:spPr>
          <a:xfrm>
            <a:off x="5705856" y="260604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17"/>
          <p:cNvSpPr/>
          <p:nvPr/>
        </p:nvSpPr>
        <p:spPr>
          <a:xfrm>
            <a:off x="7269480" y="1440180"/>
            <a:ext cx="1563600" cy="24690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57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7420356" y="159105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7420356" y="159105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>
            <p:ph idx="13" type="body"/>
          </p:nvPr>
        </p:nvSpPr>
        <p:spPr>
          <a:xfrm>
            <a:off x="7420356" y="209169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14" type="body"/>
          </p:nvPr>
        </p:nvSpPr>
        <p:spPr>
          <a:xfrm>
            <a:off x="7420356" y="2606040"/>
            <a:ext cx="12618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SECTION_BREAK_NAVY">
  <p:cSld name="S16_SECTION_BREAK_NAVY">
    <p:bg>
      <p:bgPr>
        <a:solidFill>
          <a:srgbClr val="2A348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617220" y="198882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type="title"/>
          </p:nvPr>
        </p:nvSpPr>
        <p:spPr>
          <a:xfrm>
            <a:off x="617220" y="226314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4" name="Google Shape;224;p1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CONTENT_IMAGE_RIGHT">
  <p:cSld name="S17_CONTENT_IMAGE_RIGHT"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9" name="Google Shape;229;p19"/>
          <p:cNvSpPr txBox="1"/>
          <p:nvPr>
            <p:ph idx="2" type="body"/>
          </p:nvPr>
        </p:nvSpPr>
        <p:spPr>
          <a:xfrm>
            <a:off x="411480" y="1371600"/>
            <a:ext cx="3840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048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3" type="body"/>
          </p:nvPr>
        </p:nvSpPr>
        <p:spPr>
          <a:xfrm>
            <a:off x="4457700" y="1234440"/>
            <a:ext cx="4320600" cy="28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8_BULLET_SCALE_SAMPLE">
  <p:cSld name="S18_BULLET_SCALE_SAMPLE"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5" name="Google Shape;235;p20"/>
          <p:cNvSpPr txBox="1"/>
          <p:nvPr>
            <p:ph idx="2" type="body"/>
          </p:nvPr>
        </p:nvSpPr>
        <p:spPr>
          <a:xfrm>
            <a:off x="480060" y="1371600"/>
            <a:ext cx="81609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9_CLOSING_NAVY">
  <p:cSld name="S19_CLOSING_NAVY">
    <p:bg>
      <p:bgPr>
        <a:solidFill>
          <a:srgbClr val="2A348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617220" y="2537460"/>
            <a:ext cx="651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255"/>
              </a:spcBef>
              <a:spcAft>
                <a:spcPts val="0"/>
              </a:spcAft>
              <a:buClr>
                <a:srgbClr val="D6DAF2"/>
              </a:buClr>
              <a:buSzPts val="1275"/>
              <a:buFont typeface="Arial"/>
              <a:buNone/>
              <a:defRPr b="0" i="0" sz="12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42" name="Google Shape;242;p21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1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75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1.jpg"/><Relationship Id="rId5" Type="http://schemas.openxmlformats.org/officeDocument/2006/relationships/image" Target="../media/image6.jpg"/><Relationship Id="rId6" Type="http://schemas.openxmlformats.org/officeDocument/2006/relationships/image" Target="../media/image16.jpg"/><Relationship Id="rId7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ourworldindata.org/population-growth" TargetMode="External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idx="1" type="body"/>
          </p:nvPr>
        </p:nvSpPr>
        <p:spPr>
          <a:xfrm>
            <a:off x="617220" y="164592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-US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DATA SCIENCE 101</a:t>
            </a:r>
            <a:endParaRPr sz="1050"/>
          </a:p>
        </p:txBody>
      </p:sp>
      <p:sp>
        <p:nvSpPr>
          <p:cNvPr id="251" name="Google Shape;251;p22"/>
          <p:cNvSpPr txBox="1"/>
          <p:nvPr>
            <p:ph type="title"/>
          </p:nvPr>
        </p:nvSpPr>
        <p:spPr>
          <a:xfrm>
            <a:off x="617220" y="19202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</a:pPr>
            <a:r>
              <a:rPr b="1" lang="en-US" sz="31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Introduction to Data Science</a:t>
            </a:r>
            <a:endParaRPr sz="3150"/>
          </a:p>
        </p:txBody>
      </p:sp>
      <p:sp>
        <p:nvSpPr>
          <p:cNvPr id="252" name="Google Shape;252;p22"/>
          <p:cNvSpPr txBox="1"/>
          <p:nvPr>
            <p:ph idx="2" type="body"/>
          </p:nvPr>
        </p:nvSpPr>
        <p:spPr>
          <a:xfrm>
            <a:off x="617220" y="3257550"/>
            <a:ext cx="665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-US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What data science is, why it matters, and how we start using data — from raw facts to machine learning.</a:t>
            </a:r>
            <a:endParaRPr sz="1125"/>
          </a:p>
        </p:txBody>
      </p:sp>
      <p:sp>
        <p:nvSpPr>
          <p:cNvPr id="253" name="Google Shape;253;p22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A3D4"/>
              </a:buClr>
              <a:buSzPts val="975"/>
              <a:buNone/>
            </a:pPr>
            <a:r>
              <a:rPr lang="en-US" sz="975"/>
              <a:t>SO Vengleab</a:t>
            </a:r>
            <a:endParaRPr sz="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TODAY'S AGENDA</a:t>
            </a:r>
            <a:endParaRPr sz="900"/>
          </a:p>
        </p:txBody>
      </p:sp>
      <p:sp>
        <p:nvSpPr>
          <p:cNvPr id="260" name="Google Shape;260;p23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</a:t>
            </a:r>
            <a:r>
              <a:rPr lang="en-US"/>
              <a:t> will we cover</a:t>
            </a: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2100"/>
          </a:p>
        </p:txBody>
      </p:sp>
      <p:sp>
        <p:nvSpPr>
          <p:cNvPr id="261" name="Google Shape;261;p23"/>
          <p:cNvSpPr txBox="1"/>
          <p:nvPr>
            <p:ph idx="2" type="body"/>
          </p:nvPr>
        </p:nvSpPr>
        <p:spPr>
          <a:xfrm>
            <a:off x="925830" y="13716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None/>
            </a:pPr>
            <a:r>
              <a:rPr b="1" lang="en-US" sz="11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What</a:t>
            </a:r>
            <a:endParaRPr sz="1163"/>
          </a:p>
        </p:txBody>
      </p:sp>
      <p:sp>
        <p:nvSpPr>
          <p:cNvPr id="262" name="Google Shape;262;p23"/>
          <p:cNvSpPr txBox="1"/>
          <p:nvPr>
            <p:ph idx="3" type="body"/>
          </p:nvPr>
        </p:nvSpPr>
        <p:spPr>
          <a:xfrm>
            <a:off x="925830" y="16596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5"/>
              <a:buNone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What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information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actually are — and how they differ.</a:t>
            </a:r>
            <a:endParaRPr sz="975"/>
          </a:p>
        </p:txBody>
      </p:sp>
      <p:sp>
        <p:nvSpPr>
          <p:cNvPr id="263" name="Google Shape;263;p23"/>
          <p:cNvSpPr txBox="1"/>
          <p:nvPr>
            <p:ph idx="4" type="body"/>
          </p:nvPr>
        </p:nvSpPr>
        <p:spPr>
          <a:xfrm>
            <a:off x="925830" y="24003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None/>
            </a:pPr>
            <a:r>
              <a:rPr b="1" lang="en-US" sz="11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endParaRPr sz="1163"/>
          </a:p>
        </p:txBody>
      </p:sp>
      <p:sp>
        <p:nvSpPr>
          <p:cNvPr id="264" name="Google Shape;264;p23"/>
          <p:cNvSpPr txBox="1"/>
          <p:nvPr>
            <p:ph idx="5" type="body"/>
          </p:nvPr>
        </p:nvSpPr>
        <p:spPr>
          <a:xfrm>
            <a:off x="925830" y="26883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5"/>
              <a:buNone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Why data science is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so popular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right now, and what data can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 for an organization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265" name="Google Shape;265;p23"/>
          <p:cNvSpPr txBox="1"/>
          <p:nvPr>
            <p:ph idx="6" type="body"/>
          </p:nvPr>
        </p:nvSpPr>
        <p:spPr>
          <a:xfrm>
            <a:off x="925830" y="34290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None/>
            </a:pPr>
            <a:r>
              <a:rPr b="1" lang="en-US" sz="11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endParaRPr sz="1163"/>
          </a:p>
        </p:txBody>
      </p:sp>
      <p:sp>
        <p:nvSpPr>
          <p:cNvPr id="266" name="Google Shape;266;p23"/>
          <p:cNvSpPr txBox="1"/>
          <p:nvPr>
            <p:ph idx="7" type="body"/>
          </p:nvPr>
        </p:nvSpPr>
        <p:spPr>
          <a:xfrm>
            <a:off x="925830" y="37170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5"/>
              <a:buNone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How we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start using data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collect, prepare, explore, predic</a:t>
            </a:r>
            <a:r>
              <a:rPr lang="en-US" sz="975"/>
              <a:t>t</a:t>
            </a:r>
            <a:endParaRPr sz="975"/>
          </a:p>
        </p:txBody>
      </p:sp>
      <p:sp>
        <p:nvSpPr>
          <p:cNvPr id="267" name="Google Shape;267;p23"/>
          <p:cNvSpPr/>
          <p:nvPr/>
        </p:nvSpPr>
        <p:spPr>
          <a:xfrm>
            <a:off x="411480" y="4389120"/>
            <a:ext cx="82983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34924" y="4539996"/>
            <a:ext cx="123600" cy="123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740664" y="4389120"/>
            <a:ext cx="78729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By the end of this course, you'll have a better grasp of how data is being used around you — and how you can use it.</a:t>
            </a:r>
            <a:endParaRPr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76" name="Google Shape;276;p24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Question to Google</a:t>
            </a:r>
            <a:endParaRPr sz="2100"/>
          </a:p>
        </p:txBody>
      </p:sp>
      <p:sp>
        <p:nvSpPr>
          <p:cNvPr id="277" name="Google Shape;277;p24"/>
          <p:cNvSpPr txBox="1"/>
          <p:nvPr>
            <p:ph idx="2" type="body"/>
          </p:nvPr>
        </p:nvSpPr>
        <p:spPr>
          <a:xfrm>
            <a:off x="480060" y="1371600"/>
            <a:ext cx="8160900" cy="2743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60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278" name="Google Shape;278;p24"/>
          <p:cNvGrpSpPr/>
          <p:nvPr/>
        </p:nvGrpSpPr>
        <p:grpSpPr>
          <a:xfrm>
            <a:off x="1132231" y="1272427"/>
            <a:ext cx="6585485" cy="3073528"/>
            <a:chOff x="1509641" y="1696570"/>
            <a:chExt cx="8780647" cy="4098038"/>
          </a:xfrm>
        </p:grpSpPr>
        <p:pic>
          <p:nvPicPr>
            <p:cNvPr id="279" name="Google Shape;27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09641" y="2371459"/>
              <a:ext cx="2762978" cy="1756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72620" y="3713289"/>
              <a:ext cx="1955309" cy="1756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72620" y="1922895"/>
              <a:ext cx="3095588" cy="1789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62402" y="1696570"/>
              <a:ext cx="2327886" cy="20817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2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10726" y="3712861"/>
              <a:ext cx="3717404" cy="208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idx="1" type="body"/>
          </p:nvPr>
        </p:nvSpPr>
        <p:spPr>
          <a:xfrm>
            <a:off x="617220" y="1988820"/>
            <a:ext cx="6858000" cy="274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290" name="Google Shape;290;p25"/>
          <p:cNvSpPr txBox="1"/>
          <p:nvPr>
            <p:ph type="title"/>
          </p:nvPr>
        </p:nvSpPr>
        <p:spPr>
          <a:xfrm>
            <a:off x="617220" y="2263140"/>
            <a:ext cx="7543800" cy="823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Data VS Information</a:t>
            </a:r>
            <a:endParaRPr sz="3000"/>
          </a:p>
        </p:txBody>
      </p:sp>
      <p:sp>
        <p:nvSpPr>
          <p:cNvPr id="291" name="Google Shape;291;p25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900"/>
              <a:t>Data vs Information</a:t>
            </a:r>
            <a:endParaRPr sz="900"/>
          </a:p>
        </p:txBody>
      </p:sp>
      <p:sp>
        <p:nvSpPr>
          <p:cNvPr id="298" name="Google Shape;298;p26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What Is Data?</a:t>
            </a:r>
            <a:endParaRPr sz="2100"/>
          </a:p>
        </p:txBody>
      </p:sp>
      <p:sp>
        <p:nvSpPr>
          <p:cNvPr id="299" name="Google Shape;299;p26"/>
          <p:cNvSpPr txBox="1"/>
          <p:nvPr>
            <p:ph type="title"/>
          </p:nvPr>
        </p:nvSpPr>
        <p:spPr>
          <a:xfrm>
            <a:off x="4980986" y="441321"/>
            <a:ext cx="3909300" cy="7545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What is </a:t>
            </a:r>
            <a:r>
              <a:rPr lang="en-US" sz="2100">
                <a:solidFill>
                  <a:schemeClr val="lt1"/>
                </a:solidFill>
              </a:rPr>
              <a:t>Information?</a:t>
            </a:r>
            <a:endParaRPr sz="2100">
              <a:solidFill>
                <a:schemeClr val="lt1"/>
              </a:solidFill>
            </a:endParaRPr>
          </a:p>
        </p:txBody>
      </p:sp>
      <p:pic>
        <p:nvPicPr>
          <p:cNvPr descr="s06_1.png" id="300" name="Google Shape;3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206" y="1189274"/>
            <a:ext cx="3566161" cy="2764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07_1.png" id="301" name="Google Shape;30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6697" y="1449796"/>
            <a:ext cx="4298851" cy="2243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FOUNDATIONS</a:t>
            </a:r>
            <a:endParaRPr sz="900"/>
          </a:p>
        </p:txBody>
      </p:sp>
      <p:sp>
        <p:nvSpPr>
          <p:cNvPr id="308" name="Google Shape;308;p27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Is Data?</a:t>
            </a:r>
            <a:endParaRPr sz="2100"/>
          </a:p>
        </p:txBody>
      </p:sp>
      <p:sp>
        <p:nvSpPr>
          <p:cNvPr id="309" name="Google Shape;309;p27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Data = raw, unorganized facts.</a:t>
            </a:r>
            <a:endParaRPr sz="1350"/>
          </a:p>
        </p:txBody>
      </p:sp>
      <p:sp>
        <p:nvSpPr>
          <p:cNvPr id="310" name="Google Shape;310;p27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 its own, data is just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recorded values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numbers, timestamps, coordinates.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table shows raw GPS readings: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alt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accurate, but meaningless until processed.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Data needs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context and structure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before it can tell us anything.</a:t>
            </a:r>
            <a:endParaRPr sz="1050"/>
          </a:p>
        </p:txBody>
      </p:sp>
      <p:pic>
        <p:nvPicPr>
          <p:cNvPr descr="s06_1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3205" y="1189274"/>
            <a:ext cx="3566161" cy="276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FOUNDATIONS</a:t>
            </a:r>
            <a:endParaRPr sz="900"/>
          </a:p>
        </p:txBody>
      </p:sp>
      <p:sp>
        <p:nvSpPr>
          <p:cNvPr id="318" name="Google Shape;318;p28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From Data to Information</a:t>
            </a:r>
            <a:endParaRPr sz="2100"/>
          </a:p>
        </p:txBody>
      </p:sp>
      <p:sp>
        <p:nvSpPr>
          <p:cNvPr id="319" name="Google Shape;319;p28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Information = data with context.</a:t>
            </a:r>
            <a:endParaRPr sz="1350"/>
          </a:p>
        </p:txBody>
      </p:sp>
      <p:sp>
        <p:nvSpPr>
          <p:cNvPr id="320" name="Google Shape;320;p28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Plot those same GPS points on a map and suddenly they show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routes, places, and movement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When data is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organized and presented in context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it becomes information we can act on.</a:t>
            </a:r>
            <a:endParaRPr sz="1050"/>
          </a:p>
        </p:txBody>
      </p:sp>
      <p:pic>
        <p:nvPicPr>
          <p:cNvPr descr="s07_1.png"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5041" y="1220717"/>
            <a:ext cx="4298851" cy="2243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 txBox="1"/>
          <p:nvPr>
            <p:ph idx="1" type="body"/>
          </p:nvPr>
        </p:nvSpPr>
        <p:spPr>
          <a:xfrm>
            <a:off x="617220" y="1988820"/>
            <a:ext cx="6858000" cy="274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sp>
        <p:nvSpPr>
          <p:cNvPr id="328" name="Google Shape;328;p29"/>
          <p:cNvSpPr txBox="1"/>
          <p:nvPr>
            <p:ph type="title"/>
          </p:nvPr>
        </p:nvSpPr>
        <p:spPr>
          <a:xfrm>
            <a:off x="617220" y="2263140"/>
            <a:ext cx="7543800" cy="823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What is Data Science?</a:t>
            </a:r>
            <a:endParaRPr sz="3000"/>
          </a:p>
        </p:txBody>
      </p:sp>
      <p:sp>
        <p:nvSpPr>
          <p:cNvPr id="329" name="Google Shape;329;p29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t/>
            </a:r>
            <a:endParaRPr sz="11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0"/>
          <p:cNvPicPr preferRelativeResize="0"/>
          <p:nvPr/>
        </p:nvPicPr>
        <p:blipFill rotWithShape="1">
          <a:blip r:embed="rId3">
            <a:alphaModFix/>
          </a:blip>
          <a:srcRect b="14053" l="0" r="5455" t="20643"/>
          <a:stretch/>
        </p:blipFill>
        <p:spPr>
          <a:xfrm>
            <a:off x="587700" y="132978"/>
            <a:ext cx="7968600" cy="4771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sz="900"/>
          </a:p>
        </p:txBody>
      </p:sp>
      <p:sp>
        <p:nvSpPr>
          <p:cNvPr id="342" name="Google Shape;342;p31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lang="en-US" sz="2100"/>
              <a:t>What is Data Science?</a:t>
            </a:r>
            <a:endParaRPr sz="2100"/>
          </a:p>
        </p:txBody>
      </p:sp>
      <p:sp>
        <p:nvSpPr>
          <p:cNvPr id="343" name="Google Shape;343;p31"/>
          <p:cNvSpPr txBox="1"/>
          <p:nvPr>
            <p:ph idx="2" type="body"/>
          </p:nvPr>
        </p:nvSpPr>
        <p:spPr>
          <a:xfrm>
            <a:off x="411480" y="1508760"/>
            <a:ext cx="39093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a set of methodologies for taking the thousands of forms of data available to us today and using them to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draw meaningful conclusions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We use data to better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describe the present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predict the future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sp>
        <p:nvSpPr>
          <p:cNvPr id="344" name="Google Shape;344;p31"/>
          <p:cNvSpPr/>
          <p:nvPr/>
        </p:nvSpPr>
        <p:spPr>
          <a:xfrm>
            <a:off x="411480" y="4286250"/>
            <a:ext cx="39093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534924" y="4437126"/>
            <a:ext cx="123600" cy="123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723475" y="4366050"/>
            <a:ext cx="3483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If it helps you describe or predict, it's data science — regardless of the tool.</a:t>
            </a:r>
            <a:endParaRPr sz="1050"/>
          </a:p>
        </p:txBody>
      </p:sp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b="14053" l="0" r="5455" t="20643"/>
          <a:stretch/>
        </p:blipFill>
        <p:spPr>
          <a:xfrm>
            <a:off x="4776525" y="1020850"/>
            <a:ext cx="4208776" cy="251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CAN DATA DO? — 1 OF 4</a:t>
            </a:r>
            <a:endParaRPr sz="900"/>
          </a:p>
        </p:txBody>
      </p:sp>
      <p:sp>
        <p:nvSpPr>
          <p:cNvPr id="354" name="Google Shape;354;p32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Describe the Current State</a:t>
            </a:r>
            <a:endParaRPr sz="2100"/>
          </a:p>
        </p:txBody>
      </p:sp>
      <p:sp>
        <p:nvSpPr>
          <p:cNvPr id="355" name="Google Shape;355;p32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Describe a process as it is right now.</a:t>
            </a:r>
            <a:endParaRPr sz="1350"/>
          </a:p>
        </p:txBody>
      </p:sp>
      <p:sp>
        <p:nvSpPr>
          <p:cNvPr id="356" name="Google Shape;356;p32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Example: tracking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energy consumption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across buildings or teams.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Dashboards and reports turn raw meter readings into a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clear picture of today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s11_1.png" id="357" name="Google Shape;3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6892" y="815699"/>
            <a:ext cx="3066263" cy="2435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CAN DATA DO? — </a:t>
            </a:r>
            <a:r>
              <a:rPr lang="en-US"/>
              <a:t>2</a:t>
            </a: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OF 4</a:t>
            </a:r>
            <a:endParaRPr sz="900"/>
          </a:p>
        </p:txBody>
      </p:sp>
      <p:sp>
        <p:nvSpPr>
          <p:cNvPr id="364" name="Google Shape;364;p33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Predict Future Events</a:t>
            </a:r>
            <a:endParaRPr sz="2100"/>
          </a:p>
        </p:txBody>
      </p:sp>
      <p:sp>
        <p:nvSpPr>
          <p:cNvPr id="365" name="Google Shape;365;p33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Forecast what happens next.</a:t>
            </a:r>
            <a:endParaRPr sz="1350"/>
          </a:p>
        </p:txBody>
      </p:sp>
      <p:sp>
        <p:nvSpPr>
          <p:cNvPr id="366" name="Google Shape;366;p33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forecasting population size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(see </a:t>
            </a:r>
            <a:r>
              <a:rPr lang="en-US" sz="105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ourworldindata.org/population-growth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Models take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multiple causes into account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predict potential outcomes, and let us evaluate the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probability of each prediction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id="367" name="Google Shape;3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944" y="940369"/>
            <a:ext cx="4269581" cy="2815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CAN DATA DO? — </a:t>
            </a:r>
            <a:r>
              <a:rPr lang="en-US"/>
              <a:t>3</a:t>
            </a: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OF 4</a:t>
            </a:r>
            <a:endParaRPr sz="900"/>
          </a:p>
        </p:txBody>
      </p:sp>
      <p:sp>
        <p:nvSpPr>
          <p:cNvPr id="374" name="Google Shape;374;p34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Detect Anomalous Events</a:t>
            </a:r>
            <a:endParaRPr sz="2100"/>
          </a:p>
        </p:txBody>
      </p:sp>
      <p:sp>
        <p:nvSpPr>
          <p:cNvPr id="375" name="Google Shape;375;p34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Spot abnormal events automatically.</a:t>
            </a:r>
            <a:endParaRPr sz="1350"/>
          </a:p>
        </p:txBody>
      </p:sp>
      <p:sp>
        <p:nvSpPr>
          <p:cNvPr id="376" name="Google Shape;376;p34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Example: flagging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fraudulent purchases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moment they occur.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Automatic anomaly detection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increases efficiency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machines watch every event so people only review the abnormal ones.</a:t>
            </a:r>
            <a:endParaRPr sz="1050"/>
          </a:p>
        </p:txBody>
      </p:sp>
      <p:pic>
        <p:nvPicPr>
          <p:cNvPr descr="s12_1.png" id="377" name="Google Shape;3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0690" y="684805"/>
            <a:ext cx="2674620" cy="144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1_2.png" id="378" name="Google Shape;3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523" y="2708869"/>
            <a:ext cx="1798955" cy="18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CAN DATA DO? — </a:t>
            </a:r>
            <a:r>
              <a:rPr lang="en-US"/>
              <a:t>4</a:t>
            </a: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 OF 4</a:t>
            </a:r>
            <a:endParaRPr sz="900"/>
          </a:p>
        </p:txBody>
      </p:sp>
      <p:sp>
        <p:nvSpPr>
          <p:cNvPr id="385" name="Google Shape;385;p35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Diagnose Causes</a:t>
            </a:r>
            <a:endParaRPr sz="2100"/>
          </a:p>
        </p:txBody>
      </p:sp>
      <p:sp>
        <p:nvSpPr>
          <p:cNvPr id="386" name="Google Shape;386;p35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Explain WHY events and behaviors happen.</a:t>
            </a:r>
            <a:endParaRPr sz="1350"/>
          </a:p>
        </p:txBody>
      </p:sp>
      <p:sp>
        <p:nvSpPr>
          <p:cNvPr id="387" name="Google Shape;387;p35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 instance, the activity on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Spotify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Netflix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what actually drives listening and watching?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Diagnosis goes beyond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correlations between small numbers of events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find the underlying causes.</a:t>
            </a:r>
            <a:endParaRPr sz="1050"/>
          </a:p>
        </p:txBody>
      </p:sp>
      <p:pic>
        <p:nvPicPr>
          <p:cNvPr descr="s13_1.png" id="388" name="Google Shape;3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7577" y="342901"/>
            <a:ext cx="1540847" cy="28083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3_2.png" id="389" name="Google Shape;38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7577" y="3254087"/>
            <a:ext cx="1540847" cy="154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11480" y="240030"/>
            <a:ext cx="356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WHY NOW</a:t>
            </a:r>
            <a:endParaRPr sz="900"/>
          </a:p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11480" y="466344"/>
            <a:ext cx="390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Why Is Data Science So Popular?</a:t>
            </a:r>
            <a:endParaRPr sz="2100"/>
          </a:p>
        </p:txBody>
      </p:sp>
      <p:sp>
        <p:nvSpPr>
          <p:cNvPr id="397" name="Google Shape;397;p36"/>
          <p:cNvSpPr txBox="1"/>
          <p:nvPr>
            <p:ph idx="2" type="body"/>
          </p:nvPr>
        </p:nvSpPr>
        <p:spPr>
          <a:xfrm>
            <a:off x="411480" y="1371600"/>
            <a:ext cx="390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We're collecting more data than ever.</a:t>
            </a:r>
            <a:endParaRPr sz="1350"/>
          </a:p>
        </p:txBody>
      </p:sp>
      <p:sp>
        <p:nvSpPr>
          <p:cNvPr id="398" name="Google Shape;398;p36"/>
          <p:cNvSpPr txBox="1"/>
          <p:nvPr>
            <p:ph idx="3" type="body"/>
          </p:nvPr>
        </p:nvSpPr>
        <p:spPr>
          <a:xfrm>
            <a:off x="411480" y="16802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050"/>
              <a:buChar char="•"/>
            </a:pP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 is everywhere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every purchase, click, sensor, and message generates it.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Storage is cheap, compute is powerful, and organizations that use their data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outperform those that don't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s15_1.png" id="399" name="Google Shape;3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7496" y="822960"/>
            <a:ext cx="349758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 WE USE DATA — STEPS 1–2</a:t>
            </a:r>
            <a:endParaRPr sz="900"/>
          </a:p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Collect, Store, and Prepare</a:t>
            </a:r>
            <a:endParaRPr sz="2100"/>
          </a:p>
        </p:txBody>
      </p:sp>
      <p:sp>
        <p:nvSpPr>
          <p:cNvPr id="407" name="Google Shape;407;p37"/>
          <p:cNvSpPr txBox="1"/>
          <p:nvPr>
            <p:ph idx="2" type="body"/>
          </p:nvPr>
        </p:nvSpPr>
        <p:spPr>
          <a:xfrm>
            <a:off x="651510" y="147447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Step 1 — Collection &amp; Storage.</a:t>
            </a:r>
            <a:endParaRPr sz="1200"/>
          </a:p>
        </p:txBody>
      </p:sp>
      <p:sp>
        <p:nvSpPr>
          <p:cNvPr id="408" name="Google Shape;408;p37"/>
          <p:cNvSpPr txBox="1"/>
          <p:nvPr>
            <p:ph idx="3" type="body"/>
          </p:nvPr>
        </p:nvSpPr>
        <p:spPr>
          <a:xfrm>
            <a:off x="651510" y="1851660"/>
            <a:ext cx="356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Sources: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surveys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web traffic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geo-tagged social posts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financial transaction</a:t>
            </a:r>
            <a:r>
              <a:rPr b="1" lang="en-US">
                <a:solidFill>
                  <a:srgbClr val="D84568"/>
                </a:solidFill>
              </a:rPr>
              <a:t>s, POS system</a:t>
            </a:r>
            <a:endParaRPr sz="1050"/>
          </a:p>
        </p:txBody>
      </p:sp>
      <p:pic>
        <p:nvPicPr>
          <p:cNvPr descr="s16_1.png" id="409" name="Google Shape;4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550" y="2449481"/>
            <a:ext cx="1388311" cy="1388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6_2.png" id="410" name="Google Shape;41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7306" y="2543156"/>
            <a:ext cx="1294650" cy="12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7"/>
          <p:cNvSpPr txBox="1"/>
          <p:nvPr>
            <p:ph idx="4" type="body"/>
          </p:nvPr>
        </p:nvSpPr>
        <p:spPr>
          <a:xfrm>
            <a:off x="4903470" y="1474470"/>
            <a:ext cx="3566400" cy="274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200"/>
              <a:t>Step 2 — Data Preparation:</a:t>
            </a:r>
            <a:endParaRPr sz="1200"/>
          </a:p>
        </p:txBody>
      </p:sp>
      <p:sp>
        <p:nvSpPr>
          <p:cNvPr id="412" name="Google Shape;412;p37"/>
          <p:cNvSpPr txBox="1"/>
          <p:nvPr>
            <p:ph idx="5" type="body"/>
          </p:nvPr>
        </p:nvSpPr>
        <p:spPr>
          <a:xfrm>
            <a:off x="4903470" y="1851660"/>
            <a:ext cx="3566400" cy="20574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SzPts val="1050"/>
              <a:buChar char="•"/>
            </a:pPr>
            <a:r>
              <a:rPr lang="en-US" sz="1050"/>
              <a:t>cleaning, finding </a:t>
            </a:r>
            <a:r>
              <a:rPr b="1" lang="en-US" sz="1050">
                <a:solidFill>
                  <a:srgbClr val="D84568"/>
                </a:solidFill>
              </a:rPr>
              <a:t>missing or duplicate values</a:t>
            </a:r>
            <a:r>
              <a:rPr lang="en-US" sz="1050"/>
              <a:t>, converting data into an </a:t>
            </a:r>
            <a:r>
              <a:rPr b="1" lang="en-US" sz="1050">
                <a:solidFill>
                  <a:srgbClr val="D84568"/>
                </a:solidFill>
              </a:rPr>
              <a:t>organized format</a:t>
            </a:r>
            <a:r>
              <a:rPr lang="en-US" sz="1050"/>
              <a:t>.</a:t>
            </a:r>
            <a:endParaRPr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 WE USE DATA — STEPS 3–4</a:t>
            </a:r>
            <a:endParaRPr sz="900"/>
          </a:p>
        </p:txBody>
      </p:sp>
      <p:sp>
        <p:nvSpPr>
          <p:cNvPr id="419" name="Google Shape;419;p38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Explore, Then Experiment</a:t>
            </a:r>
            <a:endParaRPr sz="2100"/>
          </a:p>
        </p:txBody>
      </p:sp>
      <p:sp>
        <p:nvSpPr>
          <p:cNvPr id="420" name="Google Shape;420;p38"/>
          <p:cNvSpPr txBox="1"/>
          <p:nvPr>
            <p:ph idx="2" type="body"/>
          </p:nvPr>
        </p:nvSpPr>
        <p:spPr>
          <a:xfrm>
            <a:off x="651510" y="1474470"/>
            <a:ext cx="35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-US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Step 3 — Explore &amp; visualize (EDA).</a:t>
            </a:r>
            <a:endParaRPr sz="1200"/>
          </a:p>
        </p:txBody>
      </p:sp>
      <p:sp>
        <p:nvSpPr>
          <p:cNvPr id="421" name="Google Shape;421;p38"/>
          <p:cNvSpPr txBox="1"/>
          <p:nvPr>
            <p:ph idx="3" type="body"/>
          </p:nvPr>
        </p:nvSpPr>
        <p:spPr>
          <a:xfrm>
            <a:off x="651510" y="1851660"/>
            <a:ext cx="3566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7175" lvl="0" marL="257175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Build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track how data changes, or run </a:t>
            </a:r>
            <a:r>
              <a:rPr b="1" lang="en-US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comparisons between sets of data</a:t>
            </a:r>
            <a:r>
              <a:rPr lang="en-US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1050"/>
              <a:buChar char="•"/>
            </a:pPr>
            <a:r>
              <a:rPr lang="en-US" sz="1050"/>
              <a:t>Or</a:t>
            </a:r>
            <a:r>
              <a:rPr b="1" lang="en-US" sz="1050">
                <a:solidFill>
                  <a:srgbClr val="D84568"/>
                </a:solidFill>
              </a:rPr>
              <a:t> train &amp; build ai and machine learning models</a:t>
            </a:r>
            <a:r>
              <a:rPr lang="en-US" sz="1050"/>
              <a:t> to predict events</a:t>
            </a:r>
            <a:endParaRPr sz="1050"/>
          </a:p>
        </p:txBody>
      </p:sp>
      <p:pic>
        <p:nvPicPr>
          <p:cNvPr descr="s17_1.png" id="422" name="Google Shape;42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4631" y="2356209"/>
            <a:ext cx="1498274" cy="1498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17_2.png" id="423" name="Google Shape;42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6175" y="2559994"/>
            <a:ext cx="1433513" cy="143353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 txBox="1"/>
          <p:nvPr>
            <p:ph idx="4" type="body"/>
          </p:nvPr>
        </p:nvSpPr>
        <p:spPr>
          <a:xfrm>
            <a:off x="4903470" y="1474470"/>
            <a:ext cx="3566400" cy="2742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rPr lang="en-US" sz="1200"/>
              <a:t>Step 4 — Experimentation &amp; Prediction: </a:t>
            </a:r>
            <a:endParaRPr sz="1200"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25" name="Google Shape;425;p38"/>
          <p:cNvSpPr txBox="1"/>
          <p:nvPr>
            <p:ph idx="5" type="body"/>
          </p:nvPr>
        </p:nvSpPr>
        <p:spPr>
          <a:xfrm>
            <a:off x="4903463" y="1851658"/>
            <a:ext cx="3566400" cy="8850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-257175" lvl="0" marL="257175" rtl="0" algn="l">
              <a:spcBef>
                <a:spcPts val="810"/>
              </a:spcBef>
              <a:spcAft>
                <a:spcPts val="0"/>
              </a:spcAft>
              <a:buSzPts val="1050"/>
              <a:buChar char="•"/>
            </a:pPr>
            <a:r>
              <a:rPr lang="en-US" sz="1050"/>
              <a:t>e.g., an </a:t>
            </a:r>
            <a:r>
              <a:rPr b="1" lang="en-US" sz="1050">
                <a:solidFill>
                  <a:srgbClr val="D84568"/>
                </a:solidFill>
              </a:rPr>
              <a:t>A/B test</a:t>
            </a:r>
            <a:r>
              <a:rPr lang="en-US" sz="1050"/>
              <a:t> to find which web page acquires more customers.</a:t>
            </a:r>
            <a:endParaRPr sz="1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/>
          <p:nvPr>
            <p:ph idx="1" type="body"/>
          </p:nvPr>
        </p:nvSpPr>
        <p:spPr>
          <a:xfrm>
            <a:off x="411480" y="240030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00"/>
              <a:buNone/>
            </a:pPr>
            <a:r>
              <a:rPr b="1" lang="en-US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REVIEW LESSON</a:t>
            </a:r>
            <a:endParaRPr sz="900"/>
          </a:p>
        </p:txBody>
      </p:sp>
      <p:sp>
        <p:nvSpPr>
          <p:cNvPr id="432" name="Google Shape;432;p39"/>
          <p:cNvSpPr txBox="1"/>
          <p:nvPr>
            <p:ph type="title"/>
          </p:nvPr>
        </p:nvSpPr>
        <p:spPr>
          <a:xfrm>
            <a:off x="411480" y="466344"/>
            <a:ext cx="8298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-US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Check Your Understanding</a:t>
            </a:r>
            <a:endParaRPr sz="2100"/>
          </a:p>
        </p:txBody>
      </p:sp>
      <p:sp>
        <p:nvSpPr>
          <p:cNvPr id="433" name="Google Shape;433;p39"/>
          <p:cNvSpPr txBox="1"/>
          <p:nvPr>
            <p:ph idx="2" type="body"/>
          </p:nvPr>
        </p:nvSpPr>
        <p:spPr>
          <a:xfrm>
            <a:off x="925830" y="13716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None/>
            </a:pPr>
            <a:r>
              <a:rPr b="1" lang="en-US" sz="11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Definitions</a:t>
            </a:r>
            <a:endParaRPr sz="1163"/>
          </a:p>
        </p:txBody>
      </p:sp>
      <p:sp>
        <p:nvSpPr>
          <p:cNvPr id="434" name="Google Shape;434;p39"/>
          <p:cNvSpPr txBox="1"/>
          <p:nvPr>
            <p:ph idx="3" type="body"/>
          </p:nvPr>
        </p:nvSpPr>
        <p:spPr>
          <a:xfrm>
            <a:off x="925830" y="16596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5"/>
              <a:buNone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? What is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information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? What is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 science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975"/>
          </a:p>
        </p:txBody>
      </p:sp>
      <p:sp>
        <p:nvSpPr>
          <p:cNvPr id="435" name="Google Shape;435;p39"/>
          <p:cNvSpPr txBox="1"/>
          <p:nvPr>
            <p:ph idx="4" type="body"/>
          </p:nvPr>
        </p:nvSpPr>
        <p:spPr>
          <a:xfrm>
            <a:off x="925830" y="24003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None/>
            </a:pPr>
            <a:r>
              <a:rPr b="1" lang="en-US" sz="11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Differences</a:t>
            </a:r>
            <a:endParaRPr sz="1163"/>
          </a:p>
        </p:txBody>
      </p:sp>
      <p:sp>
        <p:nvSpPr>
          <p:cNvPr id="436" name="Google Shape;436;p39"/>
          <p:cNvSpPr txBox="1"/>
          <p:nvPr>
            <p:ph idx="5" type="body"/>
          </p:nvPr>
        </p:nvSpPr>
        <p:spPr>
          <a:xfrm>
            <a:off x="925830" y="26883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975"/>
              <a:buNone/>
            </a:pP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What is the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difference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between data, information, and data science?</a:t>
            </a:r>
            <a:endParaRPr sz="975"/>
          </a:p>
        </p:txBody>
      </p:sp>
      <p:sp>
        <p:nvSpPr>
          <p:cNvPr id="437" name="Google Shape;437;p39"/>
          <p:cNvSpPr txBox="1"/>
          <p:nvPr>
            <p:ph idx="6" type="body"/>
          </p:nvPr>
        </p:nvSpPr>
        <p:spPr>
          <a:xfrm>
            <a:off x="925830" y="342900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163"/>
              <a:buNone/>
            </a:pPr>
            <a:r>
              <a:rPr b="1" lang="en-US" sz="11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Application</a:t>
            </a:r>
            <a:endParaRPr sz="1163"/>
          </a:p>
        </p:txBody>
      </p:sp>
      <p:sp>
        <p:nvSpPr>
          <p:cNvPr id="438" name="Google Shape;438;p39"/>
          <p:cNvSpPr txBox="1"/>
          <p:nvPr>
            <p:ph idx="7" type="body"/>
          </p:nvPr>
        </p:nvSpPr>
        <p:spPr>
          <a:xfrm>
            <a:off x="925830" y="371703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do we need data? </a:t>
            </a:r>
            <a:r>
              <a:rPr b="1" lang="en-US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-US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do we do data science?</a:t>
            </a:r>
            <a:endParaRPr sz="9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