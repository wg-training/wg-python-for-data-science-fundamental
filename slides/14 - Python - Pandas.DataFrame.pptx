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8" r:id="rId3"/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</p:sldIdLst>
  <p:sldSz cy="5143500" cx="9144000"/>
  <p:notesSz cx="6858000" cy="9144000"/>
  <p:embeddedFontLst>
    <p:embeddedFont>
      <p:font typeface="Roboto"/>
      <p:regular r:id="rId83"/>
      <p:bold r:id="rId84"/>
      <p:italic r:id="rId85"/>
      <p:boldItalic r:id="rId8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84" Type="http://schemas.openxmlformats.org/officeDocument/2006/relationships/font" Target="fonts/Roboto-bold.fntdata"/><Relationship Id="rId83" Type="http://schemas.openxmlformats.org/officeDocument/2006/relationships/font" Target="fonts/Roboto-regular.fntdata"/><Relationship Id="rId42" Type="http://schemas.openxmlformats.org/officeDocument/2006/relationships/slide" Target="slides/slide37.xml"/><Relationship Id="rId86" Type="http://schemas.openxmlformats.org/officeDocument/2006/relationships/font" Target="fonts/Roboto-boldItalic.fntdata"/><Relationship Id="rId41" Type="http://schemas.openxmlformats.org/officeDocument/2006/relationships/slide" Target="slides/slide36.xml"/><Relationship Id="rId85" Type="http://schemas.openxmlformats.org/officeDocument/2006/relationships/font" Target="fonts/Roboto-italic.fntdata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31" Type="http://schemas.openxmlformats.org/officeDocument/2006/relationships/slide" Target="slides/slide26.xml"/><Relationship Id="rId75" Type="http://schemas.openxmlformats.org/officeDocument/2006/relationships/slide" Target="slides/slide70.xml"/><Relationship Id="rId30" Type="http://schemas.openxmlformats.org/officeDocument/2006/relationships/slide" Target="slides/slide25.xml"/><Relationship Id="rId74" Type="http://schemas.openxmlformats.org/officeDocument/2006/relationships/slide" Target="slides/slide69.xml"/><Relationship Id="rId33" Type="http://schemas.openxmlformats.org/officeDocument/2006/relationships/slide" Target="slides/slide28.xml"/><Relationship Id="rId77" Type="http://schemas.openxmlformats.org/officeDocument/2006/relationships/slide" Target="slides/slide72.xml"/><Relationship Id="rId32" Type="http://schemas.openxmlformats.org/officeDocument/2006/relationships/slide" Target="slides/slide27.xml"/><Relationship Id="rId76" Type="http://schemas.openxmlformats.org/officeDocument/2006/relationships/slide" Target="slides/slide71.xml"/><Relationship Id="rId35" Type="http://schemas.openxmlformats.org/officeDocument/2006/relationships/slide" Target="slides/slide30.xml"/><Relationship Id="rId79" Type="http://schemas.openxmlformats.org/officeDocument/2006/relationships/slide" Target="slides/slide74.xml"/><Relationship Id="rId34" Type="http://schemas.openxmlformats.org/officeDocument/2006/relationships/slide" Target="slides/slide29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f5bb999172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f5bb999172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2cc09104f10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2cc09104f1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26fad29d909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26fad29d909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26fad29d909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26fad29d909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26fc206551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26fc206551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g26fc206551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4" name="Google Shape;464;g26fc206551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26fc206551d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26fc206551d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3f966184d0b_0_0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5" name="Google Shape;485;g3f966184d0b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import numpy as np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df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"name": ["Sokha", "Dara", "Mealea", "Vibol", "Chan"],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"dept": ["Sales", "IT", "Sales", "IT", "HR"],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"age": [28, 34, 25, 41, 38],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"salary": [1200, 2100, 1500, 2600, 1800],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"join_date": ["2021-03-15", "2019-07-01",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                  "2022-01-20", "2018-11-05", "2020-06-30"],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df.loc[0, "name"]          # by LABEL   -&gt; 'Sokha'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df.iloc[0, 0]              # by POSITION -&gt; 'Sokha'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df.iloc[0:2, 0:3]          # position slice (end-exclusive)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df.loc[df["age"] &gt; 30, ["name", "salary"]]  # mask + columns</a:t>
            </a:r>
            <a:endParaRPr/>
          </a:p>
        </p:txBody>
      </p:sp>
      <p:sp>
        <p:nvSpPr>
          <p:cNvPr id="486" name="Google Shape;486;g3f966184d0b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h67e3d09bfa667fc0_0_26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9" name="Google Shape;499;h67e3d09bfa667fc0_0_26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df.iloc[2:4]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df.iloc[:, 3:5]</a:t>
            </a:r>
            <a:endParaRPr/>
          </a:p>
        </p:txBody>
      </p:sp>
      <p:sp>
        <p:nvSpPr>
          <p:cNvPr id="500" name="Google Shape;500;h67e3d09bfa667fc0_0_26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h67e3d09bfa667fc0_0_27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0" name="Google Shape;510;h67e3d09bfa667fc0_0_27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df.set_index("name")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df.loc["Dara":"Vibol"]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df.loc[["Dara", "Chan"], ["dept", "salary"]]</a:t>
            </a:r>
            <a:endParaRPr/>
          </a:p>
        </p:txBody>
      </p:sp>
      <p:sp>
        <p:nvSpPr>
          <p:cNvPr id="511" name="Google Shape;511;h67e3d09bfa667fc0_0_27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h31182c0c824c425f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1" name="Google Shape;521;h31182c0c824c425f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"David", "Eva"],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"dept":   ["Sales", "IT", "HR", "IT", "Sales"],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1300, 2600]})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 = df["salary"] &gt; 1500      # a True/False Series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df[mask]                        # keep only the True rows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h31182c0c824c425f_0_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f966184d0b_0_176:notes"/>
          <p:cNvSpPr/>
          <p:nvPr>
            <p:ph idx="2" type="sldImg"/>
          </p:nvPr>
        </p:nvSpPr>
        <p:spPr>
          <a:xfrm>
            <a:off x="-4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1" name="Google Shape;531;g3f966184d0b_0_17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"David", "Eva"],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"dept":   ["Sales", "IT", "HR", "IT", "Sales"],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"age":    [28, 41, 35, 23, 52],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1300, 2600]})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df[(df["dept"] == "Sales") &amp; (df["age"] &lt; 30)]["name"].tolist()   # AND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df[(df["dept"] == "HR") | (df["salary"] &gt; 2000)]["name"].tolist() # OR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df[~(df["dept"] == "IT")]["name"].tolist()                        # NOT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df[df["dept"].isin(["Sales", "HR"])]["name"].tolist()   # membership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[6]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df[df["age"].between(25, 35)]["name"].tolist()          # inclusive range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3f966184d0b_0_17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f966184d0b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g3f966184d0b_0_35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h31182c0c824c425f_0_25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5" name="Google Shape;555;h31182c0c824c425f_0_25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"David", "Eva"],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"dept":   ["Sales", "IT", "HR", "IT", "Sales"],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1300, 2600]})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df["dept"].value_counts()   # how often each value appears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df["dept"].unique()         # distinct values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df["dept"].nunique()        # how many distinct</a:t>
            </a:r>
            <a:endParaRPr/>
          </a:p>
        </p:txBody>
      </p:sp>
      <p:sp>
        <p:nvSpPr>
          <p:cNvPr id="556" name="Google Shape;556;h31182c0c824c425f_0_25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26e7c43c4a4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26e7c43c4a4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h31182c0c824c425f_0_52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9" name="Google Shape;579;h31182c0c824c425f_0_52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"David", "Eva"],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"dept":   ["Sales", "IT", "HR", "IT", "Sales"],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1300, 2600]})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df.sort_values("salary", ascending=False)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df.sort_values(["dept", "salary"])     # several columns</a:t>
            </a:r>
            <a:endParaRPr/>
          </a:p>
        </p:txBody>
      </p:sp>
      <p:sp>
        <p:nvSpPr>
          <p:cNvPr id="580" name="Google Shape;580;h31182c0c824c425f_0_52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h31182c0c824c425f_0_15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9" name="Google Shape;589;h31182c0c824c425f_0_154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"David", "Eva"],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"age":    [28, 41, 35, 23, 52],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1300, 2600]})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Series.apply: one value at a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df["level"] = df["age"].apply(lambda x: "senior" if x &gt;= 35 else "junior")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axis=1: one whole row at a time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df["ratio"] = df.apply(lambda r: round(r["salary"] / r["age"], 1), axis=1)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</p:txBody>
      </p:sp>
      <p:sp>
        <p:nvSpPr>
          <p:cNvPr id="590" name="Google Shape;590;h31182c0c824c425f_0_154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h31182c0c824c425f_0_205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9" name="Google Shape;599;h31182c0c824c425f_0_205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["Alice", "Bob", "Carol", "David", "Eva"],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"dept": ["Sales", "IT", "HR", "IT", "Sales"]})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codes = {"Sales": "S", "IT": "T", "HR": "H"}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df["dept_code"] = df["dept"].map(codes)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df["dept"].map({"Sales": "S"}).tolist()   # missing keys -&gt; NaN</a:t>
            </a:r>
            <a:endParaRPr/>
          </a:p>
        </p:txBody>
      </p:sp>
      <p:sp>
        <p:nvSpPr>
          <p:cNvPr id="600" name="Google Shape;600;h31182c0c824c425f_0_205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h31182c0c824c425f_0_5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0" name="Google Shape;610;h31182c0c824c425f_0_53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["Alice", "bob", "Carol", "DAVID", "eva"]})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df["name"].str.lower().tolist()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df["name"].str.len().tolist()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df["name"].str.startswith("A").tolist()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[5]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df["name"].str.replace("a", "@").tolist()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[6]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df[df["name"].str.contains("a")]   # mask -&gt; plugs into filtering</a:t>
            </a:r>
            <a:endParaRPr/>
          </a:p>
        </p:txBody>
      </p:sp>
      <p:sp>
        <p:nvSpPr>
          <p:cNvPr id="611" name="Google Shape;611;h31182c0c824c425f_0_5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h31182c0c824c425f_0_255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0" name="Google Shape;620;h31182c0c824c425f_0_255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"dept":   ["Sales", "IT", "Sales", "IT"],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"age":    [28, 41, 35, 23],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df.pivot_table(index="dept", values="salary", aggfunc="mean")   # long -&gt; wide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pd.melt(df.head(3), id_vars=["name"], value_vars=["age", "salary"])   # wide -&gt; long</a:t>
            </a:r>
            <a:endParaRPr/>
          </a:p>
        </p:txBody>
      </p:sp>
      <p:sp>
        <p:nvSpPr>
          <p:cNvPr id="621" name="Google Shape;621;h31182c0c824c425f_0_255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h31182c0c824c425f_0_306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0" name="Google Shape;630;h31182c0c824c425f_0_306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["Alice", "Bob", "Carol"],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"join_date": ["2021-03-15", "2019-07-01", "2022-11-30"]})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df.dtypes                          # text, not dates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df["join_date"] = pd.to_datetime(df["join_date"])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df.dtypes                          # real datetimes now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df["year"] = df["join_date"].dt.year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df["month"] = df["join_date"].dt.month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df["weekday"] = df["join_date"].dt.day_name()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</p:txBody>
      </p:sp>
      <p:sp>
        <p:nvSpPr>
          <p:cNvPr id="631" name="Google Shape;631;h31182c0c824c425f_0_306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h31182c0c824c425f_0_307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0" name="Google Shape;640;h31182c0c824c425f_0_307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["Alice", "Bob", "Carol", "David", "Eva"],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"join_date": pd.to_datetime(["2021-03-15", "2019-07-01",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"2021-11-30", "2022-05-10", "2019-01-20"]),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1800, 1300, 2600]})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datetime - datetime = duration; .dt.days makes it a number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df["tenure_days"] = (pd.Timestamp("2026-01-01") - df["join_date"]).dt.days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df[["name", "tenure_days"]]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resample needs a datetime index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ts = df.set_index("join_date")["salary"]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ts.resample("YE").mean()       # average salary per year</a:t>
            </a:r>
            <a:endParaRPr/>
          </a:p>
        </p:txBody>
      </p:sp>
      <p:sp>
        <p:nvSpPr>
          <p:cNvPr id="641" name="Google Shape;641;h31182c0c824c425f_0_307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6fef4c9fcc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6fef4c9fcc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f5bb999172_0_29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7" name="Google Shape;657;g3f5bb999172_0_29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pd.DataFrame({"c1": [1, 2, None], "c2": [4, 5, 6], "c3": [7, None, 9]})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df.isna()                # True where a value is missing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df.isna().sum()          # count NaN per column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df.notna().sum()         # inverse: count valid values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df.isna().values.any()   # any missing anywhere?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g3f5bb999172_0_29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f5bb999172_0_52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7" name="Google Shape;667;g3f5bb999172_0_52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pd.DataFrame({"c1": [1, 2, None], "c2": [4, 5, 6], "c3": [7, None, 9]})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df.dropna()              # drop ROWS with any NaN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df.dropna(axis=1)        # drop COLUMNS with any NaN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df.dropna(how="all")     # only fully-empty rows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df.dropna(thresh=3)      # keep rows with &gt;= 3 values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8" name="Google Shape;668;g3f5bb999172_0_52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f5bb999172_0_75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7" name="Google Shape;677;g3f5bb999172_0_75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pd.DataFrame({"name":   ["Alice", "Bob", "Carol", "David"],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"age":    [28, None, 35, 23],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"salary": [1400, 2200, None, 1300]})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df.fillna(0)             # a constant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df["age"] = df["age"].fillna(df["age"].mean())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df["salary"] = df["salary"].fillna(df["salary"].median())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g3f5bb999172_0_75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h31182c0c824c425f_0_388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0" name="Google Shape;690;h31182c0c824c425f_0_388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pd.DataFrame({"c1": [1, 2, None], "c2": [4, 5, 6], "c3": [7, None, 9]})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fill c1 with its own mean, c3 with its median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df["c1"] = df["c1"].fillna(df["c1"].mean())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df["c3"] = df["c3"].fillna(df["c3"].median())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</p:txBody>
      </p:sp>
      <p:sp>
        <p:nvSpPr>
          <p:cNvPr id="691" name="Google Shape;691;h31182c0c824c425f_0_388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h7d4db55d1b86f93_0_1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h7d4db55d1b86f93_0_1084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h7d4db55d1b86f93_0_109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8" name="Google Shape;708;h7d4db55d1b86f93_0_109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pd.DataFrame({"c1": [1, 2, 3, 4], "c2": [2, 4, 6, 8],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"c3": [3, 6, 9, 12], "c4": [4, 8, 12, 16]})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df.sum(axis=0)       # down columns (default)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df.sum(axis=1)       # across rows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df.agg(["min", "max", "mean"])</a:t>
            </a:r>
            <a:endParaRPr/>
          </a:p>
        </p:txBody>
      </p:sp>
      <p:sp>
        <p:nvSpPr>
          <p:cNvPr id="709" name="Google Shape;709;h7d4db55d1b86f93_0_109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26fef4c9fcc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26fef4c9fcc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Google Shape;731;g3f5bb999172_0_98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2" name="Google Shape;732;g3f5bb999172_0_98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"city":  ["Phnom Penh", "Siem Reap", "Phnom Penh",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"Siem Reap", "Siem Reap", "Phnom Penh"],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"age":   [28, 41, 35, 23, 52, 30],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"score": [80, 92, 75, 88, 60, 95],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df.groupby("city")["age"].mean()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df.groupby("city")[["age", "score"]].sum()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df.groupby("city").size()      # rows per group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g3f5bb999172_0_98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0" name="Shape 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Google Shape;741;h31182c0c824c425f_0_438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2" name="Google Shape;742;h31182c0c824c425f_0_438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 = pd.DataFrame({"Company": ["GOOG", "GOOG", "MSFT", "MSFT", "FB", "FB"],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"Sales":   [200, 120, 340, 124, 243, 350]})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df.groupby("Company")["Sales"].describe().round(1)   # full stats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df.groupby("Company").agg({"Sales": ["mean", "max", "sum"]})</a:t>
            </a:r>
            <a:endParaRPr/>
          </a:p>
        </p:txBody>
      </p:sp>
      <p:sp>
        <p:nvSpPr>
          <p:cNvPr id="743" name="Google Shape;743;h31182c0c824c425f_0_438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6ff65422f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6ff65422f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3f5bb999172_0_144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9" name="Google Shape;759;g3f5bb999172_0_144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g26fef4c9fcc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6fef4c9fcc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h31182c0c824c425f_0_490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9" name="Google Shape;779;h31182c0c824c425f_0_490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= pd.DataFrame(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{"id": [1, 2, 3], "name": ["Jame", "John", "Jane"],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"gender": ["M", "M", "F"]}, index=[1, 2, 3])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students2 = pd.DataFrame(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{"id": [4, 5, 6], "name": ["Ben", "Brown", "Bill"]},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index=[3, 4, 5])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pd.concat([students, students2])                       # stack rows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pd.concat([students, students2], ignore_index=True)    # renumber index</a:t>
            </a:r>
            <a:endParaRPr/>
          </a:p>
        </p:txBody>
      </p:sp>
      <p:sp>
        <p:nvSpPr>
          <p:cNvPr id="780" name="Google Shape;780;h31182c0c824c425f_0_4900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h31182c0c824c425f_0_490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9" name="Google Shape;789;h31182c0c824c425f_0_490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= pd.DataFrame(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{"id": [1, 2, 3], "name": ["Jame", "John", "Jane"],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"gender": ["M", "M", "F"]}, index=[1, 2, 3])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students2 = pd.DataFrame(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{"id": [4, 5, 6], "name": ["Ben", "Brown", "Bill"]},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index=[3, 4, 5])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pd.concat([students, students2], axis=1)   # side by side, aligned on index</a:t>
            </a:r>
            <a:endParaRPr/>
          </a:p>
        </p:txBody>
      </p:sp>
      <p:sp>
        <p:nvSpPr>
          <p:cNvPr id="790" name="Google Shape;790;h31182c0c824c425f_0_490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7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26ff65422f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6ff65422f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7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h31182c0c824c425f_0_541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9" name="Google Shape;809;h31182c0c824c425f_0_541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pandas as pd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 = pd.DataFrame({"id": [1, 2, 3], "name": ["Jame", "John", "Jane"],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"class_id": [1, 1, 2]})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[2]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 = pd.DataFrame({"id": [1, 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"name": ["Data Science", "AI", "Machine Learning"]})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classes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[3]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key names differ -&gt; left_on / right_on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students.merge(classes, left_on="class_id", right_on="id")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In [4]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how= picks the join type (class 3 has no students)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students.merge(classes, how="right", left_on="class_id", right_on="id")</a:t>
            </a:r>
            <a:endParaRPr/>
          </a:p>
        </p:txBody>
      </p:sp>
      <p:sp>
        <p:nvSpPr>
          <p:cNvPr id="810" name="Google Shape;810;h31182c0c824c425f_0_541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g3f5bb999172_0_216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9" name="Google Shape;819;g3f5bb999172_0_216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Join on the INDEX of both frames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left.join(right)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left.join(right, how='left')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left.join(right, how='outer')</a:t>
            </a:r>
            <a:endParaRPr/>
          </a:p>
        </p:txBody>
      </p:sp>
      <p:sp>
        <p:nvSpPr>
          <p:cNvPr id="820" name="Google Shape;820;g3f5bb999172_0_216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26ff65422f6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8" name="Google Shape;828;g26ff65422f6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7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g26ff65422f6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9" name="Google Shape;839;g26ff65422f6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6ff65422f6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6ff65422f6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26ff65422f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2" name="Google Shape;852;g26ff65422f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26ff65422f6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3" name="Google Shape;863;g26ff65422f6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g26ff65422f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4" name="Google Shape;874;g26ff65422f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e01b881ca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e01b881ca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h7d4db55d1b86f93_0_0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h7d4db55d1b86f93_0_0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h7d4db55d1b86f93_0_19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h7d4db55d1b86f93_0_19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h7d4db55d1b86f93_0_20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8" name="Google Shape;908;h7d4db55d1b86f93_0_20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Shape and dtypes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shop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"item":  ["pen", "book", "bag"],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"qty":   [3, 1, 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"price": [1.5, 12.0, 25.0],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Show the shape of shop.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shop.shape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Show the dtype of every column.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shop.dtypes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shape is (rows, columns). qty holds whole numbers, price holds decimals, and pandas picks the dtype from the values.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Head, tail, columns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"city": ["PP", "Siem Reap",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"Kampot", "Kep"],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"high": [34, 33, 31, 30],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Show the first two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temps.head(2)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Show the last row.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temps.tail(1)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Show the column names.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temps.columns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head(n) keeps the first n rows, tail(n) the last n. columns lists the headers.</a:t>
            </a:r>
            <a:endParaRPr/>
          </a:p>
        </p:txBody>
      </p:sp>
      <p:sp>
        <p:nvSpPr>
          <p:cNvPr id="909" name="Google Shape;909;h7d4db55d1b86f93_0_20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h7d4db55d1b86f93_0_26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0" name="Google Shape;930;h7d4db55d1b86f93_0_26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h7d4db55d1b86f93_0_27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" name="Google Shape;937;h7d4db55d1b86f93_0_27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Series or DataFrame?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basket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"fruit": ["mango", "banana", "apple"],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"kg":    [2, 5, 1],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Select the fruit column with single brackets.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basket["fruit"]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the fruit column with double brackets.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basket[["fruit"]]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Select the fruit and kg columns.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basket[["fruit", "kg"]]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One pair of brackets gives a Series; a list inside the brackets gives a DataFrame, even with one name.</a:t>
            </a:r>
            <a:endParaRPr/>
          </a:p>
        </p:txBody>
      </p:sp>
      <p:sp>
        <p:nvSpPr>
          <p:cNvPr id="938" name="Google Shape;938;h7d4db55d1b86f93_0_27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h7d4db55d1b86f93_0_31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1" name="Google Shape;951;h7d4db55d1b86f93_0_31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When the index is text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 = pd.DataFrame(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{"val": [10, 20, 30]},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index=["A", "B", "C"],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Select row B by label.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ref.loc["B"]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the row at position 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ref.iloc[1]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Select row 1 by label. What happens?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ref.loc[1]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loc speaks labels. Once the index is text, the number 1 is not a label, so loc[1] raises KeyError. iloc[1] still means the second row.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Lists of labels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"dept":   ["IT", "HR", "IT", "Ops"],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"salary": [900, 700, 1200, 800],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}, index=["Dara", "Chan", "Vibol", "Sok"])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Select the dept and salary of Dara and Chan.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staff.loc[["Dara", "Chan"], ["dept", "salary"]]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every row from Dara to Vibol.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staff.loc["Dara":"Vibol"]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Select Dara and Zed. What happens?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staff.loc[["Dara", "Zed"]]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 list picks exactly the labels you name; a slice takes everything between them, end included. A label that does not exist raises KeyError.</a:t>
            </a:r>
            <a:endParaRPr/>
          </a:p>
        </p:txBody>
      </p:sp>
      <p:sp>
        <p:nvSpPr>
          <p:cNvPr id="952" name="Google Shape;952;h7d4db55d1b86f93_0_31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h7d4db55d1b86f93_0_33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3" name="Google Shape;973;h7d4db55d1b86f93_0_33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A simple mask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cls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"name":  ["Sok", "Dara", "Mony", "Vann"],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"score": [45, 72, 88, 59],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Select the students who scored 60 or more.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cls[cls["score"] &gt;= 60]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Count how many students passed.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len(cls[cls["score"] &gt;= 60])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The comparison gives True/False per row; putting it in df[...] keeps only the True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Name the mask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cars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"colour": ["red", "blue", "red"],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"km":     [100, 250, 80],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Build a mask for red cars and show it.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 = cars["colour"] == "red"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mask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Use the mask to select the red cars.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cars[mask]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Naming the mask keeps long filters readable; the same mask can be reused on other columns.</a:t>
            </a:r>
            <a:endParaRPr/>
          </a:p>
        </p:txBody>
      </p:sp>
      <p:sp>
        <p:nvSpPr>
          <p:cNvPr id="974" name="Google Shape;974;h7d4db55d1b86f93_0_33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h7d4db55d1b86f93_0_355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5" name="Google Shape;995;h7d4db55d1b86f93_0_355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AND, OR, NOT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"city": ["PP", "SR", "PP", "BB"],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"qty":  [3, 5, 1, 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Select orders in PP and with qty above 2.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o[(o["city"] == "PP") &amp; (o["qty"] &gt; 2)]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orders in PP or with qty above 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o[(o["city"] == "PP") | (o["qty"] &gt; 4)]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Select the orders not in PP.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o[~(o["city"] == "PP")]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&amp; means and, | means or, ~ means not. Each condition needs its own parentheses.</a:t>
            </a:r>
            <a:endParaRPr/>
          </a:p>
        </p:txBody>
      </p:sp>
      <p:sp>
        <p:nvSpPr>
          <p:cNvPr id="996" name="Google Shape;996;h7d4db55d1b86f93_0_355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h7d4db55d1b86f93_0_4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h7d4db55d1b86f93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h7d4db55d1b86f93_0_42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6" name="Google Shape;1016;h7d4db55d1b86f93_0_42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Tally a column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"colour": ["red", "blue", "red",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"red", "blue"],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Count each colour.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v["colour"].value_counts()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Count the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len(v)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value_counts tallies each value; its counts add up to the number of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Distinct values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"size": ["S", "M", "S", "L", "M"],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List the distinct sizes.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s["size"].unique()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Count the distinct sizes.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s["size"].nunique()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Count the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len(s)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nunique counts the kinds, unique lists them, len counts the rows. Five rows, three kinds.</a:t>
            </a:r>
            <a:endParaRPr/>
          </a:p>
        </p:txBody>
      </p:sp>
      <p:sp>
        <p:nvSpPr>
          <p:cNvPr id="1017" name="Google Shape;1017;h7d4db55d1b86f93_0_42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h7d4db55d1b86f93_0_44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8" name="Google Shape;1038;h7d4db55d1b86f93_0_44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Sort by one key, then two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"team": ["B", "A", "B", "A"],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"time": [12.5, 11.0, 10.5, 13.0],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Sort the results by time.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r.sort_values("time")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Sort by team, then by time.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r.sort_values(["team", "time"])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 list of columns sorts by the first, and ties fall to the next one.</a:t>
            </a:r>
            <a:endParaRPr/>
          </a:p>
        </p:txBody>
      </p:sp>
      <p:sp>
        <p:nvSpPr>
          <p:cNvPr id="1039" name="Google Shape;1039;h7d4db55d1b86f93_0_44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h7d4db55d1b86f93_0_47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2" name="Google Shape;1052;h7d4db55d1b86f93_0_47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Multiply two columns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"w": [2, 3, 4],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"h": [5, 5, 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Add an area column (w × h).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r["area"] = r["w"] * r["h"]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Show the dtype of area.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r["area"].dtype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Column arithmetic works row by row. Whole numbers times whole numbers stay int64.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A flat column, then overwrite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"line": [1, 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"amt":  [100.0, 250.0],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Add a vat column of 0.25 to every row.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inv["vat"] = 0.25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Replace amt with the amount including VAT.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inv["amt"] = inv["amt"] * (1 + inv["vat"])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inv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 single value is copied to every row. Assigning to an existing name replaces that column; a new name adds one at the end.</a:t>
            </a:r>
            <a:endParaRPr/>
          </a:p>
        </p:txBody>
      </p:sp>
      <p:sp>
        <p:nvSpPr>
          <p:cNvPr id="1053" name="Google Shape;1053;h7d4db55d1b86f93_0_47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h7d4db55d1b86f93_0_51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4" name="Google Shape;1074;h7d4db55d1b86f93_0_51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A column that is not there yet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"qty":   [2,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"price": [10.0, 20.0],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Add a big flag (total &gt; 25) before total exists.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d["big"] = d["total"] &gt; 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Add total (qty × price) first, then the flag.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d["total"] = d["qty"] * d["price"]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d["big"] = d["total"] &gt; 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Pandas runs the right-hand side first. total does not exist yet, so the lookup fails with KeyError. Build columns in dependency order.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Numbers stored as text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"qty": ["2", "3"],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Add qty to itself.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d["qty"] + d["qty"]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Convert qty to numbers, then add again.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d["qty"] = d["qty"].apply(int)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d["qty"] + d["qty"]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Plus joins text: '2' + '2' is '22'. Convert first with apply(int) and the same line adds numbers.</a:t>
            </a:r>
            <a:endParaRPr/>
          </a:p>
        </p:txBody>
      </p:sp>
      <p:sp>
        <p:nvSpPr>
          <p:cNvPr id="1075" name="Google Shape;1075;h7d4db55d1b86f93_0_51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" name="Google Shape;1095;h7d4db55d1b86f93_0_5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6" name="Google Shape;1096;h7d4db55d1b86f93_0_53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apply with a lambda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pd.DataFrame({"n": [1, 3, 5, 2]})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Add a size column: 'big' if n ≥ 3, else 'small'.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d["size"] = d["n"].apply(lambda v: "big" if v &gt;= 3 else "small")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Count each size.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d["size"].value_counts()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apply runs the lambda on every value of the column.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map with a dict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pd.DataFrame({"code": ["S", "M", "X"]})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words = {"S": "small", "M": "medium"}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Translate code with the words dict.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d["code"].map(words)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the rows whose code has no translation.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d[~d["code"].isin(words)]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 code missing from the dict becomes NaN. isin with ~ finds those codes.</a:t>
            </a:r>
            <a:endParaRPr/>
          </a:p>
        </p:txBody>
      </p:sp>
      <p:sp>
        <p:nvSpPr>
          <p:cNvPr id="1097" name="Google Shape;1097;h7d4db55d1b86f93_0_5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6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Google Shape;1117;h7d4db55d1b86f93_0_8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Google Shape;1118;h7d4db55d1b86f93_0_8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h7d4db55d1b86f93_0_8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5" name="Google Shape;1125;h7d4db55d1b86f93_0_8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Count the gaps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"a": [1.0, np.nan, 3.0],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"b": [1.0, 2.0, 3.0],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Mark every missing cell.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d.isna()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Count the gaps per column.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d.isna().sum()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Select the rows where a is missing.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d[d["a"].isna()]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isna() is a mask of gaps, so sum() counts them. notna() is its inverse, and the mask also works as a row filter.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Show the affected rows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"id": [1, 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"x":  [5.0, np.nan, 7.0],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"y":  [np.nan, 2.0, 3.0],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Select the rows missing 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d[d["x"].isna()]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the rows missing 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d[d["y"].isna()]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Select the rows missing x or 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d[d["x"].isna() | d["y"].isna()]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Two isna() masks can be joined with | just like any other conditions.</a:t>
            </a:r>
            <a:endParaRPr/>
          </a:p>
        </p:txBody>
      </p:sp>
      <p:sp>
        <p:nvSpPr>
          <p:cNvPr id="1126" name="Google Shape;1126;h7d4db55d1b86f93_0_84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h7d4db55d1b86f93_0_863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7" name="Google Shape;1147;h7d4db55d1b86f93_0_863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Drop rows, then columns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"a": [1.0, 2.0, np.nan],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"b": [4.0, 5.0, 6.0],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Drop the rows that have a gap.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d.dropna()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Drop the columns that have a gap.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d.dropna(axis=1)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dropna() removes every row with a gap; axis=1 removes every column with a gap instead, taking its good values with it.</a:t>
            </a:r>
            <a:endParaRPr/>
          </a:p>
        </p:txBody>
      </p:sp>
      <p:sp>
        <p:nvSpPr>
          <p:cNvPr id="1148" name="Google Shape;1148;h7d4db55d1b86f93_0_863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h7d4db55d1b86f93_0_88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1" name="Google Shape;1161;h7d4db55d1b86f93_0_88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Four fills, four answers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"qty":   [2, 3, 1],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"price": [10.0, np.nan, 20.0],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Total qty × price after dropping the gap.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(d["qty"] * d["price"]).dropna().sum()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Total it after filling price with 0.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(d["qty"] * d["price"].fillna(0)).sum()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Total it after filling with the mean price.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(d["qty"] * d["price"].fillna(d["price"].mean())).sum()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[4] Total it after filling with the median price.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(d["qty"] * d["price"].fillna(d["price"].median())).sum()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Dropping and filling with 0 both give 40. Filling with the mean or median gives 85. The fill you choose changes the answer.</a:t>
            </a:r>
            <a:endParaRPr/>
          </a:p>
        </p:txBody>
      </p:sp>
      <p:sp>
        <p:nvSpPr>
          <p:cNvPr id="1162" name="Google Shape;1162;h7d4db55d1b86f93_0_88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h7d4db55d1b86f93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5" name="Google Shape;1175;h7d4db55d1b86f93_0_622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h7d4db55d1b86f93_0_62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3" name="Google Shape;1183;h7d4db55d1b86f93_0_62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Basic statistics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"temp": [30, 34, 31, 35],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Find the mean temperature.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d["temp"].mean()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Find the median temperature.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d["temp"].median()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Find the lowest and the highest.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print(d["temp"].min(), d["temp"].max())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Each aggregate collapses a column into one number.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Counting with a mask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"mark": [80, 45, 62, 59],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Count the marks of 60 or more.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(d["mark"] &gt;= 60).sum()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Find the share of marks of 60 or more.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(d["mark"] &gt;= 60).mean()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True counts as 1 and False as 0, so sum() counts matches and mean() gives their share.</a:t>
            </a:r>
            <a:endParaRPr/>
          </a:p>
        </p:txBody>
      </p:sp>
      <p:sp>
        <p:nvSpPr>
          <p:cNvPr id="1184" name="Google Shape;1184;h7d4db55d1b86f93_0_62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h7d4db55d1b86f93_0_676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5" name="Google Shape;1205;h7d4db55d1b86f93_0_676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Mean or median?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"salary": [300, 320, 310, 5000],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Find the mean salary.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d["salary"].mean()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Find the median salary.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d["salary"].median()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Find the mean without the 5000 row.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d[d["salary"] &lt; 1000]["salary"].mean()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One outlier drags the mean far from a typical value; the median barely moves.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Mean of rates or rate of sums?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"clicks": [1, 9],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"views":  [4, 12],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Add a rate column (clicks ÷ views).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d["rate"] = d["clicks"] / d["views"]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Average the rate column.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d["rate"].mean()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Divide total clicks by total views.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d["clicks"].sum() / d["views"].sum()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Averaging the row rates gives every row the same weight. Dividing the totals weights each row by its views. The two answers differ.</a:t>
            </a:r>
            <a:endParaRPr/>
          </a:p>
        </p:txBody>
      </p:sp>
      <p:sp>
        <p:nvSpPr>
          <p:cNvPr id="1206" name="Google Shape;1206;h7d4db55d1b86f93_0_676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5" name="Shape 1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6" name="Google Shape;1226;h7d4db55d1b86f93_0_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7" name="Google Shape;1227;h7d4db55d1b86f93_0_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2" name="Shape 1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3" name="Google Shape;1233;h7d4db55d1b86f93_0_929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4" name="Google Shape;1234;h7d4db55d1b86f93_0_929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Average per group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"branch": ["PP", "SR", "PP", "SR"],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"sale":   [10.0, 4.0, 20.0, 6.0],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Average the sale per branch.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d.groupby("branch")["sale"].mean()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Count the rows per branch.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d.groupby("branch").size()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The grouping column becomes the index of the result.</a:t>
            </a:r>
            <a:endParaRPr/>
          </a:p>
        </p:txBody>
      </p:sp>
      <p:sp>
        <p:nvSpPr>
          <p:cNvPr id="1235" name="Google Shape;1235;h7d4db55d1b86f93_0_929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h7d4db55d1b86f93_0_942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8" name="Google Shape;1248;h7d4db55d1b86f93_0_942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Sum, max and the winner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 = pd.DataFrame({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"branch": ["PP", "SR", "PP"],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"sale":   [10, 4, 20],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Total the sale per branch.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d.groupby("branch")["sale"].sum()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Find the biggest single sale per branch.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d.groupby("branch")["sale"].max()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Sort the totals, highest first.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d.groupby("branch")["sale"].sum().sort_values(ascending=False)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Any aggregate can follow groupby. The result is a Series indexed by branch, so it can be sorted like any other.</a:t>
            </a:r>
            <a:endParaRPr/>
          </a:p>
        </p:txBody>
      </p:sp>
      <p:sp>
        <p:nvSpPr>
          <p:cNvPr id="1249" name="Google Shape;1249;h7d4db55d1b86f93_0_942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h7d4db55d1b86f93_0_10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2" name="Google Shape;1262;h7d4db55d1b86f93_0_10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h7d4db55d1b86f93_0_101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9" name="Google Shape;1269;h7d4db55d1b86f93_0_101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Stack two frames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jan = pd.DataFrame({"id": [1, 2],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"amt": [10, 20]})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feb = pd.DataFrame({"id": [3, 4],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"amt": [30, 40]})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Stack jan and feb.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pd.concat([jan, feb])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Stack them again, renumbering the rows.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pd.concat([jan, feb], ignore_index=True)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Stacking keeps each frame's own row labels, so 0 and 1 appear twice. ignore_index=True renumbers them.</a:t>
            </a:r>
            <a:endParaRPr/>
          </a:p>
        </p:txBody>
      </p:sp>
      <p:sp>
        <p:nvSpPr>
          <p:cNvPr id="1270" name="Google Shape;1270;h7d4db55d1b86f93_0_101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h7d4db55d1b86f93_0_1024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3" name="Google Shape;1283;h7d4db55d1b86f93_0_1024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Glue columns side by side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 = pd.DataFrame({"a": [1, 2]},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index=[0, 1])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= pd.DataFrame({"b": [9, 8]},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index=[5, 6])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Put left and right side by side.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pd.concat([left, right], axis=1)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axis=1 aligns on the index. Labels with no partner get NaN, so two rows became four.</a:t>
            </a:r>
            <a:endParaRPr/>
          </a:p>
        </p:txBody>
      </p:sp>
      <p:sp>
        <p:nvSpPr>
          <p:cNvPr id="1284" name="Google Shape;1284;h7d4db55d1b86f93_0_1024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5" name="Shape 1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6" name="Google Shape;1296;h7d4db55d1b86f93_0_1037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7" name="Google Shape;1297;h7d4db55d1b86f93_0_1037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inner then left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= pd.DataFrame({"id": [1, 2,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"n":  ["x", "y", "z"]})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 = pd.DataFrame({"id": [1, 3],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"tier": ["G", "S"]})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Merge a and b on id (inner).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pd.merge(a, b, on="id", how="inner")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Merge them with a left merge.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pd.merge(a, b, on="id", how="left")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inner keeps only matching ids. left keeps every row of a and fills NaN where b has no match.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Keys with different names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= pd.DataFrame({"sku": ["A", "B"],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"qty": [1, 2]})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 = pd.DataFrame({"code": ["A", "B", "Z"],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"name": ["pen", "bag",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"hat"]})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Merge the sales with the catalogue (left).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pd.merge(s, c, left_on="sku", right_on="code", how="left")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Select the catalogue rows that were never sold.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c[~c["code"].isin(s["sku"])]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left_on and right_on name the key in each frame. isin with ~ finds codes with no sale.</a:t>
            </a:r>
            <a:endParaRPr/>
          </a:p>
        </p:txBody>
      </p:sp>
      <p:sp>
        <p:nvSpPr>
          <p:cNvPr id="1298" name="Google Shape;1298;h7d4db55d1b86f93_0_1037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h7d4db55d1b86f93_0_1058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19" name="Google Shape;1319;h7d4db55d1b86f93_0_1058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--- 1. The merge that invents rows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left  = pd.DataFrame({"key": ["a", "b"],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"v": [1, 2]})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right = pd.DataFrame({"key": ["a", "a", "b"],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"w": [10, 20, 30]})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Merge left and right on key.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pd.merge(left, right, on="key")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Key 'a' appears twice in right, so the single 'a' row of left is copied twice. Two rows became three, and v = 1 now appears twice.</a:t>
            </a:r>
            <a:endParaRPr/>
          </a:p>
        </p:txBody>
      </p:sp>
      <p:sp>
        <p:nvSpPr>
          <p:cNvPr id="1320" name="Google Shape;1320;h7d4db55d1b86f93_0_1058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h7d4db55d1b86f93_0_1071:notes"/>
          <p:cNvSpPr/>
          <p:nvPr>
            <p:ph idx="2" type="sldImg"/>
          </p:nvPr>
        </p:nvSpPr>
        <p:spPr>
          <a:xfrm>
            <a:off x="685800" y="857250"/>
            <a:ext cx="54864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3" name="Google Shape;1333;h7d4db55d1b86f93_0_1071:notes"/>
          <p:cNvSpPr txBox="1"/>
          <p:nvPr>
            <p:ph idx="1" type="body"/>
          </p:nvPr>
        </p:nvSpPr>
        <p:spPr>
          <a:xfrm>
            <a:off x="685800" y="3300413"/>
            <a:ext cx="5486400" cy="27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--- 2. Four ways to join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 = pd.DataFrame({"a": [1, 2, 3]},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index=["x", "y", "z"])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 = pd.DataFrame({"b": [10, 20, 30]},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index=["y", "z", "w"])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[1] Join r onto l (the default left join).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l.join(r)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[2] Join them with how='inner'.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l.join(r, how="inner")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[3] Join them with how='outer'.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l.join(r, how="outer")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Why: join matches on the index. how decides which labels survive: left keeps l's, right keeps r's, inner the shared two, outer all four.</a:t>
            </a:r>
            <a:endParaRPr/>
          </a:p>
        </p:txBody>
      </p:sp>
      <p:sp>
        <p:nvSpPr>
          <p:cNvPr id="1334" name="Google Shape;1334;h7d4db55d1b86f93_0_1071:notes"/>
          <p:cNvSpPr txBox="1"/>
          <p:nvPr>
            <p:ph idx="12" type="sldNum"/>
          </p:nvPr>
        </p:nvSpPr>
        <p:spPr>
          <a:xfrm>
            <a:off x="3884613" y="6513910"/>
            <a:ext cx="2971800" cy="34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5" name="Google Shape;45;p6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" name="Google Shape;52;p8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9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6" name="Google Shape;56;p9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" name="Google Shape;57;p9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9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9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" name="Google Shape;60;p9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1" name="Google Shape;61;p9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" name="Google Shape;65;p10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" name="Google Shape;66;p10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8" name="Google Shape;68;p10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1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3" name="Google Shape;73;p11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5" name="Google Shape;75;p11"/>
          <p:cNvSpPr txBox="1"/>
          <p:nvPr>
            <p:ph idx="2" type="title"/>
          </p:nvPr>
        </p:nvSpPr>
        <p:spPr>
          <a:xfrm>
            <a:off x="4835400" y="12156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3" type="subTitle"/>
          </p:nvPr>
        </p:nvSpPr>
        <p:spPr>
          <a:xfrm>
            <a:off x="4835400" y="277505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">
  <p:cSld name="SECTION_TITLE_AND_DESCRIPTION_1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2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1" sz="2800"/>
            </a:lvl9pPr>
          </a:lstStyle>
          <a:p/>
        </p:txBody>
      </p:sp>
      <p:sp>
        <p:nvSpPr>
          <p:cNvPr id="80" name="Google Shape;80;p12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2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b="1"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 1 1">
  <p:cSld name="SECTION_TITLE_AND_DESCRIPTION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/>
          <p:nvPr/>
        </p:nvSpPr>
        <p:spPr>
          <a:xfrm>
            <a:off x="5684300" y="-175"/>
            <a:ext cx="34596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>
            <p:ph type="title"/>
          </p:nvPr>
        </p:nvSpPr>
        <p:spPr>
          <a:xfrm>
            <a:off x="2100" y="8100"/>
            <a:ext cx="56823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29460" y="2769000"/>
            <a:ext cx="50274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8" name="Google Shape;88;p1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3"/>
          <p:cNvSpPr txBox="1"/>
          <p:nvPr>
            <p:ph idx="2" type="title"/>
          </p:nvPr>
        </p:nvSpPr>
        <p:spPr>
          <a:xfrm>
            <a:off x="5684300" y="-3600"/>
            <a:ext cx="3459600" cy="156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b="1"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idx="3" type="subTitle"/>
          </p:nvPr>
        </p:nvSpPr>
        <p:spPr>
          <a:xfrm>
            <a:off x="5883618" y="2775051"/>
            <a:ext cx="3061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None/>
              <a:defRPr sz="2100">
                <a:solidFill>
                  <a:srgbClr val="FFFFFF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93" name="Google Shape;93;p1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Google Shape;95;p15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96" name="Google Shape;96;p15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5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02" name="Google Shape;102;p15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3" name="Google Shape;103;p1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oogle Shape;107;p17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08" name="Google Shape;108;p17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7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7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7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7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3" name="Google Shape;113;p17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14" name="Google Shape;114;p17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5" name="Google Shape;115;p1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 1">
  <p:cSld name="TITLE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7" name="Google Shape;117;p1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8" name="Google Shape;118;p1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3" name="Google Shape;123;p18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b="1" sz="4200"/>
            </a:lvl9pPr>
          </a:lstStyle>
          <a:p/>
        </p:txBody>
      </p:sp>
      <p:sp>
        <p:nvSpPr>
          <p:cNvPr id="124" name="Google Shape;124;p18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6" name="Google Shape;12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99225" y="228600"/>
            <a:ext cx="6109998" cy="127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e2e78876_7_0)">
  <p:cSld name="Title and body (g3e1e2e78876_7_0)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29" name="Google Shape;129;p19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1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(g3e1e2e78876_14_0)">
  <p:cSld name="Title and body (g3e1e2e78876_14_0)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1"/>
            </a:lvl9pPr>
          </a:lstStyle>
          <a:p/>
        </p:txBody>
      </p:sp>
      <p:sp>
        <p:nvSpPr>
          <p:cNvPr id="133" name="Google Shape;133;p20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EC5F82"/>
              </a:buClr>
              <a:buSzPts val="1100"/>
              <a:buFont typeface="Arial"/>
              <a:buNone/>
              <a:defRPr b="1" i="0" sz="11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6DAF2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0" name="Google Shape;140;p2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80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22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44" name="Google Shape;144;p22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5" name="Google Shape;145;p22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6" name="Google Shape;146;p22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65"/>
              </a:spcBef>
              <a:spcAft>
                <a:spcPts val="0"/>
              </a:spcAft>
              <a:buClr>
                <a:srgbClr val="D84568"/>
              </a:buClr>
              <a:buSzPts val="825"/>
              <a:buFont typeface="Arial"/>
              <a:buNone/>
              <a:defRPr b="0" i="1" sz="8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8" name="Google Shape;148;p22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49" name="Google Shape;149;p22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0" name="Google Shape;150;p22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1" name="Google Shape;151;p22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5275" lvl="0" marL="457200" marR="0" algn="l">
              <a:spcBef>
                <a:spcPts val="21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2" name="Google Shape;152;p22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3" name="Google Shape;153;p2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NUMBERED_ROWS_3">
  <p:cSld name="S09_NUMBERED_ROWS_3">
    <p:bg>
      <p:bgPr>
        <a:solidFill>
          <a:srgbClr val="FFFFFF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6" name="Google Shape;156;p2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1400"/>
            </a:lvl9pPr>
          </a:lstStyle>
          <a:p/>
        </p:txBody>
      </p:sp>
      <p:sp>
        <p:nvSpPr>
          <p:cNvPr id="157" name="Google Shape;157;p23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3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23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0" name="Google Shape;160;p23"/>
          <p:cNvSpPr txBox="1"/>
          <p:nvPr>
            <p:ph idx="3" type="body"/>
          </p:nvPr>
        </p:nvSpPr>
        <p:spPr>
          <a:xfrm>
            <a:off x="925830" y="13853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1" name="Google Shape;161;p23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23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3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4" name="Google Shape;164;p23"/>
          <p:cNvSpPr txBox="1"/>
          <p:nvPr>
            <p:ph idx="5" type="body"/>
          </p:nvPr>
        </p:nvSpPr>
        <p:spPr>
          <a:xfrm>
            <a:off x="925830" y="24140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5" name="Google Shape;165;p23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3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lang="en" sz="1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spcBef>
                <a:spcPts val="20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8" name="Google Shape;168;p23"/>
          <p:cNvSpPr txBox="1"/>
          <p:nvPr>
            <p:ph idx="7" type="body"/>
          </p:nvPr>
        </p:nvSpPr>
        <p:spPr>
          <a:xfrm>
            <a:off x="925830" y="34427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200"/>
              </a:spcBef>
              <a:spcAft>
                <a:spcPts val="0"/>
              </a:spcAft>
              <a:buClr>
                <a:srgbClr val="22254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9" name="Google Shape;169;p2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0" lvl="0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sz="800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1_TITLE_NAVY">
  <p:cSld name="S01_TITLE_NAVY">
    <p:bg>
      <p:bgPr>
        <a:solidFill>
          <a:srgbClr val="2A348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5"/>
          <p:cNvSpPr/>
          <p:nvPr/>
        </p:nvSpPr>
        <p:spPr>
          <a:xfrm>
            <a:off x="8206283" y="-573328"/>
            <a:ext cx="1508700" cy="15087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-1508760" y="3154680"/>
            <a:ext cx="3703200" cy="37032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25"/>
          <p:cNvSpPr txBox="1"/>
          <p:nvPr>
            <p:ph type="title"/>
          </p:nvPr>
        </p:nvSpPr>
        <p:spPr>
          <a:xfrm>
            <a:off x="617220" y="1577340"/>
            <a:ext cx="7886700" cy="13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  <a:defRPr b="1" i="0" sz="3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617220" y="2914650"/>
            <a:ext cx="7200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7" name="Google Shape;177;p25"/>
          <p:cNvSpPr txBox="1"/>
          <p:nvPr>
            <p:ph idx="2" type="body"/>
          </p:nvPr>
        </p:nvSpPr>
        <p:spPr>
          <a:xfrm>
            <a:off x="617220" y="3257550"/>
            <a:ext cx="66522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178" name="Google Shape;178;p25"/>
          <p:cNvCxnSpPr/>
          <p:nvPr/>
        </p:nvCxnSpPr>
        <p:spPr>
          <a:xfrm>
            <a:off x="617220" y="384048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25"/>
          <p:cNvSpPr txBox="1"/>
          <p:nvPr>
            <p:ph idx="3" type="body"/>
          </p:nvPr>
        </p:nvSpPr>
        <p:spPr>
          <a:xfrm>
            <a:off x="617220" y="3977640"/>
            <a:ext cx="54864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9DA3D4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0" name="Google Shape;180;p2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9_NUMBERED_ROWS_3">
  <p:cSld name="S09_NUMBERED_ROWS_3">
    <p:bg>
      <p:bgPr>
        <a:solidFill>
          <a:srgbClr val="FFFFFF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3" name="Google Shape;183;p2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184" name="Google Shape;184;p26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6"/>
          <p:cNvSpPr/>
          <p:nvPr/>
        </p:nvSpPr>
        <p:spPr>
          <a:xfrm>
            <a:off x="411480" y="12001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6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7" name="Google Shape;187;p26"/>
          <p:cNvSpPr txBox="1"/>
          <p:nvPr>
            <p:ph idx="3" type="body"/>
          </p:nvPr>
        </p:nvSpPr>
        <p:spPr>
          <a:xfrm>
            <a:off x="925830" y="138531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88" name="Google Shape;188;p26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26"/>
          <p:cNvSpPr/>
          <p:nvPr/>
        </p:nvSpPr>
        <p:spPr>
          <a:xfrm>
            <a:off x="411480" y="22288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6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1" name="Google Shape;191;p26"/>
          <p:cNvSpPr txBox="1"/>
          <p:nvPr>
            <p:ph idx="5" type="body"/>
          </p:nvPr>
        </p:nvSpPr>
        <p:spPr>
          <a:xfrm>
            <a:off x="925830" y="241401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2" name="Google Shape;192;p26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6"/>
          <p:cNvSpPr/>
          <p:nvPr/>
        </p:nvSpPr>
        <p:spPr>
          <a:xfrm>
            <a:off x="411480" y="325755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6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5" name="Google Shape;195;p26"/>
          <p:cNvSpPr txBox="1"/>
          <p:nvPr>
            <p:ph idx="7" type="body"/>
          </p:nvPr>
        </p:nvSpPr>
        <p:spPr>
          <a:xfrm>
            <a:off x="925830" y="3442716"/>
            <a:ext cx="77496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96" name="Google Shape;196;p2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4_SECTION_BREAK_NAVY">
  <p:cSld name="S14_SECTION_BREAK_NAVY">
    <p:bg>
      <p:bgPr>
        <a:solidFill>
          <a:srgbClr val="2A348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7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7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  <a:defRPr b="1" i="0" sz="30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00" name="Google Shape;200;p27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EC5F82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1" name="Google Shape;201;p27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D6DAF2"/>
              </a:buClr>
              <a:buSzPts val="1125"/>
              <a:buFont typeface="Arial"/>
              <a:buNone/>
              <a:defRPr b="0" i="0" sz="112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2" name="Google Shape;202;p2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7_TWO_EXERCISES">
  <p:cSld name="S17_TWO_EXERCISES">
    <p:bg>
      <p:bgPr>
        <a:solidFill>
          <a:srgbClr val="FFFFFF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8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06" name="Google Shape;206;p28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25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7" name="Google Shape;207;p28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8" name="Google Shape;208;p28"/>
          <p:cNvSpPr txBox="1"/>
          <p:nvPr>
            <p:ph idx="4" type="body"/>
          </p:nvPr>
        </p:nvSpPr>
        <p:spPr>
          <a:xfrm>
            <a:off x="411480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6892" lvl="0" marL="457200" marR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761"/>
              <a:buFont typeface="Arial"/>
              <a:buChar char="●"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9462" lvl="1" marL="9144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644"/>
              <a:buFont typeface="Arial"/>
              <a:buChar char="○"/>
              <a:defRPr b="0" i="0" sz="8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2033" lvl="2" marL="13716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527"/>
              <a:buFont typeface="Arial"/>
              <a:buChar char="■"/>
              <a:defRPr b="0" i="0" sz="6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450"/>
              </a:spcBef>
              <a:spcAft>
                <a:spcPts val="45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9" name="Google Shape;209;p28"/>
          <p:cNvSpPr txBox="1"/>
          <p:nvPr>
            <p:ph idx="5" type="body"/>
          </p:nvPr>
        </p:nvSpPr>
        <p:spPr>
          <a:xfrm>
            <a:off x="2811780" y="1988820"/>
            <a:ext cx="150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165"/>
              </a:spcBef>
              <a:spcAft>
                <a:spcPts val="0"/>
              </a:spcAft>
              <a:buClr>
                <a:srgbClr val="6B7085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0" name="Google Shape;210;p28"/>
          <p:cNvSpPr txBox="1"/>
          <p:nvPr>
            <p:ph idx="6" type="body"/>
          </p:nvPr>
        </p:nvSpPr>
        <p:spPr>
          <a:xfrm>
            <a:off x="582930" y="2160270"/>
            <a:ext cx="3703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1" name="Google Shape;211;p28"/>
          <p:cNvSpPr txBox="1"/>
          <p:nvPr>
            <p:ph idx="7" type="body"/>
          </p:nvPr>
        </p:nvSpPr>
        <p:spPr>
          <a:xfrm>
            <a:off x="411480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D84568"/>
              </a:buClr>
              <a:buSzPts val="975"/>
              <a:buFont typeface="Arial"/>
              <a:buNone/>
              <a:defRPr b="1" i="0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2" name="Google Shape;212;p28"/>
          <p:cNvSpPr txBox="1"/>
          <p:nvPr>
            <p:ph idx="8" type="body"/>
          </p:nvPr>
        </p:nvSpPr>
        <p:spPr>
          <a:xfrm>
            <a:off x="411480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3" name="Google Shape;213;p28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225"/>
              </a:spcBef>
              <a:spcAft>
                <a:spcPts val="0"/>
              </a:spcAft>
              <a:buClr>
                <a:srgbClr val="FFFFFF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4" name="Google Shape;214;p28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5" name="Google Shape;215;p28"/>
          <p:cNvSpPr txBox="1"/>
          <p:nvPr>
            <p:ph idx="14" type="body"/>
          </p:nvPr>
        </p:nvSpPr>
        <p:spPr>
          <a:xfrm>
            <a:off x="4684014" y="1200150"/>
            <a:ext cx="4046100" cy="58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76892" lvl="0" marL="457200" marR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761"/>
              <a:buFont typeface="Arial"/>
              <a:buChar char="●"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69462" lvl="1" marL="9144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644"/>
              <a:buFont typeface="Arial"/>
              <a:buChar char="○"/>
              <a:defRPr b="0" i="0" sz="82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2033" lvl="2" marL="13716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527"/>
              <a:buFont typeface="Arial"/>
              <a:buChar char="■"/>
              <a:defRPr b="0" i="0" sz="6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45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450"/>
              </a:spcBef>
              <a:spcAft>
                <a:spcPts val="45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16" name="Google Shape;216;p28"/>
          <p:cNvSpPr txBox="1"/>
          <p:nvPr>
            <p:ph idx="15" type="body"/>
          </p:nvPr>
        </p:nvSpPr>
        <p:spPr>
          <a:xfrm>
            <a:off x="7084314" y="1988820"/>
            <a:ext cx="150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165"/>
              </a:spcBef>
              <a:spcAft>
                <a:spcPts val="0"/>
              </a:spcAft>
              <a:buClr>
                <a:srgbClr val="6B7085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7" name="Google Shape;217;p28"/>
          <p:cNvSpPr txBox="1"/>
          <p:nvPr>
            <p:ph idx="16" type="body"/>
          </p:nvPr>
        </p:nvSpPr>
        <p:spPr>
          <a:xfrm>
            <a:off x="4855464" y="2160270"/>
            <a:ext cx="37032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8" name="Google Shape;218;p28"/>
          <p:cNvSpPr txBox="1"/>
          <p:nvPr>
            <p:ph idx="17" type="body"/>
          </p:nvPr>
        </p:nvSpPr>
        <p:spPr>
          <a:xfrm>
            <a:off x="4684014" y="360045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D84568"/>
              </a:buClr>
              <a:buSzPts val="975"/>
              <a:buFont typeface="Arial"/>
              <a:buNone/>
              <a:defRPr b="1" i="0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9" name="Google Shape;219;p28"/>
          <p:cNvSpPr txBox="1"/>
          <p:nvPr>
            <p:ph idx="18" type="body"/>
          </p:nvPr>
        </p:nvSpPr>
        <p:spPr>
          <a:xfrm>
            <a:off x="4684014" y="3840480"/>
            <a:ext cx="4046100" cy="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0" name="Google Shape;220;p2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6_SPLIT_PANEL">
  <p:cSld name="S06_SPLIT_PANEL">
    <p:bg>
      <p:bgPr>
        <a:solidFill>
          <a:srgbClr val="FFFFFF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"/>
          <p:cNvSpPr/>
          <p:nvPr/>
        </p:nvSpPr>
        <p:spPr>
          <a:xfrm>
            <a:off x="4570857" y="0"/>
            <a:ext cx="45708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24" name="Google Shape;224;p29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5" name="Google Shape;225;p29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6" name="Google Shape;226;p29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27" name="Google Shape;227;p29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65"/>
              </a:spcBef>
              <a:spcAft>
                <a:spcPts val="0"/>
              </a:spcAft>
              <a:buClr>
                <a:srgbClr val="D84568"/>
              </a:buClr>
              <a:buSzPts val="825"/>
              <a:buFont typeface="Arial"/>
              <a:buNone/>
              <a:defRPr b="0" i="1" sz="82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8" name="Google Shape;228;p29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29" name="Google Shape;229;p29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EC5F82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0" name="Google Shape;230;p29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1" name="Google Shape;231;p29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FFFFFF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FFFFFF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2" name="Google Shape;232;p29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3" name="Google Shape;233;p2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2_CONTENT_BULLETS">
  <p:cSld name="S02_CONTENT_BULLETS">
    <p:bg>
      <p:bgPr>
        <a:solidFill>
          <a:srgbClr val="FFFF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6" name="Google Shape;236;p3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37" name="Google Shape;237;p30"/>
          <p:cNvSpPr txBox="1"/>
          <p:nvPr>
            <p:ph idx="2" type="body"/>
          </p:nvPr>
        </p:nvSpPr>
        <p:spPr>
          <a:xfrm>
            <a:off x="480060" y="1062990"/>
            <a:ext cx="8160900" cy="29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8036" lvl="0" marL="457200" marR="0" algn="l"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936"/>
              <a:buFont typeface="Arial"/>
              <a:buChar char="●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060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○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73177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■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574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●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38" name="Google Shape;238;p3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6_CLOSING_NAVY">
  <p:cSld name="S16_CLOSING_NAVY">
    <p:bg>
      <p:bgPr>
        <a:solidFill>
          <a:srgbClr val="2A3480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/>
          <p:nvPr/>
        </p:nvSpPr>
        <p:spPr>
          <a:xfrm>
            <a:off x="8291322" y="-521208"/>
            <a:ext cx="1371600" cy="1371600"/>
          </a:xfrm>
          <a:prstGeom prst="rect">
            <a:avLst/>
          </a:prstGeom>
          <a:solidFill>
            <a:srgbClr val="EC5F82">
              <a:alpha val="2196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1"/>
          <p:cNvSpPr/>
          <p:nvPr/>
        </p:nvSpPr>
        <p:spPr>
          <a:xfrm>
            <a:off x="-1234440" y="3223260"/>
            <a:ext cx="3429000" cy="3429000"/>
          </a:xfrm>
          <a:prstGeom prst="rect">
            <a:avLst/>
          </a:prstGeom>
          <a:solidFill>
            <a:srgbClr val="FFFFFF">
              <a:alpha val="7840"/>
            </a:srgbClr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1"/>
          <p:cNvSpPr txBox="1"/>
          <p:nvPr>
            <p:ph type="title"/>
          </p:nvPr>
        </p:nvSpPr>
        <p:spPr>
          <a:xfrm>
            <a:off x="617220" y="1851660"/>
            <a:ext cx="685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50"/>
              <a:buFont typeface="Roboto"/>
              <a:buNone/>
              <a:defRPr b="1" i="0" sz="315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43" name="Google Shape;243;p31"/>
          <p:cNvSpPr txBox="1"/>
          <p:nvPr>
            <p:ph idx="1" type="body"/>
          </p:nvPr>
        </p:nvSpPr>
        <p:spPr>
          <a:xfrm>
            <a:off x="617220" y="2537460"/>
            <a:ext cx="6515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55"/>
              </a:spcBef>
              <a:spcAft>
                <a:spcPts val="0"/>
              </a:spcAft>
              <a:buClr>
                <a:srgbClr val="D6DAF2"/>
              </a:buClr>
              <a:buSzPts val="1275"/>
              <a:buFont typeface="Arial"/>
              <a:buNone/>
              <a:defRPr b="0" i="0" sz="1275" u="none" cap="none" strike="noStrike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cxnSp>
        <p:nvCxnSpPr>
          <p:cNvPr id="244" name="Google Shape;244;p31"/>
          <p:cNvCxnSpPr/>
          <p:nvPr/>
        </p:nvCxnSpPr>
        <p:spPr>
          <a:xfrm>
            <a:off x="617220" y="3223260"/>
            <a:ext cx="2057400" cy="0"/>
          </a:xfrm>
          <a:prstGeom prst="straightConnector1">
            <a:avLst/>
          </a:prstGeom>
          <a:noFill/>
          <a:ln cap="flat" cmpd="sng" w="19050">
            <a:solidFill>
              <a:srgbClr val="EC5F8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5" name="Google Shape;245;p31"/>
          <p:cNvSpPr txBox="1"/>
          <p:nvPr>
            <p:ph idx="2" type="body"/>
          </p:nvPr>
        </p:nvSpPr>
        <p:spPr>
          <a:xfrm>
            <a:off x="617220" y="3394710"/>
            <a:ext cx="6172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9DA3D4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6" name="Google Shape;246;p3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3_FOUR_CARDS">
  <p:cSld name="S03_FOUR_CARDS"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3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0" name="Google Shape;250;p3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51" name="Google Shape;251;p33"/>
          <p:cNvSpPr/>
          <p:nvPr/>
        </p:nvSpPr>
        <p:spPr>
          <a:xfrm>
            <a:off x="411480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3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3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3"/>
          <p:cNvSpPr txBox="1"/>
          <p:nvPr>
            <p:ph idx="2" type="body"/>
          </p:nvPr>
        </p:nvSpPr>
        <p:spPr>
          <a:xfrm>
            <a:off x="582930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5" name="Google Shape;255;p33"/>
          <p:cNvSpPr txBox="1"/>
          <p:nvPr>
            <p:ph idx="3" type="body"/>
          </p:nvPr>
        </p:nvSpPr>
        <p:spPr>
          <a:xfrm>
            <a:off x="582930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56" name="Google Shape;256;p33"/>
          <p:cNvSpPr/>
          <p:nvPr/>
        </p:nvSpPr>
        <p:spPr>
          <a:xfrm>
            <a:off x="2558034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3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3"/>
          <p:cNvSpPr/>
          <p:nvPr/>
        </p:nvSpPr>
        <p:spPr>
          <a:xfrm>
            <a:off x="2729484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33"/>
          <p:cNvSpPr txBox="1"/>
          <p:nvPr>
            <p:ph idx="4" type="body"/>
          </p:nvPr>
        </p:nvSpPr>
        <p:spPr>
          <a:xfrm>
            <a:off x="2729484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0" name="Google Shape;260;p33"/>
          <p:cNvSpPr txBox="1"/>
          <p:nvPr>
            <p:ph idx="5" type="body"/>
          </p:nvPr>
        </p:nvSpPr>
        <p:spPr>
          <a:xfrm>
            <a:off x="2729484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1" name="Google Shape;261;p33"/>
          <p:cNvSpPr/>
          <p:nvPr/>
        </p:nvSpPr>
        <p:spPr>
          <a:xfrm>
            <a:off x="4704588" y="1062990"/>
            <a:ext cx="1954500" cy="30861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3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33"/>
          <p:cNvSpPr/>
          <p:nvPr/>
        </p:nvSpPr>
        <p:spPr>
          <a:xfrm>
            <a:off x="4876038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33"/>
          <p:cNvSpPr txBox="1"/>
          <p:nvPr>
            <p:ph idx="6" type="body"/>
          </p:nvPr>
        </p:nvSpPr>
        <p:spPr>
          <a:xfrm>
            <a:off x="4876038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5" name="Google Shape;265;p33"/>
          <p:cNvSpPr txBox="1"/>
          <p:nvPr>
            <p:ph idx="7" type="body"/>
          </p:nvPr>
        </p:nvSpPr>
        <p:spPr>
          <a:xfrm>
            <a:off x="4876038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6" name="Google Shape;266;p33"/>
          <p:cNvSpPr/>
          <p:nvPr/>
        </p:nvSpPr>
        <p:spPr>
          <a:xfrm>
            <a:off x="6851142" y="1062990"/>
            <a:ext cx="1954500" cy="30861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33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3"/>
          <p:cNvSpPr/>
          <p:nvPr/>
        </p:nvSpPr>
        <p:spPr>
          <a:xfrm>
            <a:off x="7022592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3"/>
          <p:cNvSpPr txBox="1"/>
          <p:nvPr>
            <p:ph idx="8" type="body"/>
          </p:nvPr>
        </p:nvSpPr>
        <p:spPr>
          <a:xfrm>
            <a:off x="7022592" y="1748790"/>
            <a:ext cx="16116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1A1F5C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0" name="Google Shape;270;p33"/>
          <p:cNvSpPr txBox="1"/>
          <p:nvPr>
            <p:ph idx="9" type="body"/>
          </p:nvPr>
        </p:nvSpPr>
        <p:spPr>
          <a:xfrm>
            <a:off x="7022592" y="2263140"/>
            <a:ext cx="16116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1" name="Google Shape;271;p33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4_THREE_CARDS_ROADMAP">
  <p:cSld name="S04_THREE_CARDS_ROADMAP">
    <p:bg>
      <p:bgPr>
        <a:solidFill>
          <a:srgbClr val="FFFFFF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4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4" name="Google Shape;274;p3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75" name="Google Shape;275;p34"/>
          <p:cNvSpPr/>
          <p:nvPr/>
        </p:nvSpPr>
        <p:spPr>
          <a:xfrm>
            <a:off x="411480" y="1062990"/>
            <a:ext cx="2640300" cy="219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4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4"/>
          <p:cNvSpPr/>
          <p:nvPr/>
        </p:nvSpPr>
        <p:spPr>
          <a:xfrm>
            <a:off x="58293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4"/>
          <p:cNvSpPr txBox="1"/>
          <p:nvPr>
            <p:ph idx="2" type="body"/>
          </p:nvPr>
        </p:nvSpPr>
        <p:spPr>
          <a:xfrm>
            <a:off x="58293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9" name="Google Shape;279;p34"/>
          <p:cNvSpPr txBox="1"/>
          <p:nvPr>
            <p:ph idx="3" type="body"/>
          </p:nvPr>
        </p:nvSpPr>
        <p:spPr>
          <a:xfrm>
            <a:off x="58293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0" name="Google Shape;280;p34"/>
          <p:cNvSpPr/>
          <p:nvPr/>
        </p:nvSpPr>
        <p:spPr>
          <a:xfrm>
            <a:off x="3257550" y="1062990"/>
            <a:ext cx="2640300" cy="219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4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4"/>
          <p:cNvSpPr/>
          <p:nvPr/>
        </p:nvSpPr>
        <p:spPr>
          <a:xfrm>
            <a:off x="342900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4"/>
          <p:cNvSpPr txBox="1"/>
          <p:nvPr>
            <p:ph idx="4" type="body"/>
          </p:nvPr>
        </p:nvSpPr>
        <p:spPr>
          <a:xfrm>
            <a:off x="342900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4" name="Google Shape;284;p34"/>
          <p:cNvSpPr txBox="1"/>
          <p:nvPr>
            <p:ph idx="5" type="body"/>
          </p:nvPr>
        </p:nvSpPr>
        <p:spPr>
          <a:xfrm>
            <a:off x="342900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5" name="Google Shape;285;p34"/>
          <p:cNvSpPr/>
          <p:nvPr/>
        </p:nvSpPr>
        <p:spPr>
          <a:xfrm>
            <a:off x="6103620" y="1062990"/>
            <a:ext cx="2640300" cy="219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4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4"/>
          <p:cNvSpPr/>
          <p:nvPr/>
        </p:nvSpPr>
        <p:spPr>
          <a:xfrm>
            <a:off x="6275070" y="1234440"/>
            <a:ext cx="3771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4"/>
          <p:cNvSpPr txBox="1"/>
          <p:nvPr>
            <p:ph idx="6" type="body"/>
          </p:nvPr>
        </p:nvSpPr>
        <p:spPr>
          <a:xfrm>
            <a:off x="6275070" y="1748790"/>
            <a:ext cx="2297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8"/>
              </a:spcBef>
              <a:spcAft>
                <a:spcPts val="0"/>
              </a:spcAft>
              <a:buClr>
                <a:srgbClr val="293480"/>
              </a:buClr>
              <a:buSzPts val="1238"/>
              <a:buFont typeface="Arial"/>
              <a:buNone/>
              <a:defRPr b="1" i="0" sz="1238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9" name="Google Shape;289;p34"/>
          <p:cNvSpPr txBox="1"/>
          <p:nvPr>
            <p:ph idx="7" type="body"/>
          </p:nvPr>
        </p:nvSpPr>
        <p:spPr>
          <a:xfrm>
            <a:off x="6275070" y="2125980"/>
            <a:ext cx="22974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0" name="Google Shape;290;p34"/>
          <p:cNvSpPr txBox="1"/>
          <p:nvPr>
            <p:ph idx="8" type="body"/>
          </p:nvPr>
        </p:nvSpPr>
        <p:spPr>
          <a:xfrm>
            <a:off x="411480" y="3497580"/>
            <a:ext cx="82983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1" name="Google Shape;291;p3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5_TWO_COLUMN_COMPARE">
  <p:cSld name="S05_TWO_COLUMN_COMPARE">
    <p:bg>
      <p:bgPr>
        <a:solidFill>
          <a:srgbClr val="FFFFFF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5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4" name="Google Shape;294;p3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295" name="Google Shape;295;p35"/>
          <p:cNvSpPr/>
          <p:nvPr/>
        </p:nvSpPr>
        <p:spPr>
          <a:xfrm>
            <a:off x="411480" y="1062990"/>
            <a:ext cx="4046100" cy="28803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5"/>
          <p:cNvSpPr txBox="1"/>
          <p:nvPr>
            <p:ph idx="2" type="body"/>
          </p:nvPr>
        </p:nvSpPr>
        <p:spPr>
          <a:xfrm>
            <a:off x="651510" y="12344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1A1F5C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7" name="Google Shape;297;p35"/>
          <p:cNvSpPr txBox="1"/>
          <p:nvPr>
            <p:ph idx="3" type="body"/>
          </p:nvPr>
        </p:nvSpPr>
        <p:spPr>
          <a:xfrm>
            <a:off x="651510" y="1611630"/>
            <a:ext cx="3566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525"/>
              </a:spcBef>
              <a:spcAft>
                <a:spcPts val="525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98" name="Google Shape;298;p35"/>
          <p:cNvSpPr/>
          <p:nvPr/>
        </p:nvSpPr>
        <p:spPr>
          <a:xfrm>
            <a:off x="4663440" y="1062990"/>
            <a:ext cx="4046100" cy="28803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5"/>
          <p:cNvSpPr txBox="1"/>
          <p:nvPr>
            <p:ph idx="4" type="body"/>
          </p:nvPr>
        </p:nvSpPr>
        <p:spPr>
          <a:xfrm>
            <a:off x="4903470" y="1234440"/>
            <a:ext cx="3566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40"/>
              </a:spcBef>
              <a:spcAft>
                <a:spcPts val="0"/>
              </a:spcAft>
              <a:buClr>
                <a:srgbClr val="D84568"/>
              </a:buClr>
              <a:buSzPts val="1200"/>
              <a:buFont typeface="Arial"/>
              <a:buNone/>
              <a:defRPr b="1" i="0" sz="12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0" name="Google Shape;300;p35"/>
          <p:cNvSpPr txBox="1"/>
          <p:nvPr>
            <p:ph idx="5" type="body"/>
          </p:nvPr>
        </p:nvSpPr>
        <p:spPr>
          <a:xfrm>
            <a:off x="4903470" y="1611630"/>
            <a:ext cx="35661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525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525"/>
              </a:spcBef>
              <a:spcAft>
                <a:spcPts val="525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1" name="Google Shape;301;p35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7_EXERCISE">
  <p:cSld name="S07_EXERCISE"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4" name="Google Shape;304;p3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05" name="Google Shape;305;p36"/>
          <p:cNvSpPr txBox="1"/>
          <p:nvPr>
            <p:ph idx="2" type="body"/>
          </p:nvPr>
        </p:nvSpPr>
        <p:spPr>
          <a:xfrm>
            <a:off x="3497580" y="651510"/>
            <a:ext cx="15087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r">
              <a:spcBef>
                <a:spcPts val="165"/>
              </a:spcBef>
              <a:spcAft>
                <a:spcPts val="0"/>
              </a:spcAft>
              <a:buClr>
                <a:srgbClr val="6B7085"/>
              </a:buClr>
              <a:buSzPts val="825"/>
              <a:buFont typeface="Arial"/>
              <a:buNone/>
              <a:defRPr b="0" i="0" sz="825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6" name="Google Shape;306;p36"/>
          <p:cNvSpPr txBox="1"/>
          <p:nvPr>
            <p:ph idx="3" type="body"/>
          </p:nvPr>
        </p:nvSpPr>
        <p:spPr>
          <a:xfrm>
            <a:off x="582930" y="822960"/>
            <a:ext cx="4389000" cy="21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7" name="Google Shape;307;p36"/>
          <p:cNvSpPr txBox="1"/>
          <p:nvPr>
            <p:ph idx="4" type="body"/>
          </p:nvPr>
        </p:nvSpPr>
        <p:spPr>
          <a:xfrm>
            <a:off x="5417820" y="651510"/>
            <a:ext cx="3291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70"/>
              </a:spcBef>
              <a:spcAft>
                <a:spcPts val="0"/>
              </a:spcAft>
              <a:buClr>
                <a:srgbClr val="293480"/>
              </a:buClr>
              <a:buSzPts val="1350"/>
              <a:buFont typeface="Arial"/>
              <a:buNone/>
              <a:defRPr b="1" i="0" sz="13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8" name="Google Shape;308;p36"/>
          <p:cNvSpPr txBox="1"/>
          <p:nvPr>
            <p:ph idx="5" type="body"/>
          </p:nvPr>
        </p:nvSpPr>
        <p:spPr>
          <a:xfrm>
            <a:off x="5417820" y="994410"/>
            <a:ext cx="32919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09" name="Google Shape;309;p36"/>
          <p:cNvSpPr txBox="1"/>
          <p:nvPr>
            <p:ph idx="6" type="body"/>
          </p:nvPr>
        </p:nvSpPr>
        <p:spPr>
          <a:xfrm>
            <a:off x="5417820" y="2811780"/>
            <a:ext cx="3291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95"/>
              </a:spcBef>
              <a:spcAft>
                <a:spcPts val="0"/>
              </a:spcAft>
              <a:buClr>
                <a:srgbClr val="D84568"/>
              </a:buClr>
              <a:buSzPts val="975"/>
              <a:buFont typeface="Arial"/>
              <a:buNone/>
              <a:defRPr b="1" i="0" sz="975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0" name="Google Shape;310;p36"/>
          <p:cNvSpPr txBox="1"/>
          <p:nvPr>
            <p:ph idx="7" type="body"/>
          </p:nvPr>
        </p:nvSpPr>
        <p:spPr>
          <a:xfrm>
            <a:off x="5417820" y="3051810"/>
            <a:ext cx="32919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1" name="Google Shape;311;p36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08_FLOW_DIAGRAM">
  <p:cSld name="S08_FLOW_DIAGRAM"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7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4" name="Google Shape;314;p3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15" name="Google Shape;315;p37"/>
          <p:cNvSpPr/>
          <p:nvPr/>
        </p:nvSpPr>
        <p:spPr>
          <a:xfrm>
            <a:off x="48006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7"/>
          <p:cNvSpPr txBox="1"/>
          <p:nvPr>
            <p:ph idx="2" type="body"/>
          </p:nvPr>
        </p:nvSpPr>
        <p:spPr>
          <a:xfrm>
            <a:off x="54864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17" name="Google Shape;317;p37"/>
          <p:cNvSpPr/>
          <p:nvPr/>
        </p:nvSpPr>
        <p:spPr>
          <a:xfrm>
            <a:off x="229743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7"/>
          <p:cNvSpPr/>
          <p:nvPr/>
        </p:nvSpPr>
        <p:spPr>
          <a:xfrm>
            <a:off x="2640330" y="120015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7"/>
          <p:cNvSpPr txBox="1"/>
          <p:nvPr>
            <p:ph idx="3" type="body"/>
          </p:nvPr>
        </p:nvSpPr>
        <p:spPr>
          <a:xfrm>
            <a:off x="270891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1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0" name="Google Shape;320;p37"/>
          <p:cNvSpPr/>
          <p:nvPr/>
        </p:nvSpPr>
        <p:spPr>
          <a:xfrm>
            <a:off x="445770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7"/>
          <p:cNvSpPr/>
          <p:nvPr/>
        </p:nvSpPr>
        <p:spPr>
          <a:xfrm>
            <a:off x="4800600" y="1200150"/>
            <a:ext cx="1783200" cy="10287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7"/>
          <p:cNvSpPr txBox="1"/>
          <p:nvPr>
            <p:ph idx="4" type="body"/>
          </p:nvPr>
        </p:nvSpPr>
        <p:spPr>
          <a:xfrm>
            <a:off x="486918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3" name="Google Shape;323;p37"/>
          <p:cNvSpPr/>
          <p:nvPr/>
        </p:nvSpPr>
        <p:spPr>
          <a:xfrm>
            <a:off x="6617970" y="1508760"/>
            <a:ext cx="342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800"/>
              <a:buFont typeface="Roboto"/>
              <a:buNone/>
            </a:pPr>
            <a:r>
              <a:rPr b="0" i="0" lang="en" sz="1800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→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7"/>
          <p:cNvSpPr/>
          <p:nvPr/>
        </p:nvSpPr>
        <p:spPr>
          <a:xfrm>
            <a:off x="6960870" y="1200150"/>
            <a:ext cx="1783200" cy="10287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7"/>
          <p:cNvSpPr txBox="1"/>
          <p:nvPr>
            <p:ph idx="5" type="body"/>
          </p:nvPr>
        </p:nvSpPr>
        <p:spPr>
          <a:xfrm>
            <a:off x="7029450" y="1200150"/>
            <a:ext cx="1645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ctr">
              <a:spcBef>
                <a:spcPts val="188"/>
              </a:spcBef>
              <a:spcAft>
                <a:spcPts val="0"/>
              </a:spcAft>
              <a:buClr>
                <a:srgbClr val="1A1F5C"/>
              </a:buClr>
              <a:buSzPts val="938"/>
              <a:buFont typeface="Arial"/>
              <a:buNone/>
              <a:defRPr b="1" i="0" sz="938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26" name="Google Shape;326;p37"/>
          <p:cNvSpPr txBox="1"/>
          <p:nvPr>
            <p:ph idx="6" type="body"/>
          </p:nvPr>
        </p:nvSpPr>
        <p:spPr>
          <a:xfrm>
            <a:off x="480060" y="2571750"/>
            <a:ext cx="8160900" cy="15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0607" lvl="0" marL="457200" marR="0" algn="l">
              <a:spcBef>
                <a:spcPts val="21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●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7317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○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65748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■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5831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327" name="Google Shape;327;p37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0_NUMBERED_ROWS_4">
  <p:cSld name="S10_NUMBERED_ROWS_4"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8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0" name="Google Shape;330;p3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250"/>
              <a:buFont typeface="Roboto"/>
              <a:buNone/>
              <a:defRPr b="1" i="0" sz="225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31" name="Google Shape;331;p38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8"/>
          <p:cNvSpPr/>
          <p:nvPr/>
        </p:nvSpPr>
        <p:spPr>
          <a:xfrm>
            <a:off x="411480" y="114528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8"/>
          <p:cNvSpPr txBox="1"/>
          <p:nvPr>
            <p:ph idx="2" type="body"/>
          </p:nvPr>
        </p:nvSpPr>
        <p:spPr>
          <a:xfrm>
            <a:off x="925830" y="106299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4" name="Google Shape;334;p38"/>
          <p:cNvSpPr txBox="1"/>
          <p:nvPr>
            <p:ph idx="3" type="body"/>
          </p:nvPr>
        </p:nvSpPr>
        <p:spPr>
          <a:xfrm>
            <a:off x="925830" y="135102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5" name="Google Shape;335;p38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8"/>
          <p:cNvSpPr/>
          <p:nvPr/>
        </p:nvSpPr>
        <p:spPr>
          <a:xfrm>
            <a:off x="411480" y="203682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8"/>
          <p:cNvSpPr txBox="1"/>
          <p:nvPr>
            <p:ph idx="4" type="body"/>
          </p:nvPr>
        </p:nvSpPr>
        <p:spPr>
          <a:xfrm>
            <a:off x="925830" y="195453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8" name="Google Shape;338;p38"/>
          <p:cNvSpPr txBox="1"/>
          <p:nvPr>
            <p:ph idx="5" type="body"/>
          </p:nvPr>
        </p:nvSpPr>
        <p:spPr>
          <a:xfrm>
            <a:off x="925830" y="224256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9" name="Google Shape;339;p38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8"/>
          <p:cNvSpPr/>
          <p:nvPr/>
        </p:nvSpPr>
        <p:spPr>
          <a:xfrm>
            <a:off x="411480" y="29283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8"/>
          <p:cNvSpPr txBox="1"/>
          <p:nvPr>
            <p:ph idx="6" type="body"/>
          </p:nvPr>
        </p:nvSpPr>
        <p:spPr>
          <a:xfrm>
            <a:off x="925830" y="284607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2" name="Google Shape;342;p38"/>
          <p:cNvSpPr txBox="1"/>
          <p:nvPr>
            <p:ph idx="7" type="body"/>
          </p:nvPr>
        </p:nvSpPr>
        <p:spPr>
          <a:xfrm>
            <a:off x="925830" y="313410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3" name="Google Shape;343;p38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11480" y="381990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8"/>
          <p:cNvSpPr txBox="1"/>
          <p:nvPr>
            <p:ph idx="8" type="body"/>
          </p:nvPr>
        </p:nvSpPr>
        <p:spPr>
          <a:xfrm>
            <a:off x="925830" y="373761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33"/>
              </a:spcBef>
              <a:spcAft>
                <a:spcPts val="0"/>
              </a:spcAft>
              <a:buClr>
                <a:srgbClr val="1A1F5C"/>
              </a:buClr>
              <a:buSzPts val="1163"/>
              <a:buFont typeface="Arial"/>
              <a:buNone/>
              <a:defRPr b="1" i="0" sz="11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6" name="Google Shape;346;p38"/>
          <p:cNvSpPr txBox="1"/>
          <p:nvPr>
            <p:ph idx="9" type="body"/>
          </p:nvPr>
        </p:nvSpPr>
        <p:spPr>
          <a:xfrm>
            <a:off x="925830" y="4025646"/>
            <a:ext cx="77496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95"/>
              </a:spcBef>
              <a:spcAft>
                <a:spcPts val="0"/>
              </a:spcAft>
              <a:buClr>
                <a:srgbClr val="222540"/>
              </a:buClr>
              <a:buSzPts val="975"/>
              <a:buFont typeface="Arial"/>
              <a:buNone/>
              <a:defRPr b="0" i="0" sz="975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7" name="Google Shape;347;p38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1_ERRORS_WITH_CODE">
  <p:cSld name="S11_ERRORS_WITH_CODE">
    <p:bg>
      <p:bgPr>
        <a:solidFill>
          <a:srgbClr val="FFFFFF"/>
        </a:solidFill>
      </p:bgPr>
    </p:bg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0" name="Google Shape;350;p3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51" name="Google Shape;351;p39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9"/>
          <p:cNvSpPr/>
          <p:nvPr/>
        </p:nvSpPr>
        <p:spPr>
          <a:xfrm>
            <a:off x="41148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9"/>
          <p:cNvSpPr txBox="1"/>
          <p:nvPr>
            <p:ph idx="2" type="body"/>
          </p:nvPr>
        </p:nvSpPr>
        <p:spPr>
          <a:xfrm>
            <a:off x="857250" y="1062990"/>
            <a:ext cx="37719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4" name="Google Shape;354;p39"/>
          <p:cNvSpPr txBox="1"/>
          <p:nvPr>
            <p:ph idx="3" type="body"/>
          </p:nvPr>
        </p:nvSpPr>
        <p:spPr>
          <a:xfrm>
            <a:off x="857250" y="1440180"/>
            <a:ext cx="35661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5" name="Google Shape;355;p39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39"/>
          <p:cNvSpPr/>
          <p:nvPr/>
        </p:nvSpPr>
        <p:spPr>
          <a:xfrm>
            <a:off x="5006340" y="113157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9"/>
          <p:cNvSpPr txBox="1"/>
          <p:nvPr>
            <p:ph idx="4" type="body"/>
          </p:nvPr>
        </p:nvSpPr>
        <p:spPr>
          <a:xfrm>
            <a:off x="5452110" y="106299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8" name="Google Shape;358;p39"/>
          <p:cNvSpPr txBox="1"/>
          <p:nvPr>
            <p:ph idx="5" type="body"/>
          </p:nvPr>
        </p:nvSpPr>
        <p:spPr>
          <a:xfrm>
            <a:off x="5452110" y="1440180"/>
            <a:ext cx="3429000" cy="123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9" name="Google Shape;359;p39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9"/>
          <p:cNvSpPr/>
          <p:nvPr/>
        </p:nvSpPr>
        <p:spPr>
          <a:xfrm>
            <a:off x="411480" y="2948940"/>
            <a:ext cx="308700" cy="30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9"/>
          <p:cNvSpPr txBox="1"/>
          <p:nvPr>
            <p:ph idx="6" type="body"/>
          </p:nvPr>
        </p:nvSpPr>
        <p:spPr>
          <a:xfrm>
            <a:off x="857250" y="2880360"/>
            <a:ext cx="7886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10"/>
              </a:spcBef>
              <a:spcAft>
                <a:spcPts val="0"/>
              </a:spcAft>
              <a:buClr>
                <a:srgbClr val="1A1F5C"/>
              </a:buClr>
              <a:buSzPts val="1050"/>
              <a:buFont typeface="Arial"/>
              <a:buNone/>
              <a:defRPr b="1" i="0" sz="1050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2" name="Google Shape;362;p39"/>
          <p:cNvSpPr txBox="1"/>
          <p:nvPr>
            <p:ph idx="7" type="body"/>
          </p:nvPr>
        </p:nvSpPr>
        <p:spPr>
          <a:xfrm>
            <a:off x="857250" y="3188970"/>
            <a:ext cx="78867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3" name="Google Shape;363;p39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2_QUIZ_MCQ">
  <p:cSld name="S12_QUIZ_MCQ"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0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6" name="Google Shape;366;p4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67" name="Google Shape;367;p40"/>
          <p:cNvSpPr txBox="1"/>
          <p:nvPr>
            <p:ph idx="2" type="body"/>
          </p:nvPr>
        </p:nvSpPr>
        <p:spPr>
          <a:xfrm>
            <a:off x="411480" y="1062990"/>
            <a:ext cx="4320600" cy="26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8" name="Google Shape;368;p40"/>
          <p:cNvSpPr/>
          <p:nvPr/>
        </p:nvSpPr>
        <p:spPr>
          <a:xfrm>
            <a:off x="5006340" y="116586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0"/>
          <p:cNvSpPr txBox="1"/>
          <p:nvPr>
            <p:ph idx="3" type="body"/>
          </p:nvPr>
        </p:nvSpPr>
        <p:spPr>
          <a:xfrm>
            <a:off x="5177790" y="11658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0" name="Google Shape;370;p40"/>
          <p:cNvSpPr/>
          <p:nvPr/>
        </p:nvSpPr>
        <p:spPr>
          <a:xfrm>
            <a:off x="5006340" y="16802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40"/>
          <p:cNvSpPr txBox="1"/>
          <p:nvPr>
            <p:ph idx="4" type="body"/>
          </p:nvPr>
        </p:nvSpPr>
        <p:spPr>
          <a:xfrm>
            <a:off x="5177790" y="16802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2" name="Google Shape;372;p40"/>
          <p:cNvSpPr/>
          <p:nvPr/>
        </p:nvSpPr>
        <p:spPr>
          <a:xfrm>
            <a:off x="5006340" y="2194560"/>
            <a:ext cx="3703200" cy="411600"/>
          </a:xfrm>
          <a:prstGeom prst="rect">
            <a:avLst/>
          </a:prstGeom>
          <a:solidFill>
            <a:srgbClr val="EAF1FB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0"/>
          <p:cNvSpPr txBox="1"/>
          <p:nvPr>
            <p:ph idx="5" type="body"/>
          </p:nvPr>
        </p:nvSpPr>
        <p:spPr>
          <a:xfrm>
            <a:off x="5177790" y="219456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4" name="Google Shape;374;p40"/>
          <p:cNvSpPr/>
          <p:nvPr/>
        </p:nvSpPr>
        <p:spPr>
          <a:xfrm>
            <a:off x="5006340" y="2708910"/>
            <a:ext cx="3703200" cy="411600"/>
          </a:xfrm>
          <a:prstGeom prst="rect">
            <a:avLst/>
          </a:prstGeom>
          <a:solidFill>
            <a:srgbClr val="F4F4F7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40"/>
          <p:cNvSpPr txBox="1"/>
          <p:nvPr>
            <p:ph idx="6" type="body"/>
          </p:nvPr>
        </p:nvSpPr>
        <p:spPr>
          <a:xfrm>
            <a:off x="5177790" y="2708910"/>
            <a:ext cx="34290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8"/>
              </a:spcBef>
              <a:spcAft>
                <a:spcPts val="0"/>
              </a:spcAft>
              <a:buClr>
                <a:srgbClr val="222540"/>
              </a:buClr>
              <a:buSzPts val="938"/>
              <a:buFont typeface="Arial"/>
              <a:buNone/>
              <a:defRPr b="0" i="0" sz="938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6" name="Google Shape;376;p40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3_FIVE_CARDS">
  <p:cSld name="S13_FIVE_CARDS">
    <p:bg>
      <p:bgPr>
        <a:solidFill>
          <a:srgbClr val="FFFFFF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41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9" name="Google Shape;379;p4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380" name="Google Shape;380;p41"/>
          <p:cNvSpPr/>
          <p:nvPr/>
        </p:nvSpPr>
        <p:spPr>
          <a:xfrm>
            <a:off x="411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1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1"/>
          <p:cNvSpPr/>
          <p:nvPr/>
        </p:nvSpPr>
        <p:spPr>
          <a:xfrm>
            <a:off x="562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1"/>
          <p:cNvSpPr txBox="1"/>
          <p:nvPr>
            <p:ph idx="2" type="body"/>
          </p:nvPr>
        </p:nvSpPr>
        <p:spPr>
          <a:xfrm>
            <a:off x="562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4" name="Google Shape;384;p41"/>
          <p:cNvSpPr txBox="1"/>
          <p:nvPr>
            <p:ph idx="3" type="body"/>
          </p:nvPr>
        </p:nvSpPr>
        <p:spPr>
          <a:xfrm>
            <a:off x="5623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5" name="Google Shape;385;p41"/>
          <p:cNvSpPr/>
          <p:nvPr/>
        </p:nvSpPr>
        <p:spPr>
          <a:xfrm>
            <a:off x="2125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1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1"/>
          <p:cNvSpPr/>
          <p:nvPr/>
        </p:nvSpPr>
        <p:spPr>
          <a:xfrm>
            <a:off x="2276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1"/>
          <p:cNvSpPr txBox="1"/>
          <p:nvPr>
            <p:ph idx="4" type="body"/>
          </p:nvPr>
        </p:nvSpPr>
        <p:spPr>
          <a:xfrm>
            <a:off x="2276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9" name="Google Shape;389;p41"/>
          <p:cNvSpPr txBox="1"/>
          <p:nvPr>
            <p:ph idx="5" type="body"/>
          </p:nvPr>
        </p:nvSpPr>
        <p:spPr>
          <a:xfrm>
            <a:off x="22768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0" name="Google Shape;390;p41"/>
          <p:cNvSpPr/>
          <p:nvPr/>
        </p:nvSpPr>
        <p:spPr>
          <a:xfrm>
            <a:off x="3840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1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41"/>
          <p:cNvSpPr/>
          <p:nvPr/>
        </p:nvSpPr>
        <p:spPr>
          <a:xfrm>
            <a:off x="3991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1"/>
          <p:cNvSpPr txBox="1"/>
          <p:nvPr>
            <p:ph idx="6" type="body"/>
          </p:nvPr>
        </p:nvSpPr>
        <p:spPr>
          <a:xfrm>
            <a:off x="3991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4" name="Google Shape;394;p41"/>
          <p:cNvSpPr txBox="1"/>
          <p:nvPr>
            <p:ph idx="7" type="body"/>
          </p:nvPr>
        </p:nvSpPr>
        <p:spPr>
          <a:xfrm>
            <a:off x="39913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5" name="Google Shape;395;p41"/>
          <p:cNvSpPr/>
          <p:nvPr/>
        </p:nvSpPr>
        <p:spPr>
          <a:xfrm>
            <a:off x="5554980" y="1062990"/>
            <a:ext cx="1563600" cy="2674500"/>
          </a:xfrm>
          <a:prstGeom prst="rect">
            <a:avLst/>
          </a:prstGeom>
          <a:solidFill>
            <a:srgbClr val="F4F4F7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41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1"/>
          <p:cNvSpPr/>
          <p:nvPr/>
        </p:nvSpPr>
        <p:spPr>
          <a:xfrm>
            <a:off x="57058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1"/>
          <p:cNvSpPr txBox="1"/>
          <p:nvPr>
            <p:ph idx="8" type="body"/>
          </p:nvPr>
        </p:nvSpPr>
        <p:spPr>
          <a:xfrm>
            <a:off x="57058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99" name="Google Shape;399;p41"/>
          <p:cNvSpPr txBox="1"/>
          <p:nvPr>
            <p:ph idx="9" type="body"/>
          </p:nvPr>
        </p:nvSpPr>
        <p:spPr>
          <a:xfrm>
            <a:off x="57058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0" name="Google Shape;400;p41"/>
          <p:cNvSpPr/>
          <p:nvPr/>
        </p:nvSpPr>
        <p:spPr>
          <a:xfrm>
            <a:off x="7269480" y="1062990"/>
            <a:ext cx="1563600" cy="2674500"/>
          </a:xfrm>
          <a:prstGeom prst="rect">
            <a:avLst/>
          </a:prstGeom>
          <a:solidFill>
            <a:srgbClr val="EAF1FB"/>
          </a:solidFill>
          <a:ln>
            <a:noFill/>
          </a:ln>
          <a:effectLst>
            <a:outerShdw blurRad="76200" rotWithShape="0" algn="bl" dir="5400000" dist="28575">
              <a:srgbClr val="1B2430">
                <a:alpha val="12160"/>
              </a:srgbClr>
            </a:outerShdw>
          </a:effectLst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1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1"/>
          <p:cNvSpPr/>
          <p:nvPr/>
        </p:nvSpPr>
        <p:spPr>
          <a:xfrm>
            <a:off x="7420356" y="1213866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/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1"/>
          <p:cNvSpPr txBox="1"/>
          <p:nvPr>
            <p:ph idx="13" type="body"/>
          </p:nvPr>
        </p:nvSpPr>
        <p:spPr>
          <a:xfrm>
            <a:off x="7420356" y="1714500"/>
            <a:ext cx="12618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225"/>
              </a:spcBef>
              <a:spcAft>
                <a:spcPts val="0"/>
              </a:spcAft>
              <a:buClr>
                <a:srgbClr val="1A1F5C"/>
              </a:buClr>
              <a:buSzPts val="1125"/>
              <a:buFont typeface="Arial"/>
              <a:buNone/>
              <a:defRPr b="1" i="0" sz="1125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4" name="Google Shape;404;p41"/>
          <p:cNvSpPr txBox="1"/>
          <p:nvPr>
            <p:ph idx="14" type="body"/>
          </p:nvPr>
        </p:nvSpPr>
        <p:spPr>
          <a:xfrm>
            <a:off x="7420356" y="2228850"/>
            <a:ext cx="12618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lnSpc>
                <a:spcPct val="120000"/>
              </a:lnSpc>
              <a:spcBef>
                <a:spcPts val="180"/>
              </a:spcBef>
              <a:spcAft>
                <a:spcPts val="0"/>
              </a:spcAft>
              <a:buClr>
                <a:srgbClr val="22254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5" name="Google Shape;405;p41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15_CONTENT_IMAGE_RIGHT">
  <p:cSld name="S15_CONTENT_IMAGE_RIGHT">
    <p:bg>
      <p:bgPr>
        <a:solidFill>
          <a:srgbClr val="FFFFFF"/>
        </a:solid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180"/>
              </a:spcBef>
              <a:spcAft>
                <a:spcPts val="0"/>
              </a:spcAft>
              <a:buClr>
                <a:srgbClr val="D84568"/>
              </a:buClr>
              <a:buSzPts val="900"/>
              <a:buFont typeface="Arial"/>
              <a:buNone/>
              <a:defRPr b="1" i="0" sz="900" u="none" cap="none" strike="noStrike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8" name="Google Shape;408;p4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  <a:defRPr b="1" i="0" sz="2100" u="none" cap="none" strike="noStrike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2pPr>
            <a:lvl3pPr lvl="2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3pPr>
            <a:lvl4pPr lvl="3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4pPr>
            <a:lvl5pPr lvl="4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5pPr>
            <a:lvl6pPr lvl="5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6pPr>
            <a:lvl7pPr lvl="6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7pPr>
            <a:lvl8pPr lvl="7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8pPr>
            <a:lvl9pPr lvl="8">
              <a:spcBef>
                <a:spcPts val="0"/>
              </a:spcBef>
              <a:spcAft>
                <a:spcPts val="0"/>
              </a:spcAft>
              <a:buSzPts val="1050"/>
              <a:buNone/>
              <a:defRPr sz="1350"/>
            </a:lvl9pPr>
          </a:lstStyle>
          <a:p/>
        </p:txBody>
      </p:sp>
      <p:sp>
        <p:nvSpPr>
          <p:cNvPr id="409" name="Google Shape;409;p42"/>
          <p:cNvSpPr txBox="1"/>
          <p:nvPr>
            <p:ph idx="2" type="body"/>
          </p:nvPr>
        </p:nvSpPr>
        <p:spPr>
          <a:xfrm>
            <a:off x="411480" y="1062990"/>
            <a:ext cx="38406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88036" lvl="0" marL="457200" marR="0" algn="l">
              <a:spcBef>
                <a:spcPts val="240"/>
              </a:spcBef>
              <a:spcAft>
                <a:spcPts val="0"/>
              </a:spcAft>
              <a:buClr>
                <a:srgbClr val="222540"/>
              </a:buClr>
              <a:buSzPts val="936"/>
              <a:buFont typeface="Arial"/>
              <a:buChar char="●"/>
              <a:defRPr b="0" i="0" sz="12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80607" lvl="1" marL="914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819"/>
              <a:buFont typeface="Arial"/>
              <a:buChar char="○"/>
              <a:defRPr b="0" i="0" sz="10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73177" lvl="2" marL="1371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702"/>
              <a:buFont typeface="Arial"/>
              <a:buChar char="■"/>
              <a:defRPr b="0" i="0" sz="9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65748" lvl="3" marL="18288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585"/>
              <a:buFont typeface="Arial"/>
              <a:buChar char="●"/>
              <a:defRPr b="0" i="0" sz="75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58318" lvl="4" marL="22860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58318" lvl="5" marL="27432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58318" lvl="6" marL="32004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●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58318" lvl="7" marL="3657600" marR="0" algn="l">
              <a:spcBef>
                <a:spcPts val="600"/>
              </a:spcBef>
              <a:spcAft>
                <a:spcPts val="0"/>
              </a:spcAft>
              <a:buClr>
                <a:srgbClr val="222540"/>
              </a:buClr>
              <a:buSzPts val="468"/>
              <a:buFont typeface="Arial"/>
              <a:buChar char="○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58318" lvl="8" marL="4114800" marR="0" algn="l">
              <a:spcBef>
                <a:spcPts val="600"/>
              </a:spcBef>
              <a:spcAft>
                <a:spcPts val="600"/>
              </a:spcAft>
              <a:buClr>
                <a:srgbClr val="222540"/>
              </a:buClr>
              <a:buSzPts val="468"/>
              <a:buFont typeface="Arial"/>
              <a:buChar char="■"/>
              <a:defRPr b="0" i="0" sz="600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410" name="Google Shape;410;p42"/>
          <p:cNvSpPr txBox="1"/>
          <p:nvPr>
            <p:ph idx="3" type="body"/>
          </p:nvPr>
        </p:nvSpPr>
        <p:spPr>
          <a:xfrm>
            <a:off x="4457700" y="1062990"/>
            <a:ext cx="4320600" cy="305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marR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1" name="Google Shape;411;p42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23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38.xml"/><Relationship Id="rId5" Type="http://schemas.openxmlformats.org/officeDocument/2006/relationships/slideLayout" Target="../slideLayouts/slideLayout27.xml"/><Relationship Id="rId19" Type="http://schemas.openxmlformats.org/officeDocument/2006/relationships/theme" Target="../theme/theme3.xml"/><Relationship Id="rId6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40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/>
          <p:nvPr>
            <p:ph idx="12" type="sldNum"/>
          </p:nvPr>
        </p:nvSpPr>
        <p:spPr>
          <a:xfrm>
            <a:off x="8593074" y="4800600"/>
            <a:ext cx="3429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spcBef>
                <a:spcPts val="0"/>
              </a:spcBef>
              <a:buNone/>
              <a:defRPr b="0" i="0" sz="750" u="none" cap="none" strike="noStrike">
                <a:solidFill>
                  <a:srgbClr val="6B7085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6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3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4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Relationship Id="rId4" Type="http://schemas.openxmlformats.org/officeDocument/2006/relationships/image" Target="../media/image1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Relationship Id="rId4" Type="http://schemas.openxmlformats.org/officeDocument/2006/relationships/image" Target="../media/image2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27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2.png"/><Relationship Id="rId4" Type="http://schemas.openxmlformats.org/officeDocument/2006/relationships/image" Target="../media/image3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png"/><Relationship Id="rId4" Type="http://schemas.openxmlformats.org/officeDocument/2006/relationships/image" Target="../media/image40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png"/><Relationship Id="rId4" Type="http://schemas.openxmlformats.org/officeDocument/2006/relationships/image" Target="../media/image3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1.png"/><Relationship Id="rId4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1.png"/><Relationship Id="rId4" Type="http://schemas.openxmlformats.org/officeDocument/2006/relationships/image" Target="../media/image3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1.png"/><Relationship Id="rId4" Type="http://schemas.openxmlformats.org/officeDocument/2006/relationships/image" Target="../media/image3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png"/><Relationship Id="rId4" Type="http://schemas.openxmlformats.org/officeDocument/2006/relationships/image" Target="../media/image45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png"/><Relationship Id="rId4" Type="http://schemas.openxmlformats.org/officeDocument/2006/relationships/image" Target="../media/image4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7.png"/><Relationship Id="rId4" Type="http://schemas.openxmlformats.org/officeDocument/2006/relationships/image" Target="../media/image49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7.png"/><Relationship Id="rId4" Type="http://schemas.openxmlformats.org/officeDocument/2006/relationships/image" Target="../media/image53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83.png"/><Relationship Id="rId4" Type="http://schemas.openxmlformats.org/officeDocument/2006/relationships/image" Target="../media/image5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4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78.png"/><Relationship Id="rId4" Type="http://schemas.openxmlformats.org/officeDocument/2006/relationships/image" Target="../media/image61.png"/><Relationship Id="rId5" Type="http://schemas.openxmlformats.org/officeDocument/2006/relationships/image" Target="../media/image4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47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8.png"/><Relationship Id="rId4" Type="http://schemas.openxmlformats.org/officeDocument/2006/relationships/image" Target="../media/image52.png"/><Relationship Id="rId5" Type="http://schemas.openxmlformats.org/officeDocument/2006/relationships/image" Target="../media/image60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88.png"/><Relationship Id="rId4" Type="http://schemas.openxmlformats.org/officeDocument/2006/relationships/image" Target="../media/image55.png"/><Relationship Id="rId5" Type="http://schemas.openxmlformats.org/officeDocument/2006/relationships/image" Target="../media/image59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88.png"/><Relationship Id="rId4" Type="http://schemas.openxmlformats.org/officeDocument/2006/relationships/image" Target="../media/image68.png"/><Relationship Id="rId5" Type="http://schemas.openxmlformats.org/officeDocument/2006/relationships/image" Target="../media/image5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88.png"/><Relationship Id="rId4" Type="http://schemas.openxmlformats.org/officeDocument/2006/relationships/image" Target="../media/image58.png"/><Relationship Id="rId5" Type="http://schemas.openxmlformats.org/officeDocument/2006/relationships/image" Target="../media/image65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2.png"/><Relationship Id="rId4" Type="http://schemas.openxmlformats.org/officeDocument/2006/relationships/image" Target="../media/image6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9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3.png"/><Relationship Id="rId4" Type="http://schemas.openxmlformats.org/officeDocument/2006/relationships/image" Target="../media/image67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0.png"/><Relationship Id="rId4" Type="http://schemas.openxmlformats.org/officeDocument/2006/relationships/image" Target="../media/image64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87.png"/><Relationship Id="rId4" Type="http://schemas.openxmlformats.org/officeDocument/2006/relationships/image" Target="../media/image72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9.png"/><Relationship Id="rId4" Type="http://schemas.openxmlformats.org/officeDocument/2006/relationships/image" Target="../media/image82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80.png"/><Relationship Id="rId4" Type="http://schemas.openxmlformats.org/officeDocument/2006/relationships/image" Target="../media/image75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73.png"/><Relationship Id="rId4" Type="http://schemas.openxmlformats.org/officeDocument/2006/relationships/image" Target="../media/image84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6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1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9.png"/><Relationship Id="rId4" Type="http://schemas.openxmlformats.org/officeDocument/2006/relationships/image" Target="../media/image85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0.png"/><Relationship Id="rId4" Type="http://schemas.openxmlformats.org/officeDocument/2006/relationships/image" Target="../media/image9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1.pn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92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95.png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97.png"/><Relationship Id="rId4" Type="http://schemas.openxmlformats.org/officeDocument/2006/relationships/image" Target="../media/image93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94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9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3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Pandas.DataFrame</a:t>
            </a:r>
            <a:endParaRPr/>
          </a:p>
        </p:txBody>
      </p:sp>
      <p:sp>
        <p:nvSpPr>
          <p:cNvPr id="417" name="Google Shape;417;p43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3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44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Pandas.DataFrame</a:t>
            </a:r>
            <a:endParaRPr/>
          </a:p>
        </p:txBody>
      </p:sp>
      <p:sp>
        <p:nvSpPr>
          <p:cNvPr id="424" name="Google Shape;424;p44"/>
          <p:cNvSpPr txBox="1"/>
          <p:nvPr>
            <p:ph idx="1" type="body"/>
          </p:nvPr>
        </p:nvSpPr>
        <p:spPr>
          <a:xfrm>
            <a:off x="311700" y="892075"/>
            <a:ext cx="4335900" cy="17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We can think of a DataFrame as a bunch of Series objects put together to share the same index</a:t>
            </a:r>
            <a:endParaRPr/>
          </a:p>
        </p:txBody>
      </p:sp>
      <p:pic>
        <p:nvPicPr>
          <p:cNvPr id="425" name="Google Shape;425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3991" y="-43950"/>
            <a:ext cx="3934917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5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DataFrame from Series</a:t>
            </a:r>
            <a:endParaRPr/>
          </a:p>
        </p:txBody>
      </p:sp>
      <p:sp>
        <p:nvSpPr>
          <p:cNvPr id="431" name="Google Shape;431;p45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432" name="Google Shape;43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1508250"/>
            <a:ext cx="4462550" cy="1996426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45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DataFrame from dict</a:t>
            </a:r>
            <a:endParaRPr/>
          </a:p>
        </p:txBody>
      </p:sp>
      <p:sp>
        <p:nvSpPr>
          <p:cNvPr id="434" name="Google Shape;434;p45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775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rgbClr val="222540"/>
                </a:solidFill>
              </a:rPr>
              <a:t>Pass a </a:t>
            </a:r>
            <a:r>
              <a:rPr lang="en" sz="1400">
                <a:solidFill>
                  <a:srgbClr val="D84568"/>
                </a:solidFill>
              </a:rPr>
              <a:t>dict of Series</a:t>
            </a:r>
            <a:r>
              <a:rPr b="0" lang="en" sz="1400">
                <a:solidFill>
                  <a:srgbClr val="222540"/>
                </a:solidFill>
              </a:rPr>
              <a:t> — keys become column names.</a:t>
            </a:r>
            <a:endParaRPr/>
          </a:p>
        </p:txBody>
      </p:sp>
      <p:pic>
        <p:nvPicPr>
          <p:cNvPr id="435" name="Google Shape;435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400" y="1572600"/>
            <a:ext cx="3776101" cy="2787950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45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6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5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45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0" lang="en" sz="1400">
                <a:solidFill>
                  <a:schemeClr val="lt1"/>
                </a:solidFill>
              </a:rPr>
              <a:t>Or a </a:t>
            </a:r>
            <a:r>
              <a:rPr lang="en" sz="1400">
                <a:solidFill>
                  <a:srgbClr val="FFFF00"/>
                </a:solidFill>
              </a:rPr>
              <a:t>dict of lists</a:t>
            </a:r>
            <a:r>
              <a:rPr b="0" lang="en" sz="1400">
                <a:solidFill>
                  <a:schemeClr val="lt1"/>
                </a:solidFill>
              </a:rPr>
              <a:t> — the most common way.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39" name="Google Shape;439;p45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6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Pandas.DataFrame from Row-Columned file</a:t>
            </a:r>
            <a:endParaRPr/>
          </a:p>
        </p:txBody>
      </p:sp>
      <p:pic>
        <p:nvPicPr>
          <p:cNvPr id="445" name="Google Shape;44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5825" y="1030475"/>
            <a:ext cx="3865850" cy="3227025"/>
          </a:xfrm>
          <a:prstGeom prst="rect">
            <a:avLst/>
          </a:prstGeom>
          <a:noFill/>
          <a:ln>
            <a:noFill/>
          </a:ln>
        </p:spPr>
      </p:pic>
      <p:sp>
        <p:nvSpPr>
          <p:cNvPr id="446" name="Google Shape;446;p46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400"/>
              <a:buChar char="•"/>
            </a:pPr>
            <a:r>
              <a:rPr lang="en" sz="1400">
                <a:solidFill>
                  <a:srgbClr val="D84568"/>
                </a:solidFill>
              </a:rPr>
              <a:t>pd.read_csv(‘file_path’)</a:t>
            </a:r>
            <a:r>
              <a:rPr lang="en" sz="1400"/>
              <a:t> loads a comma-separated file.</a:t>
            </a:r>
            <a:endParaRPr sz="1400"/>
          </a:p>
          <a:p>
            <a:pPr indent="-342900" lvl="0" marL="342900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D84568"/>
              </a:buClr>
              <a:buSzPts val="1400"/>
              <a:buChar char="•"/>
            </a:pPr>
            <a:r>
              <a:rPr lang="en" sz="1400">
                <a:solidFill>
                  <a:srgbClr val="D84568"/>
                </a:solidFill>
              </a:rPr>
              <a:t>pd.read_excel() / pd.read_json()</a:t>
            </a:r>
            <a:r>
              <a:rPr lang="en" sz="1400"/>
              <a:t> handle other(excel, json) formats.</a:t>
            </a:r>
            <a:endParaRPr sz="1400"/>
          </a:p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46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6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46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46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46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27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6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7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DataFrame Structure </a:t>
            </a:r>
            <a:endParaRPr/>
          </a:p>
        </p:txBody>
      </p:sp>
      <p:sp>
        <p:nvSpPr>
          <p:cNvPr id="457" name="Google Shape;457;p47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47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Display DataFrame Props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47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0" name="Google Shape;46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75500" y="1799450"/>
            <a:ext cx="4276724" cy="2602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4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225" y="1560900"/>
            <a:ext cx="2681627" cy="3505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48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Read / Query DataFrame</a:t>
            </a:r>
            <a:endParaRPr/>
          </a:p>
        </p:txBody>
      </p:sp>
      <p:sp>
        <p:nvSpPr>
          <p:cNvPr id="467" name="Google Shape;467;p48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8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9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Getting multiple columns</a:t>
            </a:r>
            <a:endParaRPr/>
          </a:p>
        </p:txBody>
      </p:sp>
      <p:sp>
        <p:nvSpPr>
          <p:cNvPr id="474" name="Google Shape;474;p4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/>
              <a:t>Getting a column </a:t>
            </a:r>
            <a:endParaRPr/>
          </a:p>
        </p:txBody>
      </p:sp>
      <p:sp>
        <p:nvSpPr>
          <p:cNvPr id="475" name="Google Shape;475;p49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49"/>
          <p:cNvSpPr txBox="1"/>
          <p:nvPr>
            <p:ph idx="2" type="body"/>
          </p:nvPr>
        </p:nvSpPr>
        <p:spPr>
          <a:xfrm>
            <a:off x="460505" y="929703"/>
            <a:ext cx="39090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270"/>
              </a:spcBef>
              <a:spcAft>
                <a:spcPts val="1200"/>
              </a:spcAft>
              <a:buNone/>
            </a:pPr>
            <a:r>
              <a:rPr b="0" lang="en"/>
              <a:t>Cautious: this will return </a:t>
            </a:r>
            <a:r>
              <a:rPr lang="en">
                <a:solidFill>
                  <a:schemeClr val="accent5"/>
                </a:solidFill>
              </a:rPr>
              <a:t>Series</a:t>
            </a:r>
            <a:r>
              <a:rPr b="0" lang="en"/>
              <a:t>, not Dataframe</a:t>
            </a:r>
            <a:endParaRPr b="0"/>
          </a:p>
        </p:txBody>
      </p:sp>
      <p:pic>
        <p:nvPicPr>
          <p:cNvPr id="477" name="Google Shape;47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503" y="1335775"/>
            <a:ext cx="3467874" cy="350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91149" y="1276400"/>
            <a:ext cx="2467275" cy="3708425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9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6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9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9"/>
          <p:cNvSpPr txBox="1"/>
          <p:nvPr>
            <p:ph idx="7" type="body"/>
          </p:nvPr>
        </p:nvSpPr>
        <p:spPr>
          <a:xfrm>
            <a:off x="4928492" y="929703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270"/>
              </a:spcBef>
              <a:spcAft>
                <a:spcPts val="1200"/>
              </a:spcAft>
              <a:buNone/>
            </a:pPr>
            <a:r>
              <a:rPr lang="en"/>
              <a:t>Cautious: this will return </a:t>
            </a:r>
            <a:r>
              <a:rPr lang="en">
                <a:solidFill>
                  <a:schemeClr val="accent5"/>
                </a:solidFill>
              </a:rPr>
              <a:t>Dataframe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482" name="Google Shape;482;p49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50"/>
          <p:cNvSpPr/>
          <p:nvPr/>
        </p:nvSpPr>
        <p:spPr>
          <a:xfrm>
            <a:off x="4572007" y="0"/>
            <a:ext cx="45720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50"/>
          <p:cNvSpPr txBox="1"/>
          <p:nvPr/>
        </p:nvSpPr>
        <p:spPr>
          <a:xfrm>
            <a:off x="411491" y="219456"/>
            <a:ext cx="651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Getting data by Label &amp; Position</a:t>
            </a:r>
            <a:endParaRPr sz="1050"/>
          </a:p>
        </p:txBody>
      </p:sp>
      <p:sp>
        <p:nvSpPr>
          <p:cNvPr id="490" name="Google Shape;490;p50"/>
          <p:cNvSpPr txBox="1"/>
          <p:nvPr/>
        </p:nvSpPr>
        <p:spPr>
          <a:xfrm>
            <a:off x="411491" y="617220"/>
            <a:ext cx="61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LABEL VS POSITION</a:t>
            </a:r>
            <a:endParaRPr sz="1050"/>
          </a:p>
        </p:txBody>
      </p:sp>
      <p:sp>
        <p:nvSpPr>
          <p:cNvPr id="491" name="Google Shape;491;p50"/>
          <p:cNvSpPr txBox="1"/>
          <p:nvPr/>
        </p:nvSpPr>
        <p:spPr>
          <a:xfrm>
            <a:off x="411491" y="1062990"/>
            <a:ext cx="3909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Two ways to point at data.</a:t>
            </a:r>
            <a:endParaRPr sz="1050"/>
          </a:p>
        </p:txBody>
      </p:sp>
      <p:sp>
        <p:nvSpPr>
          <p:cNvPr id="492" name="Google Shape;492;p50"/>
          <p:cNvSpPr txBox="1"/>
          <p:nvPr/>
        </p:nvSpPr>
        <p:spPr>
          <a:xfrm>
            <a:off x="411491" y="1405889"/>
            <a:ext cx="39093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595" lvl="0" marL="164595" marR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125"/>
              <a:buFont typeface="Roboto"/>
              <a:buChar char="•"/>
            </a:pP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loc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selects by </a:t>
            </a: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label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the index and column </a:t>
            </a:r>
            <a:r>
              <a:rPr b="0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names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64595" lvl="0" marL="164595" marR="0" rtl="0" algn="l">
              <a:spcBef>
                <a:spcPts val="600"/>
              </a:spcBef>
              <a:spcAft>
                <a:spcPts val="0"/>
              </a:spcAft>
              <a:buClr>
                <a:srgbClr val="EC5F82"/>
              </a:buClr>
              <a:buSzPts val="1125"/>
              <a:buFont typeface="Roboto"/>
              <a:buChar char="•"/>
            </a:pP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iloc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selects by </a:t>
            </a: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position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integer row/column </a:t>
            </a:r>
            <a:r>
              <a:rPr b="0" i="0" lang="en" sz="1125">
                <a:solidFill>
                  <a:schemeClr val="accent4"/>
                </a:solidFill>
                <a:latin typeface="Roboto"/>
                <a:ea typeface="Roboto"/>
                <a:cs typeface="Roboto"/>
                <a:sym typeface="Roboto"/>
              </a:rPr>
              <a:t>number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sp>
        <p:nvSpPr>
          <p:cNvPr id="493" name="Google Shape;493;p50"/>
          <p:cNvSpPr txBox="1"/>
          <p:nvPr/>
        </p:nvSpPr>
        <p:spPr>
          <a:xfrm>
            <a:off x="8504147" y="4834890"/>
            <a:ext cx="5487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/>
          </a:p>
        </p:txBody>
      </p:sp>
      <p:pic>
        <p:nvPicPr>
          <p:cNvPr descr="dataset.png" id="494" name="Google Shape;49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0700" y="759445"/>
            <a:ext cx="3954667" cy="1716207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825" y="2247909"/>
            <a:ext cx="2448727" cy="164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50"/>
          <p:cNvPicPr preferRelativeResize="0"/>
          <p:nvPr/>
        </p:nvPicPr>
        <p:blipFill rotWithShape="1">
          <a:blip r:embed="rId5">
            <a:alphaModFix/>
          </a:blip>
          <a:srcRect b="0" l="12930" r="0" t="0"/>
          <a:stretch/>
        </p:blipFill>
        <p:spPr>
          <a:xfrm>
            <a:off x="4985000" y="2475650"/>
            <a:ext cx="3511834" cy="13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1"/>
          <p:cNvSpPr txBox="1"/>
          <p:nvPr>
            <p:ph type="title"/>
          </p:nvPr>
        </p:nvSpPr>
        <p:spPr>
          <a:xfrm>
            <a:off x="411480" y="219456"/>
            <a:ext cx="3909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Slicing by Position</a:t>
            </a:r>
            <a:endParaRPr sz="2100"/>
          </a:p>
        </p:txBody>
      </p:sp>
      <p:sp>
        <p:nvSpPr>
          <p:cNvPr id="503" name="Google Shape;503;p51"/>
          <p:cNvSpPr txBox="1"/>
          <p:nvPr>
            <p:ph idx="1" type="body"/>
          </p:nvPr>
        </p:nvSpPr>
        <p:spPr>
          <a:xfrm>
            <a:off x="411480" y="61722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pc="150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 &amp; COLUMN NUMBER  ·  iloc</a:t>
            </a:r>
            <a:endParaRPr spc="150" sz="900"/>
          </a:p>
        </p:txBody>
      </p:sp>
      <p:sp>
        <p:nvSpPr>
          <p:cNvPr id="504" name="Google Shape;504;p51"/>
          <p:cNvSpPr txBox="1"/>
          <p:nvPr>
            <p:ph idx="3" type="body"/>
          </p:nvPr>
        </p:nvSpPr>
        <p:spPr>
          <a:xfrm>
            <a:off x="411480" y="20231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DataFrame supports slicing just like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Python strings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Rows only: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df.iloc[2:4]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the column part is optional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Columns only: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df.iloc[:, 3:5]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a bare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keeps every row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Positions start at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the end is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excluded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so iloc[2:4] returns rows 2 and 3</a:t>
            </a:r>
            <a:endParaRPr sz="1050"/>
          </a:p>
        </p:txBody>
      </p:sp>
      <p:pic>
        <p:nvPicPr>
          <p:cNvPr descr="Code screenshot: iloc" id="505" name="Google Shape;505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852265"/>
            <a:ext cx="4090796" cy="371329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51"/>
          <p:cNvSpPr/>
          <p:nvPr/>
        </p:nvSpPr>
        <p:spPr>
          <a:xfrm>
            <a:off x="411480" y="1028700"/>
            <a:ext cx="3909300" cy="342900"/>
          </a:xfrm>
          <a:prstGeom prst="roundRect">
            <a:avLst>
              <a:gd fmla="val 24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Syntax: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df.iloc[row_start:row_end:step]</a:t>
            </a:r>
            <a:endParaRPr sz="1050"/>
          </a:p>
        </p:txBody>
      </p:sp>
      <p:sp>
        <p:nvSpPr>
          <p:cNvPr id="507" name="Google Shape;507;p51"/>
          <p:cNvSpPr/>
          <p:nvPr/>
        </p:nvSpPr>
        <p:spPr>
          <a:xfrm>
            <a:off x="411480" y="1508760"/>
            <a:ext cx="3909300" cy="342900"/>
          </a:xfrm>
          <a:prstGeom prst="roundRect">
            <a:avLst>
              <a:gd fmla="val 24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Syntax: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df.iloc[row_start:row_end:step, col_start:col_stop:step]</a:t>
            </a:r>
            <a:endParaRPr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2"/>
          <p:cNvSpPr txBox="1"/>
          <p:nvPr>
            <p:ph type="title"/>
          </p:nvPr>
        </p:nvSpPr>
        <p:spPr>
          <a:xfrm>
            <a:off x="411480" y="219456"/>
            <a:ext cx="3909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Slicing by Label</a:t>
            </a:r>
            <a:endParaRPr sz="2100"/>
          </a:p>
        </p:txBody>
      </p:sp>
      <p:sp>
        <p:nvSpPr>
          <p:cNvPr id="514" name="Google Shape;514;p52"/>
          <p:cNvSpPr txBox="1"/>
          <p:nvPr>
            <p:ph idx="1" type="body"/>
          </p:nvPr>
        </p:nvSpPr>
        <p:spPr>
          <a:xfrm>
            <a:off x="411480" y="617220"/>
            <a:ext cx="39093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pc="150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 &amp; COLUMN KEY  ·  loc</a:t>
            </a:r>
            <a:endParaRPr spc="150" sz="900"/>
          </a:p>
        </p:txBody>
      </p:sp>
      <p:sp>
        <p:nvSpPr>
          <p:cNvPr id="515" name="Google Shape;515;p52"/>
          <p:cNvSpPr txBox="1"/>
          <p:nvPr>
            <p:ph idx="3" type="body"/>
          </p:nvPr>
        </p:nvSpPr>
        <p:spPr>
          <a:xfrm>
            <a:off x="411480" y="2023110"/>
            <a:ext cx="3909300" cy="23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Uses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 labels and column names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not positions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Slice with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df.loc["Dara":"Vibol"]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or pass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list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keys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Pick rows and columns together: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df.loc[["Dara", "Chan"], ["dept", "salary"]]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Unlike iloc, loc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includes the end label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"Vibol" is in the result</a:t>
            </a:r>
            <a:endParaRPr sz="1050"/>
          </a:p>
        </p:txBody>
      </p:sp>
      <p:sp>
        <p:nvSpPr>
          <p:cNvPr id="516" name="Google Shape;516;p52"/>
          <p:cNvSpPr/>
          <p:nvPr/>
        </p:nvSpPr>
        <p:spPr>
          <a:xfrm>
            <a:off x="411480" y="1028700"/>
            <a:ext cx="3909300" cy="342900"/>
          </a:xfrm>
          <a:prstGeom prst="roundRect">
            <a:avLst>
              <a:gd fmla="val 24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Syntax: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df.loc[row_start:row_end:step]</a:t>
            </a:r>
            <a:endParaRPr sz="1050"/>
          </a:p>
        </p:txBody>
      </p:sp>
      <p:sp>
        <p:nvSpPr>
          <p:cNvPr id="517" name="Google Shape;517;p52"/>
          <p:cNvSpPr/>
          <p:nvPr/>
        </p:nvSpPr>
        <p:spPr>
          <a:xfrm>
            <a:off x="411480" y="1508760"/>
            <a:ext cx="3909300" cy="342900"/>
          </a:xfrm>
          <a:prstGeom prst="roundRect">
            <a:avLst>
              <a:gd fmla="val 24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Syntax: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df.loc[row_start:row_end:step, col_start:col_stop:step]</a:t>
            </a:r>
            <a:endParaRPr sz="1050"/>
          </a:p>
        </p:txBody>
      </p:sp>
      <p:pic>
        <p:nvPicPr>
          <p:cNvPr descr="Code screenshot: loc" id="518" name="Google Shape;518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7625" y="419949"/>
            <a:ext cx="4100626" cy="3983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53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Boolean Filtering</a:t>
            </a:r>
            <a:endParaRPr/>
          </a:p>
        </p:txBody>
      </p:sp>
      <p:sp>
        <p:nvSpPr>
          <p:cNvPr id="525" name="Google Shape;525;p53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665"/>
              <a:buNone/>
            </a:pPr>
            <a:r>
              <a:rPr b="1" lang="en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Keep rows that match</a:t>
            </a:r>
            <a:endParaRPr/>
          </a:p>
        </p:txBody>
      </p:sp>
      <p:sp>
        <p:nvSpPr>
          <p:cNvPr id="526" name="Google Shape;526;p53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2400" lvl="0" marL="20320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comparison like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df["salary"] &gt; 1500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returns a Series of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True/False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Put that mask in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df[...]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Pandas keeps only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True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rows.</a:t>
            </a:r>
            <a:endParaRPr/>
          </a:p>
          <a:p>
            <a:pPr indent="-152400" lvl="0" marL="2032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8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Naming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mask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first often reads more clearly.</a:t>
            </a:r>
            <a:endParaRPr/>
          </a:p>
        </p:txBody>
      </p:sp>
      <p:pic>
        <p:nvPicPr>
          <p:cNvPr descr="Code screenshot: filter_a" id="527" name="Google Shape;527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07737" y="743680"/>
            <a:ext cx="4090797" cy="2018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filter_b" id="528" name="Google Shape;528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065143" y="2650893"/>
            <a:ext cx="3473318" cy="2144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4"/>
          <p:cNvSpPr/>
          <p:nvPr/>
        </p:nvSpPr>
        <p:spPr>
          <a:xfrm>
            <a:off x="4572007" y="0"/>
            <a:ext cx="4572000" cy="5143500"/>
          </a:xfrm>
          <a:prstGeom prst="rect">
            <a:avLst/>
          </a:prstGeom>
          <a:solidFill>
            <a:srgbClr val="293480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54"/>
          <p:cNvSpPr txBox="1"/>
          <p:nvPr/>
        </p:nvSpPr>
        <p:spPr>
          <a:xfrm>
            <a:off x="411491" y="219456"/>
            <a:ext cx="6515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Combine Conditions</a:t>
            </a:r>
            <a:endParaRPr sz="1050"/>
          </a:p>
        </p:txBody>
      </p:sp>
      <p:sp>
        <p:nvSpPr>
          <p:cNvPr id="536" name="Google Shape;536;p54"/>
          <p:cNvSpPr txBox="1"/>
          <p:nvPr/>
        </p:nvSpPr>
        <p:spPr>
          <a:xfrm>
            <a:off x="411491" y="617220"/>
            <a:ext cx="6172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MULTIPLE CONDITIONS</a:t>
            </a:r>
            <a:endParaRPr sz="1050"/>
          </a:p>
        </p:txBody>
      </p:sp>
      <p:sp>
        <p:nvSpPr>
          <p:cNvPr id="537" name="Google Shape;537;p54"/>
          <p:cNvSpPr txBox="1"/>
          <p:nvPr/>
        </p:nvSpPr>
        <p:spPr>
          <a:xfrm>
            <a:off x="411491" y="1062990"/>
            <a:ext cx="3909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Join masks with &amp; | ~.</a:t>
            </a:r>
            <a:endParaRPr sz="1050"/>
          </a:p>
        </p:txBody>
      </p:sp>
      <p:sp>
        <p:nvSpPr>
          <p:cNvPr id="538" name="Google Shape;538;p54"/>
          <p:cNvSpPr txBox="1"/>
          <p:nvPr/>
        </p:nvSpPr>
        <p:spPr>
          <a:xfrm>
            <a:off x="411491" y="1405889"/>
            <a:ext cx="3909300" cy="8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64595" lvl="0" marL="164595" marR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125"/>
              <a:buFont typeface="Roboto"/>
              <a:buChar char="•"/>
            </a:pP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&amp;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= and, </a:t>
            </a: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|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= or, </a:t>
            </a: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~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= not — bitwise operators, not the words.</a:t>
            </a:r>
            <a:endParaRPr sz="1050"/>
          </a:p>
          <a:p>
            <a:pPr indent="-164595" lvl="0" marL="164595" marR="0" rtl="0" algn="l">
              <a:spcBef>
                <a:spcPts val="600"/>
              </a:spcBef>
              <a:spcAft>
                <a:spcPts val="0"/>
              </a:spcAft>
              <a:buClr>
                <a:srgbClr val="EC5F82"/>
              </a:buClr>
              <a:buSzPts val="1125"/>
              <a:buFont typeface="Roboto"/>
              <a:buChar char="•"/>
            </a:pP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Wrap each condition in </a:t>
            </a: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parentheses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64595" lvl="0" marL="164595" marR="0" rtl="0" algn="l">
              <a:spcBef>
                <a:spcPts val="600"/>
              </a:spcBef>
              <a:spcAft>
                <a:spcPts val="0"/>
              </a:spcAft>
              <a:buClr>
                <a:srgbClr val="EC5F82"/>
              </a:buClr>
              <a:buSzPts val="1125"/>
              <a:buFont typeface="Roboto"/>
              <a:buChar char="•"/>
            </a:pP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isin()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checks membership; </a:t>
            </a:r>
            <a:r>
              <a:rPr b="1" i="0" lang="en" sz="112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between()</a:t>
            </a:r>
            <a:r>
              <a:rPr b="0" i="0" lang="en" sz="112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checks an inclusive range.</a:t>
            </a:r>
            <a:endParaRPr sz="1050"/>
          </a:p>
        </p:txBody>
      </p:sp>
      <p:sp>
        <p:nvSpPr>
          <p:cNvPr id="539" name="Google Shape;539;p54"/>
          <p:cNvSpPr/>
          <p:nvPr/>
        </p:nvSpPr>
        <p:spPr>
          <a:xfrm>
            <a:off x="411491" y="3669030"/>
            <a:ext cx="3909300" cy="651600"/>
          </a:xfrm>
          <a:prstGeom prst="roundRect">
            <a:avLst>
              <a:gd fmla="val 10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54"/>
          <p:cNvSpPr/>
          <p:nvPr/>
        </p:nvSpPr>
        <p:spPr>
          <a:xfrm>
            <a:off x="562371" y="3902202"/>
            <a:ext cx="109800" cy="1098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54"/>
          <p:cNvSpPr txBox="1"/>
          <p:nvPr/>
        </p:nvSpPr>
        <p:spPr>
          <a:xfrm>
            <a:off x="788691" y="3765042"/>
            <a:ext cx="3360600" cy="26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863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Forgetting the </a:t>
            </a:r>
            <a:r>
              <a:rPr b="1" i="0" lang="en" sz="863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parentheses</a:t>
            </a:r>
            <a:r>
              <a:rPr b="0" i="0" lang="en" sz="863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is the #1 filtering bug — Python's operator precedence breaks the mask.</a:t>
            </a:r>
            <a:endParaRPr sz="1050"/>
          </a:p>
        </p:txBody>
      </p:sp>
      <p:sp>
        <p:nvSpPr>
          <p:cNvPr id="542" name="Google Shape;542;p54"/>
          <p:cNvSpPr txBox="1"/>
          <p:nvPr/>
        </p:nvSpPr>
        <p:spPr>
          <a:xfrm>
            <a:off x="8504147" y="4834890"/>
            <a:ext cx="548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rPr>
              <a:t>7</a:t>
            </a:r>
            <a:endParaRPr sz="1050"/>
          </a:p>
        </p:txBody>
      </p:sp>
      <p:pic>
        <p:nvPicPr>
          <p:cNvPr descr="Code screenshot: combine_a" id="543" name="Google Shape;543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397357"/>
            <a:ext cx="4005282" cy="2078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combine_b" id="544" name="Google Shape;544;p5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578438"/>
            <a:ext cx="4090798" cy="2167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480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55"/>
          <p:cNvSpPr/>
          <p:nvPr/>
        </p:nvSpPr>
        <p:spPr>
          <a:xfrm>
            <a:off x="7681165" y="-891540"/>
            <a:ext cx="2469000" cy="2469000"/>
          </a:xfrm>
          <a:prstGeom prst="roundRect">
            <a:avLst>
              <a:gd fmla="val 28000" name="adj"/>
            </a:avLst>
          </a:prstGeom>
          <a:solidFill>
            <a:srgbClr val="EC5F82">
              <a:alpha val="1804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55"/>
          <p:cNvSpPr txBox="1"/>
          <p:nvPr/>
        </p:nvSpPr>
        <p:spPr>
          <a:xfrm>
            <a:off x="582946" y="2537460"/>
            <a:ext cx="754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Transforming Columns</a:t>
            </a:r>
            <a:endParaRPr sz="1050"/>
          </a:p>
        </p:txBody>
      </p:sp>
      <p:sp>
        <p:nvSpPr>
          <p:cNvPr id="551" name="Google Shape;551;p55"/>
          <p:cNvSpPr txBox="1"/>
          <p:nvPr/>
        </p:nvSpPr>
        <p:spPr>
          <a:xfrm>
            <a:off x="596662" y="3257550"/>
            <a:ext cx="7201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>
                <a:solidFill>
                  <a:srgbClr val="C9CEEC"/>
                </a:solidFill>
                <a:latin typeface="Roboto"/>
                <a:ea typeface="Roboto"/>
                <a:cs typeface="Roboto"/>
                <a:sym typeface="Roboto"/>
              </a:rPr>
              <a:t>Turn existing columns into new ones with your own logic.</a:t>
            </a:r>
            <a:endParaRPr sz="1050"/>
          </a:p>
        </p:txBody>
      </p:sp>
      <p:sp>
        <p:nvSpPr>
          <p:cNvPr id="552" name="Google Shape;552;p55"/>
          <p:cNvSpPr txBox="1"/>
          <p:nvPr/>
        </p:nvSpPr>
        <p:spPr>
          <a:xfrm>
            <a:off x="8504147" y="4834890"/>
            <a:ext cx="5487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75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rPr>
              <a:t>11</a:t>
            </a:r>
            <a:endParaRPr sz="10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6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Explore a Column</a:t>
            </a:r>
            <a:endParaRPr sz="2100"/>
          </a:p>
        </p:txBody>
      </p:sp>
      <p:sp>
        <p:nvSpPr>
          <p:cNvPr id="559" name="Google Shape;559;p56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First moves on any new column</a:t>
            </a:r>
            <a:endParaRPr sz="1350"/>
          </a:p>
        </p:txBody>
      </p:sp>
      <p:sp>
        <p:nvSpPr>
          <p:cNvPr id="560" name="Google Shape;560;p56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value_counts()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tallies how often each value appears.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unique()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lists the distinct values.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nunique()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counts how many distinct values there are.</a:t>
            </a:r>
            <a:endParaRPr sz="1050"/>
          </a:p>
        </p:txBody>
      </p:sp>
      <p:pic>
        <p:nvPicPr>
          <p:cNvPr descr="Code screenshot: explore_a" id="561" name="Google Shape;561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562258"/>
            <a:ext cx="4090797" cy="2018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explore_b" id="562" name="Google Shape;56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684120"/>
            <a:ext cx="3518004" cy="18971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7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Create / Update new column</a:t>
            </a:r>
            <a:endParaRPr sz="1800"/>
          </a:p>
        </p:txBody>
      </p:sp>
      <p:sp>
        <p:nvSpPr>
          <p:cNvPr id="568" name="Google Shape;568;p57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569" name="Google Shape;569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800" y="985625"/>
            <a:ext cx="2989727" cy="36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5400" y="1925650"/>
            <a:ext cx="4045200" cy="253836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57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1800"/>
              <a:t>Create / Update new column by other column</a:t>
            </a:r>
            <a:endParaRPr sz="1800"/>
          </a:p>
        </p:txBody>
      </p:sp>
      <p:sp>
        <p:nvSpPr>
          <p:cNvPr id="572" name="Google Shape;572;p57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65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7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7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27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7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7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58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Sort Values</a:t>
            </a:r>
            <a:endParaRPr sz="2100"/>
          </a:p>
        </p:txBody>
      </p:sp>
      <p:sp>
        <p:nvSpPr>
          <p:cNvPr id="583" name="Google Shape;583;p58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Order the rows</a:t>
            </a:r>
            <a:endParaRPr sz="1350"/>
          </a:p>
        </p:txBody>
      </p:sp>
      <p:sp>
        <p:nvSpPr>
          <p:cNvPr id="584" name="Google Shape;584;p58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sort_values()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orders rows by one column.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ascending=False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puts the biggest first.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Pass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list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sort by several columns — ties fall to the next key.</a:t>
            </a:r>
            <a:endParaRPr sz="1050"/>
          </a:p>
        </p:txBody>
      </p:sp>
      <p:pic>
        <p:nvPicPr>
          <p:cNvPr descr="Code screenshot: sort_a" id="585" name="Google Shape;585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306329"/>
            <a:ext cx="4090797" cy="201899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sort_b" id="586" name="Google Shape;586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428191"/>
            <a:ext cx="3430663" cy="24089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5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lang="en"/>
              <a:t>A</a:t>
            </a: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pply &amp; lambda</a:t>
            </a:r>
            <a:endParaRPr sz="2100"/>
          </a:p>
        </p:txBody>
      </p:sp>
      <p:sp>
        <p:nvSpPr>
          <p:cNvPr id="593" name="Google Shape;593;p59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</a:pPr>
            <a:r>
              <a:rPr lang="en" sz="1350"/>
              <a:t>When built-ins aren't enough.</a:t>
            </a:r>
            <a:endParaRPr b="0"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t/>
            </a:r>
            <a:endParaRPr/>
          </a:p>
        </p:txBody>
      </p:sp>
      <p:sp>
        <p:nvSpPr>
          <p:cNvPr id="594" name="Google Shape;594;p59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apply()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runs a function on every value of a Series.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lambda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is a tiny inline function — great for a quick rule.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On a DataFrame,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axis=1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applies the function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 by row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Code screenshot: apply_a" id="595" name="Google Shape;59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614622"/>
            <a:ext cx="3962897" cy="195586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apply_b" id="596" name="Google Shape;596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673361"/>
            <a:ext cx="4090798" cy="18555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0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lang="en"/>
              <a:t>Swap values using a lookup (dict).</a:t>
            </a:r>
            <a:endParaRPr sz="2100"/>
          </a:p>
        </p:txBody>
      </p:sp>
      <p:sp>
        <p:nvSpPr>
          <p:cNvPr id="603" name="Google Shape;603;p60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</a:pPr>
            <a:r>
              <a:rPr lang="en" sz="1350"/>
              <a:t>Using map with a dict</a:t>
            </a:r>
            <a:endParaRPr b="0" sz="10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t/>
            </a:r>
            <a:endParaRPr/>
          </a:p>
        </p:txBody>
      </p:sp>
      <p:sp>
        <p:nvSpPr>
          <p:cNvPr id="604" name="Google Shape;604;p60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map()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replaces each value using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dict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old to new.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Perfect for turning categories into short codes or labels.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Any value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missing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from the dict becomes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NaN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Code screenshot: map_a" id="605" name="Google Shape;605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534098"/>
            <a:ext cx="4090799" cy="19581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map_b" id="606" name="Google Shape;606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595152"/>
            <a:ext cx="3820847" cy="2014251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60"/>
          <p:cNvSpPr/>
          <p:nvPr/>
        </p:nvSpPr>
        <p:spPr>
          <a:xfrm>
            <a:off x="411480" y="40462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 map for value-to-value swaps; reach for apply only when you need real logic.</a:t>
            </a:r>
            <a:endParaRPr sz="105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61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String Methods</a:t>
            </a:r>
            <a:endParaRPr sz="2100"/>
          </a:p>
        </p:txBody>
      </p:sp>
      <p:sp>
        <p:nvSpPr>
          <p:cNvPr id="614" name="Google Shape;614;p61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.str accessor</a:t>
            </a:r>
            <a:endParaRPr sz="1350"/>
          </a:p>
        </p:txBody>
      </p:sp>
      <p:sp>
        <p:nvSpPr>
          <p:cNvPr id="615" name="Google Shape;615;p61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•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Prefix a text Series with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.str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to use string methods on every row.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lower()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len()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startswith()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replace()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all work element-wise.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•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contains()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returns a mask — so it plugs straight into filtering.</a:t>
            </a:r>
            <a:endParaRPr sz="1050"/>
          </a:p>
        </p:txBody>
      </p:sp>
      <p:pic>
        <p:nvPicPr>
          <p:cNvPr descr="Code screenshot: strings_a" id="616" name="Google Shape;61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340405"/>
            <a:ext cx="4090796" cy="183182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strings_b" id="617" name="Google Shape;617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275097"/>
            <a:ext cx="3869006" cy="2527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62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Pivot &amp; melt</a:t>
            </a:r>
            <a:endParaRPr sz="2100"/>
          </a:p>
        </p:txBody>
      </p:sp>
      <p:sp>
        <p:nvSpPr>
          <p:cNvPr id="624" name="Google Shape;624;p62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Wide and long</a:t>
            </a:r>
            <a:endParaRPr sz="1350"/>
          </a:p>
        </p:txBody>
      </p:sp>
      <p:sp>
        <p:nvSpPr>
          <p:cNvPr id="625" name="Google Shape;625;p62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pivot_table: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one summary number per group.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melt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: many columns collapse into rows.</a:t>
            </a:r>
            <a:endParaRPr sz="1050"/>
          </a:p>
        </p:txBody>
      </p:sp>
      <p:pic>
        <p:nvPicPr>
          <p:cNvPr descr="Code screenshot: pivot_a" id="626" name="Google Shape;62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637123"/>
            <a:ext cx="3318982" cy="17575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pivot_b" id="627" name="Google Shape;627;p6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1937" y="2691189"/>
            <a:ext cx="4090796" cy="2008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63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Parse Dates</a:t>
            </a:r>
            <a:endParaRPr sz="2100"/>
          </a:p>
        </p:txBody>
      </p:sp>
      <p:sp>
        <p:nvSpPr>
          <p:cNvPr id="634" name="Google Shape;634;p63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Text into real dates</a:t>
            </a:r>
            <a:endParaRPr sz="1350"/>
          </a:p>
        </p:txBody>
      </p:sp>
      <p:sp>
        <p:nvSpPr>
          <p:cNvPr id="635" name="Google Shape;635;p63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Strings can't do date math.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pd.to_datetime()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converts a text column into real datetimes.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Then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.dt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accessor unlocks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year, month, day_name()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and more.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Do this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once, up front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— everything downstream gets easier.</a:t>
            </a:r>
            <a:endParaRPr sz="1050"/>
          </a:p>
        </p:txBody>
      </p:sp>
      <p:pic>
        <p:nvPicPr>
          <p:cNvPr descr="Code screenshot: dates_a" id="636" name="Google Shape;636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435397"/>
            <a:ext cx="4090798" cy="1590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dates_b" id="637" name="Google Shape;637;p6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128703"/>
            <a:ext cx="3213647" cy="257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4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Date Math &amp; Resample</a:t>
            </a:r>
            <a:endParaRPr sz="2100"/>
          </a:p>
        </p:txBody>
      </p:sp>
      <p:sp>
        <p:nvSpPr>
          <p:cNvPr id="644" name="Google Shape;644;p64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Math with time</a:t>
            </a:r>
            <a:endParaRPr sz="1350"/>
          </a:p>
        </p:txBody>
      </p:sp>
      <p:sp>
        <p:nvSpPr>
          <p:cNvPr id="645" name="Google Shape;645;p64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Subtracting two datetimes gives a duration;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.dt.days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turns it into a number.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resample()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groups a datetime-indexed series into time buckets.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"YE"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= year-end,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"ME"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= month-end,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"W"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= weekly.</a:t>
            </a:r>
            <a:endParaRPr sz="1050"/>
          </a:p>
        </p:txBody>
      </p:sp>
      <p:pic>
        <p:nvPicPr>
          <p:cNvPr descr="Code screenshot: datemath_a" id="646" name="Google Shape;646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37483" y="240030"/>
            <a:ext cx="4037602" cy="20091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datemath_b" id="647" name="Google Shape;647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7483" y="2352089"/>
            <a:ext cx="3997229" cy="2551382"/>
          </a:xfrm>
          <a:prstGeom prst="rect">
            <a:avLst/>
          </a:prstGeom>
          <a:noFill/>
          <a:ln>
            <a:noFill/>
          </a:ln>
        </p:spPr>
      </p:pic>
      <p:sp>
        <p:nvSpPr>
          <p:cNvPr id="648" name="Google Shape;648;p64"/>
          <p:cNvSpPr/>
          <p:nvPr/>
        </p:nvSpPr>
        <p:spPr>
          <a:xfrm>
            <a:off x="411480" y="4046220"/>
            <a:ext cx="3909000" cy="458700"/>
          </a:xfrm>
          <a:prstGeom prst="roundRect">
            <a:avLst>
              <a:gd fmla="val 1794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68575" lIns="123425" spcFirstLastPara="1" rIns="123425" wrap="square" tIns="685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63" u="none" cap="none" strike="noStrike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●  </a:t>
            </a:r>
            <a:r>
              <a:rPr b="1" i="0" lang="en" sz="863" u="none" cap="none" strike="noStrike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b="0" i="0" lang="en" sz="863" u="none" cap="none" strike="noStrike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resample only works when the index is a datetime — that's what set_index is for here.</a:t>
            </a:r>
            <a:endParaRPr sz="105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65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</a:t>
            </a:r>
            <a:endParaRPr/>
          </a:p>
        </p:txBody>
      </p:sp>
      <p:sp>
        <p:nvSpPr>
          <p:cNvPr id="654" name="Google Shape;654;p65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66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Detect Missing</a:t>
            </a:r>
            <a:endParaRPr/>
          </a:p>
        </p:txBody>
      </p:sp>
      <p:sp>
        <p:nvSpPr>
          <p:cNvPr id="661" name="Google Shape;661;p66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ts val="665"/>
              <a:buNone/>
            </a:pPr>
            <a:r>
              <a:rPr b="1" lang="en" sz="1065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NaN awareness</a:t>
            </a:r>
            <a:endParaRPr sz="1041"/>
          </a:p>
        </p:txBody>
      </p:sp>
      <p:sp>
        <p:nvSpPr>
          <p:cNvPr id="662" name="Google Shape;662;p66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.isna()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returns a boolean mask of missing cells.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.isna().sum()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counts gaps per column.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.notna()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is the inverse.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Spot problems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before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you analyze.</a:t>
            </a:r>
            <a:endParaRPr/>
          </a:p>
        </p:txBody>
      </p:sp>
      <p:pic>
        <p:nvPicPr>
          <p:cNvPr descr="Code screenshot: missing_a" id="663" name="Google Shape;66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409371"/>
            <a:ext cx="4090798" cy="1492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missing_b" id="664" name="Google Shape;66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004360"/>
            <a:ext cx="3256058" cy="27297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67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Drop Missing</a:t>
            </a:r>
            <a:endParaRPr/>
          </a:p>
        </p:txBody>
      </p:sp>
      <p:sp>
        <p:nvSpPr>
          <p:cNvPr id="671" name="Google Shape;671;p67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dropna by row or column</a:t>
            </a:r>
            <a:endParaRPr/>
          </a:p>
        </p:txBody>
      </p:sp>
      <p:sp>
        <p:nvSpPr>
          <p:cNvPr id="672" name="Google Shape;672;p67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.dropna()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removes any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a NaN.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axis=1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drops offending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columns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instead.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how='all'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only drops fully-empty rows.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thresh=n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keeps rows with n non-null values.</a:t>
            </a:r>
            <a:endParaRPr/>
          </a:p>
        </p:txBody>
      </p:sp>
      <p:pic>
        <p:nvPicPr>
          <p:cNvPr descr="Code screenshot: dropna_a" id="673" name="Google Shape;67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353465"/>
            <a:ext cx="4090798" cy="1492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dropna_b" id="674" name="Google Shape;674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1948454"/>
            <a:ext cx="3130751" cy="28415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68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Fill Missing</a:t>
            </a:r>
            <a:endParaRPr/>
          </a:p>
        </p:txBody>
      </p:sp>
      <p:sp>
        <p:nvSpPr>
          <p:cNvPr id="681" name="Google Shape;681;p68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fillna with a value</a:t>
            </a:r>
            <a:endParaRPr/>
          </a:p>
        </p:txBody>
      </p:sp>
      <p:sp>
        <p:nvSpPr>
          <p:cNvPr id="682" name="Google Shape;682;p68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.fillna(0)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replaces gaps with a constant.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/>
              <a:t>We may f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ill a column with its own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mean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median</a:t>
            </a:r>
            <a:r>
              <a:rPr lang="en" sz="1100"/>
              <a:t> to k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eeps the row count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intact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Choose the fill that fits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data's meaning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683" name="Google Shape;683;p68"/>
          <p:cNvSpPr/>
          <p:nvPr/>
        </p:nvSpPr>
        <p:spPr>
          <a:xfrm>
            <a:off x="411480" y="4046220"/>
            <a:ext cx="3909300" cy="425100"/>
          </a:xfrm>
          <a:prstGeom prst="roundRect">
            <a:avLst>
              <a:gd fmla="val 8000" name="adj"/>
            </a:avLst>
          </a:prstGeom>
          <a:solidFill>
            <a:srgbClr val="EAF1F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4" name="Google Shape;684;p68"/>
          <p:cNvSpPr/>
          <p:nvPr/>
        </p:nvSpPr>
        <p:spPr>
          <a:xfrm>
            <a:off x="534924" y="4197096"/>
            <a:ext cx="123600" cy="123600"/>
          </a:xfrm>
          <a:prstGeom prst="ellipse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68"/>
          <p:cNvSpPr txBox="1"/>
          <p:nvPr/>
        </p:nvSpPr>
        <p:spPr>
          <a:xfrm>
            <a:off x="740664" y="4046220"/>
            <a:ext cx="3483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Insight:  </a:t>
            </a:r>
            <a:r>
              <a:rPr lang="en" sz="9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mean is common, but the median is safer when a column has outliers.</a:t>
            </a:r>
            <a:endParaRPr sz="1100"/>
          </a:p>
        </p:txBody>
      </p:sp>
      <p:pic>
        <p:nvPicPr>
          <p:cNvPr descr="Code screenshot: fillagg_a" id="686" name="Google Shape;686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40562" y="141192"/>
            <a:ext cx="4090798" cy="1492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fillna_b" id="687" name="Google Shape;687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39236" y="2368616"/>
            <a:ext cx="3704783" cy="25348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6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Fill by Aggregation</a:t>
            </a:r>
            <a:endParaRPr sz="2100"/>
          </a:p>
        </p:txBody>
      </p:sp>
      <p:sp>
        <p:nvSpPr>
          <p:cNvPr id="694" name="Google Shape;694;p69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Use the column's own statistic</a:t>
            </a:r>
            <a:endParaRPr sz="1350"/>
          </a:p>
        </p:txBody>
      </p:sp>
      <p:sp>
        <p:nvSpPr>
          <p:cNvPr id="695" name="Google Shape;695;p69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Compute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statistic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first, then hand it to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fillna()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Assign the result back with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df[col] = ...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Each column can use a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different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rule.</a:t>
            </a:r>
            <a:endParaRPr sz="1050"/>
          </a:p>
        </p:txBody>
      </p:sp>
      <p:pic>
        <p:nvPicPr>
          <p:cNvPr descr="Code screenshot: fillagg_a" id="696" name="Google Shape;696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077355"/>
            <a:ext cx="4090798" cy="14921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fillagg_b" id="697" name="Google Shape;697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672344"/>
            <a:ext cx="2880137" cy="1393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480"/>
        </a:solidFill>
      </p:bgPr>
    </p:bg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70"/>
          <p:cNvSpPr/>
          <p:nvPr/>
        </p:nvSpPr>
        <p:spPr>
          <a:xfrm>
            <a:off x="7681165" y="-891540"/>
            <a:ext cx="2469000" cy="2469000"/>
          </a:xfrm>
          <a:prstGeom prst="roundRect">
            <a:avLst>
              <a:gd fmla="val 28000" name="adj"/>
            </a:avLst>
          </a:prstGeom>
          <a:solidFill>
            <a:srgbClr val="EC5F82">
              <a:alpha val="1804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70"/>
          <p:cNvSpPr txBox="1"/>
          <p:nvPr/>
        </p:nvSpPr>
        <p:spPr>
          <a:xfrm>
            <a:off x="582946" y="2537460"/>
            <a:ext cx="754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Aggregation</a:t>
            </a:r>
            <a:endParaRPr sz="1100"/>
          </a:p>
        </p:txBody>
      </p:sp>
      <p:sp>
        <p:nvSpPr>
          <p:cNvPr id="704" name="Google Shape;704;p70"/>
          <p:cNvSpPr txBox="1"/>
          <p:nvPr/>
        </p:nvSpPr>
        <p:spPr>
          <a:xfrm>
            <a:off x="596662" y="3257550"/>
            <a:ext cx="7201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705" name="Google Shape;705;p70"/>
          <p:cNvSpPr txBox="1"/>
          <p:nvPr/>
        </p:nvSpPr>
        <p:spPr>
          <a:xfrm>
            <a:off x="8504147" y="4834890"/>
            <a:ext cx="54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endParaRPr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p71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Aggregate a DataFrame</a:t>
            </a:r>
            <a:endParaRPr sz="2100"/>
          </a:p>
        </p:txBody>
      </p:sp>
      <p:sp>
        <p:nvSpPr>
          <p:cNvPr id="712" name="Google Shape;712;p71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By row or column</a:t>
            </a:r>
            <a:endParaRPr sz="1350"/>
          </a:p>
        </p:txBody>
      </p:sp>
      <p:sp>
        <p:nvSpPr>
          <p:cNvPr id="713" name="Google Shape;713;p71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axis=0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aggregates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down columns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(the default).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axis=1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aggregates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across rows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.agg([...])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runs several functions at once.</a:t>
            </a:r>
            <a:endParaRPr sz="1050"/>
          </a:p>
        </p:txBody>
      </p:sp>
      <p:pic>
        <p:nvPicPr>
          <p:cNvPr descr="Code screenshot: agg1_a" id="714" name="Google Shape;71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9571" y="240030"/>
            <a:ext cx="3733429" cy="18143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agg1_b" id="715" name="Google Shape;715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89572" y="2157276"/>
            <a:ext cx="2976071" cy="2746195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71"/>
          <p:cNvSpPr txBox="1"/>
          <p:nvPr>
            <p:ph idx="1" type="body"/>
          </p:nvPr>
        </p:nvSpPr>
        <p:spPr>
          <a:xfrm>
            <a:off x="411480" y="61722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71"/>
          <p:cNvSpPr txBox="1"/>
          <p:nvPr>
            <p:ph idx="4" type="body"/>
          </p:nvPr>
        </p:nvSpPr>
        <p:spPr>
          <a:xfrm>
            <a:off x="411480" y="4526280"/>
            <a:ext cx="39090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65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71"/>
          <p:cNvSpPr txBox="1"/>
          <p:nvPr>
            <p:ph idx="5" type="title"/>
          </p:nvPr>
        </p:nvSpPr>
        <p:spPr>
          <a:xfrm>
            <a:off x="4879467" y="219456"/>
            <a:ext cx="3953700" cy="3567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71"/>
          <p:cNvSpPr txBox="1"/>
          <p:nvPr>
            <p:ph idx="6" type="body"/>
          </p:nvPr>
        </p:nvSpPr>
        <p:spPr>
          <a:xfrm>
            <a:off x="4879467" y="617220"/>
            <a:ext cx="3953700" cy="2058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1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71"/>
          <p:cNvSpPr txBox="1"/>
          <p:nvPr>
            <p:ph idx="7" type="body"/>
          </p:nvPr>
        </p:nvSpPr>
        <p:spPr>
          <a:xfrm>
            <a:off x="4879467" y="1062990"/>
            <a:ext cx="3953700" cy="2400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7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1" name="Google Shape;721;p71"/>
          <p:cNvSpPr txBox="1"/>
          <p:nvPr>
            <p:ph idx="8" type="body"/>
          </p:nvPr>
        </p:nvSpPr>
        <p:spPr>
          <a:xfrm>
            <a:off x="4879467" y="1371600"/>
            <a:ext cx="3953700" cy="2674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600"/>
              </a:spcAft>
              <a:buNone/>
            </a:pPr>
            <a:r>
              <a:t/>
            </a:r>
            <a:endParaRPr/>
          </a:p>
        </p:txBody>
      </p:sp>
      <p:sp>
        <p:nvSpPr>
          <p:cNvPr id="722" name="Google Shape;722;p71"/>
          <p:cNvSpPr txBox="1"/>
          <p:nvPr>
            <p:ph idx="9" type="body"/>
          </p:nvPr>
        </p:nvSpPr>
        <p:spPr>
          <a:xfrm>
            <a:off x="4810887" y="822960"/>
            <a:ext cx="4090800" cy="3771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72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</a:t>
            </a:r>
            <a:endParaRPr/>
          </a:p>
        </p:txBody>
      </p:sp>
      <p:sp>
        <p:nvSpPr>
          <p:cNvPr id="728" name="Google Shape;728;p72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rPr lang="en"/>
              <a:t>The groupby method is to group rows of data together and call aggregate functions</a:t>
            </a:r>
            <a:endParaRPr/>
          </a:p>
        </p:txBody>
      </p:sp>
      <p:sp>
        <p:nvSpPr>
          <p:cNvPr id="729" name="Google Shape;729;p72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73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groupby()</a:t>
            </a:r>
            <a:endParaRPr/>
          </a:p>
        </p:txBody>
      </p:sp>
      <p:sp>
        <p:nvSpPr>
          <p:cNvPr id="736" name="Google Shape;736;p73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Split, apply, combine</a:t>
            </a:r>
            <a:endParaRPr/>
          </a:p>
        </p:txBody>
      </p:sp>
      <p:sp>
        <p:nvSpPr>
          <p:cNvPr id="737" name="Google Shape;737;p73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df.groupby('col')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splits rows into groups.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Chain an aggregate: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.mean() / .sum() / .size()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The grouping column becomes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new index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One line replaces a manual loop over categories.</a:t>
            </a:r>
            <a:endParaRPr/>
          </a:p>
        </p:txBody>
      </p:sp>
      <p:pic>
        <p:nvPicPr>
          <p:cNvPr descr="Code screenshot: groupby_a" id="738" name="Google Shape;738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20221" y="240030"/>
            <a:ext cx="3072128" cy="22522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groupby_b" id="739" name="Google Shape;739;p7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20221" y="2595171"/>
            <a:ext cx="2790127" cy="2308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74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Describe by Group</a:t>
            </a:r>
            <a:endParaRPr sz="2100"/>
          </a:p>
        </p:txBody>
      </p:sp>
      <p:sp>
        <p:nvSpPr>
          <p:cNvPr id="746" name="Google Shape;746;p74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Richer summaries</a:t>
            </a:r>
            <a:endParaRPr sz="1350"/>
          </a:p>
        </p:txBody>
      </p:sp>
      <p:sp>
        <p:nvSpPr>
          <p:cNvPr id="747" name="Google Shape;747;p74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.describe()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gives full stats per group.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.agg({...})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applies different functions per column.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Combine several metrics in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one call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Great for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comparing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categories side by side.</a:t>
            </a:r>
            <a:endParaRPr sz="1050"/>
          </a:p>
        </p:txBody>
      </p:sp>
      <p:pic>
        <p:nvPicPr>
          <p:cNvPr descr="Code screenshot: describe_a" id="748" name="Google Shape;748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446671"/>
            <a:ext cx="4090798" cy="195189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describe_b" id="749" name="Google Shape;749;p7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2501435"/>
            <a:ext cx="3670027" cy="21953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75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 multiple data into one</a:t>
            </a:r>
            <a:endParaRPr/>
          </a:p>
        </p:txBody>
      </p:sp>
      <p:sp>
        <p:nvSpPr>
          <p:cNvPr id="755" name="Google Shape;755;p75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75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76"/>
          <p:cNvSpPr txBox="1"/>
          <p:nvPr>
            <p:ph idx="1" type="body"/>
          </p:nvPr>
        </p:nvSpPr>
        <p:spPr>
          <a:xfrm>
            <a:off x="411480" y="617220"/>
            <a:ext cx="75438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900"/>
              <a:buNone/>
            </a:pPr>
            <a:r>
              <a:rPr b="1" lang="en" sz="9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OVERVIEW</a:t>
            </a:r>
            <a:endParaRPr/>
          </a:p>
        </p:txBody>
      </p:sp>
      <p:sp>
        <p:nvSpPr>
          <p:cNvPr id="762" name="Google Shape;762;p7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Three Ways to Combine</a:t>
            </a:r>
            <a:endParaRPr/>
          </a:p>
        </p:txBody>
      </p:sp>
      <p:sp>
        <p:nvSpPr>
          <p:cNvPr id="763" name="Google Shape;763;p76"/>
          <p:cNvSpPr txBox="1"/>
          <p:nvPr>
            <p:ph idx="2" type="body"/>
          </p:nvPr>
        </p:nvSpPr>
        <p:spPr>
          <a:xfrm>
            <a:off x="925830" y="10972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1A1F5C"/>
              </a:buClr>
              <a:buSzPts val="1200"/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Concatenate</a:t>
            </a:r>
            <a:endParaRPr/>
          </a:p>
        </p:txBody>
      </p:sp>
      <p:sp>
        <p:nvSpPr>
          <p:cNvPr id="764" name="Google Shape;764;p76"/>
          <p:cNvSpPr txBox="1"/>
          <p:nvPr>
            <p:ph idx="3" type="body"/>
          </p:nvPr>
        </p:nvSpPr>
        <p:spPr>
          <a:xfrm>
            <a:off x="925830" y="13853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D84568"/>
              </a:buClr>
              <a:buSzPts val="1000"/>
              <a:buNone/>
            </a:pP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Glue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frames together along an axis — stack rows or columns. Dimensions must match.</a:t>
            </a:r>
            <a:endParaRPr/>
          </a:p>
        </p:txBody>
      </p:sp>
      <p:sp>
        <p:nvSpPr>
          <p:cNvPr id="765" name="Google Shape;765;p76"/>
          <p:cNvSpPr txBox="1"/>
          <p:nvPr>
            <p:ph idx="4" type="body"/>
          </p:nvPr>
        </p:nvSpPr>
        <p:spPr>
          <a:xfrm>
            <a:off x="925830" y="21259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1A1F5C"/>
              </a:buClr>
              <a:buSzPts val="1200"/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Merge</a:t>
            </a:r>
            <a:endParaRPr/>
          </a:p>
        </p:txBody>
      </p:sp>
      <p:sp>
        <p:nvSpPr>
          <p:cNvPr id="766" name="Google Shape;766;p76"/>
          <p:cNvSpPr txBox="1"/>
          <p:nvPr>
            <p:ph idx="5" type="body"/>
          </p:nvPr>
        </p:nvSpPr>
        <p:spPr>
          <a:xfrm>
            <a:off x="925830" y="24140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1000"/>
              <a:buNone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Combine on a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key column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exactly like a SQL join.</a:t>
            </a:r>
            <a:endParaRPr/>
          </a:p>
        </p:txBody>
      </p:sp>
      <p:sp>
        <p:nvSpPr>
          <p:cNvPr id="767" name="Google Shape;767;p76"/>
          <p:cNvSpPr txBox="1"/>
          <p:nvPr>
            <p:ph idx="6" type="body"/>
          </p:nvPr>
        </p:nvSpPr>
        <p:spPr>
          <a:xfrm>
            <a:off x="925830" y="3154680"/>
            <a:ext cx="77496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1A1F5C"/>
              </a:buClr>
              <a:buSzPts val="1200"/>
              <a:buNone/>
            </a:pPr>
            <a:r>
              <a:rPr b="1" lang="en" sz="1200">
                <a:solidFill>
                  <a:srgbClr val="1A1F5C"/>
                </a:solidFill>
                <a:latin typeface="Roboto"/>
                <a:ea typeface="Roboto"/>
                <a:cs typeface="Roboto"/>
                <a:sym typeface="Roboto"/>
              </a:rPr>
              <a:t>Join</a:t>
            </a:r>
            <a:endParaRPr/>
          </a:p>
        </p:txBody>
      </p:sp>
      <p:sp>
        <p:nvSpPr>
          <p:cNvPr id="768" name="Google Shape;768;p76"/>
          <p:cNvSpPr txBox="1"/>
          <p:nvPr>
            <p:ph idx="7" type="body"/>
          </p:nvPr>
        </p:nvSpPr>
        <p:spPr>
          <a:xfrm>
            <a:off x="925830" y="3442716"/>
            <a:ext cx="7749600" cy="4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>
                <a:srgbClr val="222540"/>
              </a:buClr>
              <a:buSzPts val="1000"/>
              <a:buNone/>
            </a:pP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Combine on the </a:t>
            </a:r>
            <a:r>
              <a:rPr lang="en" sz="10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</a:t>
            </a:r>
            <a:r>
              <a:rPr lang="en" sz="10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two differently-indexed frames.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77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oncatenate</a:t>
            </a:r>
            <a:endParaRPr/>
          </a:p>
        </p:txBody>
      </p:sp>
      <p:sp>
        <p:nvSpPr>
          <p:cNvPr id="774" name="Google Shape;774;p77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Concatenation basically glues together DataFrames. Keep in mind that dimensions should match along the axis you are concatenating on. You can use pd.concat and pass in a list of DataFrames to concatenate together:</a:t>
            </a:r>
            <a:endParaRPr/>
          </a:p>
        </p:txBody>
      </p:sp>
      <p:pic>
        <p:nvPicPr>
          <p:cNvPr id="775" name="Google Shape;775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0250" y="1977550"/>
            <a:ext cx="3570425" cy="276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6" name="Google Shape;776;p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55050" y="2168600"/>
            <a:ext cx="2893899" cy="238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78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Concatenate Rows</a:t>
            </a:r>
            <a:endParaRPr sz="2100"/>
          </a:p>
        </p:txBody>
      </p:sp>
      <p:sp>
        <p:nvSpPr>
          <p:cNvPr id="783" name="Google Shape;783;p78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Glue frames together</a:t>
            </a:r>
            <a:endParaRPr sz="1350"/>
          </a:p>
        </p:txBody>
      </p:sp>
      <p:sp>
        <p:nvSpPr>
          <p:cNvPr id="784" name="Google Shape;784;p78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pd.concat([...])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stacks a list of frames.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Vertical (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axis=0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 adds rows — columns that don't match become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NaN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ignore_index=True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renumbers the rows after stacking.</a:t>
            </a:r>
            <a:endParaRPr sz="1050"/>
          </a:p>
        </p:txBody>
      </p:sp>
      <p:pic>
        <p:nvPicPr>
          <p:cNvPr descr="Code screenshot: concat_v_a" id="785" name="Google Shape;785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31082" y="240030"/>
            <a:ext cx="2893616" cy="232654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concat_v_b" id="786" name="Google Shape;786;p7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1082" y="2669441"/>
            <a:ext cx="3450410" cy="2234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79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Concatenate Columns</a:t>
            </a:r>
            <a:endParaRPr sz="2100"/>
          </a:p>
        </p:txBody>
      </p:sp>
      <p:sp>
        <p:nvSpPr>
          <p:cNvPr id="793" name="Google Shape;793;p79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Side by side</a:t>
            </a:r>
            <a:endParaRPr sz="1350"/>
          </a:p>
        </p:txBody>
      </p:sp>
      <p:sp>
        <p:nvSpPr>
          <p:cNvPr id="794" name="Google Shape;794;p79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Horizontal (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axis=1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 adds columns, aligned on the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Rows with no partner get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NaN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Check your index first — misaligned indexes make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gaps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1050"/>
          </a:p>
        </p:txBody>
      </p:sp>
      <p:pic>
        <p:nvPicPr>
          <p:cNvPr descr="Code screenshot: concat_h_a" id="795" name="Google Shape;795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527513"/>
            <a:ext cx="3290168" cy="26453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concat_h_b" id="796" name="Google Shape;796;p7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0887" y="3275764"/>
            <a:ext cx="4090798" cy="13402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0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1" name="Google Shape;801;p80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Merge</a:t>
            </a:r>
            <a:endParaRPr/>
          </a:p>
        </p:txBody>
      </p:sp>
      <p:sp>
        <p:nvSpPr>
          <p:cNvPr id="802" name="Google Shape;802;p80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The merge function allows you to merge DataFrames together using a similar logic as merging SQL Tables together. For example</a:t>
            </a:r>
            <a:endParaRPr sz="1600"/>
          </a:p>
        </p:txBody>
      </p:sp>
      <p:sp>
        <p:nvSpPr>
          <p:cNvPr id="803" name="Google Shape;803;p80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80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5" name="Google Shape;805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50625" y="159050"/>
            <a:ext cx="2751900" cy="32267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06" name="Google Shape;806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0899" y="3543800"/>
            <a:ext cx="4006325" cy="152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81"/>
          <p:cNvSpPr txBox="1"/>
          <p:nvPr>
            <p:ph type="title"/>
          </p:nvPr>
        </p:nvSpPr>
        <p:spPr>
          <a:xfrm>
            <a:off x="411480" y="219456"/>
            <a:ext cx="39090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Merge</a:t>
            </a:r>
            <a:endParaRPr sz="2100"/>
          </a:p>
        </p:txBody>
      </p:sp>
      <p:sp>
        <p:nvSpPr>
          <p:cNvPr id="813" name="Google Shape;813;p81"/>
          <p:cNvSpPr txBox="1"/>
          <p:nvPr>
            <p:ph idx="2" type="body"/>
          </p:nvPr>
        </p:nvSpPr>
        <p:spPr>
          <a:xfrm>
            <a:off x="411480" y="1062990"/>
            <a:ext cx="39090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SQL-style on a key</a:t>
            </a:r>
            <a:endParaRPr sz="1350"/>
          </a:p>
        </p:txBody>
      </p:sp>
      <p:sp>
        <p:nvSpPr>
          <p:cNvPr id="814" name="Google Shape;814;p81"/>
          <p:cNvSpPr txBox="1"/>
          <p:nvPr>
            <p:ph idx="3" type="body"/>
          </p:nvPr>
        </p:nvSpPr>
        <p:spPr>
          <a:xfrm>
            <a:off x="411480" y="1371600"/>
            <a:ext cx="3909000" cy="26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pd.merge(l, r, on='id')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joins on a shared column.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how=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picks the join type: inner, left, right, outer.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D84568"/>
              </a:buClr>
              <a:buSzPts val="819"/>
              <a:buChar char="●"/>
            </a:pP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left_on / right_on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when key names differ.</a:t>
            </a:r>
            <a:endParaRPr sz="1050"/>
          </a:p>
          <a:p>
            <a:pPr indent="-150876" lvl="0" marL="205740" rtl="0" algn="l">
              <a:spcBef>
                <a:spcPts val="810"/>
              </a:spcBef>
              <a:spcAft>
                <a:spcPts val="0"/>
              </a:spcAft>
              <a:buClr>
                <a:srgbClr val="222540"/>
              </a:buClr>
              <a:buSzPts val="819"/>
              <a:buChar char="●"/>
            </a:pP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Same-named columns get </a:t>
            </a:r>
            <a:r>
              <a:rPr lang="en" sz="105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_x / _y</a:t>
            </a:r>
            <a:r>
              <a:rPr lang="en" sz="105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suffixes.</a:t>
            </a:r>
            <a:endParaRPr sz="1050"/>
          </a:p>
        </p:txBody>
      </p:sp>
      <p:pic>
        <p:nvPicPr>
          <p:cNvPr descr="Code screenshot: merge_a" id="815" name="Google Shape;815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2025" y="240030"/>
            <a:ext cx="4088522" cy="2419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de screenshot: merge_b" id="816" name="Google Shape;816;p8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12025" y="2762873"/>
            <a:ext cx="3880434" cy="21405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82"/>
          <p:cNvSpPr txBox="1"/>
          <p:nvPr>
            <p:ph type="title"/>
          </p:nvPr>
        </p:nvSpPr>
        <p:spPr>
          <a:xfrm>
            <a:off x="308610" y="164592"/>
            <a:ext cx="2931900" cy="267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ct val="1000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Join</a:t>
            </a:r>
            <a:endParaRPr/>
          </a:p>
        </p:txBody>
      </p:sp>
      <p:sp>
        <p:nvSpPr>
          <p:cNvPr id="823" name="Google Shape;823;p82"/>
          <p:cNvSpPr txBox="1"/>
          <p:nvPr>
            <p:ph idx="2" type="body"/>
          </p:nvPr>
        </p:nvSpPr>
        <p:spPr>
          <a:xfrm>
            <a:off x="308610" y="797242"/>
            <a:ext cx="2931900" cy="1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rgbClr val="293480"/>
              </a:buClr>
              <a:buSzPct val="100000"/>
              <a:buNone/>
            </a:pPr>
            <a:r>
              <a:rPr b="1" lang="en" sz="14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Combine on the index</a:t>
            </a:r>
            <a:endParaRPr/>
          </a:p>
        </p:txBody>
      </p:sp>
      <p:sp>
        <p:nvSpPr>
          <p:cNvPr id="824" name="Google Shape;824;p82"/>
          <p:cNvSpPr txBox="1"/>
          <p:nvPr>
            <p:ph idx="3" type="body"/>
          </p:nvPr>
        </p:nvSpPr>
        <p:spPr>
          <a:xfrm>
            <a:off x="308610" y="1028700"/>
            <a:ext cx="2931900" cy="20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260350" lvl="0" marL="25400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left.join(right)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aligns on the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 index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Convenient when frames are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indexed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same way.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D84568"/>
              </a:buClr>
              <a:buSzPts val="1100"/>
              <a:buChar char="•"/>
            </a:pP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how=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controls which keys survive.</a:t>
            </a:r>
            <a:endParaRPr/>
          </a:p>
          <a:p>
            <a:pPr indent="-260350" lvl="0" marL="254000" rtl="0" algn="l">
              <a:spcBef>
                <a:spcPts val="800"/>
              </a:spcBef>
              <a:spcAft>
                <a:spcPts val="0"/>
              </a:spcAft>
              <a:buClr>
                <a:srgbClr val="222540"/>
              </a:buClr>
              <a:buSzPts val="1100"/>
              <a:buChar char="•"/>
            </a:pP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Under the hood it's </a:t>
            </a:r>
            <a:r>
              <a:rPr lang="en" sz="1100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merge</a:t>
            </a:r>
            <a:r>
              <a:rPr lang="en" sz="1100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on the index.</a:t>
            </a:r>
            <a:endParaRPr/>
          </a:p>
        </p:txBody>
      </p:sp>
      <p:pic>
        <p:nvPicPr>
          <p:cNvPr descr="pd_join.png" id="825" name="Google Shape;825;p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10887" y="1498796"/>
            <a:ext cx="4090797" cy="24202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83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Join</a:t>
            </a:r>
            <a:endParaRPr/>
          </a:p>
        </p:txBody>
      </p:sp>
      <p:sp>
        <p:nvSpPr>
          <p:cNvPr id="831" name="Google Shape;831;p83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Joining is a convenient method for combining the columns of two potentially differently-indexed DataFrames into a single result DataFrame.</a:t>
            </a:r>
            <a:endParaRPr sz="1600"/>
          </a:p>
        </p:txBody>
      </p:sp>
      <p:sp>
        <p:nvSpPr>
          <p:cNvPr id="832" name="Google Shape;832;p83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3" name="Google Shape;833;p83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4" name="Google Shape;834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6648" y="37000"/>
            <a:ext cx="2842725" cy="3194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835" name="Google Shape;835;p8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6638" y="3319070"/>
            <a:ext cx="2784600" cy="176785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d_join.png" id="836" name="Google Shape;836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5595" y="2778946"/>
            <a:ext cx="3323999" cy="1966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p84"/>
          <p:cNvSpPr txBox="1"/>
          <p:nvPr>
            <p:ph type="ctrTitle"/>
          </p:nvPr>
        </p:nvSpPr>
        <p:spPr>
          <a:xfrm>
            <a:off x="235425" y="1775225"/>
            <a:ext cx="8584800" cy="1953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for Join / Merge</a:t>
            </a:r>
            <a:endParaRPr/>
          </a:p>
        </p:txBody>
      </p:sp>
      <p:sp>
        <p:nvSpPr>
          <p:cNvPr id="842" name="Google Shape;842;p84"/>
          <p:cNvSpPr txBox="1"/>
          <p:nvPr>
            <p:ph idx="1" type="subTitle"/>
          </p:nvPr>
        </p:nvSpPr>
        <p:spPr>
          <a:xfrm>
            <a:off x="36100" y="4230261"/>
            <a:ext cx="8222100" cy="8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85"/>
          <p:cNvSpPr txBox="1"/>
          <p:nvPr>
            <p:ph type="title"/>
          </p:nvPr>
        </p:nvSpPr>
        <p:spPr>
          <a:xfrm>
            <a:off x="311700" y="1814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Strategy for </a:t>
            </a:r>
            <a:r>
              <a:rPr lang="en"/>
              <a:t>Join / </a:t>
            </a:r>
            <a:r>
              <a:rPr lang="en"/>
              <a:t>Merge</a:t>
            </a:r>
            <a:endParaRPr/>
          </a:p>
        </p:txBody>
      </p:sp>
      <p:sp>
        <p:nvSpPr>
          <p:cNvPr id="848" name="Google Shape;848;p85"/>
          <p:cNvSpPr txBox="1"/>
          <p:nvPr>
            <p:ph idx="1" type="body"/>
          </p:nvPr>
        </p:nvSpPr>
        <p:spPr>
          <a:xfrm>
            <a:off x="311700" y="892063"/>
            <a:ext cx="8520600" cy="36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9" name="Google Shape;849;p85"/>
          <p:cNvPicPr preferRelativeResize="0"/>
          <p:nvPr/>
        </p:nvPicPr>
        <p:blipFill rotWithShape="1">
          <a:blip r:embed="rId3">
            <a:alphaModFix/>
          </a:blip>
          <a:srcRect b="0" l="0" r="0" t="27442"/>
          <a:stretch/>
        </p:blipFill>
        <p:spPr>
          <a:xfrm>
            <a:off x="2474300" y="1105525"/>
            <a:ext cx="3430675" cy="3732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86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Inner</a:t>
            </a:r>
            <a:endParaRPr/>
          </a:p>
        </p:txBody>
      </p:sp>
      <p:sp>
        <p:nvSpPr>
          <p:cNvPr id="855" name="Google Shape;855;p86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6" name="Google Shape;856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26" y="976525"/>
            <a:ext cx="3385751" cy="38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7" name="Google Shape;857;p86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86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59" name="Google Shape;859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0867" y="3431925"/>
            <a:ext cx="3542233" cy="1269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0" name="Google Shape;860;p8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61275" y="295025"/>
            <a:ext cx="3542226" cy="2885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p87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Left (Outer) Join</a:t>
            </a:r>
            <a:endParaRPr/>
          </a:p>
        </p:txBody>
      </p:sp>
      <p:sp>
        <p:nvSpPr>
          <p:cNvPr id="866" name="Google Shape;866;p87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67" name="Google Shape;867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26" y="976525"/>
            <a:ext cx="3385751" cy="38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8" name="Google Shape;868;p87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9" name="Google Shape;869;p87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0" name="Google Shape;870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1775" y="517675"/>
            <a:ext cx="3440424" cy="24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1" name="Google Shape;871;p8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2738" y="3183300"/>
            <a:ext cx="3130525" cy="17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88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Right</a:t>
            </a:r>
            <a:r>
              <a:rPr lang="en"/>
              <a:t> (Outer) Join</a:t>
            </a:r>
            <a:endParaRPr/>
          </a:p>
        </p:txBody>
      </p:sp>
      <p:sp>
        <p:nvSpPr>
          <p:cNvPr id="877" name="Google Shape;877;p88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78" name="Google Shape;878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26" y="976525"/>
            <a:ext cx="3385751" cy="38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88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0" name="Google Shape;880;p88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1" name="Google Shape;881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8375" y="309475"/>
            <a:ext cx="3446501" cy="239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82" name="Google Shape;882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05638" y="2775050"/>
            <a:ext cx="3904725" cy="2200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89"/>
          <p:cNvSpPr txBox="1"/>
          <p:nvPr>
            <p:ph type="title"/>
          </p:nvPr>
        </p:nvSpPr>
        <p:spPr>
          <a:xfrm>
            <a:off x="2100" y="276526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Outer Join</a:t>
            </a:r>
            <a:endParaRPr/>
          </a:p>
        </p:txBody>
      </p:sp>
      <p:sp>
        <p:nvSpPr>
          <p:cNvPr id="888" name="Google Shape;888;p89"/>
          <p:cNvSpPr txBox="1"/>
          <p:nvPr>
            <p:ph idx="1" type="subTitle"/>
          </p:nvPr>
        </p:nvSpPr>
        <p:spPr>
          <a:xfrm>
            <a:off x="265500" y="1439074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89" name="Google Shape;889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226" y="976525"/>
            <a:ext cx="3385751" cy="380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0" name="Google Shape;890;p89"/>
          <p:cNvSpPr txBox="1"/>
          <p:nvPr>
            <p:ph idx="2" type="title"/>
          </p:nvPr>
        </p:nvSpPr>
        <p:spPr>
          <a:xfrm>
            <a:off x="4572000" y="271791"/>
            <a:ext cx="4572000" cy="63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89"/>
          <p:cNvSpPr txBox="1"/>
          <p:nvPr>
            <p:ph idx="3" type="subTitle"/>
          </p:nvPr>
        </p:nvSpPr>
        <p:spPr>
          <a:xfrm>
            <a:off x="4835400" y="1451433"/>
            <a:ext cx="4045200" cy="25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2" name="Google Shape;892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9200" y="128025"/>
            <a:ext cx="3657600" cy="2082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8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8825" y="2584125"/>
            <a:ext cx="3549375" cy="250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7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90"/>
          <p:cNvSpPr txBox="1"/>
          <p:nvPr>
            <p:ph type="title"/>
          </p:nvPr>
        </p:nvSpPr>
        <p:spPr>
          <a:xfrm>
            <a:off x="462915" y="1183005"/>
            <a:ext cx="5915100" cy="9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Pandas </a:t>
            </a:r>
            <a:r>
              <a:rPr lang="en" sz="3200"/>
              <a:t>Data</a:t>
            </a:r>
            <a:endParaRPr/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Roboto"/>
              <a:buNone/>
            </a:pPr>
            <a:r>
              <a:rPr b="1" lang="en" sz="32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Practice Exercises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91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Pandas.DataFrame</a:t>
            </a:r>
            <a:endParaRPr sz="3000"/>
          </a:p>
        </p:txBody>
      </p:sp>
      <p:sp>
        <p:nvSpPr>
          <p:cNvPr id="904" name="Google Shape;904;p91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LESSON SLIDES 2-5</a:t>
            </a:r>
            <a:endParaRPr sz="1050"/>
          </a:p>
        </p:txBody>
      </p:sp>
      <p:sp>
        <p:nvSpPr>
          <p:cNvPr id="905" name="Google Shape;905;p91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Building a frame from a dict, a list of dicts or Series — then reading its shape, dtypes and index.  (6 exercises)</a:t>
            </a:r>
            <a:endParaRPr sz="1125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9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Creating &amp; Inspecting · Level 1</a:t>
            </a:r>
            <a:endParaRPr sz="2100"/>
          </a:p>
        </p:txBody>
      </p:sp>
      <p:sp>
        <p:nvSpPr>
          <p:cNvPr descr="Step 1 badge" id="912" name="Google Shape;912;p92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3" name="Google Shape;913;p92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914" name="Google Shape;914;p92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Shape and dtypes</a:t>
            </a:r>
            <a:endParaRPr sz="1350"/>
          </a:p>
        </p:txBody>
      </p:sp>
      <p:sp>
        <p:nvSpPr>
          <p:cNvPr id="915" name="Google Shape;915;p92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Show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shape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shop.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Show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dtype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every column.</a:t>
            </a:r>
            <a:endParaRPr sz="975"/>
          </a:p>
        </p:txBody>
      </p:sp>
      <p:sp>
        <p:nvSpPr>
          <p:cNvPr id="916" name="Google Shape;916;p92"/>
          <p:cNvSpPr/>
          <p:nvPr/>
        </p:nvSpPr>
        <p:spPr>
          <a:xfrm>
            <a:off x="411480" y="2020367"/>
            <a:ext cx="4046100" cy="1172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7" name="Google Shape;917;p92"/>
          <p:cNvSpPr txBox="1"/>
          <p:nvPr>
            <p:ph idx="6" type="body"/>
          </p:nvPr>
        </p:nvSpPr>
        <p:spPr>
          <a:xfrm>
            <a:off x="582930" y="2191817"/>
            <a:ext cx="3703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shop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"item"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"pen"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"book"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"bag"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"qty"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"price"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1.5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12.0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25.0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18" name="Google Shape;918;p92"/>
          <p:cNvSpPr txBox="1"/>
          <p:nvPr>
            <p:ph idx="7" type="body"/>
          </p:nvPr>
        </p:nvSpPr>
        <p:spPr>
          <a:xfrm>
            <a:off x="411480" y="3295955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919" name="Google Shape;919;p92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0" name="Google Shape;920;p92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921" name="Google Shape;921;p92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Head, tail, columns</a:t>
            </a:r>
            <a:endParaRPr sz="1350"/>
          </a:p>
        </p:txBody>
      </p:sp>
      <p:sp>
        <p:nvSpPr>
          <p:cNvPr id="922" name="Google Shape;922;p92"/>
          <p:cNvSpPr txBox="1"/>
          <p:nvPr>
            <p:ph idx="14" type="body"/>
          </p:nvPr>
        </p:nvSpPr>
        <p:spPr>
          <a:xfrm>
            <a:off x="4684014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Show the first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two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rows.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Show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last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row.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Show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column names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923" name="Google Shape;923;p92"/>
          <p:cNvSpPr/>
          <p:nvPr/>
        </p:nvSpPr>
        <p:spPr>
          <a:xfrm>
            <a:off x="4684014" y="2020367"/>
            <a:ext cx="4046100" cy="1172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4" name="Google Shape;924;p92"/>
          <p:cNvSpPr txBox="1"/>
          <p:nvPr>
            <p:ph idx="16" type="body"/>
          </p:nvPr>
        </p:nvSpPr>
        <p:spPr>
          <a:xfrm>
            <a:off x="4855464" y="2191817"/>
            <a:ext cx="3703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temps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"city"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"Siem Reap"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"Kampot"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"Kep"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"high"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5" name="Google Shape;925;p92"/>
          <p:cNvSpPr txBox="1"/>
          <p:nvPr>
            <p:ph idx="17" type="body"/>
          </p:nvPr>
        </p:nvSpPr>
        <p:spPr>
          <a:xfrm>
            <a:off x="4684014" y="3295955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00.png" id="926" name="Google Shape;926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535985"/>
            <a:ext cx="1466850" cy="939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01.png" id="927" name="Google Shape;927;p9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535985"/>
            <a:ext cx="3049548" cy="1388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1" name="Shape 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2" name="Google Shape;932;p93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Roboto"/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Read / Query DataFrame</a:t>
            </a:r>
            <a:endParaRPr sz="3000"/>
          </a:p>
        </p:txBody>
      </p:sp>
      <p:sp>
        <p:nvSpPr>
          <p:cNvPr id="933" name="Google Shape;933;p93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EC5F82"/>
              </a:buClr>
              <a:buSzPts val="1050"/>
              <a:buNone/>
            </a:pPr>
            <a:r>
              <a:rPr b="1" lang="en" sz="1050">
                <a:solidFill>
                  <a:srgbClr val="EC5F82"/>
                </a:solidFill>
                <a:latin typeface="Roboto"/>
                <a:ea typeface="Roboto"/>
                <a:cs typeface="Roboto"/>
                <a:sym typeface="Roboto"/>
              </a:rPr>
              <a:t>LESSON SLIDES 6-12</a:t>
            </a:r>
            <a:endParaRPr sz="1050"/>
          </a:p>
        </p:txBody>
      </p:sp>
      <p:sp>
        <p:nvSpPr>
          <p:cNvPr id="934" name="Google Shape;934;p93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6DAF2"/>
              </a:buClr>
              <a:buSzPts val="1125"/>
              <a:buNone/>
            </a:pPr>
            <a:r>
              <a:rPr lang="en" sz="1125">
                <a:solidFill>
                  <a:srgbClr val="D6DAF2"/>
                </a:solidFill>
                <a:latin typeface="Roboto"/>
                <a:ea typeface="Roboto"/>
                <a:cs typeface="Roboto"/>
                <a:sym typeface="Roboto"/>
              </a:rPr>
              <a:t>Getting a column, loc vs iloc, slicing by position and by label, boolean filtering and combining conditions.  (12 exercises)</a:t>
            </a:r>
            <a:endParaRPr sz="1125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p94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Selecting Columns &amp; Rows · Level 1</a:t>
            </a:r>
            <a:endParaRPr sz="2100"/>
          </a:p>
        </p:txBody>
      </p:sp>
      <p:sp>
        <p:nvSpPr>
          <p:cNvPr descr="Step 1 badge" id="941" name="Google Shape;941;p94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2" name="Google Shape;942;p94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943" name="Google Shape;943;p94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Series or DataFrame?</a:t>
            </a:r>
            <a:endParaRPr sz="1350"/>
          </a:p>
        </p:txBody>
      </p:sp>
      <p:sp>
        <p:nvSpPr>
          <p:cNvPr id="944" name="Google Shape;944;p94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fruit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 with single brackets([ ]).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fruit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 with double brackets([[ ]]) 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fruit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kg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columns.</a:t>
            </a:r>
            <a:endParaRPr sz="975"/>
          </a:p>
        </p:txBody>
      </p:sp>
      <p:sp>
        <p:nvSpPr>
          <p:cNvPr id="945" name="Google Shape;945;p94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94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basket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"fruit"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"mango"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"banana"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"apple"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"kg"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7" name="Google Shape;947;p94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06.png" id="948" name="Google Shape;948;p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2289719" cy="2598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p9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Selecting Columns &amp; Rows · Level 3</a:t>
            </a:r>
            <a:endParaRPr sz="2100"/>
          </a:p>
        </p:txBody>
      </p:sp>
      <p:sp>
        <p:nvSpPr>
          <p:cNvPr descr="Step 1 badge" id="955" name="Google Shape;955;p95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95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957" name="Google Shape;957;p95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When the index is text</a:t>
            </a:r>
            <a:endParaRPr sz="1350"/>
          </a:p>
        </p:txBody>
      </p:sp>
      <p:sp>
        <p:nvSpPr>
          <p:cNvPr id="958" name="Google Shape;958;p95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row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by label.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row at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position 1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row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by label. What happens?</a:t>
            </a:r>
            <a:endParaRPr sz="975"/>
          </a:p>
        </p:txBody>
      </p:sp>
      <p:sp>
        <p:nvSpPr>
          <p:cNvPr id="959" name="Google Shape;959;p95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0" name="Google Shape;960;p95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ref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"val"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1" name="Google Shape;961;p95"/>
          <p:cNvSpPr txBox="1"/>
          <p:nvPr>
            <p:ph idx="7" type="body"/>
          </p:nvPr>
        </p:nvSpPr>
        <p:spPr>
          <a:xfrm>
            <a:off x="411480" y="3151937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962" name="Google Shape;962;p95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95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964" name="Google Shape;964;p95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Lists of labels</a:t>
            </a:r>
            <a:endParaRPr sz="1350"/>
          </a:p>
        </p:txBody>
      </p:sp>
      <p:sp>
        <p:nvSpPr>
          <p:cNvPr id="965" name="Google Shape;965;p95"/>
          <p:cNvSpPr txBox="1"/>
          <p:nvPr>
            <p:ph idx="14" type="body"/>
          </p:nvPr>
        </p:nvSpPr>
        <p:spPr>
          <a:xfrm>
            <a:off x="4684014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dept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salary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Dara and Chan.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every row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from Dara to Vibol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Dara and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Zed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 What happens?</a:t>
            </a:r>
            <a:endParaRPr sz="975"/>
          </a:p>
        </p:txBody>
      </p:sp>
      <p:sp>
        <p:nvSpPr>
          <p:cNvPr id="966" name="Google Shape;966;p95"/>
          <p:cNvSpPr/>
          <p:nvPr/>
        </p:nvSpPr>
        <p:spPr>
          <a:xfrm>
            <a:off x="4684014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7" name="Google Shape;967;p95"/>
          <p:cNvSpPr txBox="1"/>
          <p:nvPr>
            <p:ph idx="16" type="body"/>
          </p:nvPr>
        </p:nvSpPr>
        <p:spPr>
          <a:xfrm>
            <a:off x="4855464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staff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"dept"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"HR"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"Ops"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"salary"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900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1200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},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"Dara"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"Chan"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"Vibol"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"Sok"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68" name="Google Shape;968;p95"/>
          <p:cNvSpPr txBox="1"/>
          <p:nvPr>
            <p:ph idx="17" type="body"/>
          </p:nvPr>
        </p:nvSpPr>
        <p:spPr>
          <a:xfrm>
            <a:off x="4684014" y="3151937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10.png" id="969" name="Google Shape;969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91966"/>
            <a:ext cx="1603059" cy="939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11.png" id="970" name="Google Shape;970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391966"/>
            <a:ext cx="2273057" cy="15800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9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Filtering Rows · Level 1</a:t>
            </a:r>
            <a:endParaRPr sz="2100"/>
          </a:p>
        </p:txBody>
      </p:sp>
      <p:sp>
        <p:nvSpPr>
          <p:cNvPr descr="Step 1 badge" id="977" name="Google Shape;977;p96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8" name="Google Shape;978;p96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979" name="Google Shape;979;p96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 simple mask</a:t>
            </a:r>
            <a:endParaRPr sz="1350"/>
          </a:p>
        </p:txBody>
      </p:sp>
      <p:sp>
        <p:nvSpPr>
          <p:cNvPr id="980" name="Google Shape;980;p96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students who scored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60 or more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how many students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passed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981" name="Google Shape;981;p96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96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A6E22E"/>
              </a:buClr>
              <a:buSzPts val="900"/>
              <a:buNone/>
            </a:pPr>
            <a:r>
              <a:rPr b="0" i="0" lang="en" sz="900">
                <a:solidFill>
                  <a:srgbClr val="A6E22E"/>
                </a:solidFill>
                <a:latin typeface="Consolas"/>
                <a:ea typeface="Consolas"/>
                <a:cs typeface="Consolas"/>
                <a:sym typeface="Consolas"/>
              </a:rPr>
              <a:t>cls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"Sok"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"Dara"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"Mony"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"Vann"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"score"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88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3" name="Google Shape;983;p96"/>
          <p:cNvSpPr txBox="1"/>
          <p:nvPr>
            <p:ph idx="7" type="body"/>
          </p:nvPr>
        </p:nvSpPr>
        <p:spPr>
          <a:xfrm>
            <a:off x="411480" y="312039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984" name="Google Shape;984;p96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96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986" name="Google Shape;986;p96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Name the mask</a:t>
            </a:r>
            <a:endParaRPr sz="1350"/>
          </a:p>
        </p:txBody>
      </p:sp>
      <p:sp>
        <p:nvSpPr>
          <p:cNvPr id="987" name="Google Shape;987;p96"/>
          <p:cNvSpPr txBox="1"/>
          <p:nvPr>
            <p:ph idx="14" type="body"/>
          </p:nvPr>
        </p:nvSpPr>
        <p:spPr>
          <a:xfrm>
            <a:off x="4684014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Build a mask for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red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cars and show it.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Use the mask to select the red cars.</a:t>
            </a:r>
            <a:endParaRPr sz="975"/>
          </a:p>
        </p:txBody>
      </p:sp>
      <p:sp>
        <p:nvSpPr>
          <p:cNvPr id="988" name="Google Shape;988;p96"/>
          <p:cNvSpPr/>
          <p:nvPr/>
        </p:nvSpPr>
        <p:spPr>
          <a:xfrm>
            <a:off x="4684014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9" name="Google Shape;989;p96"/>
          <p:cNvSpPr txBox="1"/>
          <p:nvPr>
            <p:ph idx="16" type="body"/>
          </p:nvPr>
        </p:nvSpPr>
        <p:spPr>
          <a:xfrm>
            <a:off x="4855464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cars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"colour"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"blue"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"km"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250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0" name="Google Shape;990;p96"/>
          <p:cNvSpPr txBox="1"/>
          <p:nvPr>
            <p:ph idx="17" type="body"/>
          </p:nvPr>
        </p:nvSpPr>
        <p:spPr>
          <a:xfrm>
            <a:off x="4684014" y="312039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12.png" id="991" name="Google Shape;991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60420"/>
            <a:ext cx="1697355" cy="893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13.png" id="992" name="Google Shape;992;p9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360420"/>
            <a:ext cx="2086213" cy="13563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9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Filtering Rows · Level 2</a:t>
            </a:r>
            <a:endParaRPr sz="2100"/>
          </a:p>
        </p:txBody>
      </p:sp>
      <p:sp>
        <p:nvSpPr>
          <p:cNvPr descr="Step 1 badge" id="999" name="Google Shape;999;p97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0" name="Google Shape;1000;p97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001" name="Google Shape;1001;p97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AND, OR, NOT</a:t>
            </a:r>
            <a:endParaRPr sz="1350"/>
          </a:p>
        </p:txBody>
      </p:sp>
      <p:sp>
        <p:nvSpPr>
          <p:cNvPr id="1002" name="Google Shape;1002;p97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orders in PP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and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qty above 2.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orders in PP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qty above 4.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orders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in PP.</a:t>
            </a:r>
            <a:endParaRPr sz="975"/>
          </a:p>
        </p:txBody>
      </p:sp>
      <p:sp>
        <p:nvSpPr>
          <p:cNvPr id="1003" name="Google Shape;1003;p97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4" name="Google Shape;1004;p97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o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"city"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"qty"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5" name="Google Shape;1005;p97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14.png" id="1006" name="Google Shape;1006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531076" cy="21293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98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1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98"/>
          <p:cNvSpPr txBox="1"/>
          <p:nvPr>
            <p:ph type="title"/>
          </p:nvPr>
        </p:nvSpPr>
        <p:spPr>
          <a:xfrm>
            <a:off x="617220" y="1988820"/>
            <a:ext cx="7543800" cy="82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Transforming Columns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3" name="Google Shape;1013;p98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225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9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Exploring &amp; Sorting · Level 1</a:t>
            </a:r>
            <a:endParaRPr sz="2100"/>
          </a:p>
        </p:txBody>
      </p:sp>
      <p:sp>
        <p:nvSpPr>
          <p:cNvPr descr="Step 1 badge" id="1020" name="Google Shape;1020;p99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1" name="Google Shape;1021;p99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022" name="Google Shape;1022;p99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Tally a column</a:t>
            </a:r>
            <a:endParaRPr sz="1350"/>
          </a:p>
        </p:txBody>
      </p:sp>
      <p:sp>
        <p:nvSpPr>
          <p:cNvPr id="1023" name="Google Shape;1023;p99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each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colour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024" name="Google Shape;1024;p99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5" name="Google Shape;1025;p99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v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"colour"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"blue"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"red"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"blue"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6" name="Google Shape;1026;p99"/>
          <p:cNvSpPr txBox="1"/>
          <p:nvPr>
            <p:ph idx="7" type="body"/>
          </p:nvPr>
        </p:nvSpPr>
        <p:spPr>
          <a:xfrm>
            <a:off x="411480" y="3151937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027" name="Google Shape;1027;p99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8" name="Google Shape;1028;p99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029" name="Google Shape;1029;p99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Distinct values</a:t>
            </a:r>
            <a:endParaRPr sz="1350"/>
          </a:p>
        </p:txBody>
      </p:sp>
      <p:sp>
        <p:nvSpPr>
          <p:cNvPr id="1030" name="Google Shape;1030;p99"/>
          <p:cNvSpPr txBox="1"/>
          <p:nvPr>
            <p:ph idx="14" type="body"/>
          </p:nvPr>
        </p:nvSpPr>
        <p:spPr>
          <a:xfrm>
            <a:off x="4684014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List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distinct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sizes.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the distinct sizes.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031" name="Google Shape;1031;p99"/>
          <p:cNvSpPr/>
          <p:nvPr/>
        </p:nvSpPr>
        <p:spPr>
          <a:xfrm>
            <a:off x="4684014" y="2020367"/>
            <a:ext cx="4046100" cy="884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2" name="Google Shape;1032;p99"/>
          <p:cNvSpPr txBox="1"/>
          <p:nvPr>
            <p:ph idx="16" type="body"/>
          </p:nvPr>
        </p:nvSpPr>
        <p:spPr>
          <a:xfrm>
            <a:off x="4855464" y="2191817"/>
            <a:ext cx="3703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"size"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"L"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3" name="Google Shape;1033;p99"/>
          <p:cNvSpPr txBox="1"/>
          <p:nvPr>
            <p:ph idx="17" type="body"/>
          </p:nvPr>
        </p:nvSpPr>
        <p:spPr>
          <a:xfrm>
            <a:off x="4684014" y="3007919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18.png" id="1034" name="Google Shape;1034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91966"/>
            <a:ext cx="2086213" cy="93916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19.png" id="1035" name="Google Shape;1035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247949"/>
            <a:ext cx="2843092" cy="752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10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Exploring &amp; Sorting · Level 2</a:t>
            </a:r>
            <a:endParaRPr sz="2100"/>
          </a:p>
        </p:txBody>
      </p:sp>
      <p:sp>
        <p:nvSpPr>
          <p:cNvPr descr="Step 1 badge" id="1042" name="Google Shape;1042;p100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3" name="Google Shape;1043;p100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044" name="Google Shape;1044;p100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Sort by one key, then two</a:t>
            </a:r>
            <a:endParaRPr sz="1350"/>
          </a:p>
        </p:txBody>
      </p:sp>
      <p:sp>
        <p:nvSpPr>
          <p:cNvPr id="1045" name="Google Shape;1045;p100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Sort the results by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time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Sort by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team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then by time.</a:t>
            </a:r>
            <a:endParaRPr sz="975"/>
          </a:p>
        </p:txBody>
      </p:sp>
      <p:sp>
        <p:nvSpPr>
          <p:cNvPr id="1046" name="Google Shape;1046;p100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7" name="Google Shape;1047;p100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"team"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"time"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12.5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11.0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10.5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13.0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8" name="Google Shape;1048;p100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20.png" id="1049" name="Google Shape;1049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713748" cy="223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101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Creating Columns · Level 1</a:t>
            </a:r>
            <a:endParaRPr sz="2100"/>
          </a:p>
        </p:txBody>
      </p:sp>
      <p:sp>
        <p:nvSpPr>
          <p:cNvPr descr="Step 1 badge" id="1056" name="Google Shape;1056;p101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7" name="Google Shape;1057;p101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058" name="Google Shape;1058;p101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Multiply two columns</a:t>
            </a:r>
            <a:endParaRPr sz="1350"/>
          </a:p>
        </p:txBody>
      </p:sp>
      <p:sp>
        <p:nvSpPr>
          <p:cNvPr id="1059" name="Google Shape;1059;p101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an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area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 (w × h).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Show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dtype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area.</a:t>
            </a:r>
            <a:endParaRPr sz="975"/>
          </a:p>
        </p:txBody>
      </p:sp>
      <p:sp>
        <p:nvSpPr>
          <p:cNvPr id="1060" name="Google Shape;1060;p101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1" name="Google Shape;1061;p101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"w"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"h"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2" name="Google Shape;1062;p101"/>
          <p:cNvSpPr txBox="1"/>
          <p:nvPr>
            <p:ph idx="7" type="body"/>
          </p:nvPr>
        </p:nvSpPr>
        <p:spPr>
          <a:xfrm>
            <a:off x="411480" y="312039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063" name="Google Shape;1063;p101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4" name="Google Shape;1064;p101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065" name="Google Shape;1065;p101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 flat column, then overwrite</a:t>
            </a:r>
            <a:endParaRPr sz="1350"/>
          </a:p>
        </p:txBody>
      </p:sp>
      <p:sp>
        <p:nvSpPr>
          <p:cNvPr id="1066" name="Google Shape;1066;p101"/>
          <p:cNvSpPr txBox="1"/>
          <p:nvPr>
            <p:ph idx="14" type="body"/>
          </p:nvPr>
        </p:nvSpPr>
        <p:spPr>
          <a:xfrm>
            <a:off x="4684014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a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vat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 of 0.25 to every row.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Replace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amt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the amount including VAT.</a:t>
            </a:r>
            <a:endParaRPr sz="975"/>
          </a:p>
        </p:txBody>
      </p:sp>
      <p:sp>
        <p:nvSpPr>
          <p:cNvPr id="1067" name="Google Shape;1067;p101"/>
          <p:cNvSpPr/>
          <p:nvPr/>
        </p:nvSpPr>
        <p:spPr>
          <a:xfrm>
            <a:off x="4684014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8" name="Google Shape;1068;p101"/>
          <p:cNvSpPr txBox="1"/>
          <p:nvPr>
            <p:ph idx="16" type="body"/>
          </p:nvPr>
        </p:nvSpPr>
        <p:spPr>
          <a:xfrm>
            <a:off x="4855464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inv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"line"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"amt"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250.0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69" name="Google Shape;1069;p101"/>
          <p:cNvSpPr txBox="1"/>
          <p:nvPr>
            <p:ph idx="17" type="body"/>
          </p:nvPr>
        </p:nvSpPr>
        <p:spPr>
          <a:xfrm>
            <a:off x="4684014" y="312039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24.png" id="1070" name="Google Shape;1070;p10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60420"/>
            <a:ext cx="1652111" cy="109156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25.png" id="1071" name="Google Shape;1071;p10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360420"/>
            <a:ext cx="1995964" cy="131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p10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Creating Columns · Level 3</a:t>
            </a:r>
            <a:endParaRPr sz="2100"/>
          </a:p>
        </p:txBody>
      </p:sp>
      <p:sp>
        <p:nvSpPr>
          <p:cNvPr descr="Step 1 badge" id="1078" name="Google Shape;1078;p102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9" name="Google Shape;1079;p102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080" name="Google Shape;1080;p102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 column that is not there yet</a:t>
            </a:r>
            <a:endParaRPr sz="1350"/>
          </a:p>
        </p:txBody>
      </p:sp>
      <p:sp>
        <p:nvSpPr>
          <p:cNvPr id="1081" name="Google Shape;1081;p102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a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big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flag (total &gt; 25) before total exists.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total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(qty × price) first, then the flag.</a:t>
            </a:r>
            <a:endParaRPr sz="975"/>
          </a:p>
        </p:txBody>
      </p:sp>
      <p:sp>
        <p:nvSpPr>
          <p:cNvPr id="1082" name="Google Shape;1082;p102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3" name="Google Shape;1083;p102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"qty"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"price"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84" name="Google Shape;1084;p102"/>
          <p:cNvSpPr txBox="1"/>
          <p:nvPr>
            <p:ph idx="7" type="body"/>
          </p:nvPr>
        </p:nvSpPr>
        <p:spPr>
          <a:xfrm>
            <a:off x="411480" y="312039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085" name="Google Shape;1085;p102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6" name="Google Shape;1086;p102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087" name="Google Shape;1087;p102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Numbers stored as text</a:t>
            </a:r>
            <a:endParaRPr sz="1350"/>
          </a:p>
        </p:txBody>
      </p:sp>
      <p:sp>
        <p:nvSpPr>
          <p:cNvPr id="1088" name="Google Shape;1088;p102"/>
          <p:cNvSpPr txBox="1"/>
          <p:nvPr>
            <p:ph idx="14" type="body"/>
          </p:nvPr>
        </p:nvSpPr>
        <p:spPr>
          <a:xfrm>
            <a:off x="4684014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qty to itself.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Convert qty to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numbers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, then add again.</a:t>
            </a:r>
            <a:endParaRPr sz="975"/>
          </a:p>
        </p:txBody>
      </p:sp>
      <p:sp>
        <p:nvSpPr>
          <p:cNvPr id="1089" name="Google Shape;1089;p102"/>
          <p:cNvSpPr/>
          <p:nvPr/>
        </p:nvSpPr>
        <p:spPr>
          <a:xfrm>
            <a:off x="4684014" y="1988820"/>
            <a:ext cx="4046100" cy="884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0" name="Google Shape;1090;p102"/>
          <p:cNvSpPr txBox="1"/>
          <p:nvPr>
            <p:ph idx="16" type="body"/>
          </p:nvPr>
        </p:nvSpPr>
        <p:spPr>
          <a:xfrm>
            <a:off x="4855464" y="2160270"/>
            <a:ext cx="3703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"qty"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"2"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"3"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91" name="Google Shape;1091;p102"/>
          <p:cNvSpPr txBox="1"/>
          <p:nvPr>
            <p:ph idx="17" type="body"/>
          </p:nvPr>
        </p:nvSpPr>
        <p:spPr>
          <a:xfrm>
            <a:off x="4684014" y="2976372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28.png" id="1092" name="Google Shape;1092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60420"/>
            <a:ext cx="2484478" cy="8934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29.png" id="1093" name="Google Shape;1093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216402"/>
            <a:ext cx="2017396" cy="10934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10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apply, map &amp; .str · Level 1</a:t>
            </a:r>
            <a:endParaRPr sz="2100"/>
          </a:p>
        </p:txBody>
      </p:sp>
      <p:sp>
        <p:nvSpPr>
          <p:cNvPr descr="Step 1 badge" id="1100" name="Google Shape;1100;p103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1" name="Google Shape;1101;p103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102" name="Google Shape;1102;p103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apply with a lambda</a:t>
            </a:r>
            <a:endParaRPr sz="1350"/>
          </a:p>
        </p:txBody>
      </p:sp>
      <p:sp>
        <p:nvSpPr>
          <p:cNvPr id="1103" name="Google Shape;1103;p103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a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size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column: 'big' if n ≥ 3, else 'small'.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each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size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104" name="Google Shape;1104;p103"/>
          <p:cNvSpPr/>
          <p:nvPr/>
        </p:nvSpPr>
        <p:spPr>
          <a:xfrm>
            <a:off x="411480" y="1988820"/>
            <a:ext cx="4046100" cy="596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5" name="Google Shape;1105;p103"/>
          <p:cNvSpPr txBox="1"/>
          <p:nvPr>
            <p:ph idx="6" type="body"/>
          </p:nvPr>
        </p:nvSpPr>
        <p:spPr>
          <a:xfrm>
            <a:off x="582930" y="2160270"/>
            <a:ext cx="37032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"n"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06" name="Google Shape;1106;p103"/>
          <p:cNvSpPr txBox="1"/>
          <p:nvPr>
            <p:ph idx="7" type="body"/>
          </p:nvPr>
        </p:nvSpPr>
        <p:spPr>
          <a:xfrm>
            <a:off x="411480" y="268833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107" name="Google Shape;1107;p103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8" name="Google Shape;1108;p103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109" name="Google Shape;1109;p103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map with a dict</a:t>
            </a:r>
            <a:endParaRPr sz="1350"/>
          </a:p>
        </p:txBody>
      </p:sp>
      <p:sp>
        <p:nvSpPr>
          <p:cNvPr id="1110" name="Google Shape;1110;p103"/>
          <p:cNvSpPr txBox="1"/>
          <p:nvPr>
            <p:ph idx="14" type="body"/>
          </p:nvPr>
        </p:nvSpPr>
        <p:spPr>
          <a:xfrm>
            <a:off x="4684014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Translate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code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with the words dict.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rows whose code has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no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translation.</a:t>
            </a:r>
            <a:endParaRPr sz="975"/>
          </a:p>
        </p:txBody>
      </p:sp>
      <p:sp>
        <p:nvSpPr>
          <p:cNvPr id="1111" name="Google Shape;1111;p103"/>
          <p:cNvSpPr/>
          <p:nvPr/>
        </p:nvSpPr>
        <p:spPr>
          <a:xfrm>
            <a:off x="4684014" y="1988820"/>
            <a:ext cx="4046100" cy="740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2" name="Google Shape;1112;p103"/>
          <p:cNvSpPr txBox="1"/>
          <p:nvPr>
            <p:ph idx="16" type="body"/>
          </p:nvPr>
        </p:nvSpPr>
        <p:spPr>
          <a:xfrm>
            <a:off x="4855464" y="2160270"/>
            <a:ext cx="3703200" cy="39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"code"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"X"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words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"small"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"medium"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13" name="Google Shape;1113;p103"/>
          <p:cNvSpPr txBox="1"/>
          <p:nvPr>
            <p:ph idx="17" type="body"/>
          </p:nvPr>
        </p:nvSpPr>
        <p:spPr>
          <a:xfrm>
            <a:off x="4684014" y="2832354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30.png" id="1114" name="Google Shape;1114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2928365"/>
            <a:ext cx="2086213" cy="1752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31.png" id="1115" name="Google Shape;1115;p10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072384"/>
            <a:ext cx="2086213" cy="1158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9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104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Missing Value</a:t>
            </a:r>
            <a:endParaRPr/>
          </a:p>
        </p:txBody>
      </p:sp>
      <p:sp>
        <p:nvSpPr>
          <p:cNvPr id="1121" name="Google Shape;1121;p104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2" name="Google Shape;1122;p104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10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Missing Values · Level 1</a:t>
            </a:r>
            <a:endParaRPr sz="2100"/>
          </a:p>
        </p:txBody>
      </p:sp>
      <p:sp>
        <p:nvSpPr>
          <p:cNvPr descr="Step 1 badge" id="1129" name="Google Shape;1129;p105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105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131" name="Google Shape;1131;p105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Count the gaps</a:t>
            </a:r>
            <a:endParaRPr sz="1350"/>
          </a:p>
        </p:txBody>
      </p:sp>
      <p:sp>
        <p:nvSpPr>
          <p:cNvPr id="1132" name="Google Shape;1132;p105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Mark every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missing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cell.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the gaps per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column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rows where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a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is missing.</a:t>
            </a:r>
            <a:endParaRPr sz="975"/>
          </a:p>
        </p:txBody>
      </p:sp>
      <p:sp>
        <p:nvSpPr>
          <p:cNvPr id="1133" name="Google Shape;1133;p105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105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nan,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35" name="Google Shape;1135;p105"/>
          <p:cNvSpPr txBox="1"/>
          <p:nvPr>
            <p:ph idx="7" type="body"/>
          </p:nvPr>
        </p:nvSpPr>
        <p:spPr>
          <a:xfrm>
            <a:off x="411480" y="3151937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136" name="Google Shape;1136;p105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7" name="Google Shape;1137;p105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138" name="Google Shape;1138;p105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Show the affected rows</a:t>
            </a:r>
            <a:endParaRPr sz="1350"/>
          </a:p>
        </p:txBody>
      </p:sp>
      <p:sp>
        <p:nvSpPr>
          <p:cNvPr id="1139" name="Google Shape;1139;p105"/>
          <p:cNvSpPr txBox="1"/>
          <p:nvPr>
            <p:ph idx="14" type="body"/>
          </p:nvPr>
        </p:nvSpPr>
        <p:spPr>
          <a:xfrm>
            <a:off x="4684014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rows missing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x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rows missing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y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rows missing x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or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y.</a:t>
            </a:r>
            <a:endParaRPr sz="975"/>
          </a:p>
        </p:txBody>
      </p:sp>
      <p:sp>
        <p:nvSpPr>
          <p:cNvPr id="1140" name="Google Shape;1140;p105"/>
          <p:cNvSpPr/>
          <p:nvPr/>
        </p:nvSpPr>
        <p:spPr>
          <a:xfrm>
            <a:off x="4684014" y="2020367"/>
            <a:ext cx="4046100" cy="1172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1" name="Google Shape;1141;p105"/>
          <p:cNvSpPr txBox="1"/>
          <p:nvPr>
            <p:ph idx="16" type="body"/>
          </p:nvPr>
        </p:nvSpPr>
        <p:spPr>
          <a:xfrm>
            <a:off x="4855464" y="2191817"/>
            <a:ext cx="3703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"x"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nan,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7.0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nan,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42" name="Google Shape;1142;p105"/>
          <p:cNvSpPr txBox="1"/>
          <p:nvPr>
            <p:ph idx="17" type="body"/>
          </p:nvPr>
        </p:nvSpPr>
        <p:spPr>
          <a:xfrm>
            <a:off x="4684014" y="3295955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50.png" id="1143" name="Google Shape;1143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91967"/>
            <a:ext cx="1306942" cy="158008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51.png" id="1144" name="Google Shape;1144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535985"/>
            <a:ext cx="1483909" cy="13402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9" name="Shape 1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" name="Google Shape;1150;p10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Missing Values · Level 2</a:t>
            </a:r>
            <a:endParaRPr sz="2100"/>
          </a:p>
        </p:txBody>
      </p:sp>
      <p:sp>
        <p:nvSpPr>
          <p:cNvPr descr="Step 1 badge" id="1151" name="Google Shape;1151;p106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2" name="Google Shape;1152;p106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153" name="Google Shape;1153;p106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Drop rows, then columns</a:t>
            </a:r>
            <a:endParaRPr sz="1350"/>
          </a:p>
        </p:txBody>
      </p:sp>
      <p:sp>
        <p:nvSpPr>
          <p:cNvPr id="1154" name="Google Shape;1154;p106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Drop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that have a gap.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Drop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columns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that have a gap.</a:t>
            </a:r>
            <a:endParaRPr sz="975"/>
          </a:p>
        </p:txBody>
      </p:sp>
      <p:sp>
        <p:nvSpPr>
          <p:cNvPr id="1155" name="Google Shape;1155;p106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6" name="Google Shape;1156;p106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nan],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57" name="Google Shape;1157;p106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52.png" id="1158" name="Google Shape;1158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442397" cy="1603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0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Missing Values · Level 3</a:t>
            </a:r>
            <a:endParaRPr sz="2100"/>
          </a:p>
        </p:txBody>
      </p:sp>
      <p:sp>
        <p:nvSpPr>
          <p:cNvPr descr="Step 1 badge" id="1165" name="Google Shape;1165;p107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6" name="Google Shape;1166;p107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167" name="Google Shape;1167;p107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Four fills, four answers</a:t>
            </a:r>
            <a:endParaRPr sz="1350"/>
          </a:p>
        </p:txBody>
      </p:sp>
      <p:sp>
        <p:nvSpPr>
          <p:cNvPr id="1168" name="Google Shape;1168;p107"/>
          <p:cNvSpPr txBox="1"/>
          <p:nvPr>
            <p:ph idx="4" type="body"/>
          </p:nvPr>
        </p:nvSpPr>
        <p:spPr>
          <a:xfrm>
            <a:off x="411480" y="1200150"/>
            <a:ext cx="4046100" cy="98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Total qty × price after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dropping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gap.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Total it after filling price with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Total it after filling with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mean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price.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Total it after filling with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median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price.</a:t>
            </a:r>
            <a:endParaRPr sz="975"/>
          </a:p>
        </p:txBody>
      </p:sp>
      <p:sp>
        <p:nvSpPr>
          <p:cNvPr id="1169" name="Google Shape;1169;p107"/>
          <p:cNvSpPr/>
          <p:nvPr/>
        </p:nvSpPr>
        <p:spPr>
          <a:xfrm>
            <a:off x="411480" y="2251481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0" name="Google Shape;1170;p107"/>
          <p:cNvSpPr txBox="1"/>
          <p:nvPr>
            <p:ph idx="6" type="body"/>
          </p:nvPr>
        </p:nvSpPr>
        <p:spPr>
          <a:xfrm>
            <a:off x="582930" y="2422931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"qty"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"price"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np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nan,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71" name="Google Shape;1171;p107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54.png" id="1172" name="Google Shape;1172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681097" cy="10929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A3480"/>
        </a:solidFill>
      </p:bgPr>
    </p:bg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108"/>
          <p:cNvSpPr/>
          <p:nvPr/>
        </p:nvSpPr>
        <p:spPr>
          <a:xfrm>
            <a:off x="7681165" y="-891540"/>
            <a:ext cx="2469000" cy="2469000"/>
          </a:xfrm>
          <a:prstGeom prst="roundRect">
            <a:avLst>
              <a:gd fmla="val 28000" name="adj"/>
            </a:avLst>
          </a:prstGeom>
          <a:solidFill>
            <a:srgbClr val="EC5F82">
              <a:alpha val="1804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8" name="Google Shape;1178;p108"/>
          <p:cNvSpPr txBox="1"/>
          <p:nvPr/>
        </p:nvSpPr>
        <p:spPr>
          <a:xfrm>
            <a:off x="582946" y="2537460"/>
            <a:ext cx="7544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Aggregation</a:t>
            </a:r>
            <a:endParaRPr sz="1100"/>
          </a:p>
        </p:txBody>
      </p:sp>
      <p:sp>
        <p:nvSpPr>
          <p:cNvPr id="1179" name="Google Shape;1179;p108"/>
          <p:cNvSpPr txBox="1"/>
          <p:nvPr/>
        </p:nvSpPr>
        <p:spPr>
          <a:xfrm>
            <a:off x="596662" y="3257550"/>
            <a:ext cx="7201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80" name="Google Shape;1180;p108"/>
          <p:cNvSpPr txBox="1"/>
          <p:nvPr/>
        </p:nvSpPr>
        <p:spPr>
          <a:xfrm>
            <a:off x="8504147" y="4834890"/>
            <a:ext cx="5487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>
                <a:solidFill>
                  <a:srgbClr val="9DA3D4"/>
                </a:solidFill>
                <a:latin typeface="Roboto"/>
                <a:ea typeface="Roboto"/>
                <a:cs typeface="Roboto"/>
                <a:sym typeface="Roboto"/>
              </a:rPr>
              <a:t>17</a:t>
            </a:r>
            <a:endParaRPr sz="110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10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Aggregation · Level 1</a:t>
            </a:r>
            <a:endParaRPr sz="2100"/>
          </a:p>
        </p:txBody>
      </p:sp>
      <p:sp>
        <p:nvSpPr>
          <p:cNvPr descr="Step 1 badge" id="1187" name="Google Shape;1187;p109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8" name="Google Shape;1188;p109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189" name="Google Shape;1189;p109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Basic statistics</a:t>
            </a:r>
            <a:endParaRPr sz="1350"/>
          </a:p>
        </p:txBody>
      </p:sp>
      <p:sp>
        <p:nvSpPr>
          <p:cNvPr id="1190" name="Google Shape;1190;p109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mean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temperature.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median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temperature.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lowest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and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highest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191" name="Google Shape;1191;p109"/>
          <p:cNvSpPr/>
          <p:nvPr/>
        </p:nvSpPr>
        <p:spPr>
          <a:xfrm>
            <a:off x="411480" y="2020367"/>
            <a:ext cx="4046100" cy="884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2" name="Google Shape;1192;p109"/>
          <p:cNvSpPr txBox="1"/>
          <p:nvPr>
            <p:ph idx="6" type="body"/>
          </p:nvPr>
        </p:nvSpPr>
        <p:spPr>
          <a:xfrm>
            <a:off x="582930" y="2191817"/>
            <a:ext cx="3703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"temp"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93" name="Google Shape;1193;p109"/>
          <p:cNvSpPr txBox="1"/>
          <p:nvPr>
            <p:ph idx="7" type="body"/>
          </p:nvPr>
        </p:nvSpPr>
        <p:spPr>
          <a:xfrm>
            <a:off x="411480" y="3007919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194" name="Google Shape;1194;p109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5" name="Google Shape;1195;p109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196" name="Google Shape;1196;p109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Counting with a mask</a:t>
            </a:r>
            <a:endParaRPr sz="1350"/>
          </a:p>
        </p:txBody>
      </p:sp>
      <p:sp>
        <p:nvSpPr>
          <p:cNvPr id="1197" name="Google Shape;1197;p109"/>
          <p:cNvSpPr txBox="1"/>
          <p:nvPr>
            <p:ph idx="14" type="body"/>
          </p:nvPr>
        </p:nvSpPr>
        <p:spPr>
          <a:xfrm>
            <a:off x="4684014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the marks of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60 or more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share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of marks of 60 or more.</a:t>
            </a:r>
            <a:endParaRPr sz="975"/>
          </a:p>
        </p:txBody>
      </p:sp>
      <p:sp>
        <p:nvSpPr>
          <p:cNvPr id="1198" name="Google Shape;1198;p109"/>
          <p:cNvSpPr/>
          <p:nvPr/>
        </p:nvSpPr>
        <p:spPr>
          <a:xfrm>
            <a:off x="4684014" y="2020367"/>
            <a:ext cx="4046100" cy="884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9" name="Google Shape;1199;p109"/>
          <p:cNvSpPr txBox="1"/>
          <p:nvPr>
            <p:ph idx="16" type="body"/>
          </p:nvPr>
        </p:nvSpPr>
        <p:spPr>
          <a:xfrm>
            <a:off x="4855464" y="2191817"/>
            <a:ext cx="3703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"mark"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0" name="Google Shape;1200;p109"/>
          <p:cNvSpPr txBox="1"/>
          <p:nvPr>
            <p:ph idx="17" type="body"/>
          </p:nvPr>
        </p:nvSpPr>
        <p:spPr>
          <a:xfrm>
            <a:off x="4684014" y="3007919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38.png" id="1201" name="Google Shape;1201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247949"/>
            <a:ext cx="709850" cy="752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39.png" id="1202" name="Google Shape;1202;p10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247949"/>
            <a:ext cx="572214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7" name="Shape 1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" name="Google Shape;1208;p110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Aggregation · Level 3</a:t>
            </a:r>
            <a:endParaRPr sz="2100"/>
          </a:p>
        </p:txBody>
      </p:sp>
      <p:sp>
        <p:nvSpPr>
          <p:cNvPr descr="Step 1 badge" id="1209" name="Google Shape;1209;p110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0" name="Google Shape;1210;p110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211" name="Google Shape;1211;p110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Mean or median?</a:t>
            </a:r>
            <a:endParaRPr sz="1350"/>
          </a:p>
        </p:txBody>
      </p:sp>
      <p:sp>
        <p:nvSpPr>
          <p:cNvPr id="1212" name="Google Shape;1212;p110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mean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salary.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median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salary.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mean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without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5000 row.</a:t>
            </a:r>
            <a:endParaRPr sz="975"/>
          </a:p>
        </p:txBody>
      </p:sp>
      <p:sp>
        <p:nvSpPr>
          <p:cNvPr id="1213" name="Google Shape;1213;p110"/>
          <p:cNvSpPr/>
          <p:nvPr/>
        </p:nvSpPr>
        <p:spPr>
          <a:xfrm>
            <a:off x="411480" y="2020367"/>
            <a:ext cx="4046100" cy="884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4" name="Google Shape;1214;p110"/>
          <p:cNvSpPr txBox="1"/>
          <p:nvPr>
            <p:ph idx="6" type="body"/>
          </p:nvPr>
        </p:nvSpPr>
        <p:spPr>
          <a:xfrm>
            <a:off x="582930" y="2191817"/>
            <a:ext cx="3703200" cy="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"salary"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5000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15" name="Google Shape;1215;p110"/>
          <p:cNvSpPr txBox="1"/>
          <p:nvPr>
            <p:ph idx="7" type="body"/>
          </p:nvPr>
        </p:nvSpPr>
        <p:spPr>
          <a:xfrm>
            <a:off x="411480" y="3007919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216" name="Google Shape;1216;p110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7" name="Google Shape;1217;p110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218" name="Google Shape;1218;p110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Mean of rates or rate of sums?</a:t>
            </a:r>
            <a:endParaRPr sz="1350"/>
          </a:p>
        </p:txBody>
      </p:sp>
      <p:sp>
        <p:nvSpPr>
          <p:cNvPr id="1219" name="Google Shape;1219;p110"/>
          <p:cNvSpPr txBox="1"/>
          <p:nvPr>
            <p:ph idx="14" type="body"/>
          </p:nvPr>
        </p:nvSpPr>
        <p:spPr>
          <a:xfrm>
            <a:off x="4684014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Add a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rate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 (clicks ÷ views).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Average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rate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column.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Divide total clicks by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total views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220" name="Google Shape;1220;p110"/>
          <p:cNvSpPr/>
          <p:nvPr/>
        </p:nvSpPr>
        <p:spPr>
          <a:xfrm>
            <a:off x="4684014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1" name="Google Shape;1221;p110"/>
          <p:cNvSpPr txBox="1"/>
          <p:nvPr>
            <p:ph idx="16" type="body"/>
          </p:nvPr>
        </p:nvSpPr>
        <p:spPr>
          <a:xfrm>
            <a:off x="4855464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"clicks"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"views"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22" name="Google Shape;1222;p110"/>
          <p:cNvSpPr txBox="1"/>
          <p:nvPr>
            <p:ph idx="17" type="body"/>
          </p:nvPr>
        </p:nvSpPr>
        <p:spPr>
          <a:xfrm>
            <a:off x="4684014" y="3151937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42.png" id="1223" name="Google Shape;1223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247949"/>
            <a:ext cx="778668" cy="75247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43.png" id="1224" name="Google Shape;1224;p1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391966"/>
            <a:ext cx="2165510" cy="11696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p111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Group By</a:t>
            </a:r>
            <a:endParaRPr/>
          </a:p>
        </p:txBody>
      </p:sp>
      <p:sp>
        <p:nvSpPr>
          <p:cNvPr id="1230" name="Google Shape;1230;p111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31" name="Google Shape;1231;p111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12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Group By · Level 1</a:t>
            </a:r>
            <a:endParaRPr sz="2100"/>
          </a:p>
        </p:txBody>
      </p:sp>
      <p:sp>
        <p:nvSpPr>
          <p:cNvPr descr="Step 1 badge" id="1238" name="Google Shape;1238;p112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9" name="Google Shape;1239;p112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240" name="Google Shape;1240;p112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Average per group</a:t>
            </a:r>
            <a:endParaRPr sz="1350"/>
          </a:p>
        </p:txBody>
      </p:sp>
      <p:sp>
        <p:nvSpPr>
          <p:cNvPr id="1241" name="Google Shape;1241;p112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Average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sale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per branch.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Count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rows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per branch.</a:t>
            </a:r>
            <a:endParaRPr sz="975"/>
          </a:p>
        </p:txBody>
      </p:sp>
      <p:sp>
        <p:nvSpPr>
          <p:cNvPr id="1242" name="Google Shape;1242;p112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3" name="Google Shape;1243;p112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"branch"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"sale"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6.0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44" name="Google Shape;1244;p112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56.png" id="1245" name="Google Shape;1245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2289719" cy="148971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0" name="Shape 1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1" name="Google Shape;1251;p113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Group By · Level 1</a:t>
            </a:r>
            <a:endParaRPr sz="2100"/>
          </a:p>
        </p:txBody>
      </p:sp>
      <p:sp>
        <p:nvSpPr>
          <p:cNvPr descr="Step 1 badge" id="1252" name="Google Shape;1252;p113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113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254" name="Google Shape;1254;p113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Sum, max and the winner</a:t>
            </a:r>
            <a:endParaRPr sz="1350"/>
          </a:p>
        </p:txBody>
      </p:sp>
      <p:sp>
        <p:nvSpPr>
          <p:cNvPr id="1255" name="Google Shape;1255;p113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Total the sale per branch.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Find the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biggest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single sale per branch.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Sort the totals,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highest first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256" name="Google Shape;1256;p113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7" name="Google Shape;1257;p113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"branch"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"PP"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"sale"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58" name="Google Shape;1258;p113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57.png" id="1259" name="Google Shape;1259;p1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2143483" cy="22750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114"/>
          <p:cNvSpPr txBox="1"/>
          <p:nvPr>
            <p:ph type="title"/>
          </p:nvPr>
        </p:nvSpPr>
        <p:spPr>
          <a:xfrm>
            <a:off x="617220" y="1988820"/>
            <a:ext cx="7543800" cy="823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Combine multiple data into one</a:t>
            </a:r>
            <a:endParaRPr/>
          </a:p>
        </p:txBody>
      </p:sp>
      <p:sp>
        <p:nvSpPr>
          <p:cNvPr id="1265" name="Google Shape;1265;p114"/>
          <p:cNvSpPr txBox="1"/>
          <p:nvPr>
            <p:ph idx="1" type="body"/>
          </p:nvPr>
        </p:nvSpPr>
        <p:spPr>
          <a:xfrm>
            <a:off x="617220" y="2846070"/>
            <a:ext cx="6858000" cy="2742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66" name="Google Shape;1266;p114"/>
          <p:cNvSpPr txBox="1"/>
          <p:nvPr>
            <p:ph idx="2" type="body"/>
          </p:nvPr>
        </p:nvSpPr>
        <p:spPr>
          <a:xfrm>
            <a:off x="617220" y="3120390"/>
            <a:ext cx="6515100" cy="3429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p115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Combining Data · Level 1</a:t>
            </a:r>
            <a:endParaRPr sz="2100"/>
          </a:p>
        </p:txBody>
      </p:sp>
      <p:sp>
        <p:nvSpPr>
          <p:cNvPr descr="Step 1 badge" id="1273" name="Google Shape;1273;p115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4" name="Google Shape;1274;p115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275" name="Google Shape;1275;p115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Stack two frames</a:t>
            </a:r>
            <a:endParaRPr sz="1350"/>
          </a:p>
        </p:txBody>
      </p:sp>
      <p:sp>
        <p:nvSpPr>
          <p:cNvPr id="1276" name="Google Shape;1276;p115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Stack jan and feb.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Stack them again,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renumbering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the rows.</a:t>
            </a:r>
            <a:endParaRPr sz="975"/>
          </a:p>
        </p:txBody>
      </p:sp>
      <p:sp>
        <p:nvSpPr>
          <p:cNvPr id="1277" name="Google Shape;1277;p115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8" name="Google Shape;1278;p115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jan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"amt"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feb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"amt"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40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9" name="Google Shape;1279;p115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62.png" id="1280" name="Google Shape;1280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451380" cy="2234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5" name="Shape 1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6" name="Google Shape;1286;p116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Combining Data · Level 1</a:t>
            </a:r>
            <a:endParaRPr sz="2100"/>
          </a:p>
        </p:txBody>
      </p:sp>
      <p:sp>
        <p:nvSpPr>
          <p:cNvPr descr="Step 1 badge" id="1287" name="Google Shape;1287;p116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8" name="Google Shape;1288;p116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289" name="Google Shape;1289;p116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Glue columns side by side</a:t>
            </a:r>
            <a:endParaRPr sz="1350"/>
          </a:p>
        </p:txBody>
      </p:sp>
      <p:sp>
        <p:nvSpPr>
          <p:cNvPr id="1290" name="Google Shape;1290;p116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Put left and right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side by side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291" name="Google Shape;1291;p116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2" name="Google Shape;1292;p116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left 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right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9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93" name="Google Shape;1293;p116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63.png" id="1294" name="Google Shape;1294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568395" cy="10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117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Combining Data · Level 2</a:t>
            </a:r>
            <a:endParaRPr sz="2100"/>
          </a:p>
        </p:txBody>
      </p:sp>
      <p:sp>
        <p:nvSpPr>
          <p:cNvPr descr="Step 1 badge" id="1301" name="Google Shape;1301;p117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2" name="Google Shape;1302;p117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303" name="Google Shape;1303;p117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inner then left</a:t>
            </a:r>
            <a:endParaRPr sz="1350"/>
          </a:p>
        </p:txBody>
      </p:sp>
      <p:sp>
        <p:nvSpPr>
          <p:cNvPr id="1304" name="Google Shape;1304;p117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Merge a and b on id (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inner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Merge them with a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merge.</a:t>
            </a:r>
            <a:endParaRPr sz="975"/>
          </a:p>
        </p:txBody>
      </p:sp>
      <p:sp>
        <p:nvSpPr>
          <p:cNvPr id="1305" name="Google Shape;1305;p117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6" name="Google Shape;1306;p117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a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"n"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"x"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"z"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b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"id"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"tier"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"G"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07" name="Google Shape;1307;p117"/>
          <p:cNvSpPr txBox="1"/>
          <p:nvPr>
            <p:ph idx="7" type="body"/>
          </p:nvPr>
        </p:nvSpPr>
        <p:spPr>
          <a:xfrm>
            <a:off x="411480" y="3120390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sp>
        <p:nvSpPr>
          <p:cNvPr descr="Step 2 badge" id="1308" name="Google Shape;1308;p117"/>
          <p:cNvSpPr/>
          <p:nvPr/>
        </p:nvSpPr>
        <p:spPr>
          <a:xfrm>
            <a:off x="4684014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9" name="Google Shape;1309;p117"/>
          <p:cNvSpPr txBox="1"/>
          <p:nvPr>
            <p:ph idx="9" type="body"/>
          </p:nvPr>
        </p:nvSpPr>
        <p:spPr>
          <a:xfrm>
            <a:off x="4684014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310" name="Google Shape;1310;p117"/>
          <p:cNvSpPr txBox="1"/>
          <p:nvPr>
            <p:ph idx="13" type="body"/>
          </p:nvPr>
        </p:nvSpPr>
        <p:spPr>
          <a:xfrm>
            <a:off x="5150358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Keys with different names</a:t>
            </a:r>
            <a:endParaRPr sz="1350"/>
          </a:p>
        </p:txBody>
      </p:sp>
      <p:sp>
        <p:nvSpPr>
          <p:cNvPr id="1311" name="Google Shape;1311;p117"/>
          <p:cNvSpPr txBox="1"/>
          <p:nvPr>
            <p:ph idx="14" type="body"/>
          </p:nvPr>
        </p:nvSpPr>
        <p:spPr>
          <a:xfrm>
            <a:off x="4684014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Merge the sales with the catalogue (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Select the catalogue rows that were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never sold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312" name="Google Shape;1312;p117"/>
          <p:cNvSpPr/>
          <p:nvPr/>
        </p:nvSpPr>
        <p:spPr>
          <a:xfrm>
            <a:off x="4684014" y="1988820"/>
            <a:ext cx="4046100" cy="1172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3" name="Google Shape;1313;p117"/>
          <p:cNvSpPr txBox="1"/>
          <p:nvPr>
            <p:ph idx="16" type="body"/>
          </p:nvPr>
        </p:nvSpPr>
        <p:spPr>
          <a:xfrm>
            <a:off x="4855464" y="2160270"/>
            <a:ext cx="3703200" cy="8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s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"sku"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"qty"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c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"code"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"Z"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"name"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"pen"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"bag"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"hat"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4" name="Google Shape;1314;p117"/>
          <p:cNvSpPr txBox="1"/>
          <p:nvPr>
            <p:ph idx="17" type="body"/>
          </p:nvPr>
        </p:nvSpPr>
        <p:spPr>
          <a:xfrm>
            <a:off x="4684014" y="3264408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64.png" id="1315" name="Google Shape;1315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350" y="3360420"/>
            <a:ext cx="1620440" cy="15087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65.png" id="1316" name="Google Shape;1316;p1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6884" y="3504437"/>
            <a:ext cx="2456975" cy="1112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1" name="Shape 1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2" name="Google Shape;1322;p118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Combining Data · Level 3</a:t>
            </a:r>
            <a:endParaRPr sz="2100"/>
          </a:p>
        </p:txBody>
      </p:sp>
      <p:sp>
        <p:nvSpPr>
          <p:cNvPr descr="Step 1 badge" id="1323" name="Google Shape;1323;p118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4" name="Google Shape;1324;p118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sz="1125"/>
          </a:p>
        </p:txBody>
      </p:sp>
      <p:sp>
        <p:nvSpPr>
          <p:cNvPr id="1325" name="Google Shape;1325;p118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The merge that invents rows</a:t>
            </a:r>
            <a:endParaRPr sz="1350"/>
          </a:p>
        </p:txBody>
      </p:sp>
      <p:sp>
        <p:nvSpPr>
          <p:cNvPr id="1326" name="Google Shape;1326;p118"/>
          <p:cNvSpPr txBox="1"/>
          <p:nvPr>
            <p:ph idx="4" type="body"/>
          </p:nvPr>
        </p:nvSpPr>
        <p:spPr>
          <a:xfrm>
            <a:off x="411480" y="1200150"/>
            <a:ext cx="4046100" cy="72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Merge left and right on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key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327" name="Google Shape;1327;p118"/>
          <p:cNvSpPr/>
          <p:nvPr/>
        </p:nvSpPr>
        <p:spPr>
          <a:xfrm>
            <a:off x="411480" y="1988820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8" name="Google Shape;1328;p118"/>
          <p:cNvSpPr txBox="1"/>
          <p:nvPr>
            <p:ph idx="6" type="body"/>
          </p:nvPr>
        </p:nvSpPr>
        <p:spPr>
          <a:xfrm>
            <a:off x="582930" y="2160270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left 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"key"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"v"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right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"key"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    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"w"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29" name="Google Shape;1329;p118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66.png" id="1330" name="Google Shape;1330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723236" cy="8662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119"/>
          <p:cNvSpPr txBox="1"/>
          <p:nvPr>
            <p:ph type="title"/>
          </p:nvPr>
        </p:nvSpPr>
        <p:spPr>
          <a:xfrm>
            <a:off x="411480" y="219456"/>
            <a:ext cx="82983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2100"/>
              <a:buFont typeface="Roboto"/>
              <a:buNone/>
            </a:pPr>
            <a:r>
              <a:rPr b="1" lang="en" sz="210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Combining Data · Level 3</a:t>
            </a:r>
            <a:endParaRPr sz="2100"/>
          </a:p>
        </p:txBody>
      </p:sp>
      <p:sp>
        <p:nvSpPr>
          <p:cNvPr descr="Step 1 badge" id="1337" name="Google Shape;1337;p119"/>
          <p:cNvSpPr/>
          <p:nvPr/>
        </p:nvSpPr>
        <p:spPr>
          <a:xfrm>
            <a:off x="411480" y="685800"/>
            <a:ext cx="342900" cy="342900"/>
          </a:xfrm>
          <a:prstGeom prst="rect">
            <a:avLst/>
          </a:prstGeom>
          <a:solidFill>
            <a:srgbClr val="EC5F8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8" name="Google Shape;1338;p119"/>
          <p:cNvSpPr txBox="1"/>
          <p:nvPr>
            <p:ph idx="2" type="body"/>
          </p:nvPr>
        </p:nvSpPr>
        <p:spPr>
          <a:xfrm>
            <a:off x="411480" y="685800"/>
            <a:ext cx="34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25"/>
              <a:buNone/>
            </a:pPr>
            <a:r>
              <a:rPr b="1" lang="en" sz="1125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125"/>
          </a:p>
        </p:txBody>
      </p:sp>
      <p:sp>
        <p:nvSpPr>
          <p:cNvPr id="1339" name="Google Shape;1339;p119"/>
          <p:cNvSpPr txBox="1"/>
          <p:nvPr>
            <p:ph idx="3" type="body"/>
          </p:nvPr>
        </p:nvSpPr>
        <p:spPr>
          <a:xfrm>
            <a:off x="877824" y="699516"/>
            <a:ext cx="3579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293480"/>
              </a:buClr>
              <a:buSzPts val="1350"/>
              <a:buNone/>
            </a:pPr>
            <a:r>
              <a:rPr b="1" lang="en" sz="1350">
                <a:solidFill>
                  <a:srgbClr val="293480"/>
                </a:solidFill>
                <a:latin typeface="Roboto"/>
                <a:ea typeface="Roboto"/>
                <a:cs typeface="Roboto"/>
                <a:sym typeface="Roboto"/>
              </a:rPr>
              <a:t>Four ways to join</a:t>
            </a:r>
            <a:endParaRPr sz="1350"/>
          </a:p>
        </p:txBody>
      </p:sp>
      <p:sp>
        <p:nvSpPr>
          <p:cNvPr id="1340" name="Google Shape;1340;p119"/>
          <p:cNvSpPr txBox="1"/>
          <p:nvPr>
            <p:ph idx="4" type="body"/>
          </p:nvPr>
        </p:nvSpPr>
        <p:spPr>
          <a:xfrm>
            <a:off x="411480" y="1200150"/>
            <a:ext cx="4046100" cy="7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50876" lvl="0" marL="205740" rtl="0" algn="l">
              <a:spcBef>
                <a:spcPts val="0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Join r onto l (the default 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left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 join).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Join them with how=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'inner'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  <a:p>
            <a:pPr indent="-150876" lvl="0" marL="205740" rtl="0" algn="l">
              <a:spcBef>
                <a:spcPts val="645"/>
              </a:spcBef>
              <a:spcAft>
                <a:spcPts val="0"/>
              </a:spcAft>
              <a:buClr>
                <a:srgbClr val="222540"/>
              </a:buClr>
              <a:buSzPts val="761"/>
              <a:buChar char="●"/>
            </a:pP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Join them with how=</a:t>
            </a:r>
            <a:r>
              <a:rPr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'outer'</a:t>
            </a:r>
            <a:r>
              <a:rPr lang="en" sz="975">
                <a:solidFill>
                  <a:srgbClr val="22254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975"/>
          </a:p>
        </p:txBody>
      </p:sp>
      <p:sp>
        <p:nvSpPr>
          <p:cNvPr id="1341" name="Google Shape;1341;p119"/>
          <p:cNvSpPr/>
          <p:nvPr/>
        </p:nvSpPr>
        <p:spPr>
          <a:xfrm>
            <a:off x="411480" y="2020367"/>
            <a:ext cx="4046100" cy="1028700"/>
          </a:xfrm>
          <a:prstGeom prst="roundRect">
            <a:avLst>
              <a:gd fmla="val 6000" name="adj"/>
            </a:avLst>
          </a:prstGeom>
          <a:solidFill>
            <a:srgbClr val="27282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2" name="Google Shape;1342;p119"/>
          <p:cNvSpPr txBox="1"/>
          <p:nvPr>
            <p:ph idx="6" type="body"/>
          </p:nvPr>
        </p:nvSpPr>
        <p:spPr>
          <a:xfrm>
            <a:off x="582930" y="2191817"/>
            <a:ext cx="3703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l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"a"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"x"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"z"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r 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pd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DataFrame({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"b"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: [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20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AE81FF"/>
                </a:solidFill>
                <a:latin typeface="Consolas"/>
                <a:ea typeface="Consolas"/>
                <a:cs typeface="Consolas"/>
                <a:sym typeface="Consolas"/>
              </a:rPr>
              <a:t>30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]},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                 index</a:t>
            </a:r>
            <a:r>
              <a:rPr b="0" i="0" lang="en" sz="900">
                <a:solidFill>
                  <a:srgbClr val="FF4689"/>
                </a:solidFill>
                <a:latin typeface="Consolas"/>
                <a:ea typeface="Consolas"/>
                <a:cs typeface="Consolas"/>
                <a:sym typeface="Consolas"/>
              </a:rPr>
              <a:t>=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[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"y"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"z"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" sz="900">
                <a:solidFill>
                  <a:srgbClr val="E6DB74"/>
                </a:solidFill>
                <a:latin typeface="Consolas"/>
                <a:ea typeface="Consolas"/>
                <a:cs typeface="Consolas"/>
                <a:sym typeface="Consolas"/>
              </a:rPr>
              <a:t>"w"</a:t>
            </a:r>
            <a:r>
              <a:rPr b="0" i="0" lang="en" sz="900">
                <a:solidFill>
                  <a:srgbClr val="F8F8F2"/>
                </a:solidFill>
                <a:latin typeface="Consolas"/>
                <a:ea typeface="Consolas"/>
                <a:cs typeface="Consolas"/>
                <a:sym typeface="Consolas"/>
              </a:rPr>
              <a:t>])</a:t>
            </a:r>
            <a:endParaRPr sz="900"/>
          </a:p>
          <a:p>
            <a:pPr indent="0" lvl="0" marL="0" rtl="0" algn="l">
              <a:lnSpc>
                <a:spcPct val="115000"/>
              </a:lnSpc>
              <a:spcBef>
                <a:spcPts val="180"/>
              </a:spcBef>
              <a:spcAft>
                <a:spcPts val="0"/>
              </a:spcAft>
              <a:buClr>
                <a:srgbClr val="F8F8F2"/>
              </a:buClr>
              <a:buSzPts val="900"/>
              <a:buNone/>
            </a:pPr>
            <a:r>
              <a:t/>
            </a:r>
            <a:endParaRPr b="0" i="0" sz="900">
              <a:solidFill>
                <a:srgbClr val="F8F8F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3" name="Google Shape;1343;p119"/>
          <p:cNvSpPr txBox="1"/>
          <p:nvPr>
            <p:ph idx="7" type="body"/>
          </p:nvPr>
        </p:nvSpPr>
        <p:spPr>
          <a:xfrm>
            <a:off x="4684014" y="699516"/>
            <a:ext cx="40461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D84568"/>
              </a:buClr>
              <a:buSzPts val="975"/>
              <a:buNone/>
            </a:pPr>
            <a:r>
              <a:rPr b="1" lang="en" sz="975">
                <a:solidFill>
                  <a:srgbClr val="D84568"/>
                </a:solidFill>
                <a:latin typeface="Roboto"/>
                <a:ea typeface="Roboto"/>
                <a:cs typeface="Roboto"/>
                <a:sym typeface="Roboto"/>
              </a:rPr>
              <a:t>Expected output:</a:t>
            </a:r>
            <a:endParaRPr sz="975"/>
          </a:p>
        </p:txBody>
      </p:sp>
      <p:pic>
        <p:nvPicPr>
          <p:cNvPr descr="A67.png" id="1344" name="Google Shape;1344;p1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0" y="1028700"/>
            <a:ext cx="1610394" cy="27608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