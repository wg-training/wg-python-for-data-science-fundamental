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62">
          <p15:clr>
            <a:srgbClr val="747775"/>
          </p15:clr>
        </p15:guide>
        <p15:guide id="2" pos="2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2" orient="horz"/>
        <p:guide pos="25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be0eb587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be0eb587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be0eb587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be0eb587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eb8e99a0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eb8e99a0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be0eb5879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cbe0eb5879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3500a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93500a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be0eb5879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cbe0eb5879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cbe0eb5879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cbe0eb587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be0eb5879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cbe0eb587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be0eb5879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cbe0eb5879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cbe0eb5879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cbe0eb587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eaf107517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6eaf107517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eaf10751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6eaf10751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487a74a8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487a74a8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cbe0eb587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cbe0eb587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fd70bf31d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fd70bf31d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eaf10751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6eaf10751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487a74a8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487a74a8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cbe0eb5879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cbe0eb5879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cbe0eb5879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cbe0eb5879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cbe0eb5879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cbe0eb5879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cbe0eb5879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cbe0eb5879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50f0fd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550f0fd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550f0fd1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f550f0fd1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65500" y="8100"/>
            <a:ext cx="40452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835400" y="-3600"/>
            <a:ext cx="40452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9" name="Google Shape;89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4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1" name="Google Shape;101;p1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1" name="Google Shape;111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d70bf31d_14_0)">
  <p:cSld name="Generated (g3dfd70bf31d_14_0)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28_0)">
  <p:cSld name="Title and body (g3dfd70bf31d_28_0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fd70bf31d_35_0)">
  <p:cSld name="Title and body (g3dfd70bf31d_35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- The basic!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0: </a:t>
            </a:r>
            <a:r>
              <a:rPr lang="en"/>
              <a:t>Hello World! - Your First Python Program</a:t>
            </a:r>
            <a:endParaRPr/>
          </a:p>
        </p:txBody>
      </p:sp>
      <p:sp>
        <p:nvSpPr>
          <p:cNvPr id="139" name="Google Shape;139;p22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your first code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00" y="1399925"/>
            <a:ext cx="737235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3"/>
          <p:cNvSpPr txBox="1"/>
          <p:nvPr/>
        </p:nvSpPr>
        <p:spPr>
          <a:xfrm>
            <a:off x="0" y="4528050"/>
            <a:ext cx="46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https://gto76.github.io/python-cheatsheet/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402907" y="1524000"/>
            <a:ext cx="8334300" cy="1143000"/>
          </a:xfrm>
          <a:prstGeom prst="roundRect">
            <a:avLst>
              <a:gd fmla="val 3333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593407" y="1619250"/>
            <a:ext cx="7953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5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# Display “Hello world” text</a:t>
            </a:r>
            <a:endParaRPr sz="1085">
              <a:solidFill>
                <a:srgbClr val="88888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5">
                <a:solidFill>
                  <a:srgbClr val="D23369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085">
                <a:solidFill>
                  <a:srgbClr val="D23369"/>
                </a:solidFill>
                <a:latin typeface="Roboto"/>
                <a:ea typeface="Roboto"/>
                <a:cs typeface="Roboto"/>
                <a:sym typeface="Roboto"/>
              </a:rPr>
              <a:t>rint(“Hello world”)</a:t>
            </a:r>
            <a:endParaRPr sz="1085">
              <a:solidFill>
                <a:srgbClr val="D233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 and </a:t>
            </a:r>
            <a:r>
              <a:rPr lang="en"/>
              <a:t>Variables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programming, data types are used to tell computer the type of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Python has a small set of built-in types storing different type of data: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Integers (int)</a:t>
            </a:r>
            <a:r>
              <a:rPr lang="en"/>
              <a:t>: Whole numbers (e.g., 10, -5).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Floats (float)</a:t>
            </a:r>
            <a:r>
              <a:rPr lang="en"/>
              <a:t>: Decimal numbers (e.g., 3.14, -12.5).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Strings (str):</a:t>
            </a:r>
            <a:r>
              <a:rPr lang="en"/>
              <a:t> Text enclosed in quotes (e.g., "Hello", 'This is a string').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Booleans (bool):</a:t>
            </a:r>
            <a:r>
              <a:rPr lang="en"/>
              <a:t> True or False values.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None:</a:t>
            </a:r>
            <a:r>
              <a:rPr lang="en"/>
              <a:t> empty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Note: </a:t>
            </a:r>
            <a:r>
              <a:rPr i="1" lang="en"/>
              <a:t>these built-in data type are called </a:t>
            </a:r>
            <a:r>
              <a:rPr i="1" lang="en">
                <a:solidFill>
                  <a:schemeClr val="accent4"/>
                </a:solidFill>
              </a:rPr>
              <a:t>primitive/scalar data type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105" y="469075"/>
            <a:ext cx="6448074" cy="43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00" y="561975"/>
            <a:ext cx="815340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950" y="152400"/>
            <a:ext cx="840405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 rotWithShape="1">
          <a:blip r:embed="rId3">
            <a:alphaModFix/>
          </a:blip>
          <a:srcRect b="0" l="0" r="39745" t="0"/>
          <a:stretch/>
        </p:blipFill>
        <p:spPr>
          <a:xfrm>
            <a:off x="66575" y="0"/>
            <a:ext cx="35858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652" y="1502775"/>
            <a:ext cx="2821649" cy="2215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Problems with Floating Point</a:t>
            </a:r>
            <a:endParaRPr b="1" sz="255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2"/>
          <p:cNvSpPr txBox="1"/>
          <p:nvPr>
            <p:ph idx="1" type="body"/>
          </p:nvPr>
        </p:nvSpPr>
        <p:spPr>
          <a:xfrm>
            <a:off x="311700" y="892063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116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Floating-point numbers are represented in computer hardware as base-2 (binary) fractions, which can lead to unexpected precision issues.</a:t>
            </a:r>
            <a:endParaRPr b="0" sz="1163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311468" y="1619250"/>
            <a:ext cx="8520600" cy="1143000"/>
          </a:xfrm>
          <a:prstGeom prst="roundRect">
            <a:avLst>
              <a:gd fmla="val 666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501968" y="1714500"/>
            <a:ext cx="8139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# Example of precision loss in Python</a:t>
            </a:r>
            <a:endParaRPr sz="1400">
              <a:solidFill>
                <a:srgbClr val="88888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23369"/>
                </a:solidFill>
                <a:latin typeface="Roboto"/>
                <a:ea typeface="Roboto"/>
                <a:cs typeface="Roboto"/>
                <a:sym typeface="Roboto"/>
              </a:rPr>
              <a:t>&gt;&gt;&gt; 3.3 * 33</a:t>
            </a:r>
            <a:endParaRPr sz="1400">
              <a:solidFill>
                <a:srgbClr val="D2336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108.89999999999999</a:t>
            </a:r>
            <a:endParaRPr sz="14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311468" y="2952750"/>
            <a:ext cx="8520600" cy="762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2"/>
          <p:cNvSpPr txBox="1"/>
          <p:nvPr/>
        </p:nvSpPr>
        <p:spPr>
          <a:xfrm>
            <a:off x="501968" y="3048000"/>
            <a:ext cx="813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For more details, see the official Python tutorial:</a:t>
            </a:r>
            <a:endParaRPr b="0"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https://docs.python.org/3/tutorial/floatingpoint.html</a:t>
            </a:r>
            <a:endParaRPr b="1" sz="12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4" name="Google Shape;204;p32"/>
          <p:cNvGrpSpPr/>
          <p:nvPr/>
        </p:nvGrpSpPr>
        <p:grpSpPr>
          <a:xfrm>
            <a:off x="311468" y="4000500"/>
            <a:ext cx="6191400" cy="428700"/>
            <a:chOff x="311468" y="4000500"/>
            <a:chExt cx="6191400" cy="428700"/>
          </a:xfrm>
        </p:grpSpPr>
        <p:sp>
          <p:nvSpPr>
            <p:cNvPr id="205" name="Google Shape;205;p32"/>
            <p:cNvSpPr/>
            <p:nvPr/>
          </p:nvSpPr>
          <p:spPr>
            <a:xfrm>
              <a:off x="311468" y="4000500"/>
              <a:ext cx="6191400" cy="428700"/>
            </a:xfrm>
            <a:prstGeom prst="roundRect">
              <a:avLst>
                <a:gd fmla="val 50000" name="adj"/>
              </a:avLst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2"/>
            <p:cNvSpPr txBox="1"/>
            <p:nvPr/>
          </p:nvSpPr>
          <p:spPr>
            <a:xfrm>
              <a:off x="714375" y="4000500"/>
              <a:ext cx="55245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Takeaway</a:t>
              </a:r>
              <a:r>
                <a:rPr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: Be mindful of precision when performing financial or scientific calculations.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3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12" name="Google Shape;212;p33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3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3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3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3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33"/>
          <p:cNvGrpSpPr/>
          <p:nvPr/>
        </p:nvGrpSpPr>
        <p:grpSpPr>
          <a:xfrm>
            <a:off x="304800" y="952500"/>
            <a:ext cx="8534400" cy="952500"/>
            <a:chOff x="304800" y="952500"/>
            <a:chExt cx="8534400" cy="952500"/>
          </a:xfrm>
        </p:grpSpPr>
        <p:sp>
          <p:nvSpPr>
            <p:cNvPr id="218" name="Google Shape;218;p33"/>
            <p:cNvSpPr/>
            <p:nvPr/>
          </p:nvSpPr>
          <p:spPr>
            <a:xfrm>
              <a:off x="304800" y="952500"/>
              <a:ext cx="85344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3"/>
            <p:cNvSpPr txBox="1"/>
            <p:nvPr/>
          </p:nvSpPr>
          <p:spPr>
            <a:xfrm>
              <a:off x="495300" y="952500"/>
              <a:ext cx="8153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Strings: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" sz="1800">
                  <a:solidFill>
                    <a:srgbClr val="2A39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'2'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and </a:t>
              </a:r>
              <a:r>
                <a:rPr b="1" lang="en" sz="1800">
                  <a:solidFill>
                    <a:srgbClr val="2A39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'42.0'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are strings because they are enclosed in </a:t>
              </a:r>
              <a:r>
                <a:rPr lang="en" sz="18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quotation marks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0" name="Google Shape;220;p33"/>
          <p:cNvGrpSpPr/>
          <p:nvPr/>
        </p:nvGrpSpPr>
        <p:grpSpPr>
          <a:xfrm>
            <a:off x="304800" y="2047875"/>
            <a:ext cx="8534400" cy="952500"/>
            <a:chOff x="304800" y="2047875"/>
            <a:chExt cx="8534400" cy="952500"/>
          </a:xfrm>
        </p:grpSpPr>
        <p:sp>
          <p:nvSpPr>
            <p:cNvPr id="221" name="Google Shape;221;p33"/>
            <p:cNvSpPr/>
            <p:nvPr/>
          </p:nvSpPr>
          <p:spPr>
            <a:xfrm>
              <a:off x="304800" y="2047875"/>
              <a:ext cx="85344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3"/>
            <p:cNvSpPr txBox="1"/>
            <p:nvPr/>
          </p:nvSpPr>
          <p:spPr>
            <a:xfrm>
              <a:off x="495300" y="2047875"/>
              <a:ext cx="8153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Number Separators: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Numbers can be separated by underscores (</a:t>
              </a:r>
              <a:r>
                <a:rPr b="1" lang="en" sz="18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_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) for readability, e.g., </a:t>
              </a:r>
              <a:r>
                <a:rPr b="1" lang="en" sz="1800">
                  <a:solidFill>
                    <a:srgbClr val="2A39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1_000_000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3" name="Google Shape;223;p33"/>
          <p:cNvGrpSpPr/>
          <p:nvPr/>
        </p:nvGrpSpPr>
        <p:grpSpPr>
          <a:xfrm>
            <a:off x="304800" y="3143250"/>
            <a:ext cx="8534400" cy="952500"/>
            <a:chOff x="304800" y="3143250"/>
            <a:chExt cx="8534400" cy="952500"/>
          </a:xfrm>
        </p:grpSpPr>
        <p:sp>
          <p:nvSpPr>
            <p:cNvPr id="224" name="Google Shape;224;p33"/>
            <p:cNvSpPr/>
            <p:nvPr/>
          </p:nvSpPr>
          <p:spPr>
            <a:xfrm>
              <a:off x="304800" y="3143250"/>
              <a:ext cx="8534400" cy="952500"/>
            </a:xfrm>
            <a:prstGeom prst="roundRect">
              <a:avLst>
                <a:gd fmla="val 8000" name="adj"/>
              </a:avLst>
            </a:prstGeom>
            <a:solidFill>
              <a:srgbClr val="FFF5F5"/>
            </a:solidFill>
            <a:ln cap="flat" cmpd="sng" w="9525">
              <a:solidFill>
                <a:srgbClr val="FFE3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3"/>
            <p:cNvSpPr txBox="1"/>
            <p:nvPr/>
          </p:nvSpPr>
          <p:spPr>
            <a:xfrm>
              <a:off x="495300" y="3143250"/>
              <a:ext cx="8153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Legal Values: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800" strike="sngStrike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1,000,000</a:t>
              </a:r>
              <a:r>
                <a:rPr lang="en" sz="18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is not a legal integer in Python, though it may be a legal value in other contexts.</a:t>
              </a:r>
              <a:endPara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2A3990"/>
                </a:solidFill>
                <a:latin typeface="Roboto"/>
                <a:ea typeface="Roboto"/>
                <a:cs typeface="Roboto"/>
                <a:sym typeface="Roboto"/>
              </a:rPr>
              <a:t>Values and Types</a:t>
            </a:r>
            <a:endParaRPr b="1" sz="255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Variables?</a:t>
            </a:r>
            <a:endParaRPr/>
          </a:p>
        </p:txBody>
      </p:sp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are containers for storing data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can create a variable simply by assigning a value to it  using the </a:t>
            </a:r>
            <a:r>
              <a:rPr lang="en">
                <a:solidFill>
                  <a:srgbClr val="FF0000"/>
                </a:solidFill>
              </a:rPr>
              <a:t>assignment operator (=)</a:t>
            </a:r>
            <a:r>
              <a:rPr lang="en"/>
              <a:t>.</a:t>
            </a:r>
            <a:endParaRPr/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350" y="2175901"/>
            <a:ext cx="6696300" cy="265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name and Identifiers</a:t>
            </a:r>
            <a:endParaRPr/>
          </a:p>
        </p:txBody>
      </p:sp>
      <p:grpSp>
        <p:nvGrpSpPr>
          <p:cNvPr id="244" name="Google Shape;244;p36"/>
          <p:cNvGrpSpPr/>
          <p:nvPr/>
        </p:nvGrpSpPr>
        <p:grpSpPr>
          <a:xfrm>
            <a:off x="304800" y="1305021"/>
            <a:ext cx="8534400" cy="3190950"/>
            <a:chOff x="304800" y="952500"/>
            <a:chExt cx="8534400" cy="3190950"/>
          </a:xfrm>
        </p:grpSpPr>
        <p:sp>
          <p:nvSpPr>
            <p:cNvPr id="245" name="Google Shape;245;p36"/>
            <p:cNvSpPr/>
            <p:nvPr/>
          </p:nvSpPr>
          <p:spPr>
            <a:xfrm>
              <a:off x="304800" y="952500"/>
              <a:ext cx="8534400" cy="1000200"/>
            </a:xfrm>
            <a:prstGeom prst="roundRect">
              <a:avLst>
                <a:gd fmla="val 7619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6"/>
            <p:cNvSpPr txBox="1"/>
            <p:nvPr/>
          </p:nvSpPr>
          <p:spPr>
            <a:xfrm>
              <a:off x="495300" y="952500"/>
              <a:ext cx="8153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b="1" lang="en" sz="16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tarts with a letter </a:t>
              </a:r>
              <a:r>
                <a:rPr b="1" lang="en" sz="1600">
                  <a:solidFill>
                    <a:srgbClr val="1155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A-Z</a:t>
              </a:r>
              <a:r>
                <a:rPr b="1" lang="en" sz="16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 or </a:t>
              </a:r>
              <a:r>
                <a:rPr b="1" lang="en" sz="1600">
                  <a:solidFill>
                    <a:srgbClr val="1155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a-z</a:t>
              </a:r>
              <a:endParaRPr b="1" sz="1600">
                <a:solidFill>
                  <a:srgbClr val="D233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Example: </a:t>
              </a:r>
              <a:r>
                <a:rPr lang="en" sz="1100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my_var, MY_var</a:t>
              </a: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n" sz="1100" strike="sngStrike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1Var</a:t>
              </a:r>
              <a:endParaRPr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304800" y="2047875"/>
              <a:ext cx="8534400" cy="1000200"/>
            </a:xfrm>
            <a:prstGeom prst="roundRect">
              <a:avLst>
                <a:gd fmla="val 7619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6"/>
            <p:cNvSpPr txBox="1"/>
            <p:nvPr/>
          </p:nvSpPr>
          <p:spPr>
            <a:xfrm>
              <a:off x="495300" y="2047875"/>
              <a:ext cx="8153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Starts with an underscore </a:t>
              </a:r>
              <a:r>
                <a:rPr b="1" lang="en" sz="1600">
                  <a:solidFill>
                    <a:srgbClr val="1155C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(_)</a:t>
              </a:r>
              <a:endParaRPr b="1" sz="1600">
                <a:solidFill>
                  <a:srgbClr val="D233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Followed by zero or more letters, underscores and digits (0-9).</a:t>
              </a:r>
              <a:endParaRPr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Example: </a:t>
              </a:r>
              <a:r>
                <a:rPr lang="en" sz="1100">
                  <a:solidFill>
                    <a:srgbClr val="1155CC"/>
                  </a:solidFill>
                  <a:latin typeface="Roboto"/>
                  <a:ea typeface="Roboto"/>
                  <a:cs typeface="Roboto"/>
                  <a:sym typeface="Roboto"/>
                </a:rPr>
                <a:t>_MY_VAR, _VAR1, __var</a:t>
              </a: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lang="en" sz="1100" strike="sngStrike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_1MY_VAR</a:t>
              </a:r>
              <a:endParaRPr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304800" y="3143250"/>
              <a:ext cx="8534400" cy="1000200"/>
            </a:xfrm>
            <a:prstGeom prst="roundRect">
              <a:avLst>
                <a:gd fmla="val 7619" name="adj"/>
              </a:avLst>
            </a:prstGeom>
            <a:solidFill>
              <a:srgbClr val="FFF5F5"/>
            </a:solidFill>
            <a:ln cap="flat" cmpd="sng" w="9525">
              <a:solidFill>
                <a:srgbClr val="FFE3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6"/>
            <p:cNvSpPr txBox="1"/>
            <p:nvPr/>
          </p:nvSpPr>
          <p:spPr>
            <a:xfrm>
              <a:off x="495300" y="3143250"/>
              <a:ext cx="8153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Does </a:t>
              </a:r>
              <a:r>
                <a:rPr b="1" lang="en" sz="1600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NOT</a:t>
              </a:r>
              <a:r>
                <a:rPr b="1" lang="en" sz="1600">
                  <a:solidFill>
                    <a:srgbClr val="D23369"/>
                  </a:solidFill>
                  <a:latin typeface="Roboto"/>
                  <a:ea typeface="Roboto"/>
                  <a:cs typeface="Roboto"/>
                  <a:sym typeface="Roboto"/>
                </a:rPr>
                <a:t> allow punctuation characters</a:t>
              </a:r>
              <a:endParaRPr b="1" sz="1600">
                <a:solidFill>
                  <a:srgbClr val="D2336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Such as </a:t>
              </a:r>
              <a:r>
                <a:rPr lang="en" sz="13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@, $, %</a:t>
              </a:r>
              <a:r>
                <a:rPr lang="en" sz="13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within identifiers.</a:t>
              </a:r>
              <a:endParaRPr sz="13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Example: </a:t>
              </a:r>
              <a:r>
                <a:rPr lang="en" sz="1100" strike="sngStrike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$my_var, @var, &amp;my_var</a:t>
              </a:r>
              <a:endParaRPr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1" name="Google Shape;251;p36"/>
          <p:cNvSpPr txBox="1"/>
          <p:nvPr>
            <p:ph idx="1" type="body"/>
          </p:nvPr>
        </p:nvSpPr>
        <p:spPr>
          <a:xfrm>
            <a:off x="311700" y="892064"/>
            <a:ext cx="8520600" cy="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400"/>
              <a:t>A Python identifier is a name used to </a:t>
            </a: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identify a variable, function, class, module or other object.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name and Identifiers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</a:t>
            </a:r>
            <a:r>
              <a:rPr b="1" lang="en"/>
              <a:t>not</a:t>
            </a:r>
            <a:r>
              <a:rPr lang="en"/>
              <a:t> allow </a:t>
            </a:r>
            <a:r>
              <a:rPr b="1" lang="en"/>
              <a:t>Python’s keywords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</a:t>
            </a:r>
            <a:r>
              <a:rPr lang="en" strike="sngStrike"/>
              <a:t>class = ‘Class A’</a:t>
            </a:r>
            <a:endParaRPr strike="sngStrike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Python 3 has these keywords</a:t>
            </a:r>
            <a:endParaRPr b="1" strike="sngStrike"/>
          </a:p>
        </p:txBody>
      </p:sp>
      <p:pic>
        <p:nvPicPr>
          <p:cNvPr id="258" name="Google Shape;2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625" y="2208425"/>
            <a:ext cx="4509200" cy="15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 conversion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type conversion</a:t>
            </a:r>
            <a:endParaRPr/>
          </a:p>
        </p:txBody>
      </p:sp>
      <p:sp>
        <p:nvSpPr>
          <p:cNvPr id="269" name="Google Shape;269;p3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convert between data type, we can be done by casting type with </a:t>
            </a:r>
            <a:r>
              <a:rPr lang="en"/>
              <a:t>built</a:t>
            </a:r>
            <a:r>
              <a:rPr lang="en"/>
              <a:t>-in </a:t>
            </a:r>
            <a:r>
              <a:rPr lang="en"/>
              <a:t>function</a:t>
            </a:r>
            <a:r>
              <a:rPr lang="en"/>
              <a:t> below: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</a:t>
            </a:r>
            <a:r>
              <a:rPr lang="en"/>
              <a:t>nt()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float()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</a:t>
            </a:r>
            <a:r>
              <a:rPr lang="en"/>
              <a:t>ool()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str()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35" y="332825"/>
            <a:ext cx="6571591" cy="473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50" y="143900"/>
            <a:ext cx="60198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75" y="213350"/>
            <a:ext cx="6285699" cy="479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Practices</a:t>
            </a:r>
            <a:endParaRPr/>
          </a:p>
        </p:txBody>
      </p:sp>
      <p:sp>
        <p:nvSpPr>
          <p:cNvPr id="293" name="Google Shape;293;p4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Practices</a:t>
            </a:r>
            <a:endParaRPr/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Jupyter Notebook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new Notebook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Declare 2 </a:t>
            </a:r>
            <a:r>
              <a:rPr lang="en"/>
              <a:t>variable</a:t>
            </a:r>
            <a:r>
              <a:rPr lang="en"/>
              <a:t> with value of ‘’’12.1”, and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 them to number and sum them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